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295010b67a4df1" /><Relationship Type="http://schemas.openxmlformats.org/officeDocument/2006/relationships/extended-properties" Target="/docProps/app.xml" Id="R916c57ecd57b4c29" /><Relationship Type="http://schemas.openxmlformats.org/officeDocument/2006/relationships/officeDocument" Target="/ppt/presentation.xml" Id="R8b065c402c56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11018268e4fcc"/>
  </p:sldMasterIdLst>
  <p:notesMasterIdLst>
    <p:notesMasterId xmlns:r="http://schemas.openxmlformats.org/officeDocument/2006/relationships" r:id="R507bd9bc0b8049ec"/>
  </p:notesMasterIdLst>
  <p:sldIdLst>
    <p:sldId xmlns:r="http://schemas.openxmlformats.org/officeDocument/2006/relationships" id="256" r:id="R6f771656ef824376"/>
    <p:sldId xmlns:r="http://schemas.openxmlformats.org/officeDocument/2006/relationships" id="257" r:id="R75fd764cc8124b10"/>
    <p:sldId xmlns:r="http://schemas.openxmlformats.org/officeDocument/2006/relationships" id="258" r:id="Rf7296ce9ab194f91"/>
    <p:sldId xmlns:r="http://schemas.openxmlformats.org/officeDocument/2006/relationships" id="259" r:id="R82992f723b624251"/>
    <p:sldId xmlns:r="http://schemas.openxmlformats.org/officeDocument/2006/relationships" id="260" r:id="R4cd09a0368e042d5"/>
    <p:sldId xmlns:r="http://schemas.openxmlformats.org/officeDocument/2006/relationships" id="261" r:id="Rb0c6af6c14374fc4"/>
    <p:sldId xmlns:r="http://schemas.openxmlformats.org/officeDocument/2006/relationships" id="262" r:id="R7704d05ad47e4763"/>
    <p:sldId xmlns:r="http://schemas.openxmlformats.org/officeDocument/2006/relationships" id="263" r:id="R096775e67e9949aa"/>
    <p:sldId xmlns:r="http://schemas.openxmlformats.org/officeDocument/2006/relationships" id="264" r:id="R07120b5f826a4a20"/>
    <p:sldId xmlns:r="http://schemas.openxmlformats.org/officeDocument/2006/relationships" id="265" r:id="R654524f3cb1c4c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11018268e4fcc" /><Relationship Type="http://schemas.openxmlformats.org/officeDocument/2006/relationships/theme" Target="/ppt/theme/theme1.xml" Id="Ra6f7e76182c84548" /><Relationship Type="http://schemas.openxmlformats.org/officeDocument/2006/relationships/notesMaster" Target="/ppt/notesMasters/notesMaster1.xml" Id="R507bd9bc0b8049ec" /><Relationship Type="http://schemas.openxmlformats.org/officeDocument/2006/relationships/presProps" Target="/ppt/presProps.xml" Id="R42c3787d5ca34313" /><Relationship Type="http://schemas.openxmlformats.org/officeDocument/2006/relationships/viewProps" Target="/ppt/viewProps.xml" Id="R48841db686e94e0b" /><Relationship Type="http://schemas.openxmlformats.org/officeDocument/2006/relationships/tableStyles" Target="/ppt/tableStyles.xml" Id="R22d207fcc60a4acc" /><Relationship Type="http://schemas.openxmlformats.org/officeDocument/2006/relationships/slide" Target="/ppt/slides/slide1.xml" Id="R6f771656ef824376" /><Relationship Type="http://schemas.openxmlformats.org/officeDocument/2006/relationships/slide" Target="/ppt/slides/slide2.xml" Id="R75fd764cc8124b10" /><Relationship Type="http://schemas.openxmlformats.org/officeDocument/2006/relationships/slide" Target="/ppt/slides/slide3.xml" Id="Rf7296ce9ab194f91" /><Relationship Type="http://schemas.openxmlformats.org/officeDocument/2006/relationships/slide" Target="/ppt/slides/slide4.xml" Id="R82992f723b624251" /><Relationship Type="http://schemas.openxmlformats.org/officeDocument/2006/relationships/slide" Target="/ppt/slides/slide5.xml" Id="R4cd09a0368e042d5" /><Relationship Type="http://schemas.openxmlformats.org/officeDocument/2006/relationships/slide" Target="/ppt/slides/slide6.xml" Id="Rb0c6af6c14374fc4" /><Relationship Type="http://schemas.openxmlformats.org/officeDocument/2006/relationships/slide" Target="/ppt/slides/slide7.xml" Id="R7704d05ad47e4763" /><Relationship Type="http://schemas.openxmlformats.org/officeDocument/2006/relationships/slide" Target="/ppt/slides/slide8.xml" Id="R096775e67e9949aa" /><Relationship Type="http://schemas.openxmlformats.org/officeDocument/2006/relationships/slide" Target="/ppt/slides/slide9.xml" Id="R07120b5f826a4a20" /><Relationship Type="http://schemas.openxmlformats.org/officeDocument/2006/relationships/slide" Target="/ppt/slides/slide10.xml" Id="R654524f3cb1c4c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8fb435e2a5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0dfc6f253841aa" /><Relationship Type="http://schemas.openxmlformats.org/officeDocument/2006/relationships/notesMaster" Target="/ppt/notesMasters/notesMaster1.xml" Id="Rc6163abc4ddd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ac56fc0bd483f" /><Relationship Type="http://schemas.openxmlformats.org/officeDocument/2006/relationships/notesMaster" Target="/ppt/notesMasters/notesMaster1.xml" Id="R1fd29d349eb542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9ff1793a5f40ed" /><Relationship Type="http://schemas.openxmlformats.org/officeDocument/2006/relationships/notesMaster" Target="/ppt/notesMasters/notesMaster1.xml" Id="R8ee4551fe6b241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d1490cdd234f9d" /><Relationship Type="http://schemas.openxmlformats.org/officeDocument/2006/relationships/notesMaster" Target="/ppt/notesMasters/notesMaster1.xml" Id="R5c59dd54fef942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2b54e1ff74894" /><Relationship Type="http://schemas.openxmlformats.org/officeDocument/2006/relationships/notesMaster" Target="/ppt/notesMasters/notesMaster1.xml" Id="Raa7eef16a3564f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7e87f53a84a84" /><Relationship Type="http://schemas.openxmlformats.org/officeDocument/2006/relationships/notesMaster" Target="/ppt/notesMasters/notesMaster1.xml" Id="Rb093dec56ac147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e1c08d027e454f" /><Relationship Type="http://schemas.openxmlformats.org/officeDocument/2006/relationships/notesMaster" Target="/ppt/notesMasters/notesMaster1.xml" Id="Rcdf21a54938f44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8ca066fa6f4545" /><Relationship Type="http://schemas.openxmlformats.org/officeDocument/2006/relationships/notesMaster" Target="/ppt/notesMasters/notesMaster1.xml" Id="Re7608e4089ab43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1c2227f11b492d" /><Relationship Type="http://schemas.openxmlformats.org/officeDocument/2006/relationships/notesMaster" Target="/ppt/notesMasters/notesMaster1.xml" Id="R63551f06b33641f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1335f95e8840f7" /><Relationship Type="http://schemas.openxmlformats.org/officeDocument/2006/relationships/notesMaster" Target="/ppt/notesMasters/notesMaster1.xml" Id="R83a82c85b8bb47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cacb9de5a49e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9f4eaa191fe4474" /><Relationship Type="http://schemas.openxmlformats.org/officeDocument/2006/relationships/slideLayout" Target="/ppt/slideLayouts/slideLayout2.xml" Id="R085cae37dd35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5cae37dd35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4d0917f55a4dbd" /><Relationship Type="http://schemas.openxmlformats.org/officeDocument/2006/relationships/notesSlide" Target="/ppt/notesSlides/notesSlide1.xml" Id="R37e47407b76549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c39ff1dc334ccc" /><Relationship Type="http://schemas.openxmlformats.org/officeDocument/2006/relationships/notesSlide" Target="/ppt/notesSlides/notesSlide2.xml" Id="Ra5acc74c58164c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b5a0a71744756" /><Relationship Type="http://schemas.openxmlformats.org/officeDocument/2006/relationships/notesSlide" Target="/ppt/notesSlides/notesSlide3.xml" Id="R0fa3d872ba914f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f76e5018804021" /><Relationship Type="http://schemas.openxmlformats.org/officeDocument/2006/relationships/notesSlide" Target="/ppt/notesSlides/notesSlide4.xml" Id="Rf23179749c074d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5759c3e1c4363" /><Relationship Type="http://schemas.openxmlformats.org/officeDocument/2006/relationships/notesSlide" Target="/ppt/notesSlides/notesSlide5.xml" Id="R6d46c807aefd47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a154d9c064078" /><Relationship Type="http://schemas.openxmlformats.org/officeDocument/2006/relationships/notesSlide" Target="/ppt/notesSlides/notesSlide6.xml" Id="R4ec986868c9341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13a99b73ec4e7d" /><Relationship Type="http://schemas.openxmlformats.org/officeDocument/2006/relationships/notesSlide" Target="/ppt/notesSlides/notesSlide7.xml" Id="R1125d6a18ade40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357c906a1042a0" /><Relationship Type="http://schemas.openxmlformats.org/officeDocument/2006/relationships/notesSlide" Target="/ppt/notesSlides/notesSlide8.xml" Id="R24f82317980a44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ee0803fb144421" /><Relationship Type="http://schemas.openxmlformats.org/officeDocument/2006/relationships/notesSlide" Target="/ppt/notesSlides/notesSlide9.xml" Id="R1c3c0d74a0e04b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1570b8a69f4ee6" /><Relationship Type="http://schemas.openxmlformats.org/officeDocument/2006/relationships/notesSlide" Target="/ppt/notesSlides/notesSlide10.xml" Id="Rcd2625e991184ee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260EE-6C47-4AE9-9EEE-C3A5095C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6332B-BDE5-428D-B40C-26163E62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CDAD1-0578-4950-B6EB-4D86DDC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157411-F47E-4088-9843-6D0FFB36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332857-5D73-4006-953A-E177C39B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67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TEAM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970BA-C656-4317-B955-7FECE127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OfficeOutline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三件套解析能力展示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74CDA-7D26-4EF6-A3E3-00A95B10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704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当前工程已能对 .docx / .pptx / .xlsx 做静态 OOXML 结构化提取；输出统一的 Markdown/XML 标签模型，适合内容索引、结构摘要和下游转换。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8F3DD-FE44-47DF-ABB1-AA0024C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54F3B-73C9-45C4-9A9C-3C45328C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文件类型已接入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BE80C3-149D-42EF-B8CC-4C7A10F9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18+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1014F-E133-4B01-9FAF-022C7991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核心输出标签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F3739-28E6-427E-9D7D-1D34F453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052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48949-EE58-435E-8771-E2C6AF12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86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解析层：包 / XML / 关系 / 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00DDA-F855-49E4-A0BA-1A835D82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192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AC3F1-2904-4B9F-9B49-3DB028E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.docx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DF36C-5363-46E5-BA53-0B9DA0F0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90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WordprocessingML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647ED8-8B15-45ED-B21A-7021C281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76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段落、表格、修订、书签、媒体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1EFE1-58D8-4C99-BEE9-3B052D7F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B5C07-54CB-4191-B6D2-39562DF2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.pptx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C63AD7-8BA3-4230-BF2F-6355EBFD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PresentationML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A68CB6-25C2-4162-8794-858D4045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337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幻灯片、形状、文本框、图表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3B803-1273-4FA8-A25C-9F8FACEF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3380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038F4-B49D-400E-A41C-BDBE81C6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05250"/>
            <a:ext cx="895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.xlsx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9CD32-C5A0-43F6-BEB7-E322D61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SpreadsheetML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79BDF-66E1-4C2D-92C9-966ECCB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91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工作表、单元格、公式、合并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A9856D-F158-470E-AEF7-2BAB33EB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343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2026-05-18</a:t>
            </a:r>
          </a:p>
        </p:txBody>
      </p:sp>
    </p:spTree>
    <p:extLst>
      <p:ext uri="{BB962C8B-B14F-4D97-AF65-F5344CB8AC3E}">
        <p14:creationId xmlns:p14="http://schemas.microsoft.com/office/powerpoint/2010/main" val="17379981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9F8AE-9DE9-4ABA-BDA9-5B96251B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9FF05-D270-4C93-9EFD-3C35349F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FFE9D6-A9E1-4499-BCA2-A92E4CEE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PARSING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48C26-E801-4620-BBD5-6743A4F9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解析不是“打开 Office”，而是沿 OOXML 包结构做静态语义抽取。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BCE46-BB63-4AC2-B404-BD0641FA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当前实现不依赖 Office/LibreOffice 渲染；核心路径是 unzip、XML 解析、关系映射和标签化输出。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089E4-CC3E-4DEE-99C1-CFDCE784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20F52-8DBD-4EC5-AC8B-00B8FC0F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DDD1B-D247-4AD2-8A08-B914246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33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ZIP 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545C1-61FB-4ED4-931C-9A3925D7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docx / pptx / xlsx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本质是压缩包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B05D58-10C5-4339-9026-CCC850E3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24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DE87D-575D-4EF3-A994-94EF7A3A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E692B-54AF-4522-BE57-30E7588B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FEFE1-1EA4-448F-A362-8795A81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56EA5-606C-4DF1-A5EF-FC2A771F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33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XML 部件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F2D7D-2A71-479A-BB4B-0A2E303B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document.xml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slide*.xml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sheet*.xml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DB81F-0967-4B97-AAAE-018BAB1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24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2EB43-0149-4D11-8818-DE585FFE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76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93014-2DDE-4B7A-81F4-FEC6C294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D85A3-545E-4497-9CA5-12A11FE7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DE2E9-9FBA-4251-8633-2588F3B1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33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关系映射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DF6B1-6D3D-4CE4-825C-8F9E2577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.rels 解析 rId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定位图片 / 图表 / 超链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BBA22-B7CF-411B-A35D-665380BE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24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A8B42-4F33-4EC1-98B8-05859798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76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B90C35-87F3-4DFB-BD38-187D9964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6AF82B-F693-4DFA-97D6-7EC2314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49B32-006F-4FBA-BDDE-0BD5324F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33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语义解析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F553F6-438C-42CE-9F26-1F536FE2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Word / Drawing / Sheet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结构分支处理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9CEF8D-6BC6-4059-B9BF-FA125766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242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A5402-077C-4605-957A-F64EDEE2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76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5AD578-F0E9-4AA9-A1EB-4BD9284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11D4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B93699-61D3-4D46-B7E9-2C504724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3702B2-7290-4432-8787-D4D3D629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336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Markdown 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0B9326-0BE9-4934-B38D-E0DB96F1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099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XML 风格标签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稳定属性契约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83615B-C33D-467A-9ADF-7159ECF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Package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B3B9F5-5CB7-48E9-8CAE-850272D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解压到临时目录，按包内路径读取 XML 和媒体文件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8C9465-BFCF-4B85-8718-23C1A9F7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942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855C2E-0BEC-44A0-A0AC-E18C3C5D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XmlParser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88D13-396E-47BA-9F7F-C77D70BF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244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轻量 XML DOM，按 localName 规避命名空间前缀差异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AD7A3-4502-44F8-824B-3F9828CF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942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933858-7345-40C7-80A9-54A6505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RelationshipMap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7EF2E1-18CF-49DD-BF6B-4FC49ADF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244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读取 part 对应的 _rels/*.rels，解析 rId -&gt; target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C8D41A-989F-43DE-8CFA-81B2635F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42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2703B3-61BE-4799-939E-4E6E378F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24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Emitter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755C20-1EAF-4A69-BF5D-EFB5D4D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按 docx / pptx / xlsx 分支输出统一 Markdown 标签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78052F-E681-4253-8897-300B1D9D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9429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95CBEF-C9F1-4F59-8D90-35A92DC5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D75EB9-A177-46DC-8EDB-EFD5FAB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53EE39-F0F4-4DDD-BC33-92D4D89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65109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7D0FE-277B-45C7-A72F-A63121EC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D8177-9764-461F-A3C4-240779E0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0BBC673-20E6-4C48-AE36-FF1A909D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OUTPUT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CCD43-CB69-43FB-ADC7-F4D8C82D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输出模型统一成标签和属性，便于后续检索、摘要和转换。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04BE1-9C4A-492F-B72B-4A0171C6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同一类语义在三件套中尽量使用相同标签名；文件差异沉到属性里。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3A01B-2752-4F91-BD8B-0BC494F5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182A6-8623-4101-AF3F-9506D93C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629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&lt;paragraph tag="paragraph" alignment="center"&gt;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&lt;text_run tag="text_run" bold="false"&gt;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  &lt;plain_text tag="plain_text"&gt;示例文本&lt;/plain_text&gt;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&lt;/text_run&gt;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&lt;/paragraph&gt;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&lt;table_cell tag="table_cell"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ref="A24" merged="origin"</a:t>
            </a:r>
          </a:p>
          <a:p xmlns:a="http://schemas.openxmlformats.org/drawingml/2006/main">
            <a:pPr algn="l">
              <a:def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E5E7EB"/>
                </a:solidFill>
                <a:latin typeface="Aptos Mono"/>
                <a:ea typeface="Aptos Mono"/>
                <a:cs typeface="Aptos Mono"/>
              </a:rPr>
              <a:t>  rowspan="7" colspan="2"&gt;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A3C26-1566-4C3B-8C10-BAB95DEC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433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DE8AA-D1F5-4862-AF93-744B174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4312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文本格式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193F2-CE67-48B7-B2CB-78173175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336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fontName / fontSize / fontColor / bold / italic / underline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529A0-A12C-441D-874E-5418BB3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28900"/>
            <a:ext cx="433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D7318-E115-4258-ACC9-40B9E2D2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336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段落结构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7563D-DDBC-4C41-859C-DE2D05AA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alignment / indent* / listId / listLevel / listType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CE613-02D4-4CD5-97C8-5B53D91C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19450"/>
            <a:ext cx="433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E13CD1-CF95-4F75-A5C2-B34114E3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2422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表格结构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6FD730-F9D7-47DC-A55E-44A1B474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rowspan / colspan / merged / mergedRef / origin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C19F8-52AF-4825-9A03-70AC97ED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433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4CED1-5AFE-4A9F-BF49-7D9BF3E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147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媒体关系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66E970-98E7-4409-A759-E13CDE9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052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relationshipId / target / contentType / sizeBytes / description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614859-FFD7-482A-97B9-EF2B4CE7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00550"/>
            <a:ext cx="4333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85028-1EC5-41CD-B059-9A0E62A2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0532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图表数据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3F539-239C-415D-BF7A-C18B1E1B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958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chartType / title / series / categoriesRef / valuesRef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AE64-3955-4F5A-9E2D-68D2E2E2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57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工程含义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DCC28-5FE9-4567-930F-9EFAB1B1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2578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输出不是复刻排版，而是保留可以被程序稳定消费的结构证据。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90F54-E0EE-47A2-BC74-F7DB8A9F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3FDE13-A578-4F33-A085-D076CFBF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91000-7435-425C-9531-3A48110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18234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C119E-89C3-4511-9552-4BEECD1E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8CDFB-377D-4DFC-AF9D-04DCAA19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99B835-1393-4628-8D39-4635D4B0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DOCX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9C21B-8A7A-4539-A22E-73E4172C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DOCX 已覆盖正文结构、格式、表格、媒体和文档痕迹。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C1E93B-2BBF-46A8-B3DD-9F99C23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解析范围包含主文档、页眉页脚、脚注尾注；列表依赖 numbering.xml，样式依赖 styles.xml。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C819-E25D-4AB2-9C6B-390CE399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B5392-D948-43D2-A84F-DAA23D4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文档部件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BDFBC-AEF3-4C79-8DD7-A33C2108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145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word/document.xml、header*.xml、footer*.xml、footnotes.xml、endnotes.xml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910E3-AFD3-428D-8A99-08EF1ED1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77138-8E73-466D-AC99-E97D1E3C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574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段落与文本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7F888-EC96-4BA9-A109-2D82FC36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paragraph / text_run / plain_text；字体、字号、颜色、粗斜体、下划线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99E589-900A-4AF1-8B09-D5589A8A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64144-408B-482B-AE72-399A29AD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段落语义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6E8B6A-2B2D-4BBE-9FF6-BFACFBD8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813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alignment、indentLeft/Right、indentFirstLine、listId、listLevel、listType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7D580-86BE-4102-BD4A-11D204EA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E5BA3-E900-4516-959C-DC3F2B12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242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表格结构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B4E0E-E34D-41AD-B4E7-D3D0718C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table / row / cell；rowspan、colspan、vMerge、merged origin/covered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EC946-F3A9-402C-8645-6DB23DE9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DB31E-D775-442F-9776-D4F3F568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媒体与图表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647A0-1DBE-4C80-BF06-90C50AF6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481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drawing_object、image、shape、text_box、chart、chart_series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9A1D2-8CC9-4ABE-A44B-C0A48418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57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B"/>
          </a:solidFill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119E8-9273-4B49-BC38-0EF65E0E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9107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痕迹信息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C92856-B03B-494A-9486-A90D767E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8155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revision、bookmark、hyperlink、formula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5BB54-DC1F-43FE-8C18-B28AF23C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57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5F762-1E09-432B-894A-EC81D9A2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62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可展示结论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B5A7C-0915-4DB4-B45A-1437B4FF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43550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Word 文件可以被拆成“正文流 + 表格网格 + 媒体关系 + 文档痕迹”，适合做结构化索引和内容审计。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509075-73D5-4CAA-9F7F-133A00A5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7B18A2-7CD2-4D7D-ADE8-7E0243E2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50045A-CB43-4789-8BD7-C7260DE6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845221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160DB6-1C74-49DB-8F6B-9EC6410C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A890B-7BE3-499C-8365-DAABD344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32146DB-700C-47A0-941A-2A871506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PPTX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71215-2FF8-4B05-9658-FFCAB31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PPTX 按幻灯片对象树解析，覆盖形状、文本、表格、图片和图表。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1BBE6-608B-4A78-9763-1A800788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当前解析 slide*.xml 直接对象；母版/版式继承尚未合并。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6FF3D5-2C8E-496F-A9BE-F76264E1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0366E-FD64-474A-9591-4C3BF343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8126E-6F0E-42D2-A95F-D6A272DD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presentation.xml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19257-0486-4B96-9291-FB77A244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051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读取 sldId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定位 slide*.xml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07481-63DF-4C37-B3EC-88523E00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AF307-D799-456E-B55A-04911CA1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7AC67-F611-42C6-830D-3B02CF5B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288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slide*.xml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959E1E-FF39-4481-8114-BE902B7A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遍历 pic / sp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graphicFrame / tbl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C4807-05BB-4C89-8AE6-597825D2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C97AB-D263-4227-B481-F3CF117A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3792B-0796-48A3-92A5-6732C560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对象输出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60B00-F461-423B-A2B5-429A6EC6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image / shape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text_box / table / chart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1D9AE-2434-4085-9B7A-ED525EB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27BC88-97BB-46C6-9730-35F6078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666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4758A-E404-48CD-9F2E-F558AE7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28875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关系追踪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6687E-368D-44A3-969D-F005C95B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05100"/>
            <a:ext cx="17716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rId -&gt; media</a:t>
            </a:r>
          </a:p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rId -&gt; charts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B53C7-039F-4082-8349-0EFEC7C0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724150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961D1-AD1E-4E38-A80A-8924B798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D79CE-A6C3-448E-9E98-9D0D6113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724150"/>
            <a:ext cx="4857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29E19-3E91-4DDA-A832-8782E4C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87D02-F002-4F5E-85A0-8784CD9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504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B15BB-F3F7-4837-A2CC-7ECA831D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76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9A1B6F-3161-46B0-88F1-4CB744EB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8DA735-A793-478A-9A68-F737DEEE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文本框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26DD0-7C99-48FF-88FD-629C336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005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DrawingML 段落、文本 run、超链接、对齐和缩进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83AAEE-7C8B-4885-B385-859047BE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07FF28-D37A-45D5-81AB-6E6D167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005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表格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2DDD0A-E5EA-4E80-B90C-9EF5422D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005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a:tbl、行列、rowSpan/gridSpan、hMerge/vMerge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1790D6-8E22-41A2-A307-8A08D408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71374B-D5E6-4506-B1D0-AA0EAB58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BFBAA-1590-45F3-8A93-3DD37B1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8157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relationshipId、target、contentType、sizeBytes、alt 描述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A331C-EC03-448E-8828-5F8E7FB6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38700"/>
            <a:ext cx="4457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7A5EAB-3BBF-4D9C-B99C-448E49AB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91100"/>
            <a:ext cx="95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60D258-1B53-4A71-AD34-2F3F9FD2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98157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chartType、title、series、数据区域引用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9AA2A6-CCF0-4EDD-B92A-DDBA880B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436456-6556-449E-88EA-F8ACEC53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64BC07-3785-4348-B4BD-96E43EA2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7995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C51A42-DE9A-454E-A27A-696C6B0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36DEF-060A-4DE5-8378-E63BEA7F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F89D92-7820-4395-B822-D12E5F66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XLSX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ED44D-B138-4744-925D-672C5657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XLSX 以工作簿关系为入口，同时处理工作表网格和绘图部件。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6F448-2717-4916-A084-9F5F0329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它读取单元格缓存值和共享字符串，不执行 Excel 计算。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6797C-0899-47AF-9A2A-63DE853C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E776D-FD27-4EC5-A363-2BCB7DF6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workbook.xml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77DA6-65EE-4032-A3CA-06BE2F72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0859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sheet name + 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916F9-1186-4684-8654-0BD5CA01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860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9A927-BF26-417D-869A-92A45ADF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ABFE9-0246-4DA8-BE79-6A0B2482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worksheet.xml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7235C-D5FA-4424-B877-3186E3E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717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row / c / v / f / hyperlink / mergeCell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EE264-51C7-4AFF-9D57-0F0C144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718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91BFB-00BE-42DA-8129-D793B42B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2D5B5-9443-49F2-9E6C-716A7B6F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575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styles.xml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235E0-F1EB-4653-B5CD-107C0960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575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font + alignment + verticalAlignment + indent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A1E59-B0B4-466D-85AE-A734D1A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8576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673B2-07D3-4CDF-B566-C3D4CBAE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9F711-1253-42F6-9028-7C780B36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drawings.xml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64CF67-BA68-454C-BBF0-A03B0DA7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433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image / shape / graphicFrame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94D02D-AE4D-4343-AB26-AC685D36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5434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E8205-7699-47F3-81C3-B6B4670C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1134E-C936-4050-B3D4-53DA9BE5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charts.xml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9EDBD8-00BB-4816-ABF8-9ECFDC60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29175"/>
            <a:ext cx="1009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chartType / title / series refs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396E4E-FC3B-4D7F-9426-BC0A7D5F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19300"/>
            <a:ext cx="61912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269106-8E6C-4ED8-8158-445F4CA6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单元格输出焦点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8A93B-F6C4-4E06-A604-89B611C8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8881A-9905-4912-988A-BEC372ED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ref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E6225-EF78-4AAD-BE89-AFC90830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A24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D92012-3D5F-4F65-BBA5-3EF714B8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956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C8253F-157B-4655-9402-E439D914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90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8B938C-FE29-4FEA-BBE9-C88AC9F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004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shared string / cached 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341A0D-D7D9-43D1-8929-37298C96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956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7B440A-5D4B-4880-9DA1-D2ACE6FC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90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formula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2E7DF7-850A-4AFD-B5AE-095EB0FD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004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SUM(A1:A5)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0166CF-EB2F-45E4-BE93-15B4CF33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719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B5CE29-D8B8-4B0A-B28F-9F60F925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67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merge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83E471-D405-4A47-8765-7998760D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mergedRef + rowspan/colspan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9493C0-9FEF-4D42-A6FA-63812FC2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008B1E-23D6-410E-A123-FC2AC605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style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6858EF-6790-411E-BAB2-C8D4BECB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767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font + alignment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A2062B-5914-4997-89EA-9455D253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1581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E5BF43-FFD3-4B1B-8293-CCC8344E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67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link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5A123D-892A-4848-9FFF-93686243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07670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target URL / location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7A04A13-47F5-4763-88F5-567E1584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29150"/>
            <a:ext cx="514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工程含义：XLSX 的“内容”和“图形”不是同一条 XML 路径，必须同时追踪 worksheet relationships 和 drawing/chart parts。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A2D06A-089A-4403-930F-8A864156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1C6638-2BE6-4AA1-99BB-1B7728C9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301CB8-AF9C-419B-9A5D-D9AFA36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41046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D4CB47-6F1B-480A-9DB0-1AB3B999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CE3C8-B2EF-4EAB-9F9C-9A794675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327A855-42B9-4A62-B9C8-548908FD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COVERAGE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673C5-03EF-414D-BF80-FEE38D8C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跨三件套能力已经对齐到一套核心语义；差异主要在源 XML 位置。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A8F35-55A7-447D-9305-4116EC2E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支持 = 当前可提取；部分 = 当前输出摘要或直接对象，不含继承/渲染；可扩展 = XML 中有来源但未实现。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023C2-C5EC-4E1E-A702-FC91524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B0B52-2382-420D-A244-10832076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4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DOCX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6D852-4A1B-4BD8-9F48-AE7DA01E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4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PPTX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88679-2274-41E2-98C6-4AB6F55E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XLSX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58FB2-50E2-41BF-98B7-CBEC6A3C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541E7-430C-4C18-9528-C769E43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文本与基础格式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3658B-81F8-433F-8CFB-989E0F47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860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03A5F-454C-4D21-BCBB-93AC5E8A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55565-BA32-4118-B8CD-B984171C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A087AF-592D-4333-9F68-00B194F0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622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33989-8E0A-4B22-AB6A-8C9D579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860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6DD48-161E-49A0-8120-97E60CD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34DE2-1643-47BE-8E23-B6E03D0C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3EAD96-6FC5-48D2-B0DF-CA3469A5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段落对齐/缩进/列表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89F5F-BF18-4839-8FE6-8260E7A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81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299B7-8D8C-4239-8183-6DB33D85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20EE5-E9E6-4780-B731-87C345C9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81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5668D-11A4-44E7-A0AF-7A39243E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0B5833-31F9-4036-A639-603DE380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4748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70FE2-B60C-4520-B241-5C29D93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不适用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6771F-DDDB-4A24-AAF6-93F256A8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21C60-F7BC-424C-880D-219441DF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表格行列与合并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E6B891-06E4-4698-BFFA-7DB1E30F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76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4939FB-473D-4880-AE65-4BF38BC3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091462-04E2-41F4-A7F4-AE976DD5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76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43603-7962-4B7A-8716-80B5DE76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A6301-D43E-4F02-BEDF-A013DC9C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C4D7F4-679E-45CC-8AA5-328CFB8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50BB25-6569-4752-BB26-41181422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81182A-D6C7-4DC7-988A-35A79D2C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图片/形状/文本框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88CEAF-8CEB-44DC-9B00-74A2311F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719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660A1A-A7E1-4658-BBCD-58859BBF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09830A-51E9-4F08-AD81-AF9D9988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719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9FB19-FA79-47F6-86B1-1278B392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481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08F6F-53F2-4CE2-BB52-30118260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719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55E9E7-A9D4-4305-9D79-3F90876D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481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EB0F78-0488-4330-855A-C9D9E47C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B202FD-07FE-47FA-9F1E-7FE3B898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图表类型/标题/系列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BB0C3A-7920-4585-B550-00D628BA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672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B5247-B281-474D-9833-40B894A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434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B2320C-7A07-4707-BF1F-403FE83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672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EBF3CB-1753-49DA-A83C-974807F3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434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41D306-0B9B-4BC2-947A-F245016A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672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396D5C-C78E-468A-9AB5-513AF48F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434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9BD02-B7D4-4ABE-B720-7EE977F7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823191-B529-4ADA-8F59-839269D2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修订/书签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B661A5-776A-42E2-BB7F-2ABA6608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625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45E42D-7E77-4376-AA48-55BD979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38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支持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44651A-51E1-478C-8549-313DA02C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7625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D7282F-7B91-4483-8776-BB30B47B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38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E7DDF9-E15F-44E3-BD90-F9D2A867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842164-BD6C-444A-ADB5-80DE66C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97706"/>
                </a:solidFill>
                <a:latin typeface="PingFang SC"/>
                <a:ea typeface="PingFang SC"/>
                <a:cs typeface="PingFang SC"/>
              </a:rPr>
              <a:t>部分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283C70-D641-4598-A51B-CE386F5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DD3E0E-E3ED-4AC0-B6C2-FBF18AA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959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批注/备注/条件格式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AB552D-2629-4DBB-BC8D-F0FF9F95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578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34CC29-BFA4-4EBB-AD0D-999ED413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34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可扩展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161EDF0-34EE-408D-96A2-877FEF4C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578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5B71F4-7AE7-4C2D-920A-C6BEE267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34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可扩展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70A7F2-3CE8-4B17-9A26-72852D99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57800"/>
            <a:ext cx="1028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1B3B85-CFB8-4B9D-96F0-6F91283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34000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可扩展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152A3D-C77E-4FF7-9D2E-32210AD0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CEDE14E-1E13-4C9F-AB36-413F7F4D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A7C361-BFC9-49BF-9B10-CF76B857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5654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A565D-6E90-447B-ADE2-03903BFB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39306-F59B-41AA-BF11-E5E64FEB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81A8D7-714C-4AB1-93EF-453D8831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EXTENSION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76800-4C93-495B-86BE-9245566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下一步扩展不需要推翻架构，只要继续补 XML 部件和属性映射。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2509C-54AD-4F40-B026-6D061157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优先级建议按“业务可见价值”和“实现风险”排序。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8697-9BFC-4364-B86C-E6186C7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3865E-2C5F-432E-8CFC-0B9A0BE4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FADA1-A5E5-4EBF-95DA-ABBBAD34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2E9DDD-B32B-4365-8D7E-06E88FAE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结构增强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93856-AA4B-47A2-A356-E204FACA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038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6603D-AA94-4D39-89FE-FE5D3056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批注 / 备注 / 内容控件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脚注引用锚点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工作表数据验证与筛选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CEDA1-F833-4B12-A1E3-BCB1BB3A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AFAFE-5BDF-4ED0-B264-7804FAD4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FECAC-39C4-42A8-B58C-6AF076A2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59669"/>
                </a:solidFill>
                <a:latin typeface="Aptos Display"/>
                <a:ea typeface="Aptos Display"/>
                <a:cs typeface="Aptos Display"/>
              </a:rPr>
              <a:t>P2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3F916-1160-4CF9-A880-30DD1033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样式深化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957BA-E84E-441A-9D6F-EA0F298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00350"/>
            <a:ext cx="2038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476F81-A64E-4E63-9C22-5CE10B7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段前段后 / 行距 / 边框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单元格数字格式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形状填充和线条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243BAA-1204-4DF9-ACEC-4F6A270B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74C29-ECBE-4C01-900B-717056F2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E3C92-9569-45D5-95CF-6569AA09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D97706"/>
                </a:solidFill>
                <a:latin typeface="Aptos Display"/>
                <a:ea typeface="Aptos Display"/>
                <a:cs typeface="Aptos Display"/>
              </a:rPr>
              <a:t>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6B8B8-8910-40AC-912A-9FF6F3C9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版面与资产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D405A4-5AA3-4804-A9E5-CCF24837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2038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92B84-D167-48C8-A5C2-192A9CF3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图片位置尺寸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媒体导出路径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幻灯片母版继承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FEB09-5743-4B0D-8A8A-32A88666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7A2CE-4A25-4AE9-B7B2-795E0B84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38350"/>
            <a:ext cx="2381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ECD6EE-D457-4973-9AFC-C275DC92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431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11D48"/>
                </a:solidFill>
                <a:latin typeface="Aptos Display"/>
                <a:ea typeface="Aptos Display"/>
                <a:cs typeface="Aptos Display"/>
              </a:rPr>
              <a:t>P3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308F7-48F0-4C8E-B2C2-0A6E2FC2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高级对象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B5F8F2-22CA-4DEA-AF4F-0A9673A1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20383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AA8076-9CAC-4E7D-9592-D4C60502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2895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SmartArt / OLE / VBA 摘要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复杂图表外观</a:t>
            </a:r>
          </a:p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线程批注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52DB2-3C70-486C-A76D-97FA5F45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52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B9050-0332-4FD2-9854-68F09129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483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修改方式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B94809-7DA3-4CD4-BA59-8BC47C0F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483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扩展新标签通常只涉及：定位 XML 来源 -&gt; 解析属性 -&gt; 添加 emit 分支 -&gt; 补 corpus smoke test。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CEB7E2-3068-43DB-88E4-DC5CF39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31B278-B08B-4875-BF9E-97CAFF3F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822D19-F093-40D4-91DE-476CEFC4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104814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938945-BDAA-4720-ABEE-8BF884B1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6F8A6-3639-4EBC-9A5F-A6CB42E8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094B588-8521-43CE-9DE4-63DFA5D8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HARD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4EC30-5DB3-4869-9029-2BBB1762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当前工程的边界来自方法本身：它是静态提取器，不是 Office 渲染器。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3F471-9381-4926-B11F-B343157A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这些限制不是 bug，而是需要额外引擎或外部系统才能解决的能力边界。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943C4-497B-43BA-B0E3-CF0508E6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8AC50-595C-49CF-9320-4C7C411C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旧格式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30A91-7201-413F-AA83-5C9C59C1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.doc / .ppt / .xls</a:t>
            </a:r>
          </a:p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不是 OOXML zip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7D03B-FE31-4238-8EEA-7E8FC29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FE1E3-6B91-4BFB-A909-1324B7A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加密文件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89947-26C9-43E0-9800-22DCB21C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无法 unzip 读取 XML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00F41-4E4C-4036-A1FF-6CD21A0B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FBD31-81EC-4E9C-9ADD-6A0DE38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视觉版面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363B0-D529-47E5-96FC-C6AD1D52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不复刻分页、换行、图层渲染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5DAF6-0C8D-4E67-B977-BDFD9D09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4E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7FE748-0BBA-4374-A840-E49DDC8C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52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公式计算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F32D59-F84B-4055-974C-9CEC82B3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读取公式和缓存值，不计算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6FAF1-F008-4D3C-89EB-C8FE5750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283CD-606F-4A54-90BA-A0EF0B3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图片语义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7332D7-4C23-4DB7-99F3-0E770399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只取 alt/描述，不理解像素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2C4E9-5882-4A61-809A-FEA4C55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2838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64958-551C-44BF-B1FE-57D64D8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52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宏与 OLE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FA16CC-C563-4783-93CF-D5F8D6AD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2324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475569"/>
                </a:solidFill>
                <a:latin typeface="PingFang SC"/>
                <a:ea typeface="PingFang SC"/>
                <a:cs typeface="PingFang SC"/>
              </a:rPr>
              <a:t>VBA/OLE 多为二进制或外部对象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BC8A59-17AB-4802-8301-FDDD1B3B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923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边界判断原则：如果信息不在 OOXML 包内，或需要 Office 排版/Excel 计算/视觉识别，那么当前方案不能可靠给出结果。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31B3C-AD0B-4197-8763-9AA1DFA4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F45225-440C-42E8-9CD1-83A41D41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OfficeOutline · OOXML extraction capability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06E88D-4E77-475B-B98C-BDC9D39C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18784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8B3F25-5551-4FDF-8F2B-A743D47E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44611-E709-4938-B1B5-314A9541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017AE20-5196-4591-BCB0-5B5D6946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529EE-9E41-4975-8ED6-9317782D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展示结论：当前版本已经适合进入</a:t>
            </a:r>
          </a:p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结构化抽取和下游消费场景。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970F-CC6B-4656-AA07-D1140BF5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3359A-89CE-4DA7-8133-E4136CEF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立即可用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567C2-56A0-4DBC-BAC1-38871E6D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0035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文档大纲、全文抽取、表格结构、媒体/图表引用、检索索引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29652-92C9-4067-9503-7EFF7D4E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1544D-26D6-43E8-8471-601B26A3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9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短期增强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BD424-B0F7-4A2E-96DB-A28F2C02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批注、备注、数字格式、图片尺寸位置、样式深化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472EA-603F-4185-A321-5CEBF34D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D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3F3CE-5CFC-4302-9562-522E9601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另立项目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2AB8F-E5CD-4D80-A6E8-EE64542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676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Office 级渲染、Excel 计算、图片语义识别、旧格式和加密解析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CFF74-EC99-415B-9D47-C1302045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219200"/>
            <a:ext cx="2057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CDE5E-E5BB-41ED-9B97-9FA07E90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.docx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.pptx</a:t>
            </a:r>
          </a:p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.xlsx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7E47C-0631-4EDB-8A93-A99039F8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409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93DD1-DCD4-4A80-8D97-1642907F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352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统一输出</a:t>
            </a:r>
          </a:p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Markdown/XML 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FDA16-A6BD-4BB8-9F0F-F512C12E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2E8F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E2E8F0"/>
                </a:solidFill>
                <a:latin typeface="PingFang SC"/>
                <a:ea typeface="PingFang SC"/>
                <a:cs typeface="PingFang SC"/>
              </a:rPr>
              <a:t>建议用法：把 OfficeOutline 定位为“结构化证据提取层”，而不是“文档渲染层”。</a:t>
            </a:r>
          </a:p>
        </p:txBody>
      </p:sp>
    </p:spTree>
    <p:extLst>
      <p:ext uri="{BB962C8B-B14F-4D97-AF65-F5344CB8AC3E}">
        <p14:creationId xmlns:p14="http://schemas.microsoft.com/office/powerpoint/2010/main" val="602783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2026-05-18T03:39:25.6410000Z</dcterms:created>
  <dcterms:modified xsi:type="dcterms:W3CDTF">2026-05-18T03:39:25.6410000Z</dcterms:modified>
</coreProperties>
</file>