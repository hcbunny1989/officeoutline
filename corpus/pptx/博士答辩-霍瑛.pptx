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7"/>
  </p:notesMasterIdLst>
  <p:sldIdLst>
    <p:sldId id="256" r:id="rId2"/>
    <p:sldId id="302" r:id="rId3"/>
    <p:sldId id="344" r:id="rId4"/>
    <p:sldId id="398" r:id="rId5"/>
    <p:sldId id="400" r:id="rId6"/>
    <p:sldId id="401" r:id="rId7"/>
    <p:sldId id="357" r:id="rId8"/>
    <p:sldId id="358" r:id="rId9"/>
    <p:sldId id="361" r:id="rId10"/>
    <p:sldId id="362" r:id="rId11"/>
    <p:sldId id="364" r:id="rId12"/>
    <p:sldId id="365" r:id="rId13"/>
    <p:sldId id="367" r:id="rId14"/>
    <p:sldId id="363" r:id="rId15"/>
    <p:sldId id="368" r:id="rId16"/>
    <p:sldId id="369" r:id="rId17"/>
    <p:sldId id="310" r:id="rId18"/>
    <p:sldId id="370" r:id="rId19"/>
    <p:sldId id="371" r:id="rId20"/>
    <p:sldId id="373" r:id="rId21"/>
    <p:sldId id="374" r:id="rId22"/>
    <p:sldId id="375" r:id="rId23"/>
    <p:sldId id="376" r:id="rId24"/>
    <p:sldId id="402" r:id="rId25"/>
    <p:sldId id="339" r:id="rId26"/>
    <p:sldId id="403" r:id="rId27"/>
    <p:sldId id="340" r:id="rId28"/>
    <p:sldId id="377" r:id="rId29"/>
    <p:sldId id="378" r:id="rId30"/>
    <p:sldId id="312" r:id="rId31"/>
    <p:sldId id="379" r:id="rId32"/>
    <p:sldId id="380" r:id="rId33"/>
    <p:sldId id="381" r:id="rId34"/>
    <p:sldId id="383" r:id="rId35"/>
    <p:sldId id="382" r:id="rId36"/>
    <p:sldId id="384" r:id="rId37"/>
    <p:sldId id="385" r:id="rId38"/>
    <p:sldId id="386" r:id="rId39"/>
    <p:sldId id="387" r:id="rId40"/>
    <p:sldId id="388" r:id="rId41"/>
    <p:sldId id="343" r:id="rId42"/>
    <p:sldId id="404" r:id="rId43"/>
    <p:sldId id="342" r:id="rId44"/>
    <p:sldId id="389" r:id="rId45"/>
    <p:sldId id="350" r:id="rId46"/>
    <p:sldId id="391" r:id="rId47"/>
    <p:sldId id="393" r:id="rId48"/>
    <p:sldId id="349" r:id="rId49"/>
    <p:sldId id="394" r:id="rId50"/>
    <p:sldId id="397" r:id="rId51"/>
    <p:sldId id="352" r:id="rId52"/>
    <p:sldId id="395" r:id="rId53"/>
    <p:sldId id="390" r:id="rId54"/>
    <p:sldId id="396" r:id="rId55"/>
    <p:sldId id="399" r:id="rId5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1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540" autoAdjust="0"/>
  </p:normalViewPr>
  <p:slideViewPr>
    <p:cSldViewPr snapToGrid="0">
      <p:cViewPr>
        <p:scale>
          <a:sx n="75" d="100"/>
          <a:sy n="75" d="100"/>
        </p:scale>
        <p:origin x="-1824" y="-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1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4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0.wmf"/><Relationship Id="rId1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32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32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8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74EE7C3-6B80-4AB5-AC32-BC0E40054D85}" type="datetimeFigureOut">
              <a:rPr lang="zh-CN" altLang="en-US"/>
              <a:pPr>
                <a:defRPr/>
              </a:pPr>
              <a:t>2016/6/2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9C36767-707F-4118-8AD2-494CE5B234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9758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hangingPunct="1"/>
            <a:fld id="{A0E5C9F4-E023-4447-BEAA-A018D065149C}" type="slidenum">
              <a:rPr lang="zh-CN" altLang="en-US" smtClean="0"/>
              <a:pPr eaLnBrk="1" hangingPunct="1"/>
              <a:t>14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hangingPunct="1"/>
            <a:fld id="{73827CB3-3FD9-414B-97A1-5E5C0C14C5D1}" type="slidenum">
              <a:rPr lang="zh-CN" altLang="en-US" smtClean="0"/>
              <a:pPr eaLnBrk="1" hangingPunct="1"/>
              <a:t>15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hangingPunct="1"/>
            <a:fld id="{6D82C394-ACE6-40A0-ACFC-1FD18AC9193E}" type="slidenum">
              <a:rPr lang="zh-CN" altLang="en-US" smtClean="0"/>
              <a:pPr eaLnBrk="1" hangingPunct="1"/>
              <a:t>25</a:t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hangingPunct="1"/>
            <a:fld id="{6D82C394-ACE6-40A0-ACFC-1FD18AC9193E}" type="slidenum">
              <a:rPr lang="zh-CN" altLang="en-US" smtClean="0"/>
              <a:pPr eaLnBrk="1" hangingPunct="1"/>
              <a:t>26</a:t>
            </a:fld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04875" y="2349500"/>
            <a:ext cx="7315200" cy="1782763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矩形 2"/>
          <p:cNvSpPr/>
          <p:nvPr/>
        </p:nvSpPr>
        <p:spPr>
          <a:xfrm>
            <a:off x="904875" y="2349500"/>
            <a:ext cx="228600" cy="1782763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矩形 3"/>
          <p:cNvSpPr/>
          <p:nvPr userDrawn="1"/>
        </p:nvSpPr>
        <p:spPr>
          <a:xfrm>
            <a:off x="914400" y="4365625"/>
            <a:ext cx="7315200" cy="1081088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矩形 4"/>
          <p:cNvSpPr/>
          <p:nvPr userDrawn="1"/>
        </p:nvSpPr>
        <p:spPr>
          <a:xfrm>
            <a:off x="914400" y="4365625"/>
            <a:ext cx="228600" cy="1081088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日期占位符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F4269-0726-42E6-8653-3405E7D173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298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lnSpc>
                <a:spcPct val="114000"/>
              </a:lnSpc>
              <a:defRPr sz="3200"/>
            </a:lvl1pPr>
            <a:lvl2pPr>
              <a:lnSpc>
                <a:spcPct val="114000"/>
              </a:lnSpc>
              <a:defRPr sz="2800"/>
            </a:lvl2pPr>
            <a:lvl3pPr>
              <a:lnSpc>
                <a:spcPct val="114000"/>
              </a:lnSpc>
              <a:defRPr sz="2400"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0"/>
          </p:nvPr>
        </p:nvSpPr>
        <p:spPr>
          <a:xfrm>
            <a:off x="8101013" y="6356350"/>
            <a:ext cx="719137" cy="365125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7CCA1C44-227B-4B49-A909-DD2643F98D1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01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91E1C-29EB-40A4-AFC9-D96FD04DC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561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A3497-0BA0-4780-AB93-C986E42C31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86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1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E801A-631B-404C-96AF-FC0DAACC70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90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A66AE-6AD6-46FE-A64B-92AE1664FC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16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等腰三角形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6E083-71C4-4591-8D51-5F7C16FF86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59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11"/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等腰三角形 6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2A9F8-9062-4B76-9311-65DC61540F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87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8B5AF-D470-45D7-91D1-0800FB22033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065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BB3CC-426A-4424-A902-831CE97411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199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等腰三角形 4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直接连接符 14"/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93744-1D4B-41B0-83AB-B2B8267F1A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63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043863" y="6356350"/>
            <a:ext cx="646112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6E66A24-245D-42B3-B7F9-7BA526ED2A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9" name="直接连接符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0" name="直接连接符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7850188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Bookman Old Style" pitchFamily="18" charset="0"/>
          <a:ea typeface="宋体" pitchFamily="2" charset="-122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9.png"/><Relationship Id="rId10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9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9.wmf"/><Relationship Id="rId3" Type="http://schemas.openxmlformats.org/officeDocument/2006/relationships/image" Target="../media/image14.png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3.wmf"/><Relationship Id="rId3" Type="http://schemas.openxmlformats.org/officeDocument/2006/relationships/image" Target="../media/image14.png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8.png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0.wmf"/><Relationship Id="rId4" Type="http://schemas.openxmlformats.org/officeDocument/2006/relationships/image" Target="../media/image14.png"/><Relationship Id="rId9" Type="http://schemas.openxmlformats.org/officeDocument/2006/relationships/oleObject" Target="../embeddings/oleObject2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11" Type="http://schemas.openxmlformats.org/officeDocument/2006/relationships/image" Target="../media/image31.png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0.wmf"/><Relationship Id="rId4" Type="http://schemas.openxmlformats.org/officeDocument/2006/relationships/image" Target="../media/image28.png"/><Relationship Id="rId9" Type="http://schemas.openxmlformats.org/officeDocument/2006/relationships/oleObject" Target="../embeddings/oleObject2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8.bin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2.emf"/><Relationship Id="rId9" Type="http://schemas.openxmlformats.org/officeDocument/2006/relationships/image" Target="../media/image3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1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2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3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32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oleObject" Target="../embeddings/oleObject53.bin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6.png"/><Relationship Id="rId4" Type="http://schemas.openxmlformats.org/officeDocument/2006/relationships/image" Target="../media/image52.wmf"/><Relationship Id="rId9" Type="http://schemas.openxmlformats.org/officeDocument/2006/relationships/image" Target="../media/image5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5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7" Type="http://schemas.openxmlformats.org/officeDocument/2006/relationships/image" Target="../media/image5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6.png"/><Relationship Id="rId4" Type="http://schemas.openxmlformats.org/officeDocument/2006/relationships/image" Target="../media/image58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68.png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65.wmf"/><Relationship Id="rId10" Type="http://schemas.openxmlformats.org/officeDocument/2006/relationships/image" Target="../media/image69.png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4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80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69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7" Type="http://schemas.openxmlformats.org/officeDocument/2006/relationships/image" Target="../media/image8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84.emf"/><Relationship Id="rId4" Type="http://schemas.openxmlformats.org/officeDocument/2006/relationships/image" Target="../media/image83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 bwMode="auto">
          <a:xfrm>
            <a:off x="1187450" y="2420938"/>
            <a:ext cx="68580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Bookman Old Style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sz="4800" b="0" dirty="0" smtClean="0">
                <a:latin typeface="+mn-ea"/>
                <a:ea typeface="+mn-ea"/>
              </a:rPr>
              <a:t>云计算</a:t>
            </a:r>
            <a:r>
              <a:rPr lang="zh-CN" altLang="en-US" sz="4800" b="0" dirty="0" smtClean="0">
                <a:latin typeface="+mn-ea"/>
                <a:ea typeface="+mn-ea"/>
              </a:rPr>
              <a:t>环境</a:t>
            </a:r>
            <a:r>
              <a:rPr lang="zh-CN" altLang="zh-CN" sz="4800" b="0" dirty="0" smtClean="0">
                <a:latin typeface="+mn-ea"/>
                <a:ea typeface="+mn-ea"/>
              </a:rPr>
              <a:t>下</a:t>
            </a:r>
            <a:r>
              <a:rPr lang="zh-CN" altLang="en-US" sz="4800" b="0" dirty="0" smtClean="0">
                <a:latin typeface="+mn-ea"/>
                <a:ea typeface="+mn-ea"/>
              </a:rPr>
              <a:t>服务</a:t>
            </a:r>
            <a:r>
              <a:rPr lang="zh-CN" altLang="zh-CN" sz="4800" b="0" dirty="0" smtClean="0">
                <a:latin typeface="+mn-ea"/>
                <a:ea typeface="+mn-ea"/>
              </a:rPr>
              <a:t>组合</a:t>
            </a:r>
            <a:r>
              <a:rPr lang="en-US" altLang="zh-CN" sz="4800" b="0" dirty="0" smtClean="0">
                <a:latin typeface="+mn-ea"/>
                <a:ea typeface="+mn-ea"/>
              </a:rPr>
              <a:t/>
            </a:r>
            <a:br>
              <a:rPr lang="en-US" altLang="zh-CN" sz="4800" b="0" dirty="0" smtClean="0">
                <a:latin typeface="+mn-ea"/>
                <a:ea typeface="+mn-ea"/>
              </a:rPr>
            </a:br>
            <a:r>
              <a:rPr lang="zh-CN" altLang="en-US" sz="4800" b="0" dirty="0" smtClean="0">
                <a:latin typeface="+mn-ea"/>
                <a:ea typeface="+mn-ea"/>
              </a:rPr>
              <a:t>技术</a:t>
            </a:r>
            <a:r>
              <a:rPr lang="zh-CN" altLang="zh-CN" sz="4800" b="0" dirty="0" smtClean="0">
                <a:latin typeface="+mn-ea"/>
                <a:ea typeface="+mn-ea"/>
              </a:rPr>
              <a:t>研究</a:t>
            </a:r>
            <a:endParaRPr lang="zh-CN" altLang="en-US" sz="4800" b="0" dirty="0" smtClean="0">
              <a:latin typeface="+mn-ea"/>
              <a:ea typeface="+mn-ea"/>
            </a:endParaRPr>
          </a:p>
        </p:txBody>
      </p:sp>
      <p:sp>
        <p:nvSpPr>
          <p:cNvPr id="9" name="副标题 2"/>
          <p:cNvSpPr txBox="1">
            <a:spLocks/>
          </p:cNvSpPr>
          <p:nvPr/>
        </p:nvSpPr>
        <p:spPr bwMode="auto">
          <a:xfrm>
            <a:off x="3276600" y="4437063"/>
            <a:ext cx="4152900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zh-CN" altLang="en-US" dirty="0" smtClean="0">
                <a:latin typeface="+mn-ea"/>
              </a:rPr>
              <a:t>答辩人：霍 瑛  </a:t>
            </a:r>
            <a:endParaRPr lang="en-US" altLang="zh-CN" dirty="0" smtClean="0">
              <a:latin typeface="+mn-ea"/>
            </a:endParaRPr>
          </a:p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zh-CN" altLang="en-US" dirty="0" smtClean="0">
                <a:latin typeface="+mn-ea"/>
              </a:rPr>
              <a:t>导  师 ： 庄 毅 教授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13316" name="AutoShape 9" descr="http://img2.imgtn.bdimg.com/it/u=4121848693,2146991807&amp;fm=21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AutoShape 11" descr="http://img2.imgtn.bdimg.com/it/u=4121848693,2146991807&amp;fm=21&amp;gp=0.jpg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8" name="Picture 1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3" y="177800"/>
            <a:ext cx="1557337" cy="109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副标题 2"/>
          <p:cNvSpPr txBox="1">
            <a:spLocks/>
          </p:cNvSpPr>
          <p:nvPr/>
        </p:nvSpPr>
        <p:spPr bwMode="auto">
          <a:xfrm>
            <a:off x="1619250" y="355600"/>
            <a:ext cx="67691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zh-CN" altLang="en-US" sz="2800" dirty="0" smtClean="0">
                <a:solidFill>
                  <a:srgbClr val="0070C0"/>
                </a:solidFill>
                <a:latin typeface="+mn-ea"/>
              </a:rPr>
              <a:t>南京航空航天大学          博士论文答辩</a:t>
            </a:r>
            <a:endParaRPr lang="en-US" altLang="zh-CN" sz="2800" dirty="0" smtClean="0">
              <a:solidFill>
                <a:srgbClr val="0070C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目 录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en-US" dirty="0" smtClean="0"/>
              <a:t>研究背景</a:t>
            </a:r>
            <a:endParaRPr lang="en-US" altLang="zh-CN" dirty="0" smtClean="0"/>
          </a:p>
          <a:p>
            <a:r>
              <a:rPr lang="zh-CN" altLang="en-US" dirty="0" smtClean="0"/>
              <a:t>研究内容</a:t>
            </a:r>
            <a:endParaRPr lang="en-US" altLang="zh-CN" dirty="0"/>
          </a:p>
          <a:p>
            <a:pPr lvl="1"/>
            <a:r>
              <a:rPr lang="zh-CN" altLang="en-US" dirty="0" smtClean="0"/>
              <a:t>基于一致性强度的云服务可信评估方法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基于人工蜂群算法的可信服务组合方法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基于成本效益优化的多目标服务组合方法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基于</a:t>
            </a:r>
            <a:r>
              <a:rPr lang="en-US" altLang="zh-CN" dirty="0" smtClean="0"/>
              <a:t>skyline</a:t>
            </a:r>
            <a:r>
              <a:rPr lang="zh-CN" altLang="zh-CN" dirty="0" smtClean="0"/>
              <a:t>计算的非线性服务组合方法</a:t>
            </a:r>
            <a:endParaRPr lang="en-US" altLang="zh-CN" dirty="0" smtClean="0"/>
          </a:p>
          <a:p>
            <a:r>
              <a:rPr lang="zh-CN" altLang="en-US" dirty="0" smtClean="0"/>
              <a:t>总结与展望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384AEC-4840-4B40-A326-ED3A6E300627}" type="slidenum">
              <a:rPr lang="zh-CN" altLang="en-US"/>
              <a:pPr>
                <a:defRPr/>
              </a:pPr>
              <a:t>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研究背景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zh-CN" altLang="en-US" smtClean="0"/>
              <a:t>服务组合概念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612775" y="5800725"/>
            <a:ext cx="1981200" cy="365125"/>
          </a:xfrm>
        </p:spPr>
        <p:txBody>
          <a:bodyPr/>
          <a:lstStyle/>
          <a:p>
            <a:pPr>
              <a:defRPr/>
            </a:pPr>
            <a:fld id="{DE634DEF-9F15-412C-9E4D-3F2493EF1A16}" type="slidenum">
              <a:rPr lang="zh-CN" altLang="en-US"/>
              <a:pPr>
                <a:defRPr/>
              </a:pPr>
              <a:t>3</a:t>
            </a:fld>
            <a:endParaRPr lang="zh-CN" altLang="en-US"/>
          </a:p>
        </p:txBody>
      </p:sp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1865313"/>
            <a:ext cx="833755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椭圆 5"/>
          <p:cNvSpPr/>
          <p:nvPr/>
        </p:nvSpPr>
        <p:spPr>
          <a:xfrm>
            <a:off x="2268538" y="2728913"/>
            <a:ext cx="719137" cy="6477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24075" y="2441575"/>
            <a:ext cx="1008063" cy="3616325"/>
          </a:xfrm>
          <a:prstGeom prst="rect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42988" y="2513013"/>
            <a:ext cx="877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华文新魏" pitchFamily="2" charset="-122"/>
              </a:rPr>
              <a:t>服务群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93988" y="2255838"/>
            <a:ext cx="1106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华文新魏" pitchFamily="2" charset="-122"/>
              </a:rPr>
              <a:t>候选服务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1187450" y="3989388"/>
            <a:ext cx="1081088" cy="287337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2962275" y="3052763"/>
            <a:ext cx="838200" cy="93662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4579938" y="3052763"/>
            <a:ext cx="1647825" cy="24130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6911975" y="4259263"/>
            <a:ext cx="1116013" cy="113347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849813" y="2247900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华文新魏" pitchFamily="2" charset="-122"/>
              </a:rPr>
              <a:t>服务组合</a:t>
            </a:r>
          </a:p>
        </p:txBody>
      </p:sp>
      <p:sp>
        <p:nvSpPr>
          <p:cNvPr id="15" name="灯片编号占位符 3"/>
          <p:cNvSpPr txBox="1">
            <a:spLocks/>
          </p:cNvSpPr>
          <p:nvPr/>
        </p:nvSpPr>
        <p:spPr>
          <a:xfrm>
            <a:off x="8101013" y="6356350"/>
            <a:ext cx="719137" cy="365125"/>
          </a:xfrm>
          <a:prstGeom prst="rect">
            <a:avLst/>
          </a:prstGeom>
        </p:spPr>
        <p:txBody>
          <a:bodyPr vert="horz"/>
          <a:lstStyle>
            <a:defPPr>
              <a:defRPr lang="zh-CN"/>
            </a:defPPr>
            <a:lvl1pPr algn="l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61384AEC-4840-4B40-A326-ED3A6E300627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/>
      <p:bldP spid="8" grpId="1"/>
      <p:bldP spid="9" grpId="0"/>
      <p:bldP spid="9" grpId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CA1C44-227B-4B49-A909-DD2643F98D1B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448304" y="1230579"/>
            <a:ext cx="4047495" cy="5050477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4626429" y="1230579"/>
            <a:ext cx="4049473" cy="5050477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内容占位符 2"/>
          <p:cNvSpPr>
            <a:spLocks noGrp="1"/>
          </p:cNvSpPr>
          <p:nvPr>
            <p:ph sz="quarter" idx="1"/>
          </p:nvPr>
        </p:nvSpPr>
        <p:spPr>
          <a:xfrm>
            <a:off x="569517" y="1390205"/>
            <a:ext cx="3805068" cy="4847312"/>
          </a:xfrm>
        </p:spPr>
        <p:txBody>
          <a:bodyPr/>
          <a:lstStyle/>
          <a:p>
            <a:pPr eaLnBrk="1" hangingPunct="1"/>
            <a:r>
              <a:rPr lang="zh-CN" altLang="en-US" sz="2800" dirty="0" smtClean="0"/>
              <a:t>云服务评估</a:t>
            </a:r>
            <a:endParaRPr lang="en-US" altLang="zh-CN" sz="2800" dirty="0" smtClean="0"/>
          </a:p>
          <a:p>
            <a:pPr lvl="1" eaLnBrk="1" hangingPunct="1"/>
            <a:r>
              <a:rPr lang="zh-CN" altLang="en-US" sz="2400" dirty="0"/>
              <a:t>云</a:t>
            </a:r>
            <a:r>
              <a:rPr lang="zh-CN" altLang="en-US" sz="2400" dirty="0" smtClean="0"/>
              <a:t>服务的可信评估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000" dirty="0" smtClean="0"/>
              <a:t>在</a:t>
            </a:r>
            <a:r>
              <a:rPr lang="en-US" altLang="zh-CN" sz="2000" dirty="0" err="1" smtClean="0"/>
              <a:t>QoS</a:t>
            </a:r>
            <a:r>
              <a:rPr lang="zh-CN" altLang="en-US" sz="2000" dirty="0" smtClean="0"/>
              <a:t>指标中加入可信属性，建立可信评估模型</a:t>
            </a:r>
            <a:endParaRPr lang="en-US" altLang="zh-CN" sz="2000" dirty="0" smtClean="0"/>
          </a:p>
          <a:p>
            <a:pPr lvl="1" eaLnBrk="1" hangingPunct="1"/>
            <a:r>
              <a:rPr lang="zh-CN" altLang="en-US" sz="2400" dirty="0" smtClean="0"/>
              <a:t>模糊评估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000" dirty="0"/>
              <a:t>多</a:t>
            </a:r>
            <a:r>
              <a:rPr lang="zh-CN" altLang="en-US" sz="2000" dirty="0" smtClean="0"/>
              <a:t>属性决策方法</a:t>
            </a:r>
            <a:endParaRPr lang="en-US" altLang="zh-CN" sz="2000" dirty="0" smtClean="0"/>
          </a:p>
          <a:p>
            <a:pPr lvl="2" eaLnBrk="1" hangingPunct="1"/>
            <a:r>
              <a:rPr lang="zh-CN" altLang="en-US" sz="2000" dirty="0" smtClean="0"/>
              <a:t>证据理论</a:t>
            </a:r>
            <a:endParaRPr lang="en-US" altLang="zh-CN" sz="2000" dirty="0" smtClean="0"/>
          </a:p>
          <a:p>
            <a:pPr lvl="2" eaLnBrk="1" hangingPunct="1"/>
            <a:r>
              <a:rPr lang="zh-CN" altLang="en-US" sz="2000" dirty="0" smtClean="0"/>
              <a:t>效用理论</a:t>
            </a:r>
            <a:endParaRPr lang="en-US" altLang="zh-CN" sz="2000" dirty="0"/>
          </a:p>
        </p:txBody>
      </p:sp>
      <p:sp>
        <p:nvSpPr>
          <p:cNvPr id="75" name="内容占位符 2"/>
          <p:cNvSpPr txBox="1">
            <a:spLocks/>
          </p:cNvSpPr>
          <p:nvPr/>
        </p:nvSpPr>
        <p:spPr bwMode="auto">
          <a:xfrm>
            <a:off x="4748631" y="1389261"/>
            <a:ext cx="3805068" cy="484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14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dirty="0" smtClean="0"/>
              <a:t>服务组合</a:t>
            </a:r>
            <a:endParaRPr lang="en-US" altLang="zh-CN" sz="2800" dirty="0" smtClean="0"/>
          </a:p>
          <a:p>
            <a:pPr lvl="1" eaLnBrk="1" hangingPunct="1"/>
            <a:r>
              <a:rPr lang="zh-CN" altLang="en-US" sz="2400" dirty="0" smtClean="0"/>
              <a:t>穷举法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局部选择方法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线性规划方法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智能优化方法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000" dirty="0" smtClean="0"/>
              <a:t>遗传算法</a:t>
            </a:r>
            <a:endParaRPr lang="en-US" altLang="zh-CN" sz="2000" dirty="0" smtClean="0"/>
          </a:p>
          <a:p>
            <a:pPr lvl="2" eaLnBrk="1" hangingPunct="1"/>
            <a:r>
              <a:rPr lang="zh-CN" altLang="en-US" sz="2000" dirty="0"/>
              <a:t>粒子</a:t>
            </a:r>
            <a:r>
              <a:rPr lang="zh-CN" altLang="en-US" sz="2000" dirty="0" smtClean="0"/>
              <a:t>群优化算法</a:t>
            </a:r>
            <a:endParaRPr lang="en-US" altLang="zh-CN" sz="2000" dirty="0" smtClean="0"/>
          </a:p>
          <a:p>
            <a:pPr lvl="2" eaLnBrk="1" hangingPunct="1"/>
            <a:r>
              <a:rPr lang="zh-CN" altLang="en-US" sz="2000" dirty="0" smtClean="0"/>
              <a:t>差分进化算法</a:t>
            </a:r>
            <a:endParaRPr lang="en-US" altLang="zh-CN" sz="2000" dirty="0" smtClean="0"/>
          </a:p>
          <a:p>
            <a:pPr lvl="2" eaLnBrk="1" hangingPunct="1"/>
            <a:r>
              <a:rPr lang="zh-CN" altLang="en-US" sz="2000" dirty="0"/>
              <a:t>蚁</a:t>
            </a:r>
            <a:r>
              <a:rPr lang="zh-CN" altLang="en-US" sz="2000" dirty="0" smtClean="0"/>
              <a:t>群算法</a:t>
            </a:r>
            <a:endParaRPr lang="en-US" altLang="zh-CN" sz="2000" dirty="0" smtClean="0"/>
          </a:p>
        </p:txBody>
      </p:sp>
      <p:sp>
        <p:nvSpPr>
          <p:cNvPr id="76" name="矩形 75"/>
          <p:cNvSpPr/>
          <p:nvPr/>
        </p:nvSpPr>
        <p:spPr>
          <a:xfrm rot="2646635">
            <a:off x="4259159" y="5943964"/>
            <a:ext cx="636153" cy="64117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2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6901543" cy="123008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400" dirty="0" smtClean="0"/>
              <a:t>云服务可信评估</a:t>
            </a:r>
            <a:endParaRPr lang="en-US" altLang="zh-CN" sz="2400" dirty="0"/>
          </a:p>
          <a:p>
            <a:pPr lvl="1">
              <a:lnSpc>
                <a:spcPct val="100000"/>
              </a:lnSpc>
            </a:pPr>
            <a:r>
              <a:rPr lang="zh-CN" altLang="zh-CN" sz="2000" dirty="0">
                <a:solidFill>
                  <a:schemeClr val="tx2"/>
                </a:solidFill>
              </a:rPr>
              <a:t>云环境</a:t>
            </a:r>
            <a:r>
              <a:rPr lang="zh-CN" altLang="en-US" sz="2000" dirty="0">
                <a:solidFill>
                  <a:schemeClr val="tx2"/>
                </a:solidFill>
              </a:rPr>
              <a:t>的</a:t>
            </a:r>
            <a:r>
              <a:rPr lang="zh-CN" altLang="zh-CN" sz="2000" dirty="0">
                <a:solidFill>
                  <a:schemeClr val="tx2"/>
                </a:solidFill>
              </a:rPr>
              <a:t>服务具有很大的不确定性和不可控性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zh-CN" sz="2000" dirty="0">
                <a:solidFill>
                  <a:schemeClr val="tx2"/>
                </a:solidFill>
              </a:rPr>
              <a:t>如何在模糊信息下对云服务的可信程度进行准确的评价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101013" y="6312806"/>
            <a:ext cx="719137" cy="365125"/>
          </a:xfrm>
        </p:spPr>
        <p:txBody>
          <a:bodyPr/>
          <a:lstStyle/>
          <a:p>
            <a:pPr>
              <a:defRPr/>
            </a:pPr>
            <a:fld id="{7CCA1C44-227B-4B49-A909-DD2643F98D1B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  <p:cxnSp>
        <p:nvCxnSpPr>
          <p:cNvPr id="5" name="直接连接符 2"/>
          <p:cNvCxnSpPr/>
          <p:nvPr/>
        </p:nvCxnSpPr>
        <p:spPr>
          <a:xfrm flipH="1">
            <a:off x="1012346" y="1164771"/>
            <a:ext cx="7589" cy="5540829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19"/>
          <p:cNvSpPr/>
          <p:nvPr/>
        </p:nvSpPr>
        <p:spPr>
          <a:xfrm rot="5400000">
            <a:off x="-77402" y="1642537"/>
            <a:ext cx="1438303" cy="745785"/>
          </a:xfrm>
          <a:custGeom>
            <a:avLst/>
            <a:gdLst>
              <a:gd name="connsiteX0" fmla="*/ 0 w 2175308"/>
              <a:gd name="connsiteY0" fmla="*/ 0 h 1087655"/>
              <a:gd name="connsiteX1" fmla="*/ 2175308 w 2175308"/>
              <a:gd name="connsiteY1" fmla="*/ 0 h 1087655"/>
              <a:gd name="connsiteX2" fmla="*/ 1087654 w 2175308"/>
              <a:gd name="connsiteY2" fmla="*/ 1087655 h 1087655"/>
              <a:gd name="connsiteX3" fmla="*/ 0 w 2175308"/>
              <a:gd name="connsiteY3" fmla="*/ 0 h 108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5308" h="1087655">
                <a:moveTo>
                  <a:pt x="0" y="0"/>
                </a:moveTo>
                <a:lnTo>
                  <a:pt x="2175308" y="0"/>
                </a:lnTo>
                <a:cubicBezTo>
                  <a:pt x="2175308" y="600695"/>
                  <a:pt x="1688349" y="1087655"/>
                  <a:pt x="1087654" y="1087655"/>
                </a:cubicBezTo>
                <a:cubicBezTo>
                  <a:pt x="486959" y="1087655"/>
                  <a:pt x="0" y="60069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83375" y="1404796"/>
            <a:ext cx="1314799" cy="124598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任意多边形 19"/>
          <p:cNvSpPr/>
          <p:nvPr/>
        </p:nvSpPr>
        <p:spPr>
          <a:xfrm rot="16200000">
            <a:off x="673732" y="3340707"/>
            <a:ext cx="1438303" cy="745785"/>
          </a:xfrm>
          <a:custGeom>
            <a:avLst/>
            <a:gdLst>
              <a:gd name="connsiteX0" fmla="*/ 0 w 2175308"/>
              <a:gd name="connsiteY0" fmla="*/ 0 h 1087655"/>
              <a:gd name="connsiteX1" fmla="*/ 2175308 w 2175308"/>
              <a:gd name="connsiteY1" fmla="*/ 0 h 1087655"/>
              <a:gd name="connsiteX2" fmla="*/ 1087654 w 2175308"/>
              <a:gd name="connsiteY2" fmla="*/ 1087655 h 1087655"/>
              <a:gd name="connsiteX3" fmla="*/ 0 w 2175308"/>
              <a:gd name="connsiteY3" fmla="*/ 0 h 108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5308" h="1087655">
                <a:moveTo>
                  <a:pt x="0" y="0"/>
                </a:moveTo>
                <a:lnTo>
                  <a:pt x="2175308" y="0"/>
                </a:lnTo>
                <a:cubicBezTo>
                  <a:pt x="2175308" y="600695"/>
                  <a:pt x="1688349" y="1087655"/>
                  <a:pt x="1087654" y="1087655"/>
                </a:cubicBezTo>
                <a:cubicBezTo>
                  <a:pt x="486959" y="1087655"/>
                  <a:pt x="0" y="60069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383375" y="3102966"/>
            <a:ext cx="1314799" cy="124598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任意多边形 19"/>
          <p:cNvSpPr/>
          <p:nvPr/>
        </p:nvSpPr>
        <p:spPr>
          <a:xfrm rot="5400000">
            <a:off x="-73173" y="5160011"/>
            <a:ext cx="1438303" cy="745785"/>
          </a:xfrm>
          <a:custGeom>
            <a:avLst/>
            <a:gdLst>
              <a:gd name="connsiteX0" fmla="*/ 0 w 2175308"/>
              <a:gd name="connsiteY0" fmla="*/ 0 h 1087655"/>
              <a:gd name="connsiteX1" fmla="*/ 2175308 w 2175308"/>
              <a:gd name="connsiteY1" fmla="*/ 0 h 1087655"/>
              <a:gd name="connsiteX2" fmla="*/ 1087654 w 2175308"/>
              <a:gd name="connsiteY2" fmla="*/ 1087655 h 1087655"/>
              <a:gd name="connsiteX3" fmla="*/ 0 w 2175308"/>
              <a:gd name="connsiteY3" fmla="*/ 0 h 108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5308" h="1087655">
                <a:moveTo>
                  <a:pt x="0" y="0"/>
                </a:moveTo>
                <a:lnTo>
                  <a:pt x="2175308" y="0"/>
                </a:lnTo>
                <a:cubicBezTo>
                  <a:pt x="2175308" y="600695"/>
                  <a:pt x="1688349" y="1087655"/>
                  <a:pt x="1087654" y="1087655"/>
                </a:cubicBezTo>
                <a:cubicBezTo>
                  <a:pt x="486959" y="1087655"/>
                  <a:pt x="0" y="60069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354946" y="4922270"/>
            <a:ext cx="1314799" cy="124598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4" name="组合 22"/>
          <p:cNvGrpSpPr/>
          <p:nvPr/>
        </p:nvGrpSpPr>
        <p:grpSpPr>
          <a:xfrm>
            <a:off x="663154" y="1773659"/>
            <a:ext cx="720284" cy="491718"/>
            <a:chOff x="3654425" y="5089525"/>
            <a:chExt cx="1860550" cy="1460500"/>
          </a:xfrm>
          <a:solidFill>
            <a:schemeClr val="bg1"/>
          </a:solidFill>
        </p:grpSpPr>
        <p:sp>
          <p:nvSpPr>
            <p:cNvPr id="55" name="Freeform 12"/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3"/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4"/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5"/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6"/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7"/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8"/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79" name="组合 22"/>
          <p:cNvGrpSpPr/>
          <p:nvPr/>
        </p:nvGrpSpPr>
        <p:grpSpPr>
          <a:xfrm>
            <a:off x="680632" y="3467740"/>
            <a:ext cx="720284" cy="491718"/>
            <a:chOff x="3654425" y="5089525"/>
            <a:chExt cx="1860550" cy="1460500"/>
          </a:xfrm>
          <a:solidFill>
            <a:schemeClr val="bg1"/>
          </a:solidFill>
        </p:grpSpPr>
        <p:sp>
          <p:nvSpPr>
            <p:cNvPr id="80" name="Freeform 12"/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3"/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4"/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"/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6"/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7"/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18"/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7" name="组合 22"/>
          <p:cNvGrpSpPr/>
          <p:nvPr/>
        </p:nvGrpSpPr>
        <p:grpSpPr>
          <a:xfrm>
            <a:off x="669746" y="5310289"/>
            <a:ext cx="720284" cy="491718"/>
            <a:chOff x="3654425" y="5089525"/>
            <a:chExt cx="1860550" cy="1460500"/>
          </a:xfrm>
          <a:solidFill>
            <a:schemeClr val="bg1"/>
          </a:solidFill>
        </p:grpSpPr>
        <p:sp>
          <p:nvSpPr>
            <p:cNvPr id="88" name="Freeform 12"/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3"/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4"/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5"/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16"/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7"/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8"/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5" name="内容占位符 2"/>
          <p:cNvSpPr txBox="1">
            <a:spLocks/>
          </p:cNvSpPr>
          <p:nvPr/>
        </p:nvSpPr>
        <p:spPr bwMode="auto">
          <a:xfrm>
            <a:off x="1970314" y="2620242"/>
            <a:ext cx="6901543" cy="1954018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14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zh-CN" sz="2400" dirty="0" smtClean="0"/>
              <a:t>海量</a:t>
            </a:r>
            <a:r>
              <a:rPr lang="zh-CN" altLang="zh-CN" sz="2400" dirty="0"/>
              <a:t>数据下的服务组合</a:t>
            </a:r>
            <a:endParaRPr lang="en-US" altLang="zh-CN" sz="2400" dirty="0" smtClean="0"/>
          </a:p>
          <a:p>
            <a:pPr lvl="1">
              <a:lnSpc>
                <a:spcPct val="100000"/>
              </a:lnSpc>
            </a:pPr>
            <a:r>
              <a:rPr lang="zh-CN" altLang="en-US" sz="2000" dirty="0" smtClean="0"/>
              <a:t>云环境下服务</a:t>
            </a:r>
            <a:r>
              <a:rPr lang="zh-CN" altLang="zh-CN" sz="2000" dirty="0" smtClean="0"/>
              <a:t>开发成本</a:t>
            </a:r>
            <a:r>
              <a:rPr lang="zh-CN" altLang="en-US" sz="2000" dirty="0" smtClean="0"/>
              <a:t>的</a:t>
            </a:r>
            <a:r>
              <a:rPr lang="zh-CN" altLang="zh-CN" sz="2000" dirty="0" smtClean="0"/>
              <a:t>降低</a:t>
            </a:r>
            <a:r>
              <a:rPr lang="zh-CN" altLang="zh-CN" sz="2000" dirty="0"/>
              <a:t>，</a:t>
            </a:r>
            <a:r>
              <a:rPr lang="zh-CN" altLang="zh-CN" sz="2000" dirty="0" smtClean="0"/>
              <a:t>导致</a:t>
            </a:r>
            <a:r>
              <a:rPr lang="zh-CN" altLang="en-US" sz="2000" dirty="0" smtClean="0"/>
              <a:t>了</a:t>
            </a:r>
            <a:r>
              <a:rPr lang="zh-CN" altLang="zh-CN" sz="2000" dirty="0" smtClean="0"/>
              <a:t>海量</a:t>
            </a:r>
            <a:r>
              <a:rPr lang="zh-CN" altLang="zh-CN" sz="2000" dirty="0"/>
              <a:t>的云服务</a:t>
            </a:r>
            <a:endParaRPr lang="en-US" altLang="zh-CN" sz="2000" dirty="0" smtClean="0"/>
          </a:p>
          <a:p>
            <a:pPr lvl="1">
              <a:lnSpc>
                <a:spcPct val="100000"/>
              </a:lnSpc>
            </a:pPr>
            <a:r>
              <a:rPr lang="zh-CN" altLang="en-US" sz="2000" dirty="0" smtClean="0"/>
              <a:t>提高现有算法的</a:t>
            </a:r>
            <a:r>
              <a:rPr lang="zh-CN" altLang="zh-CN" sz="2000" dirty="0" smtClean="0"/>
              <a:t>求解质量</a:t>
            </a:r>
            <a:r>
              <a:rPr lang="zh-CN" altLang="en-US" sz="2000" dirty="0" smtClean="0"/>
              <a:t>和</a:t>
            </a:r>
            <a:r>
              <a:rPr lang="zh-CN" altLang="zh-CN" sz="2000" dirty="0" smtClean="0"/>
              <a:t>效率</a:t>
            </a:r>
            <a:endParaRPr lang="en-US" altLang="zh-CN" sz="2000" dirty="0" smtClean="0"/>
          </a:p>
          <a:p>
            <a:pPr lvl="1">
              <a:lnSpc>
                <a:spcPct val="100000"/>
              </a:lnSpc>
            </a:pPr>
            <a:r>
              <a:rPr lang="zh-CN" altLang="zh-CN" sz="2000" dirty="0" smtClean="0"/>
              <a:t>设计</a:t>
            </a:r>
            <a:r>
              <a:rPr lang="zh-CN" altLang="zh-CN" sz="2000" dirty="0"/>
              <a:t>更好的服务组合方法，能从海量的云服务中快速求解最佳服务组合</a:t>
            </a:r>
            <a:r>
              <a:rPr lang="zh-CN" altLang="zh-CN" sz="2000" dirty="0" smtClean="0"/>
              <a:t>方案</a:t>
            </a:r>
            <a:endParaRPr lang="zh-CN" altLang="en-US" sz="2000" dirty="0"/>
          </a:p>
        </p:txBody>
      </p:sp>
      <p:sp>
        <p:nvSpPr>
          <p:cNvPr id="96" name="内容占位符 2"/>
          <p:cNvSpPr txBox="1">
            <a:spLocks/>
          </p:cNvSpPr>
          <p:nvPr/>
        </p:nvSpPr>
        <p:spPr bwMode="auto">
          <a:xfrm>
            <a:off x="1992086" y="4756713"/>
            <a:ext cx="6901543" cy="1796489"/>
          </a:xfrm>
          <a:prstGeom prst="rect">
            <a:avLst/>
          </a:prstGeom>
          <a:ln/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14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zh-CN" sz="2400" dirty="0"/>
              <a:t>面向用户复杂需求的服务</a:t>
            </a:r>
            <a:r>
              <a:rPr lang="zh-CN" altLang="zh-CN" sz="2400" dirty="0" smtClean="0"/>
              <a:t>组合</a:t>
            </a:r>
            <a:endParaRPr lang="en-US" altLang="zh-CN" sz="2400" dirty="0" smtClean="0"/>
          </a:p>
          <a:p>
            <a:pPr lvl="1">
              <a:lnSpc>
                <a:spcPct val="100000"/>
              </a:lnSpc>
            </a:pPr>
            <a:r>
              <a:rPr lang="zh-CN" altLang="zh-CN" sz="2000" dirty="0"/>
              <a:t>随着云服务数量的激增及种类的复杂化，用户需求的复杂程度也在不断</a:t>
            </a:r>
            <a:r>
              <a:rPr lang="zh-CN" altLang="zh-CN" sz="2000" dirty="0" smtClean="0"/>
              <a:t>提高</a:t>
            </a:r>
            <a:endParaRPr lang="en-US" altLang="zh-CN" sz="2000" dirty="0" smtClean="0"/>
          </a:p>
          <a:p>
            <a:pPr lvl="1">
              <a:lnSpc>
                <a:spcPct val="100000"/>
              </a:lnSpc>
            </a:pPr>
            <a:r>
              <a:rPr lang="zh-CN" altLang="zh-CN" sz="2000" dirty="0"/>
              <a:t>设计可以应对用户复杂需求的服务组合模型，并设计更好的多目标优化算法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6839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 animBg="1"/>
      <p:bldP spid="36" grpId="0" animBg="1"/>
      <p:bldP spid="50" grpId="0" animBg="1"/>
      <p:bldP spid="51" grpId="0" animBg="1"/>
      <p:bldP spid="52" grpId="0" animBg="1"/>
      <p:bldP spid="53" grpId="0" animBg="1"/>
      <p:bldP spid="95" grpId="0" animBg="1"/>
      <p:bldP spid="9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6901543" cy="123008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云服务可信评估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zh-CN" sz="2400" dirty="0" smtClean="0">
                <a:solidFill>
                  <a:srgbClr val="0070C0"/>
                </a:solidFill>
              </a:rPr>
              <a:t>基于</a:t>
            </a:r>
            <a:r>
              <a:rPr lang="zh-CN" altLang="zh-CN" sz="2400" dirty="0">
                <a:solidFill>
                  <a:srgbClr val="0070C0"/>
                </a:solidFill>
              </a:rPr>
              <a:t>一致性强度的云服务可信评估方法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101013" y="6312806"/>
            <a:ext cx="719137" cy="365125"/>
          </a:xfrm>
        </p:spPr>
        <p:txBody>
          <a:bodyPr/>
          <a:lstStyle/>
          <a:p>
            <a:pPr>
              <a:defRPr/>
            </a:pPr>
            <a:fld id="{7CCA1C44-227B-4B49-A909-DD2643F98D1B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  <p:cxnSp>
        <p:nvCxnSpPr>
          <p:cNvPr id="5" name="直接连接符 2"/>
          <p:cNvCxnSpPr/>
          <p:nvPr/>
        </p:nvCxnSpPr>
        <p:spPr>
          <a:xfrm flipH="1">
            <a:off x="1012346" y="1164771"/>
            <a:ext cx="7589" cy="5540829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19"/>
          <p:cNvSpPr/>
          <p:nvPr/>
        </p:nvSpPr>
        <p:spPr>
          <a:xfrm rot="5400000">
            <a:off x="-77402" y="1642537"/>
            <a:ext cx="1438303" cy="745785"/>
          </a:xfrm>
          <a:custGeom>
            <a:avLst/>
            <a:gdLst>
              <a:gd name="connsiteX0" fmla="*/ 0 w 2175308"/>
              <a:gd name="connsiteY0" fmla="*/ 0 h 1087655"/>
              <a:gd name="connsiteX1" fmla="*/ 2175308 w 2175308"/>
              <a:gd name="connsiteY1" fmla="*/ 0 h 1087655"/>
              <a:gd name="connsiteX2" fmla="*/ 1087654 w 2175308"/>
              <a:gd name="connsiteY2" fmla="*/ 1087655 h 1087655"/>
              <a:gd name="connsiteX3" fmla="*/ 0 w 2175308"/>
              <a:gd name="connsiteY3" fmla="*/ 0 h 108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5308" h="1087655">
                <a:moveTo>
                  <a:pt x="0" y="0"/>
                </a:moveTo>
                <a:lnTo>
                  <a:pt x="2175308" y="0"/>
                </a:lnTo>
                <a:cubicBezTo>
                  <a:pt x="2175308" y="600695"/>
                  <a:pt x="1688349" y="1087655"/>
                  <a:pt x="1087654" y="1087655"/>
                </a:cubicBezTo>
                <a:cubicBezTo>
                  <a:pt x="486959" y="1087655"/>
                  <a:pt x="0" y="60069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83375" y="1404796"/>
            <a:ext cx="1314799" cy="124598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任意多边形 19"/>
          <p:cNvSpPr/>
          <p:nvPr/>
        </p:nvSpPr>
        <p:spPr>
          <a:xfrm rot="16200000">
            <a:off x="673732" y="3340707"/>
            <a:ext cx="1438303" cy="745785"/>
          </a:xfrm>
          <a:custGeom>
            <a:avLst/>
            <a:gdLst>
              <a:gd name="connsiteX0" fmla="*/ 0 w 2175308"/>
              <a:gd name="connsiteY0" fmla="*/ 0 h 1087655"/>
              <a:gd name="connsiteX1" fmla="*/ 2175308 w 2175308"/>
              <a:gd name="connsiteY1" fmla="*/ 0 h 1087655"/>
              <a:gd name="connsiteX2" fmla="*/ 1087654 w 2175308"/>
              <a:gd name="connsiteY2" fmla="*/ 1087655 h 1087655"/>
              <a:gd name="connsiteX3" fmla="*/ 0 w 2175308"/>
              <a:gd name="connsiteY3" fmla="*/ 0 h 108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5308" h="1087655">
                <a:moveTo>
                  <a:pt x="0" y="0"/>
                </a:moveTo>
                <a:lnTo>
                  <a:pt x="2175308" y="0"/>
                </a:lnTo>
                <a:cubicBezTo>
                  <a:pt x="2175308" y="600695"/>
                  <a:pt x="1688349" y="1087655"/>
                  <a:pt x="1087654" y="1087655"/>
                </a:cubicBezTo>
                <a:cubicBezTo>
                  <a:pt x="486959" y="1087655"/>
                  <a:pt x="0" y="60069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383375" y="3102966"/>
            <a:ext cx="1314799" cy="124598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任意多边形 19"/>
          <p:cNvSpPr/>
          <p:nvPr/>
        </p:nvSpPr>
        <p:spPr>
          <a:xfrm rot="5400000">
            <a:off x="-73173" y="5160011"/>
            <a:ext cx="1438303" cy="745785"/>
          </a:xfrm>
          <a:custGeom>
            <a:avLst/>
            <a:gdLst>
              <a:gd name="connsiteX0" fmla="*/ 0 w 2175308"/>
              <a:gd name="connsiteY0" fmla="*/ 0 h 1087655"/>
              <a:gd name="connsiteX1" fmla="*/ 2175308 w 2175308"/>
              <a:gd name="connsiteY1" fmla="*/ 0 h 1087655"/>
              <a:gd name="connsiteX2" fmla="*/ 1087654 w 2175308"/>
              <a:gd name="connsiteY2" fmla="*/ 1087655 h 1087655"/>
              <a:gd name="connsiteX3" fmla="*/ 0 w 2175308"/>
              <a:gd name="connsiteY3" fmla="*/ 0 h 108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5308" h="1087655">
                <a:moveTo>
                  <a:pt x="0" y="0"/>
                </a:moveTo>
                <a:lnTo>
                  <a:pt x="2175308" y="0"/>
                </a:lnTo>
                <a:cubicBezTo>
                  <a:pt x="2175308" y="600695"/>
                  <a:pt x="1688349" y="1087655"/>
                  <a:pt x="1087654" y="1087655"/>
                </a:cubicBezTo>
                <a:cubicBezTo>
                  <a:pt x="486959" y="1087655"/>
                  <a:pt x="0" y="60069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354946" y="4922270"/>
            <a:ext cx="1314799" cy="124598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4" name="组合 22"/>
          <p:cNvGrpSpPr/>
          <p:nvPr/>
        </p:nvGrpSpPr>
        <p:grpSpPr>
          <a:xfrm>
            <a:off x="663154" y="1773659"/>
            <a:ext cx="720284" cy="491718"/>
            <a:chOff x="3654425" y="5089525"/>
            <a:chExt cx="1860550" cy="1460500"/>
          </a:xfrm>
          <a:solidFill>
            <a:schemeClr val="bg1"/>
          </a:solidFill>
        </p:grpSpPr>
        <p:sp>
          <p:nvSpPr>
            <p:cNvPr id="55" name="Freeform 12"/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3"/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4"/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5"/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6"/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7"/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8"/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79" name="组合 22"/>
          <p:cNvGrpSpPr/>
          <p:nvPr/>
        </p:nvGrpSpPr>
        <p:grpSpPr>
          <a:xfrm>
            <a:off x="680632" y="3467740"/>
            <a:ext cx="720284" cy="491718"/>
            <a:chOff x="3654425" y="5089525"/>
            <a:chExt cx="1860550" cy="1460500"/>
          </a:xfrm>
          <a:solidFill>
            <a:schemeClr val="bg1"/>
          </a:solidFill>
        </p:grpSpPr>
        <p:sp>
          <p:nvSpPr>
            <p:cNvPr id="80" name="Freeform 12"/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3"/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4"/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"/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6"/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7"/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18"/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7" name="组合 22"/>
          <p:cNvGrpSpPr/>
          <p:nvPr/>
        </p:nvGrpSpPr>
        <p:grpSpPr>
          <a:xfrm>
            <a:off x="669746" y="5310289"/>
            <a:ext cx="720284" cy="491718"/>
            <a:chOff x="3654425" y="5089525"/>
            <a:chExt cx="1860550" cy="1460500"/>
          </a:xfrm>
          <a:solidFill>
            <a:schemeClr val="bg1"/>
          </a:solidFill>
        </p:grpSpPr>
        <p:sp>
          <p:nvSpPr>
            <p:cNvPr id="88" name="Freeform 12"/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3"/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4"/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5"/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16"/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7"/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8"/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5" name="内容占位符 2"/>
          <p:cNvSpPr txBox="1">
            <a:spLocks/>
          </p:cNvSpPr>
          <p:nvPr/>
        </p:nvSpPr>
        <p:spPr bwMode="auto">
          <a:xfrm>
            <a:off x="1970313" y="2620242"/>
            <a:ext cx="6901543" cy="1954018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14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dirty="0" smtClean="0"/>
              <a:t>海量</a:t>
            </a:r>
            <a:r>
              <a:rPr lang="zh-CN" altLang="zh-CN" sz="2400" dirty="0"/>
              <a:t>数据下的服务组合</a:t>
            </a:r>
            <a:endParaRPr lang="en-US" altLang="zh-CN" sz="2400" dirty="0" smtClean="0"/>
          </a:p>
          <a:p>
            <a:pPr lvl="1">
              <a:lnSpc>
                <a:spcPct val="150000"/>
              </a:lnSpc>
            </a:pPr>
            <a:r>
              <a:rPr lang="zh-CN" altLang="zh-CN" sz="2400" dirty="0" smtClean="0">
                <a:solidFill>
                  <a:srgbClr val="0070C0"/>
                </a:solidFill>
              </a:rPr>
              <a:t>基于</a:t>
            </a:r>
            <a:r>
              <a:rPr lang="zh-CN" altLang="zh-CN" sz="2400" dirty="0">
                <a:solidFill>
                  <a:srgbClr val="0070C0"/>
                </a:solidFill>
              </a:rPr>
              <a:t>人工蜂群算法的可信服务组合</a:t>
            </a:r>
            <a:r>
              <a:rPr lang="zh-CN" altLang="zh-CN" sz="2400" dirty="0" smtClean="0">
                <a:solidFill>
                  <a:srgbClr val="0070C0"/>
                </a:solidFill>
              </a:rPr>
              <a:t>方法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solidFill>
                  <a:srgbClr val="0070C0"/>
                </a:solidFill>
              </a:rPr>
              <a:t>基于</a:t>
            </a:r>
            <a:r>
              <a:rPr lang="en-US" altLang="zh-CN" sz="2400" dirty="0">
                <a:solidFill>
                  <a:srgbClr val="0070C0"/>
                </a:solidFill>
              </a:rPr>
              <a:t>skyline</a:t>
            </a:r>
            <a:r>
              <a:rPr lang="zh-CN" altLang="zh-CN" sz="2400" dirty="0">
                <a:solidFill>
                  <a:srgbClr val="0070C0"/>
                </a:solidFill>
              </a:rPr>
              <a:t>计算的非线性服务组合方法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96" name="内容占位符 2"/>
          <p:cNvSpPr txBox="1">
            <a:spLocks/>
          </p:cNvSpPr>
          <p:nvPr/>
        </p:nvSpPr>
        <p:spPr bwMode="auto">
          <a:xfrm>
            <a:off x="1992086" y="4756713"/>
            <a:ext cx="6901543" cy="1796489"/>
          </a:xfrm>
          <a:prstGeom prst="rect">
            <a:avLst/>
          </a:prstGeom>
          <a:ln/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14000"/>
              </a:lnSpc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lnSpc>
                <a:spcPct val="114000"/>
              </a:lnSpc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14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dirty="0"/>
              <a:t>面向用户复杂需求的服务</a:t>
            </a:r>
            <a:r>
              <a:rPr lang="zh-CN" altLang="zh-CN" sz="2400" dirty="0" smtClean="0"/>
              <a:t>组合</a:t>
            </a:r>
            <a:endParaRPr lang="en-US" altLang="zh-CN" sz="2400" dirty="0" smtClean="0"/>
          </a:p>
          <a:p>
            <a:pPr lvl="1">
              <a:lnSpc>
                <a:spcPct val="150000"/>
              </a:lnSpc>
            </a:pPr>
            <a:r>
              <a:rPr lang="zh-CN" altLang="zh-CN" sz="2400" dirty="0" smtClean="0">
                <a:solidFill>
                  <a:srgbClr val="0070C0"/>
                </a:solidFill>
              </a:rPr>
              <a:t>基于</a:t>
            </a:r>
            <a:r>
              <a:rPr lang="zh-CN" altLang="zh-CN" sz="2400" dirty="0">
                <a:solidFill>
                  <a:srgbClr val="0070C0"/>
                </a:solidFill>
              </a:rPr>
              <a:t>成本效益优化的多目标服务组合方法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57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6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en-US" smtClean="0"/>
              <a:t>研究内容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论文研究思路</a:t>
            </a:r>
            <a:endParaRPr lang="en-US" altLang="zh-CN" dirty="0" smtClean="0"/>
          </a:p>
          <a:p>
            <a:pPr lvl="1" eaLnBrk="1" hangingPunct="1"/>
            <a:endParaRPr lang="en-US" altLang="zh-CN" dirty="0" smtClean="0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7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129086"/>
              </p:ext>
            </p:extLst>
          </p:nvPr>
        </p:nvGraphicFramePr>
        <p:xfrm>
          <a:off x="395288" y="2133600"/>
          <a:ext cx="8347075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1" name="Visio" r:id="rId3" imgW="5570977" imgH="2194883" progId="Visio.Drawing.11">
                  <p:embed/>
                </p:oleObj>
              </mc:Choice>
              <mc:Fallback>
                <p:oleObj name="Visio" r:id="rId3" imgW="5570977" imgH="2194883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133600"/>
                        <a:ext cx="8347075" cy="352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95288" y="3573463"/>
            <a:ext cx="2016125" cy="576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 w="28575">
                <a:solidFill>
                  <a:srgbClr val="FF0000"/>
                </a:solidFill>
              </a:ln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70C3A3-DF3C-4F5A-B31C-321989595E10}" type="slidenum">
              <a:rPr lang="zh-CN" altLang="en-US"/>
              <a:pPr>
                <a:defRPr/>
              </a:pPr>
              <a:t>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11267" name="内容占位符 2"/>
          <p:cNvSpPr>
            <a:spLocks noGrp="1"/>
          </p:cNvSpPr>
          <p:nvPr>
            <p:ph sz="quarter" idx="1"/>
          </p:nvPr>
        </p:nvSpPr>
        <p:spPr>
          <a:xfrm>
            <a:off x="457200" y="2133600"/>
            <a:ext cx="8229600" cy="4022725"/>
          </a:xfrm>
        </p:spPr>
        <p:txBody>
          <a:bodyPr/>
          <a:lstStyle/>
          <a:p>
            <a:pPr eaLnBrk="1" hangingPunct="1"/>
            <a:r>
              <a:rPr lang="zh-CN" altLang="en-US" sz="2400" smtClean="0"/>
              <a:t>云服务可信评估指标</a:t>
            </a:r>
            <a:endParaRPr lang="en-US" altLang="zh-CN" sz="2400" smtClean="0"/>
          </a:p>
          <a:p>
            <a:pPr lvl="1" eaLnBrk="1" hangingPunct="1"/>
            <a:endParaRPr lang="en-US" altLang="zh-CN" smtClean="0"/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68313" y="2636838"/>
          <a:ext cx="8207375" cy="3679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23907"/>
                <a:gridCol w="3455737"/>
                <a:gridCol w="3527731"/>
              </a:tblGrid>
              <a:tr h="59993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 smtClean="0"/>
                        <a:t>评估指标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基础设施服务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应用服务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</a:tr>
              <a:tr h="599939">
                <a:tc>
                  <a:txBody>
                    <a:bodyPr/>
                    <a:lstStyle/>
                    <a:p>
                      <a:pPr indent="127000"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性能</a:t>
                      </a:r>
                      <a:endParaRPr lang="zh-CN" sz="1800" kern="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67" marR="68567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基础设施的性能参数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应用服务的基本参数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</a:tr>
              <a:tr h="640034">
                <a:tc>
                  <a:txBody>
                    <a:bodyPr/>
                    <a:lstStyle/>
                    <a:p>
                      <a:pPr indent="127000"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可靠性</a:t>
                      </a:r>
                      <a:endParaRPr lang="zh-CN" sz="1800" kern="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67" marR="68567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设备能无故障执行的概率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成功执行的次数和总调用次数的比值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</a:tr>
              <a:tr h="599939">
                <a:tc>
                  <a:txBody>
                    <a:bodyPr/>
                    <a:lstStyle/>
                    <a:p>
                      <a:pPr indent="127000"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安全性</a:t>
                      </a:r>
                      <a:endParaRPr lang="zh-CN" sz="1800" kern="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67" marR="68567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对服务运行安全状态的评估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对服务本身安全性的评估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</a:tr>
              <a:tr h="599939">
                <a:tc>
                  <a:txBody>
                    <a:bodyPr/>
                    <a:lstStyle/>
                    <a:p>
                      <a:pPr indent="127000"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价格</a:t>
                      </a:r>
                      <a:endParaRPr lang="zh-CN" sz="1800" kern="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67" marR="68567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用户租用服务所必须支付的费用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用户使用服务所必须支付的费用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</a:tr>
              <a:tr h="640034">
                <a:tc>
                  <a:txBody>
                    <a:bodyPr/>
                    <a:lstStyle/>
                    <a:p>
                      <a:pPr indent="127000"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信誉</a:t>
                      </a:r>
                      <a:endParaRPr lang="zh-CN" sz="18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67" marR="68567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用户对基础设施资源提供商的可信评价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zh-CN" altLang="zh-CN" sz="1800" kern="1200" dirty="0" smtClean="0">
                          <a:effectLst/>
                        </a:rPr>
                        <a:t>用户对服务本身的可信评价</a:t>
                      </a:r>
                      <a:endParaRPr lang="zh-CN" altLang="en-US" sz="1800" dirty="0">
                        <a:latin typeface="+mn-ea"/>
                        <a:ea typeface="+mn-ea"/>
                      </a:endParaRPr>
                    </a:p>
                  </a:txBody>
                  <a:tcPr marL="91423" marR="91423" marT="45711" marB="45711" anchor="ctr"/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343984-0361-4596-B90E-0401B2F785C9}" type="slidenum">
              <a:rPr lang="zh-CN" altLang="en-US"/>
              <a:pPr>
                <a:defRPr/>
              </a:pPr>
              <a:t>8</a:t>
            </a:fld>
            <a:endParaRPr lang="zh-CN" altLang="en-US" dirty="0"/>
          </a:p>
        </p:txBody>
      </p:sp>
      <p:sp>
        <p:nvSpPr>
          <p:cNvPr id="2" name="圆角矩形标注 1"/>
          <p:cNvSpPr/>
          <p:nvPr/>
        </p:nvSpPr>
        <p:spPr>
          <a:xfrm>
            <a:off x="2540680" y="4038601"/>
            <a:ext cx="2608263" cy="1480456"/>
          </a:xfrm>
          <a:prstGeom prst="wedgeRoundRectCallout">
            <a:avLst>
              <a:gd name="adj1" fmla="val -21261"/>
              <a:gd name="adj2" fmla="val -7746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根据其物理性能参数进行评估的，其参数包括</a:t>
            </a:r>
            <a:r>
              <a:rPr lang="en-US" altLang="zh-CN" dirty="0"/>
              <a:t>CPU</a:t>
            </a:r>
            <a:r>
              <a:rPr lang="zh-CN" altLang="zh-CN" dirty="0"/>
              <a:t>主频、内存容量、网络带宽、吞吐量等</a:t>
            </a:r>
            <a:endParaRPr lang="zh-CN" altLang="en-US" dirty="0"/>
          </a:p>
        </p:txBody>
      </p:sp>
      <p:sp>
        <p:nvSpPr>
          <p:cNvPr id="11" name="圆角矩形标注 10"/>
          <p:cNvSpPr/>
          <p:nvPr/>
        </p:nvSpPr>
        <p:spPr>
          <a:xfrm>
            <a:off x="6036583" y="4038601"/>
            <a:ext cx="2336120" cy="1545770"/>
          </a:xfrm>
          <a:prstGeom prst="wedgeRoundRectCallout">
            <a:avLst>
              <a:gd name="adj1" fmla="val -32605"/>
              <a:gd name="adj2" fmla="val -7768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根据其基本的质量参数，如执行时间、吞吐量、服务可用时间等指标来评估服务的质量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sp>
        <p:nvSpPr>
          <p:cNvPr id="11" name="Rektangel 565"/>
          <p:cNvSpPr>
            <a:spLocks noChangeArrowheads="1"/>
          </p:cNvSpPr>
          <p:nvPr/>
        </p:nvSpPr>
        <p:spPr bwMode="auto">
          <a:xfrm>
            <a:off x="539750" y="2349500"/>
            <a:ext cx="7978775" cy="1079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zh-CN" sz="2000" dirty="0"/>
              <a:t>云服务的评估问题建模</a:t>
            </a:r>
            <a:r>
              <a:rPr lang="zh-CN" altLang="en-US" sz="2000" dirty="0">
                <a:latin typeface="+mj-ea"/>
                <a:ea typeface="+mj-ea"/>
              </a:rPr>
              <a:t>：</a:t>
            </a:r>
            <a:endParaRPr lang="en-US" altLang="zh-CN" sz="2000" dirty="0">
              <a:latin typeface="+mj-ea"/>
              <a:ea typeface="+mj-ea"/>
            </a:endParaRPr>
          </a:p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B3BEAD-C707-4308-9C31-AF134AF18EC1}" type="slidenum">
              <a:rPr lang="zh-CN" altLang="en-US"/>
              <a:pPr>
                <a:defRPr/>
              </a:pPr>
              <a:t>9</a:t>
            </a:fld>
            <a:endParaRPr lang="zh-CN" altLang="en-US" dirty="0"/>
          </a:p>
        </p:txBody>
      </p:sp>
      <p:sp>
        <p:nvSpPr>
          <p:cNvPr id="2048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519488" y="2841625"/>
          <a:ext cx="20177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4" name="Equation" r:id="rId3" imgW="876300" imgH="190500" progId="Equation.DSMT4">
                  <p:embed/>
                </p:oleObj>
              </mc:Choice>
              <mc:Fallback>
                <p:oleObj name="Equation" r:id="rId3" imgW="876300" imgH="1905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2841625"/>
                        <a:ext cx="201771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线形标注 2 19"/>
          <p:cNvSpPr/>
          <p:nvPr/>
        </p:nvSpPr>
        <p:spPr bwMode="auto">
          <a:xfrm>
            <a:off x="827088" y="3789363"/>
            <a:ext cx="4537075" cy="2663825"/>
          </a:xfrm>
          <a:prstGeom prst="borderCallout2">
            <a:avLst>
              <a:gd name="adj1" fmla="val 467"/>
              <a:gd name="adj2" fmla="val 50469"/>
              <a:gd name="adj3" fmla="val -22235"/>
              <a:gd name="adj4" fmla="val 95342"/>
              <a:gd name="adj5" fmla="val -22078"/>
              <a:gd name="adj6" fmla="val 99322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+mj-ea"/>
              </a:rPr>
              <a:t>评估矩阵</a:t>
            </a:r>
            <a:r>
              <a:rPr lang="en-US" altLang="zh-CN" sz="2000" b="1" i="1" kern="0" dirty="0">
                <a:solidFill>
                  <a:srgbClr val="0070C0"/>
                </a:solidFill>
                <a:latin typeface="+mj-ea"/>
              </a:rPr>
              <a:t>V</a:t>
            </a:r>
          </a:p>
        </p:txBody>
      </p:sp>
      <p:sp>
        <p:nvSpPr>
          <p:cNvPr id="204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373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329113"/>
            <a:ext cx="429577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线形标注 2 23"/>
          <p:cNvSpPr/>
          <p:nvPr/>
        </p:nvSpPr>
        <p:spPr bwMode="auto">
          <a:xfrm>
            <a:off x="5724525" y="4365625"/>
            <a:ext cx="2794000" cy="1908175"/>
          </a:xfrm>
          <a:prstGeom prst="borderCallout2">
            <a:avLst>
              <a:gd name="adj1" fmla="val 51131"/>
              <a:gd name="adj2" fmla="val -1347"/>
              <a:gd name="adj3" fmla="val 37417"/>
              <a:gd name="adj4" fmla="val -29899"/>
              <a:gd name="adj5" fmla="val 37088"/>
              <a:gd name="adj6" fmla="val -5321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lnSpc>
                <a:spcPct val="114000"/>
              </a:lnSpc>
              <a:defRPr/>
            </a:pPr>
            <a:r>
              <a:rPr lang="zh-CN" altLang="zh-CN" sz="2000" dirty="0"/>
              <a:t>评估者</a:t>
            </a:r>
            <a:r>
              <a:rPr lang="en-US" altLang="zh-CN" sz="2000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CN" sz="2000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000" dirty="0"/>
              <a:t>以</a:t>
            </a:r>
            <a:r>
              <a:rPr lang="en-US" altLang="zh-CN" sz="2000" dirty="0"/>
              <a:t>  </a:t>
            </a:r>
            <a:r>
              <a:rPr lang="zh-CN" altLang="zh-CN" sz="2000" dirty="0"/>
              <a:t>的可信度认定指标</a:t>
            </a:r>
            <a:r>
              <a:rPr lang="en-US" altLang="zh-CN" sz="2000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zh-CN" sz="2000" dirty="0"/>
              <a:t>的评估值为等级</a:t>
            </a:r>
            <a:r>
              <a:rPr lang="en-US" altLang="zh-CN" sz="2000" dirty="0"/>
              <a:t> </a:t>
            </a:r>
            <a:endParaRPr lang="en-US" altLang="zh-CN" sz="2000" b="1" i="1" kern="0" dirty="0">
              <a:solidFill>
                <a:srgbClr val="0070C0"/>
              </a:solidFill>
              <a:latin typeface="+mj-ea"/>
            </a:endParaRPr>
          </a:p>
        </p:txBody>
      </p:sp>
      <p:sp>
        <p:nvSpPr>
          <p:cNvPr id="2049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7050088" y="4941888"/>
          <a:ext cx="2587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5" name="Equation" r:id="rId6" imgW="152268" imgH="215713" progId="Equation.DSMT4">
                  <p:embed/>
                </p:oleObj>
              </mc:Choice>
              <mc:Fallback>
                <p:oleObj name="Equation" r:id="rId6" imgW="152268" imgH="215713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088" y="4941888"/>
                        <a:ext cx="25876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335713" y="5745163"/>
          <a:ext cx="2095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6" name="Equation" r:id="rId8" imgW="152268" imgH="215713" progId="Equation.DSMT4">
                  <p:embed/>
                </p:oleObj>
              </mc:Choice>
              <mc:Fallback>
                <p:oleObj name="Equation" r:id="rId8" imgW="152268" imgH="215713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5745163"/>
                        <a:ext cx="2095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0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773738" y="4437063"/>
          <a:ext cx="13906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7" name="Equation" r:id="rId10" imgW="698500" imgH="241300" progId="Equation.DSMT4">
                  <p:embed/>
                </p:oleObj>
              </mc:Choice>
              <mc:Fallback>
                <p:oleObj name="Equation" r:id="rId10" imgW="698500" imgH="2413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4437063"/>
                        <a:ext cx="13906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565044" y="245641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评估等级、评估指标、评估者</a:t>
            </a:r>
            <a:endParaRPr lang="zh-CN" altLang="en-US" dirty="0">
              <a:solidFill>
                <a:srgbClr val="002060"/>
              </a:solidFill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4152900" y="3185160"/>
            <a:ext cx="1004887" cy="762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4" grpId="0" animBg="1"/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sp>
        <p:nvSpPr>
          <p:cNvPr id="11" name="Rektangel 565"/>
          <p:cNvSpPr>
            <a:spLocks noChangeArrowheads="1"/>
          </p:cNvSpPr>
          <p:nvPr/>
        </p:nvSpPr>
        <p:spPr bwMode="auto">
          <a:xfrm>
            <a:off x="539750" y="2349500"/>
            <a:ext cx="7978775" cy="1079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以云存储服务可信评估为例</a:t>
            </a:r>
            <a:endParaRPr lang="en-US" altLang="zh-CN" sz="2000" dirty="0"/>
          </a:p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en-US" altLang="zh-CN" sz="2000" dirty="0"/>
              <a:t>4</a:t>
            </a:r>
            <a:r>
              <a:rPr lang="zh-CN" altLang="en-US" sz="2000" dirty="0"/>
              <a:t>个用户参与评估，</a:t>
            </a:r>
            <a:r>
              <a:rPr lang="zh-CN" altLang="zh-CN" sz="2000" dirty="0"/>
              <a:t>其信任权重</a:t>
            </a:r>
            <a:r>
              <a:rPr lang="zh-CN" altLang="en-US" sz="2000" dirty="0"/>
              <a:t>分别为</a:t>
            </a:r>
            <a:r>
              <a:rPr lang="en-US" altLang="zh-CN" sz="2000" dirty="0"/>
              <a:t>0.3,0.3,0.2,0.2</a:t>
            </a:r>
          </a:p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评估指标为</a:t>
            </a:r>
            <a:r>
              <a:rPr lang="en-US" altLang="zh-CN" sz="2000" dirty="0"/>
              <a:t>5</a:t>
            </a:r>
            <a:r>
              <a:rPr lang="zh-CN" altLang="en-US" sz="2000" dirty="0"/>
              <a:t>个，评估等级为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EA61D0-F206-4010-BC81-77DB2FE94FEF}" type="slidenum">
              <a:rPr lang="zh-CN" altLang="en-US"/>
              <a:pPr>
                <a:defRPr/>
              </a:pPr>
              <a:t>10</a:t>
            </a:fld>
            <a:endParaRPr lang="zh-CN" altLang="en-US" dirty="0"/>
          </a:p>
        </p:txBody>
      </p:sp>
      <p:sp>
        <p:nvSpPr>
          <p:cNvPr id="215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8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779838" y="3068638"/>
          <a:ext cx="19986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" name="Equation" r:id="rId3" imgW="1066337" imgH="203112" progId="Equation.DSMT4">
                  <p:embed/>
                </p:oleObj>
              </mc:Choice>
              <mc:Fallback>
                <p:oleObj name="Equation" r:id="rId3" imgW="1066337" imgH="20311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068638"/>
                        <a:ext cx="19986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3933825"/>
            <a:ext cx="4021138" cy="230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sp>
        <p:nvSpPr>
          <p:cNvPr id="11" name="Rektangel 565"/>
          <p:cNvSpPr>
            <a:spLocks noChangeArrowheads="1"/>
          </p:cNvSpPr>
          <p:nvPr/>
        </p:nvSpPr>
        <p:spPr bwMode="auto">
          <a:xfrm>
            <a:off x="539750" y="2349500"/>
            <a:ext cx="7978775" cy="10795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根据信任权重进行预处理，</a:t>
            </a:r>
            <a:r>
              <a:rPr lang="zh-CN" altLang="zh-CN" sz="2000" dirty="0"/>
              <a:t>得到评估指标对应于评估等级的评估矩阵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8086F4-1EDE-44B4-BFBD-87A5B1507F9E}" type="slidenum">
              <a:rPr lang="zh-CN" altLang="en-US"/>
              <a:pPr>
                <a:defRPr/>
              </a:pPr>
              <a:t>11</a:t>
            </a:fld>
            <a:endParaRPr lang="zh-CN" altLang="en-US" dirty="0"/>
          </a:p>
        </p:txBody>
      </p:sp>
      <p:sp>
        <p:nvSpPr>
          <p:cNvPr id="225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4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4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966788" y="2852738"/>
          <a:ext cx="34607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5" name="Equation" r:id="rId3" imgW="1917700" imgH="279400" progId="Equation.DSMT4">
                  <p:embed/>
                </p:oleObj>
              </mc:Choice>
              <mc:Fallback>
                <p:oleObj name="Equation" r:id="rId3" imgW="1917700" imgH="279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2852738"/>
                        <a:ext cx="34607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292725" y="2863850"/>
          <a:ext cx="21590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6" name="Equation" r:id="rId5" imgW="1282700" imgH="266700" progId="Equation.DSMT4">
                  <p:embed/>
                </p:oleObj>
              </mc:Choice>
              <mc:Fallback>
                <p:oleObj name="Equation" r:id="rId5" imgW="1282700" imgH="2667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863850"/>
                        <a:ext cx="21590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48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3933825"/>
            <a:ext cx="4021138" cy="230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917950"/>
            <a:ext cx="3586162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右箭头 12"/>
          <p:cNvSpPr/>
          <p:nvPr/>
        </p:nvSpPr>
        <p:spPr>
          <a:xfrm>
            <a:off x="4608513" y="4868863"/>
            <a:ext cx="684212" cy="4318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/>
              <a:t>预处理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sp>
        <p:nvSpPr>
          <p:cNvPr id="11" name="Rektangel 565"/>
          <p:cNvSpPr>
            <a:spLocks noChangeArrowheads="1"/>
          </p:cNvSpPr>
          <p:nvPr/>
        </p:nvSpPr>
        <p:spPr bwMode="auto">
          <a:xfrm>
            <a:off x="539750" y="2349500"/>
            <a:ext cx="7978775" cy="1295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基于证据理论合成，计算</a:t>
            </a:r>
            <a:r>
              <a:rPr lang="zh-CN" altLang="zh-CN" sz="2000" dirty="0"/>
              <a:t>每个评估等级的信任函数和似然函数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3F90D0-2B5A-4377-B594-DA7509F091B3}" type="slidenum">
              <a:rPr lang="zh-CN" altLang="en-US"/>
              <a:pPr>
                <a:defRPr/>
              </a:pPr>
              <a:t>12</a:t>
            </a:fld>
            <a:endParaRPr lang="zh-CN" altLang="en-US" dirty="0"/>
          </a:p>
        </p:txBody>
      </p:sp>
      <p:sp>
        <p:nvSpPr>
          <p:cNvPr id="2356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6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357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917950"/>
            <a:ext cx="3586162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左箭头 13"/>
          <p:cNvSpPr/>
          <p:nvPr/>
        </p:nvSpPr>
        <p:spPr>
          <a:xfrm>
            <a:off x="4643438" y="4868863"/>
            <a:ext cx="649287" cy="431800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35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27088" y="2697163"/>
          <a:ext cx="23336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26" name="Equation" r:id="rId4" imgW="1892300" imgH="762000" progId="Equation.DSMT4">
                  <p:embed/>
                </p:oleObj>
              </mc:Choice>
              <mc:Fallback>
                <p:oleObj name="Equation" r:id="rId4" imgW="1892300" imgH="7620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97163"/>
                        <a:ext cx="233362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419475" y="3068638"/>
          <a:ext cx="2346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27" name="Equation" r:id="rId6" imgW="1282700" imgH="266700" progId="Equation.DSMT4">
                  <p:embed/>
                </p:oleObj>
              </mc:Choice>
              <mc:Fallback>
                <p:oleObj name="Equation" r:id="rId6" imgW="1282700" imgH="2667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068638"/>
                        <a:ext cx="23463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011863" y="3068638"/>
          <a:ext cx="2520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28" name="Equation" r:id="rId8" imgW="1383699" imgH="266584" progId="Equation.DSMT4">
                  <p:embed/>
                </p:oleObj>
              </mc:Choice>
              <mc:Fallback>
                <p:oleObj name="Equation" r:id="rId8" imgW="1383699" imgH="266584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068638"/>
                        <a:ext cx="25209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8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832561"/>
              </p:ext>
            </p:extLst>
          </p:nvPr>
        </p:nvGraphicFramePr>
        <p:xfrm>
          <a:off x="3176588" y="4089400"/>
          <a:ext cx="1611312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29" name="Equation" r:id="rId10" imgW="977760" imgH="1206360" progId="Equation.DSMT4">
                  <p:embed/>
                </p:oleObj>
              </mc:Choice>
              <mc:Fallback>
                <p:oleObj name="Equation" r:id="rId10" imgW="977760" imgH="120636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4089400"/>
                        <a:ext cx="1611312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0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11188" y="4221163"/>
          <a:ext cx="18256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30" name="Equation" r:id="rId12" imgW="1130040" imgH="1015920" progId="Equation.DSMT4">
                  <p:embed/>
                </p:oleObj>
              </mc:Choice>
              <mc:Fallback>
                <p:oleObj name="Equation" r:id="rId12" imgW="1130040" imgH="101592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221163"/>
                        <a:ext cx="18256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左箭头 35"/>
          <p:cNvSpPr/>
          <p:nvPr/>
        </p:nvSpPr>
        <p:spPr>
          <a:xfrm>
            <a:off x="2411413" y="4860925"/>
            <a:ext cx="647700" cy="433388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39750" y="4041775"/>
            <a:ext cx="1871663" cy="19796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059113" y="4041775"/>
            <a:ext cx="1584325" cy="19796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圆角矩形标注 2"/>
          <p:cNvSpPr/>
          <p:nvPr/>
        </p:nvSpPr>
        <p:spPr>
          <a:xfrm>
            <a:off x="2627313" y="3789363"/>
            <a:ext cx="3600450" cy="1655762"/>
          </a:xfrm>
          <a:prstGeom prst="wedgeRoundRectCallout">
            <a:avLst>
              <a:gd name="adj1" fmla="val -63633"/>
              <a:gd name="adj2" fmla="val -980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zh-CN" dirty="0"/>
              <a:t>设置多属性决策规则对各个评估等级进行排序，从而确定最恰当</a:t>
            </a:r>
            <a:r>
              <a:rPr lang="zh-CN" altLang="zh-CN" dirty="0" smtClean="0"/>
              <a:t>的</a:t>
            </a:r>
            <a:r>
              <a:rPr lang="zh-CN" altLang="en-US" dirty="0" smtClean="0"/>
              <a:t>评估等级</a:t>
            </a:r>
            <a:r>
              <a:rPr lang="zh-CN" altLang="zh-CN" dirty="0" smtClean="0"/>
              <a:t>。</a:t>
            </a:r>
            <a:r>
              <a:rPr lang="zh-CN" altLang="zh-CN" dirty="0"/>
              <a:t>但大量服务的存在使得光</a:t>
            </a:r>
            <a:r>
              <a:rPr lang="zh-CN" altLang="zh-CN" dirty="0" smtClean="0"/>
              <a:t>凭评估</a:t>
            </a:r>
            <a:r>
              <a:rPr lang="zh-CN" altLang="en-US" dirty="0" smtClean="0"/>
              <a:t>等级</a:t>
            </a:r>
            <a:r>
              <a:rPr lang="zh-CN" altLang="zh-CN" dirty="0" smtClean="0"/>
              <a:t>很难</a:t>
            </a:r>
            <a:r>
              <a:rPr lang="zh-CN" altLang="zh-CN" dirty="0"/>
              <a:t>对服务的质量好坏加以区分。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36" grpId="0" animBg="1"/>
      <p:bldP spid="26" grpId="0" animBg="1"/>
      <p:bldP spid="38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sp>
        <p:nvSpPr>
          <p:cNvPr id="11" name="Rektangel 565"/>
          <p:cNvSpPr>
            <a:spLocks noChangeArrowheads="1"/>
          </p:cNvSpPr>
          <p:nvPr/>
        </p:nvSpPr>
        <p:spPr bwMode="auto">
          <a:xfrm>
            <a:off x="539750" y="2349500"/>
            <a:ext cx="7978775" cy="1223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根据</a:t>
            </a:r>
            <a:r>
              <a:rPr lang="zh-CN" altLang="zh-CN" sz="2000" dirty="0"/>
              <a:t>效用值</a:t>
            </a:r>
            <a:r>
              <a:rPr lang="zh-CN" altLang="en-US" sz="2000" dirty="0"/>
              <a:t>，计算</a:t>
            </a:r>
            <a:r>
              <a:rPr lang="zh-CN" altLang="zh-CN" sz="2000" dirty="0"/>
              <a:t>定量评估结果区间</a:t>
            </a:r>
          </a:p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引入语义折扣因子，获得</a:t>
            </a:r>
            <a:r>
              <a:rPr lang="zh-CN" altLang="zh-CN" sz="2000" dirty="0"/>
              <a:t>最终评估结果计算公式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BFB5C9-7121-4D63-95FF-405440E57C14}" type="slidenum">
              <a:rPr lang="zh-CN" altLang="en-US"/>
              <a:pPr>
                <a:defRPr/>
              </a:pPr>
              <a:t>13</a:t>
            </a:fld>
            <a:endParaRPr lang="zh-CN" altLang="en-US" dirty="0"/>
          </a:p>
        </p:txBody>
      </p:sp>
      <p:sp>
        <p:nvSpPr>
          <p:cNvPr id="245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0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59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4895850"/>
            <a:ext cx="2074862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9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8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600" name="对象 24"/>
          <p:cNvGraphicFramePr>
            <a:graphicFrameLocks noChangeAspect="1"/>
          </p:cNvGraphicFramePr>
          <p:nvPr/>
        </p:nvGraphicFramePr>
        <p:xfrm>
          <a:off x="611188" y="4221163"/>
          <a:ext cx="18256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7" name="Equation" r:id="rId4" imgW="1130040" imgH="1015920" progId="Equation.DSMT4">
                  <p:embed/>
                </p:oleObj>
              </mc:Choice>
              <mc:Fallback>
                <p:oleObj name="Equation" r:id="rId4" imgW="1130040" imgH="101592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221163"/>
                        <a:ext cx="18256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539750" y="4041775"/>
            <a:ext cx="1871663" cy="19796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419475" y="3765550"/>
          <a:ext cx="26257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8" name="Equation" r:id="rId6" imgW="1282700" imgH="203200" progId="Equation.DSMT4">
                  <p:embed/>
                </p:oleObj>
              </mc:Choice>
              <mc:Fallback>
                <p:oleObj name="Equation" r:id="rId6" imgW="1282700" imgH="203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765550"/>
                        <a:ext cx="26257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右箭头 12"/>
          <p:cNvSpPr/>
          <p:nvPr/>
        </p:nvSpPr>
        <p:spPr>
          <a:xfrm>
            <a:off x="2700338" y="4365625"/>
            <a:ext cx="647700" cy="36512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563938" y="4275138"/>
          <a:ext cx="15128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9" name="Equation" r:id="rId8" imgW="926698" imgH="203112" progId="Equation.DSMT4">
                  <p:embed/>
                </p:oleObj>
              </mc:Choice>
              <mc:Fallback>
                <p:oleObj name="Equation" r:id="rId8" imgW="926698" imgH="203112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275138"/>
                        <a:ext cx="151288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563938" y="4621213"/>
          <a:ext cx="151288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0" name="Equation" r:id="rId10" imgW="889000" imgH="190500" progId="Equation.DSMT4">
                  <p:embed/>
                </p:oleObj>
              </mc:Choice>
              <mc:Fallback>
                <p:oleObj name="Equation" r:id="rId10" imgW="889000" imgH="1905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621213"/>
                        <a:ext cx="1512887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608" name="Rectangle 7"/>
          <p:cNvSpPr>
            <a:spLocks noChangeArrowheads="1"/>
          </p:cNvSpPr>
          <p:nvPr/>
        </p:nvSpPr>
        <p:spPr bwMode="auto">
          <a:xfrm>
            <a:off x="0" y="381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zh-CN" sz="700"/>
              <a:t> </a:t>
            </a:r>
            <a:endParaRPr lang="zh-CN" altLang="zh-CN"/>
          </a:p>
        </p:txBody>
      </p:sp>
      <p:sp>
        <p:nvSpPr>
          <p:cNvPr id="42" name="矩形 41"/>
          <p:cNvSpPr/>
          <p:nvPr/>
        </p:nvSpPr>
        <p:spPr>
          <a:xfrm>
            <a:off x="3492500" y="4221163"/>
            <a:ext cx="1584325" cy="70961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4140200" y="5013325"/>
            <a:ext cx="360363" cy="4318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6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062163" y="3141663"/>
          <a:ext cx="46624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1" name="Equation" r:id="rId12" imgW="2108160" imgH="203040" progId="Equation.DSMT4">
                  <p:embed/>
                </p:oleObj>
              </mc:Choice>
              <mc:Fallback>
                <p:oleObj name="Equation" r:id="rId12" imgW="2108160" imgH="20304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3141663"/>
                        <a:ext cx="46624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2768600" y="5600700"/>
          <a:ext cx="35909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42" name="Equation" r:id="rId14" imgW="2158920" imgH="190440" progId="Equation.DSMT4">
                  <p:embed/>
                </p:oleObj>
              </mc:Choice>
              <mc:Fallback>
                <p:oleObj name="Equation" r:id="rId14" imgW="2158920" imgH="19044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5600700"/>
                        <a:ext cx="35909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42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sp>
        <p:nvSpPr>
          <p:cNvPr id="11" name="Rektangel 565"/>
          <p:cNvSpPr>
            <a:spLocks noChangeArrowheads="1"/>
          </p:cNvSpPr>
          <p:nvPr/>
        </p:nvSpPr>
        <p:spPr bwMode="auto">
          <a:xfrm>
            <a:off x="539750" y="2349500"/>
            <a:ext cx="7978775" cy="9350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基于证据理论和效用值，计算</a:t>
            </a:r>
            <a:r>
              <a:rPr lang="zh-CN" altLang="zh-CN" sz="2000" dirty="0"/>
              <a:t>每个评估指标的综合评估结果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61D610-FBA4-403F-9049-144D7E3BDFBB}" type="slidenum">
              <a:rPr lang="zh-CN" altLang="en-US"/>
              <a:pPr>
                <a:defRPr/>
              </a:pPr>
              <a:t>14</a:t>
            </a:fld>
            <a:endParaRPr lang="zh-CN" altLang="en-US" dirty="0"/>
          </a:p>
        </p:txBody>
      </p:sp>
      <p:sp>
        <p:nvSpPr>
          <p:cNvPr id="256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4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1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917950"/>
            <a:ext cx="3586162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1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2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2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2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23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173288" y="2708275"/>
          <a:ext cx="44386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3" name="Equation" r:id="rId5" imgW="2006280" imgH="241200" progId="Equation.DSMT4">
                  <p:embed/>
                </p:oleObj>
              </mc:Choice>
              <mc:Fallback>
                <p:oleObj name="Equation" r:id="rId5" imgW="2006280" imgH="2412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2708275"/>
                        <a:ext cx="44386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5435600" y="4724400"/>
            <a:ext cx="34575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26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3203575" y="3448050"/>
          <a:ext cx="1223963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4" name="Equation" r:id="rId7" imgW="812520" imgH="1231560" progId="Equation.DSMT4">
                  <p:embed/>
                </p:oleObj>
              </mc:Choice>
              <mc:Fallback>
                <p:oleObj name="Equation" r:id="rId7" imgW="812520" imgH="1231560" progId="Equation.DSMT4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448050"/>
                        <a:ext cx="1223963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/>
          <p:cNvSpPr/>
          <p:nvPr/>
        </p:nvSpPr>
        <p:spPr>
          <a:xfrm>
            <a:off x="3132138" y="3429000"/>
            <a:ext cx="1354137" cy="1871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545651"/>
              </p:ext>
            </p:extLst>
          </p:nvPr>
        </p:nvGraphicFramePr>
        <p:xfrm>
          <a:off x="539750" y="5429250"/>
          <a:ext cx="26257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5" name="Equation" r:id="rId9" imgW="1282700" imgH="203200" progId="Equation.DSMT4">
                  <p:embed/>
                </p:oleObj>
              </mc:Choice>
              <mc:Fallback>
                <p:oleObj name="Equation" r:id="rId9" imgW="1282700" imgH="203200" progId="Equation.DSMT4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429250"/>
                        <a:ext cx="26257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1187450" y="5921375"/>
          <a:ext cx="3987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6" name="Equation" r:id="rId11" imgW="1981200" imgH="228600" progId="Equation.DSMT4">
                  <p:embed/>
                </p:oleObj>
              </mc:Choice>
              <mc:Fallback>
                <p:oleObj name="Equation" r:id="rId11" imgW="1981200" imgH="228600" progId="Equation.DSMT4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921375"/>
                        <a:ext cx="39878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左箭头 61"/>
          <p:cNvSpPr/>
          <p:nvPr/>
        </p:nvSpPr>
        <p:spPr>
          <a:xfrm>
            <a:off x="4643438" y="4437063"/>
            <a:ext cx="649287" cy="431800"/>
          </a:xfrm>
          <a:prstGeom prst="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63" name="下箭头 62"/>
          <p:cNvSpPr/>
          <p:nvPr/>
        </p:nvSpPr>
        <p:spPr>
          <a:xfrm>
            <a:off x="3629025" y="5449888"/>
            <a:ext cx="360363" cy="4318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788" y="3860800"/>
            <a:ext cx="431482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7" grpId="0" animBg="1"/>
      <p:bldP spid="57" grpId="1" animBg="1"/>
      <p:bldP spid="62" grpId="0" animBg="1"/>
      <p:bldP spid="62" grpId="1" animBg="1"/>
      <p:bldP spid="63" grpId="0" animBg="1"/>
      <p:bldP spid="6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zh-CN" smtClean="0"/>
              <a:t>基于一致性强度的云服务可信评估方法</a:t>
            </a:r>
            <a:endParaRPr lang="zh-CN" altLang="en-US" smtClean="0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0825" y="1624013"/>
            <a:ext cx="8713788" cy="952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55650" y="1331913"/>
            <a:ext cx="3024188" cy="5842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云服务可信评估模型</a:t>
            </a:r>
          </a:p>
        </p:txBody>
      </p:sp>
      <p:sp>
        <p:nvSpPr>
          <p:cNvPr id="10" name="矩形 9"/>
          <p:cNvSpPr/>
          <p:nvPr/>
        </p:nvSpPr>
        <p:spPr>
          <a:xfrm>
            <a:off x="4211638" y="1331913"/>
            <a:ext cx="4248150" cy="58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+mj-ea"/>
                <a:ea typeface="+mj-ea"/>
              </a:rPr>
              <a:t>2.</a:t>
            </a:r>
            <a:r>
              <a:rPr lang="zh-CN" altLang="en-US" sz="2000" b="1" kern="0" dirty="0">
                <a:solidFill>
                  <a:srgbClr val="0070C0"/>
                </a:solidFill>
                <a:latin typeface="+mj-ea"/>
                <a:ea typeface="+mj-ea"/>
              </a:rPr>
              <a:t>基于一致性强度的模糊评估方法</a:t>
            </a:r>
          </a:p>
        </p:txBody>
      </p:sp>
      <p:sp>
        <p:nvSpPr>
          <p:cNvPr id="266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6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3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4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5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6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647" name="灯片编号占位符 2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28BB95D-05F4-4AAF-AFEE-7087E7FD72C5}" type="slidenum">
              <a:rPr lang="zh-CN" altLang="en-US" smtClean="0">
                <a:solidFill>
                  <a:schemeClr val="tx2"/>
                </a:solidFill>
                <a:ea typeface="华文新魏" pitchFamily="2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 smtClean="0">
              <a:solidFill>
                <a:schemeClr val="tx2"/>
              </a:solidFill>
              <a:ea typeface="华文新魏" pitchFamily="2" charset="-122"/>
            </a:endParaRP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788" y="3860800"/>
            <a:ext cx="431482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Rektangel 565"/>
          <p:cNvSpPr>
            <a:spLocks noChangeArrowheads="1"/>
          </p:cNvSpPr>
          <p:nvPr/>
        </p:nvSpPr>
        <p:spPr bwMode="auto">
          <a:xfrm>
            <a:off x="539750" y="2349500"/>
            <a:ext cx="7978775" cy="1295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lvl="1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zh-CN" altLang="en-US" sz="2000" dirty="0"/>
              <a:t>一致性强度                         偏差值</a:t>
            </a:r>
            <a:endParaRPr lang="en-US" altLang="zh-CN" sz="2000" dirty="0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1042988" y="2633663"/>
          <a:ext cx="36734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1" name="Equation" r:id="rId5" imgW="1993680" imgH="571320" progId="Equation.DSMT4">
                  <p:embed/>
                </p:oleObj>
              </mc:Choice>
              <mc:Fallback>
                <p:oleObj name="Equation" r:id="rId5" imgW="1993680" imgH="57132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633663"/>
                        <a:ext cx="3673475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87900" y="5949950"/>
          <a:ext cx="35909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2" name="Equation" r:id="rId7" imgW="2159000" imgH="190500" progId="Equation.DSMT4">
                  <p:embed/>
                </p:oleObj>
              </mc:Choice>
              <mc:Fallback>
                <p:oleObj name="Equation" r:id="rId7" imgW="2159000" imgH="1905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949950"/>
                        <a:ext cx="35909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724525" y="2997200"/>
          <a:ext cx="21288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3" name="Equation" r:id="rId9" imgW="1091726" imgH="228501" progId="Equation.DSMT4">
                  <p:embed/>
                </p:oleObj>
              </mc:Choice>
              <mc:Fallback>
                <p:oleObj name="Equation" r:id="rId9" imgW="1091726" imgH="228501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997200"/>
                        <a:ext cx="21288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" name="chart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3860800"/>
            <a:ext cx="3894138" cy="2797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圆角矩形标注 13"/>
          <p:cNvSpPr/>
          <p:nvPr/>
        </p:nvSpPr>
        <p:spPr>
          <a:xfrm>
            <a:off x="4411664" y="3862771"/>
            <a:ext cx="4552950" cy="1614488"/>
          </a:xfrm>
          <a:prstGeom prst="wedgeRoundRectCallout">
            <a:avLst>
              <a:gd name="adj1" fmla="val -49224"/>
              <a:gd name="adj2" fmla="val -1835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其他方法：</a:t>
            </a:r>
            <a:endParaRPr lang="en-US" altLang="zh-CN" dirty="0"/>
          </a:p>
          <a:p>
            <a:pPr algn="just"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）仅考虑</a:t>
            </a:r>
            <a:r>
              <a:rPr lang="en-US" altLang="zh-CN" i="1" dirty="0" err="1" smtClean="0"/>
              <a:t>Bel</a:t>
            </a:r>
            <a:r>
              <a:rPr lang="zh-CN" altLang="en-US" dirty="0" smtClean="0"/>
              <a:t>因素，</a:t>
            </a:r>
            <a:r>
              <a:rPr lang="zh-CN" altLang="en-US" dirty="0"/>
              <a:t>即</a:t>
            </a:r>
            <a:r>
              <a:rPr lang="en-US" altLang="zh-CN" i="1" dirty="0"/>
              <a:t>DF=0</a:t>
            </a:r>
          </a:p>
          <a:p>
            <a:pPr>
              <a:defRPr/>
            </a:pPr>
            <a:r>
              <a:rPr lang="zh-CN" altLang="en-US" dirty="0"/>
              <a:t>此时，</a:t>
            </a:r>
            <a:r>
              <a:rPr lang="en-US" altLang="zh-CN" i="1" dirty="0"/>
              <a:t>ci-0 = 0.813 </a:t>
            </a:r>
            <a:r>
              <a:rPr lang="en-US" altLang="zh-CN" i="1" dirty="0">
                <a:solidFill>
                  <a:srgbClr val="FF0000"/>
                </a:solidFill>
              </a:rPr>
              <a:t>&lt; 0.883</a:t>
            </a:r>
          </a:p>
          <a:p>
            <a:pPr>
              <a:defRPr/>
            </a:pPr>
            <a:r>
              <a:rPr lang="en-US" altLang="zh-CN" dirty="0"/>
              <a:t>2</a:t>
            </a:r>
            <a:r>
              <a:rPr lang="zh-CN" altLang="en-US" dirty="0" smtClean="0"/>
              <a:t>）考虑</a:t>
            </a:r>
            <a:r>
              <a:rPr lang="en-US" altLang="zh-CN" i="1" dirty="0" err="1" smtClean="0"/>
              <a:t>Bel</a:t>
            </a:r>
            <a:r>
              <a:rPr lang="zh-CN" altLang="zh-CN" dirty="0"/>
              <a:t>和</a:t>
            </a:r>
            <a:r>
              <a:rPr lang="en-US" altLang="zh-CN" i="1" dirty="0" err="1"/>
              <a:t>Pls</a:t>
            </a:r>
            <a:r>
              <a:rPr lang="zh-CN" altLang="zh-CN" dirty="0"/>
              <a:t>的</a:t>
            </a:r>
            <a:r>
              <a:rPr lang="zh-CN" altLang="zh-CN" dirty="0" smtClean="0"/>
              <a:t>平均值</a:t>
            </a:r>
            <a:r>
              <a:rPr lang="zh-CN" altLang="en-US" dirty="0" smtClean="0"/>
              <a:t>，</a:t>
            </a:r>
            <a:r>
              <a:rPr lang="zh-CN" altLang="en-US" dirty="0"/>
              <a:t>即</a:t>
            </a:r>
            <a:r>
              <a:rPr lang="en-US" altLang="zh-CN" i="1" dirty="0"/>
              <a:t>DF=0.5</a:t>
            </a:r>
          </a:p>
          <a:p>
            <a:pPr>
              <a:defRPr/>
            </a:pPr>
            <a:r>
              <a:rPr lang="zh-CN" altLang="en-US" i="1" dirty="0"/>
              <a:t>此时，</a:t>
            </a:r>
            <a:r>
              <a:rPr lang="en-US" altLang="zh-CN" i="1" dirty="0"/>
              <a:t>ci-0.5=0.837 </a:t>
            </a:r>
            <a:r>
              <a:rPr lang="en-US" altLang="zh-CN" i="1" dirty="0">
                <a:solidFill>
                  <a:srgbClr val="FF0000"/>
                </a:solidFill>
              </a:rPr>
              <a:t>&lt; 0.883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411664" y="5594338"/>
            <a:ext cx="4552950" cy="89354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zh-CN" dirty="0"/>
              <a:t>提出</a:t>
            </a:r>
            <a:r>
              <a:rPr lang="zh-CN" altLang="zh-CN" dirty="0" smtClean="0"/>
              <a:t>的方法</a:t>
            </a:r>
            <a:r>
              <a:rPr lang="zh-CN" altLang="zh-CN" dirty="0"/>
              <a:t>能更充分地表达所有评估者的意愿，具有更高的信服度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524141"/>
              </p:ext>
            </p:extLst>
          </p:nvPr>
        </p:nvGraphicFramePr>
        <p:xfrm>
          <a:off x="438828" y="2111824"/>
          <a:ext cx="8347075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1" name="Visio" r:id="rId3" imgW="5570977" imgH="2194883" progId="Visio.Drawing.11">
                  <p:embed/>
                </p:oleObj>
              </mc:Choice>
              <mc:Fallback>
                <p:oleObj name="Visio" r:id="rId3" imgW="5570977" imgH="2194883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28" y="2111824"/>
                        <a:ext cx="8347075" cy="352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en-US" smtClean="0"/>
              <a:t>研究内容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zh-CN" altLang="en-US" smtClean="0"/>
              <a:t>论文研究思路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48038" y="2133600"/>
            <a:ext cx="5328418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 w="28575">
                <a:solidFill>
                  <a:srgbClr val="FF0000"/>
                </a:solidFill>
              </a:ln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127BF2-69CE-4AC7-ADD7-1F16AE8F5BFE}" type="slidenum">
              <a:rPr lang="zh-CN" altLang="en-US"/>
              <a:pPr>
                <a:defRPr/>
              </a:pPr>
              <a:t>16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mtClean="0"/>
              <a:t>基于人工蜂群算法的可信服务组合方法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zh-CN" altLang="zh-CN" sz="3200" dirty="0" smtClean="0">
                <a:solidFill>
                  <a:schemeClr val="tx1"/>
                </a:solidFill>
              </a:rPr>
              <a:t>服务组合</a:t>
            </a:r>
            <a:r>
              <a:rPr lang="zh-CN" altLang="en-US" sz="3200" dirty="0" smtClean="0">
                <a:solidFill>
                  <a:schemeClr val="tx1"/>
                </a:solidFill>
              </a:rPr>
              <a:t>流程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E5ED73-B758-4273-9107-6927D08AD672}" type="slidenum">
              <a:rPr lang="zh-CN" altLang="en-US"/>
              <a:pPr>
                <a:defRPr/>
              </a:pPr>
              <a:t>17</a:t>
            </a:fld>
            <a:endParaRPr lang="zh-CN" altLang="en-US"/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084382"/>
              </p:ext>
            </p:extLst>
          </p:nvPr>
        </p:nvGraphicFramePr>
        <p:xfrm>
          <a:off x="4844727" y="846971"/>
          <a:ext cx="5559921" cy="601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3" name="Visio" r:id="rId3" imgW="7724032" imgH="8356840" progId="Visio.Drawing.11">
                  <p:embed/>
                </p:oleObj>
              </mc:Choice>
              <mc:Fallback>
                <p:oleObj name="Visio" r:id="rId3" imgW="7724032" imgH="835684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4727" y="846971"/>
                        <a:ext cx="5559921" cy="60110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/>
          <p:nvPr/>
        </p:nvCxnSpPr>
        <p:spPr>
          <a:xfrm flipV="1">
            <a:off x="5436096" y="2564904"/>
            <a:ext cx="720080" cy="93610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6588224" y="2564904"/>
            <a:ext cx="1944216" cy="93610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588224" y="4050974"/>
            <a:ext cx="7920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309092"/>
              </p:ext>
            </p:extLst>
          </p:nvPr>
        </p:nvGraphicFramePr>
        <p:xfrm>
          <a:off x="827584" y="2276872"/>
          <a:ext cx="3063875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4" name="Equation" r:id="rId5" imgW="1739880" imgH="1257120" progId="Equation.DSMT4">
                  <p:embed/>
                </p:oleObj>
              </mc:Choice>
              <mc:Fallback>
                <p:oleObj name="Equation" r:id="rId5" imgW="1739880" imgH="12571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276872"/>
                        <a:ext cx="3063875" cy="2216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/>
          <p:cNvCxnSpPr/>
          <p:nvPr/>
        </p:nvCxnSpPr>
        <p:spPr>
          <a:xfrm>
            <a:off x="5040052" y="5589240"/>
            <a:ext cx="7920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08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132856"/>
            <a:ext cx="4771975" cy="21004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806097"/>
              </p:ext>
            </p:extLst>
          </p:nvPr>
        </p:nvGraphicFramePr>
        <p:xfrm>
          <a:off x="463543" y="2564904"/>
          <a:ext cx="3915880" cy="291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5" name="Equation" r:id="rId8" imgW="2577960" imgH="1917360" progId="Equation.DSMT4">
                  <p:embed/>
                </p:oleObj>
              </mc:Choice>
              <mc:Fallback>
                <p:oleObj name="Equation" r:id="rId8" imgW="2577960" imgH="191736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43" y="2564904"/>
                        <a:ext cx="3915880" cy="2916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6588224" y="6093296"/>
            <a:ext cx="7920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mtClean="0"/>
              <a:t>基于人工蜂群算法的可信服务组合方法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zh-CN" altLang="zh-CN" sz="3200" dirty="0" smtClean="0">
                <a:solidFill>
                  <a:schemeClr val="tx1"/>
                </a:solidFill>
              </a:rPr>
              <a:t>服务组合</a:t>
            </a:r>
            <a:r>
              <a:rPr lang="zh-CN" altLang="en-US" sz="3200" dirty="0" smtClean="0">
                <a:solidFill>
                  <a:schemeClr val="tx1"/>
                </a:solidFill>
              </a:rPr>
              <a:t>流程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E5ED73-B758-4273-9107-6927D08AD672}" type="slidenum">
              <a:rPr lang="zh-CN" altLang="en-US"/>
              <a:pPr>
                <a:defRPr/>
              </a:pPr>
              <a:t>18</a:t>
            </a:fld>
            <a:endParaRPr lang="zh-CN" altLang="en-US"/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30298"/>
              </p:ext>
            </p:extLst>
          </p:nvPr>
        </p:nvGraphicFramePr>
        <p:xfrm>
          <a:off x="4844727" y="846971"/>
          <a:ext cx="5559921" cy="601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4" name="Visio" r:id="rId3" imgW="7724032" imgH="8356840" progId="Visio.Drawing.11">
                  <p:embed/>
                </p:oleObj>
              </mc:Choice>
              <mc:Fallback>
                <p:oleObj name="Visio" r:id="rId3" imgW="7724032" imgH="83568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4727" y="846971"/>
                        <a:ext cx="5559921" cy="60110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44348"/>
              </p:ext>
            </p:extLst>
          </p:nvPr>
        </p:nvGraphicFramePr>
        <p:xfrm>
          <a:off x="748145" y="1916832"/>
          <a:ext cx="3074297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5" name="Equation" r:id="rId5" imgW="1752480" imgH="1066680" progId="Equation.DSMT4">
                  <p:embed/>
                </p:oleObj>
              </mc:Choice>
              <mc:Fallback>
                <p:oleObj name="Equation" r:id="rId5" imgW="1752480" imgH="1066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8145" y="1916832"/>
                        <a:ext cx="3074297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/>
          <p:nvPr/>
        </p:nvSpPr>
        <p:spPr>
          <a:xfrm>
            <a:off x="539552" y="4005064"/>
            <a:ext cx="4032448" cy="21602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sz="2000" dirty="0">
                <a:solidFill>
                  <a:srgbClr val="FF0000"/>
                </a:solidFill>
              </a:rPr>
              <a:t>非线性</a:t>
            </a:r>
            <a:r>
              <a:rPr lang="zh-CN" altLang="zh-CN" sz="2000" dirty="0"/>
              <a:t>整数规划</a:t>
            </a:r>
            <a:r>
              <a:rPr lang="zh-CN" altLang="zh-CN" sz="2000" dirty="0" smtClean="0"/>
              <a:t>问题</a:t>
            </a:r>
            <a:endParaRPr lang="en-US" altLang="zh-CN" sz="2000" dirty="0" smtClean="0"/>
          </a:p>
          <a:p>
            <a:r>
              <a:rPr lang="zh-CN" altLang="en-US" sz="2000" dirty="0" smtClean="0"/>
              <a:t>无法</a:t>
            </a:r>
            <a:r>
              <a:rPr lang="zh-CN" altLang="zh-CN" sz="2000" dirty="0" smtClean="0"/>
              <a:t>采用</a:t>
            </a:r>
            <a:r>
              <a:rPr lang="en-US" altLang="zh-CN" sz="2000" dirty="0" smtClean="0"/>
              <a:t>CPLEX</a:t>
            </a:r>
            <a:r>
              <a:rPr lang="zh-CN" altLang="zh-CN" sz="2000" dirty="0" smtClean="0"/>
              <a:t>，</a:t>
            </a:r>
            <a:r>
              <a:rPr lang="en-US" altLang="zh-CN" sz="2000" dirty="0" smtClean="0"/>
              <a:t>IPSOLVE</a:t>
            </a:r>
            <a:r>
              <a:rPr lang="zh-CN" altLang="zh-CN" sz="2000" dirty="0" smtClean="0"/>
              <a:t>等</a:t>
            </a:r>
            <a:r>
              <a:rPr lang="zh-CN" altLang="zh-CN" sz="2000" dirty="0"/>
              <a:t>线性规划求解器进行</a:t>
            </a:r>
            <a:r>
              <a:rPr lang="zh-CN" altLang="zh-CN" sz="2000" dirty="0" smtClean="0"/>
              <a:t>求解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000" dirty="0" smtClean="0"/>
              <a:t>智能优化算法</a:t>
            </a:r>
            <a:endParaRPr lang="en-US" altLang="zh-CN" sz="2000" dirty="0" smtClean="0"/>
          </a:p>
          <a:p>
            <a:r>
              <a:rPr lang="zh-CN" altLang="en-US" sz="2000" dirty="0" smtClean="0"/>
              <a:t>人工蜂群算法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9108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mtClean="0"/>
              <a:t>基于人工蜂群算法的可信服务组合方法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 smtClean="0">
                <a:solidFill>
                  <a:schemeClr val="tx1"/>
                </a:solidFill>
              </a:rPr>
              <a:t>DGABC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E5ED73-B758-4273-9107-6927D08AD672}" type="slidenum">
              <a:rPr lang="zh-CN" altLang="en-US"/>
              <a:pPr>
                <a:defRPr/>
              </a:pPr>
              <a:t>19</a:t>
            </a:fld>
            <a:endParaRPr lang="zh-CN" altLang="en-US"/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456255"/>
              </p:ext>
            </p:extLst>
          </p:nvPr>
        </p:nvGraphicFramePr>
        <p:xfrm>
          <a:off x="683568" y="2467824"/>
          <a:ext cx="3672408" cy="2871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8" name="Visio" r:id="rId3" imgW="5862306" imgH="4552970" progId="Visio.Drawing.11">
                  <p:embed/>
                </p:oleObj>
              </mc:Choice>
              <mc:Fallback>
                <p:oleObj name="Visio" r:id="rId3" imgW="5862306" imgH="455297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467824"/>
                        <a:ext cx="3672408" cy="28715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30298"/>
              </p:ext>
            </p:extLst>
          </p:nvPr>
        </p:nvGraphicFramePr>
        <p:xfrm>
          <a:off x="4845050" y="847725"/>
          <a:ext cx="5559425" cy="601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29" name="Visio" r:id="rId5" imgW="7724032" imgH="8356840" progId="Visio.Drawing.11">
                  <p:embed/>
                </p:oleObj>
              </mc:Choice>
              <mc:Fallback>
                <p:oleObj name="Visio" r:id="rId5" imgW="7724032" imgH="8356840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847725"/>
                        <a:ext cx="5559425" cy="601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995905"/>
            <a:ext cx="4248471" cy="236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39552" y="2081818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+mn-ea"/>
                <a:ea typeface="+mn-ea"/>
              </a:rPr>
              <a:t>编码方案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31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mtClean="0"/>
              <a:t>基于人工蜂群算法的可信服务组合方法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>
                <a:solidFill>
                  <a:schemeClr val="tx1"/>
                </a:solidFill>
              </a:rPr>
              <a:t>DGABC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E5ED73-B758-4273-9107-6927D08AD672}" type="slidenum">
              <a:rPr lang="zh-CN" altLang="en-US"/>
              <a:pPr>
                <a:defRPr/>
              </a:pPr>
              <a:t>20</a:t>
            </a:fld>
            <a:endParaRPr lang="zh-CN" altLang="en-US"/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同侧圆角矩形 15"/>
          <p:cNvSpPr/>
          <p:nvPr/>
        </p:nvSpPr>
        <p:spPr bwMode="auto">
          <a:xfrm>
            <a:off x="1764208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kern="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雇佣蜂行为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8" name="同侧圆角矩形 17"/>
          <p:cNvSpPr/>
          <p:nvPr/>
        </p:nvSpPr>
        <p:spPr bwMode="auto">
          <a:xfrm>
            <a:off x="609601" y="1989138"/>
            <a:ext cx="1154087" cy="431800"/>
          </a:xfrm>
          <a:prstGeom prst="round2Same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000" b="1" dirty="0" smtClean="0">
                <a:latin typeface="+mn-ea"/>
                <a:ea typeface="+mn-ea"/>
                <a:cs typeface="Times New Roman" pitchFamily="18" charset="0"/>
              </a:rPr>
              <a:t>初始化</a:t>
            </a:r>
            <a:endParaRPr lang="zh-CN" altLang="en-US" sz="20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9" name="同侧圆角矩形 18"/>
          <p:cNvSpPr/>
          <p:nvPr/>
        </p:nvSpPr>
        <p:spPr bwMode="auto">
          <a:xfrm>
            <a:off x="3347864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kern="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观察蜂行为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0" name="同侧圆角矩形 19"/>
          <p:cNvSpPr/>
          <p:nvPr/>
        </p:nvSpPr>
        <p:spPr bwMode="auto">
          <a:xfrm>
            <a:off x="4931520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kern="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侦查蜂行为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609600" y="2420938"/>
            <a:ext cx="7994650" cy="367188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食物源数量</a:t>
            </a: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SN, limit, MCN</a:t>
            </a:r>
            <a:endParaRPr lang="en-US" altLang="zh-CN" sz="2000" i="1" dirty="0" smtClean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通过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取整运算获得初始的整数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解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endParaRPr lang="en-US" altLang="zh-CN" sz="2000" dirty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记录适应度的最大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值和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对应的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最佳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2000" dirty="0">
                <a:latin typeface="+mn-ea"/>
                <a:ea typeface="+mn-ea"/>
                <a:cs typeface="Times New Roman" pitchFamily="18" charset="0"/>
              </a:rPr>
              <a:t> </a:t>
            </a:r>
            <a:r>
              <a:rPr lang="en-US" altLang="zh-CN" sz="2000" dirty="0" smtClean="0">
                <a:latin typeface="+mn-ea"/>
                <a:ea typeface="+mn-ea"/>
                <a:cs typeface="Times New Roman" pitchFamily="18" charset="0"/>
              </a:rPr>
              <a:t>     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组合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方案</a:t>
            </a:r>
            <a:endParaRPr lang="en-US" altLang="zh-CN" sz="2000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710632"/>
              </p:ext>
            </p:extLst>
          </p:nvPr>
        </p:nvGraphicFramePr>
        <p:xfrm>
          <a:off x="1403648" y="3501008"/>
          <a:ext cx="3075342" cy="40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7" name="Equation" r:id="rId3" imgW="1727200" imgH="228600" progId="Equation.DSMT4">
                  <p:embed/>
                </p:oleObj>
              </mc:Choice>
              <mc:Fallback>
                <p:oleObj name="Equation" r:id="rId3" imgW="172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501008"/>
                        <a:ext cx="3075342" cy="4077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294638"/>
              </p:ext>
            </p:extLst>
          </p:nvPr>
        </p:nvGraphicFramePr>
        <p:xfrm>
          <a:off x="5039012" y="3419321"/>
          <a:ext cx="3493428" cy="25603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Feasible solution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[1,1,3,4,3]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0.3004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[3,2,1,2,2]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0.2407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[1,3,2,4,1]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0.3982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[2,4,3,3,2]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0.3783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[4,2,4,3,3]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0.5438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[3,2,3,1,2]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0.2629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039531" y="5256108"/>
            <a:ext cx="3492823" cy="3413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88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mtClean="0"/>
              <a:t>基于人工蜂群算法的可信服务组合方法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>
                <a:solidFill>
                  <a:schemeClr val="tx1"/>
                </a:solidFill>
              </a:rPr>
              <a:t>DGABC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E5ED73-B758-4273-9107-6927D08AD672}" type="slidenum">
              <a:rPr lang="zh-CN" altLang="en-US"/>
              <a:pPr>
                <a:defRPr/>
              </a:pPr>
              <a:t>21</a:t>
            </a:fld>
            <a:endParaRPr lang="zh-CN" altLang="en-US"/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同侧圆角矩形 17"/>
          <p:cNvSpPr/>
          <p:nvPr/>
        </p:nvSpPr>
        <p:spPr bwMode="auto">
          <a:xfrm>
            <a:off x="609601" y="1989138"/>
            <a:ext cx="1154087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  <a:cs typeface="+mn-cs"/>
              </a:rPr>
              <a:t>初始化</a:t>
            </a:r>
          </a:p>
        </p:txBody>
      </p:sp>
      <p:sp>
        <p:nvSpPr>
          <p:cNvPr id="19" name="同侧圆角矩形 18"/>
          <p:cNvSpPr/>
          <p:nvPr/>
        </p:nvSpPr>
        <p:spPr bwMode="auto">
          <a:xfrm>
            <a:off x="3347864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kern="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观察蜂行为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0" name="同侧圆角矩形 19"/>
          <p:cNvSpPr/>
          <p:nvPr/>
        </p:nvSpPr>
        <p:spPr bwMode="auto">
          <a:xfrm>
            <a:off x="4931520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kern="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侦查蜂行为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609600" y="2420938"/>
            <a:ext cx="7994650" cy="367188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为每个食物源分配一个雇佣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蜂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在其所附食物源的邻域内进行局部搜索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endParaRPr lang="en-US" altLang="zh-CN" sz="2000" dirty="0">
              <a:latin typeface="+mn-ea"/>
              <a:ea typeface="+mn-ea"/>
              <a:cs typeface="Times New Roman" pitchFamily="18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</a:t>
            </a:r>
            <a:r>
              <a:rPr lang="en-US" altLang="zh-CN" i="1" dirty="0" err="1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y</a:t>
            </a:r>
            <a:r>
              <a:rPr lang="en-US" altLang="zh-CN" i="1" baseline="30000" dirty="0" err="1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为</a:t>
            </a:r>
            <a:r>
              <a:rPr lang="zh-CN" altLang="zh-CN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当前最佳组合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方案的第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个元素</a:t>
            </a:r>
            <a:endParaRPr lang="en-US" altLang="zh-CN" dirty="0" smtClean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2000" dirty="0" smtClean="0">
                <a:latin typeface="+mn-ea"/>
                <a:ea typeface="+mn-ea"/>
                <a:cs typeface="Times New Roman" pitchFamily="18" charset="0"/>
              </a:rPr>
              <a:t>     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全局指导思想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新的食物源适应度更好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，则更新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该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2000" dirty="0">
                <a:latin typeface="+mn-ea"/>
                <a:ea typeface="+mn-ea"/>
                <a:cs typeface="Times New Roman" pitchFamily="18" charset="0"/>
              </a:rPr>
              <a:t> </a:t>
            </a:r>
            <a:r>
              <a:rPr lang="en-US" altLang="zh-CN" sz="2000" dirty="0" smtClean="0">
                <a:latin typeface="+mn-ea"/>
                <a:ea typeface="+mn-ea"/>
                <a:cs typeface="Times New Roman" pitchFamily="18" charset="0"/>
              </a:rPr>
              <a:t>     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食物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源位置</a:t>
            </a:r>
            <a:endParaRPr lang="en-US" altLang="zh-CN" sz="2000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同侧圆角矩形 15"/>
          <p:cNvSpPr/>
          <p:nvPr/>
        </p:nvSpPr>
        <p:spPr bwMode="auto">
          <a:xfrm>
            <a:off x="1764208" y="1989138"/>
            <a:ext cx="1583656" cy="431800"/>
          </a:xfrm>
          <a:prstGeom prst="round2Same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雇佣蜂行为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354199"/>
              </p:ext>
            </p:extLst>
          </p:nvPr>
        </p:nvGraphicFramePr>
        <p:xfrm>
          <a:off x="941599" y="3407558"/>
          <a:ext cx="4112685" cy="45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2" name="Equation" r:id="rId3" imgW="2324100" imgH="254000" progId="Equation.DSMT4">
                  <p:embed/>
                </p:oleObj>
              </mc:Choice>
              <mc:Fallback>
                <p:oleObj name="Equation" r:id="rId3" imgW="23241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599" y="3407558"/>
                        <a:ext cx="4112685" cy="4534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07446"/>
              </p:ext>
            </p:extLst>
          </p:nvPr>
        </p:nvGraphicFramePr>
        <p:xfrm>
          <a:off x="5039012" y="3397549"/>
          <a:ext cx="3493428" cy="25603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Feasible solution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[1,1,3,4,3]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0.3004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[3,2,1,2,2]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0.2407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[1,3,2,4,1]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0.3982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[2,4,3,3,2]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0.3783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[4,2,4,3,3]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0.5438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[3,2,3,1,2]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0.2629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3491881" y="3429000"/>
            <a:ext cx="1512168" cy="432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8862"/>
              </p:ext>
            </p:extLst>
          </p:nvPr>
        </p:nvGraphicFramePr>
        <p:xfrm>
          <a:off x="5039012" y="2675007"/>
          <a:ext cx="3493428" cy="365760"/>
        </p:xfrm>
        <a:graphic>
          <a:graphicData uri="http://schemas.openxmlformats.org/drawingml/2006/table">
            <a:tbl>
              <a:tblPr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[1,1,3,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,3]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0.3283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715662"/>
              </p:ext>
            </p:extLst>
          </p:nvPr>
        </p:nvGraphicFramePr>
        <p:xfrm>
          <a:off x="5039012" y="3389546"/>
          <a:ext cx="3493428" cy="25603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340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Feasible solution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57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[1,1,3,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,3]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0.3283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[3,2,1,2,2]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0.2407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[1,3,2,4,1]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0.3982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[2,4,3,3,2]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0.3783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[4,2,4,3,3]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0.5438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3,2,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,1,2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0.2806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5" name="上箭头 14"/>
          <p:cNvSpPr/>
          <p:nvPr/>
        </p:nvSpPr>
        <p:spPr>
          <a:xfrm>
            <a:off x="6660232" y="3026229"/>
            <a:ext cx="288032" cy="370114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98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5" grpId="0" animBg="1"/>
      <p:bldP spid="1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>
                <a:solidFill>
                  <a:schemeClr val="tx1"/>
                </a:solidFill>
              </a:rPr>
              <a:t>DGABC</a:t>
            </a:r>
          </a:p>
        </p:txBody>
      </p:sp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smtClean="0"/>
              <a:t>基于人工蜂群算法的可信服务组合方法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E5ED73-B758-4273-9107-6927D08AD672}" type="slidenum">
              <a:rPr lang="zh-CN" altLang="en-US"/>
              <a:pPr>
                <a:defRPr/>
              </a:pPr>
              <a:t>22</a:t>
            </a:fld>
            <a:endParaRPr lang="zh-CN" altLang="en-US"/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同侧圆角矩形 17"/>
          <p:cNvSpPr/>
          <p:nvPr/>
        </p:nvSpPr>
        <p:spPr bwMode="auto">
          <a:xfrm>
            <a:off x="609601" y="1989138"/>
            <a:ext cx="1154087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  <a:cs typeface="+mn-cs"/>
              </a:rPr>
              <a:t>初始化</a:t>
            </a:r>
          </a:p>
        </p:txBody>
      </p:sp>
      <p:sp>
        <p:nvSpPr>
          <p:cNvPr id="20" name="同侧圆角矩形 19"/>
          <p:cNvSpPr/>
          <p:nvPr/>
        </p:nvSpPr>
        <p:spPr bwMode="auto">
          <a:xfrm>
            <a:off x="4931520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kern="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侦查蜂行为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同侧圆角矩形 15"/>
          <p:cNvSpPr/>
          <p:nvPr/>
        </p:nvSpPr>
        <p:spPr bwMode="auto">
          <a:xfrm>
            <a:off x="1764208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  <a:cs typeface="+mn-cs"/>
              </a:rPr>
              <a:t>雇佣蜂行为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985811"/>
              </p:ext>
            </p:extLst>
          </p:nvPr>
        </p:nvGraphicFramePr>
        <p:xfrm>
          <a:off x="5037386" y="3450779"/>
          <a:ext cx="3493428" cy="25603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Feasible solution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[1,1,3,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,3]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0.3283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[3,2,1,2,2]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0.2407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[1,3,2,4,1]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0.3982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[2,4,3,3,2]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0.3783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[4,2,4,3,3]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0.5438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3,2,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,1,2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0.2806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5" name="上箭头 14"/>
          <p:cNvSpPr/>
          <p:nvPr/>
        </p:nvSpPr>
        <p:spPr>
          <a:xfrm>
            <a:off x="6660232" y="3145964"/>
            <a:ext cx="288032" cy="28803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同侧圆角矩形 18"/>
          <p:cNvSpPr/>
          <p:nvPr/>
        </p:nvSpPr>
        <p:spPr bwMode="auto">
          <a:xfrm>
            <a:off x="3347864" y="1989138"/>
            <a:ext cx="1583656" cy="431800"/>
          </a:xfrm>
          <a:prstGeom prst="round2Same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观察蜂行为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496815"/>
              </p:ext>
            </p:extLst>
          </p:nvPr>
        </p:nvGraphicFramePr>
        <p:xfrm>
          <a:off x="1484517" y="2913048"/>
          <a:ext cx="2079371" cy="58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1" name="Equation" r:id="rId3" imgW="1384300" imgH="393700" progId="Equation.DSMT4">
                  <p:embed/>
                </p:oleObj>
              </mc:Choice>
              <mc:Fallback>
                <p:oleObj name="Equation" r:id="rId3" imgW="13843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517" y="2913048"/>
                        <a:ext cx="2079371" cy="5879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310621"/>
              </p:ext>
            </p:extLst>
          </p:nvPr>
        </p:nvGraphicFramePr>
        <p:xfrm>
          <a:off x="899592" y="4300424"/>
          <a:ext cx="41132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2" name="Equation" r:id="rId5" imgW="2324100" imgH="254000" progId="Equation.DSMT4">
                  <p:embed/>
                </p:oleObj>
              </mc:Choice>
              <mc:Fallback>
                <p:oleObj name="Equation" r:id="rId5" imgW="2324100" imgH="2540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300424"/>
                        <a:ext cx="411321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152758"/>
              </p:ext>
            </p:extLst>
          </p:nvPr>
        </p:nvGraphicFramePr>
        <p:xfrm>
          <a:off x="4788024" y="2839916"/>
          <a:ext cx="1936237" cy="41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3" name="Equation" r:id="rId7" imgW="1612900" imgH="355600" progId="Equation.DSMT4">
                  <p:embed/>
                </p:oleObj>
              </mc:Choice>
              <mc:Fallback>
                <p:oleObj name="Equation" r:id="rId7" imgW="1612900" imgH="35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839916"/>
                        <a:ext cx="1936237" cy="4149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624165" y="2902404"/>
            <a:ext cx="2124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 smtClean="0">
                <a:latin typeface="Times New Roman" pitchFamily="18" charset="0"/>
                <a:cs typeface="Times New Roman" pitchFamily="18" charset="0"/>
              </a:rPr>
              <a:t>, 0.4983</a:t>
            </a:r>
            <a:r>
              <a:rPr lang="en-US" altLang="zh-CN" sz="1100" dirty="0">
                <a:latin typeface="Times New Roman" pitchFamily="18" charset="0"/>
                <a:cs typeface="Times New Roman" pitchFamily="18" charset="0"/>
              </a:rPr>
              <a:t>, 0.759, 0.7262, 1, 0.5644</a:t>
            </a:r>
            <a:endParaRPr lang="zh-CN" alt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719728"/>
              </p:ext>
            </p:extLst>
          </p:nvPr>
        </p:nvGraphicFramePr>
        <p:xfrm>
          <a:off x="5039012" y="2488702"/>
          <a:ext cx="3493428" cy="365760"/>
        </p:xfrm>
        <a:graphic>
          <a:graphicData uri="http://schemas.openxmlformats.org/drawingml/2006/table">
            <a:tbl>
              <a:tblPr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</a:t>
                      </a: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,3]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0.3569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圆角矩形 16"/>
          <p:cNvSpPr/>
          <p:nvPr/>
        </p:nvSpPr>
        <p:spPr bwMode="auto">
          <a:xfrm>
            <a:off x="609600" y="2420938"/>
            <a:ext cx="7994650" cy="367188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计算选择概率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采取轮盘赌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法选择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食物源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在所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附食物源的邻域内进行局部搜索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endParaRPr lang="en-US" altLang="zh-CN" sz="2000" dirty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新的食物源适应度更好，则更新该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2000" dirty="0" smtClean="0">
                <a:latin typeface="+mn-ea"/>
                <a:ea typeface="+mn-ea"/>
                <a:cs typeface="Times New Roman" pitchFamily="18" charset="0"/>
              </a:rPr>
              <a:t>      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食物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源位置</a:t>
            </a:r>
            <a:endParaRPr lang="en-US" altLang="zh-CN" sz="2000" dirty="0">
              <a:latin typeface="+mn-ea"/>
              <a:ea typeface="+mn-ea"/>
              <a:cs typeface="Times New Roman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71584"/>
              </p:ext>
            </p:extLst>
          </p:nvPr>
        </p:nvGraphicFramePr>
        <p:xfrm>
          <a:off x="5039012" y="3451574"/>
          <a:ext cx="3493428" cy="25603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Feasible solution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</a:t>
                      </a: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,3]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0.3569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3,2,</a:t>
                      </a: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,2,2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0.2613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1,3,2,</a:t>
                      </a: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,1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0.4616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[2,4,3,3,2]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0.3783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[4,2,4,3,3]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0.5438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3,2,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,1,2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0.2806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28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23" grpId="0"/>
      <p:bldP spid="2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>
                <a:solidFill>
                  <a:schemeClr val="tx1"/>
                </a:solidFill>
              </a:rPr>
              <a:t>DGABC</a:t>
            </a:r>
          </a:p>
        </p:txBody>
      </p:sp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dirty="0" smtClean="0"/>
              <a:t>基于人工蜂群算法的可信服务组合方法</a:t>
            </a:r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E5ED73-B758-4273-9107-6927D08AD672}" type="slidenum">
              <a:rPr lang="zh-CN" altLang="en-US"/>
              <a:pPr>
                <a:defRPr/>
              </a:pPr>
              <a:t>23</a:t>
            </a:fld>
            <a:endParaRPr lang="zh-CN" altLang="en-US"/>
          </a:p>
        </p:txBody>
      </p:sp>
      <p:sp>
        <p:nvSpPr>
          <p:cNvPr id="297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同侧圆角矩形 17"/>
          <p:cNvSpPr/>
          <p:nvPr/>
        </p:nvSpPr>
        <p:spPr bwMode="auto">
          <a:xfrm>
            <a:off x="609601" y="1989138"/>
            <a:ext cx="1154087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  <a:cs typeface="+mn-cs"/>
              </a:rPr>
              <a:t>初始化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同侧圆角矩形 15"/>
          <p:cNvSpPr/>
          <p:nvPr/>
        </p:nvSpPr>
        <p:spPr bwMode="auto">
          <a:xfrm>
            <a:off x="1764208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  <a:cs typeface="+mn-cs"/>
              </a:rPr>
              <a:t>雇佣蜂行为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同侧圆角矩形 18"/>
          <p:cNvSpPr/>
          <p:nvPr/>
        </p:nvSpPr>
        <p:spPr bwMode="auto">
          <a:xfrm>
            <a:off x="3347864" y="1989138"/>
            <a:ext cx="1583656" cy="431800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kern="0" dirty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  <a:cs typeface="+mn-cs"/>
              </a:rPr>
              <a:t>观察蜂行为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857336"/>
              </p:ext>
            </p:extLst>
          </p:nvPr>
        </p:nvGraphicFramePr>
        <p:xfrm>
          <a:off x="5050656" y="3440686"/>
          <a:ext cx="3493428" cy="25603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04056"/>
                <a:gridCol w="1909252"/>
                <a:gridCol w="1080120"/>
              </a:tblGrid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Feasible solution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[1,1,</a:t>
                      </a: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,3]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0.3569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3,2,</a:t>
                      </a: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,2,2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0.2613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1,3,2,</a:t>
                      </a: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,1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0.4616</a:t>
                      </a:r>
                      <a:endParaRPr lang="zh-CN" sz="1600" kern="100" dirty="0"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[2,4,3,3,2]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0.3783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[4,2,4,3,3]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0.5438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20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3,2,</a:t>
                      </a: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600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,1,2</a:t>
                      </a:r>
                      <a:r>
                        <a:rPr lang="en-US" sz="16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lang="zh-CN" sz="1600" kern="100" dirty="0">
                        <a:solidFill>
                          <a:srgbClr val="365F91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0.2806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0" name="同侧圆角矩形 19"/>
          <p:cNvSpPr/>
          <p:nvPr/>
        </p:nvSpPr>
        <p:spPr bwMode="auto">
          <a:xfrm>
            <a:off x="4931520" y="1989138"/>
            <a:ext cx="1583656" cy="431800"/>
          </a:xfrm>
          <a:prstGeom prst="round2Same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algn="ctr" eaLnBrk="0" hangingPunct="0"/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侦查蜂行为</a:t>
            </a:r>
          </a:p>
        </p:txBody>
      </p:sp>
      <p:sp>
        <p:nvSpPr>
          <p:cNvPr id="28" name="矩形 27"/>
          <p:cNvSpPr/>
          <p:nvPr/>
        </p:nvSpPr>
        <p:spPr>
          <a:xfrm>
            <a:off x="5050656" y="5279396"/>
            <a:ext cx="3492823" cy="334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 bwMode="auto">
          <a:xfrm>
            <a:off x="609600" y="2420938"/>
            <a:ext cx="7994650" cy="367188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食物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源迭代</a:t>
            </a:r>
            <a:r>
              <a:rPr lang="en-US" altLang="zh-CN" sz="2000" i="1" dirty="0">
                <a:latin typeface="+mn-ea"/>
                <a:ea typeface="+mn-ea"/>
                <a:cs typeface="Times New Roman" pitchFamily="18" charset="0"/>
              </a:rPr>
              <a:t>limit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次仍没有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改进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将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其丢弃重新生成新解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有效防止局部收敛</a:t>
            </a:r>
            <a:endParaRPr lang="en-US" altLang="zh-CN" sz="2000" dirty="0" smtClean="0">
              <a:solidFill>
                <a:srgbClr val="FF0000"/>
              </a:solidFill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记录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适应度的最大值和对应的最佳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      组合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方案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循环</a:t>
            </a:r>
            <a:r>
              <a:rPr lang="en-US" altLang="zh-CN" sz="2000" i="1" dirty="0" smtClean="0">
                <a:latin typeface="+mn-ea"/>
                <a:ea typeface="+mn-ea"/>
                <a:cs typeface="Times New Roman" pitchFamily="18" charset="0"/>
              </a:rPr>
              <a:t>MCN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253231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基于人工蜂群算法的可信服务</a:t>
            </a:r>
            <a:r>
              <a:rPr lang="zh-CN" altLang="zh-CN" dirty="0"/>
              <a:t>组合方法</a:t>
            </a:r>
            <a:endParaRPr lang="zh-CN" altLang="en-US" dirty="0" smtClean="0"/>
          </a:p>
        </p:txBody>
      </p:sp>
      <p:sp>
        <p:nvSpPr>
          <p:cNvPr id="3277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en-US" dirty="0" smtClean="0"/>
              <a:t>实验与分析</a:t>
            </a:r>
            <a:endParaRPr lang="en-US" altLang="zh-CN" dirty="0" smtClean="0"/>
          </a:p>
          <a:p>
            <a:pPr lvl="1"/>
            <a:r>
              <a:rPr lang="zh-CN" altLang="en-US" dirty="0"/>
              <a:t>数据</a:t>
            </a:r>
            <a:r>
              <a:rPr lang="zh-CN" altLang="en-US" dirty="0" smtClean="0"/>
              <a:t>集</a:t>
            </a:r>
            <a:endParaRPr lang="en-US" altLang="zh-CN" dirty="0" smtClean="0"/>
          </a:p>
          <a:p>
            <a:pPr lvl="2"/>
            <a:r>
              <a:rPr lang="en-US" altLang="zh-CN" dirty="0"/>
              <a:t>QWS</a:t>
            </a:r>
            <a:r>
              <a:rPr lang="zh-CN" altLang="zh-CN" dirty="0"/>
              <a:t>真实数据</a:t>
            </a:r>
            <a:r>
              <a:rPr lang="zh-CN" altLang="zh-CN" dirty="0" smtClean="0"/>
              <a:t>集</a:t>
            </a:r>
            <a:r>
              <a:rPr lang="zh-CN" altLang="en-US" dirty="0" smtClean="0"/>
              <a:t>：</a:t>
            </a:r>
            <a:r>
              <a:rPr lang="zh-CN" altLang="zh-CN" dirty="0"/>
              <a:t>包含</a:t>
            </a:r>
            <a:r>
              <a:rPr lang="en-US" altLang="zh-CN" dirty="0"/>
              <a:t>2507</a:t>
            </a:r>
            <a:r>
              <a:rPr lang="zh-CN" altLang="zh-CN" dirty="0"/>
              <a:t>个</a:t>
            </a:r>
            <a:r>
              <a:rPr lang="zh-CN" altLang="zh-CN" dirty="0" smtClean="0"/>
              <a:t>真实</a:t>
            </a:r>
            <a:r>
              <a:rPr lang="zh-CN" altLang="en-US" dirty="0" smtClean="0"/>
              <a:t>的</a:t>
            </a:r>
            <a:r>
              <a:rPr lang="zh-CN" altLang="zh-CN" dirty="0" smtClean="0"/>
              <a:t>服务信息</a:t>
            </a:r>
            <a:endParaRPr lang="en-US" altLang="zh-CN" dirty="0" smtClean="0"/>
          </a:p>
          <a:p>
            <a:pPr lvl="2"/>
            <a:r>
              <a:rPr lang="zh-CN" altLang="zh-CN" dirty="0"/>
              <a:t>随机数据集</a:t>
            </a:r>
            <a:r>
              <a:rPr lang="zh-CN" altLang="zh-CN" dirty="0" smtClean="0"/>
              <a:t>：为了</a:t>
            </a:r>
            <a:r>
              <a:rPr lang="zh-CN" altLang="zh-CN" dirty="0"/>
              <a:t>模拟云环境下大规模云服务的组合问题，随机生成</a:t>
            </a:r>
            <a:r>
              <a:rPr lang="en-US" altLang="zh-CN" dirty="0"/>
              <a:t>500,000</a:t>
            </a:r>
            <a:r>
              <a:rPr lang="zh-CN" altLang="zh-CN" dirty="0"/>
              <a:t>个模拟服务</a:t>
            </a:r>
            <a:r>
              <a:rPr lang="zh-CN" altLang="zh-CN" dirty="0" smtClean="0"/>
              <a:t>信息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对比指标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求解质量：</a:t>
            </a:r>
            <a:r>
              <a:rPr lang="en-US" altLang="zh-CN" dirty="0" err="1" smtClean="0"/>
              <a:t>csQoS</a:t>
            </a:r>
            <a:r>
              <a:rPr lang="zh-CN" altLang="en-US" dirty="0" smtClean="0"/>
              <a:t>的值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求解效率：算法的运行时间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575C25-6F02-4E58-99B4-92C404D4C22F}" type="slidenum">
              <a:rPr lang="zh-CN" altLang="en-US"/>
              <a:pPr>
                <a:defRPr/>
              </a:pPr>
              <a:t>24</a:t>
            </a:fld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18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dirty="0" smtClean="0"/>
              <a:t>基于人工蜂群算法的可信服务组合方法</a:t>
            </a:r>
            <a:endParaRPr lang="zh-CN" altLang="en-US" dirty="0" smtClean="0"/>
          </a:p>
        </p:txBody>
      </p:sp>
      <p:sp>
        <p:nvSpPr>
          <p:cNvPr id="31747" name="灯片编号占位符 2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6434053-C273-4869-9377-DF0A616D864F}" type="slidenum">
              <a:rPr lang="zh-CN" altLang="en-US" smtClean="0">
                <a:latin typeface="Times New Roman" pitchFamily="18" charset="0"/>
                <a:ea typeface="华文新魏" pitchFamily="2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748" name="内容占位符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zh-CN" dirty="0"/>
              <a:t>组合服务求解质量</a:t>
            </a:r>
            <a:r>
              <a:rPr lang="zh-CN" altLang="zh-CN" dirty="0" smtClean="0"/>
              <a:t>对比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QWS</a:t>
            </a:r>
            <a:r>
              <a:rPr lang="zh-CN" altLang="en-US" dirty="0" smtClean="0"/>
              <a:t>数据集</a:t>
            </a:r>
            <a:endParaRPr lang="en-US" altLang="zh-CN" dirty="0" smtClean="0"/>
          </a:p>
          <a:p>
            <a:pPr lvl="1" eaLnBrk="1" hangingPunct="1"/>
            <a:endParaRPr lang="en-US" altLang="zh-CN" dirty="0" smtClean="0"/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华文新魏" pitchFamily="2" charset="-122"/>
            </a:endParaRPr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华文新魏" pitchFamily="2" charset="-122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华文新魏" pitchFamily="2" charset="-122"/>
            </a:endParaRPr>
          </a:p>
        </p:txBody>
      </p:sp>
      <p:sp>
        <p:nvSpPr>
          <p:cNvPr id="3175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Rectangle 5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691163"/>
              </p:ext>
            </p:extLst>
          </p:nvPr>
        </p:nvGraphicFramePr>
        <p:xfrm>
          <a:off x="-172020" y="2553571"/>
          <a:ext cx="4899211" cy="3460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8" r:id="rId4" imgW="4276954" imgH="3023616" progId="Origin50.Graph">
                  <p:embed/>
                </p:oleObj>
              </mc:Choice>
              <mc:Fallback>
                <p:oleObj r:id="rId4" imgW="4276954" imgH="3023616" progId="Origin50.Graph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72020" y="2553571"/>
                        <a:ext cx="4899211" cy="34605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823223"/>
              </p:ext>
            </p:extLst>
          </p:nvPr>
        </p:nvGraphicFramePr>
        <p:xfrm>
          <a:off x="4440402" y="2590800"/>
          <a:ext cx="4796070" cy="33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9" r:id="rId6" imgW="4276954" imgH="3023616" progId="Origin50.Graph">
                  <p:embed/>
                </p:oleObj>
              </mc:Choice>
              <mc:Fallback>
                <p:oleObj r:id="rId6" imgW="4276954" imgH="3023616" progId="Origin50.Graph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402" y="2590800"/>
                        <a:ext cx="4796070" cy="33877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 dirty="0" smtClean="0"/>
              <a:t>基于人工蜂群算法的可信服务组合方法</a:t>
            </a:r>
            <a:endParaRPr lang="zh-CN" altLang="en-US" dirty="0" smtClean="0"/>
          </a:p>
        </p:txBody>
      </p:sp>
      <p:sp>
        <p:nvSpPr>
          <p:cNvPr id="31747" name="灯片编号占位符 2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6434053-C273-4869-9377-DF0A616D864F}" type="slidenum">
              <a:rPr lang="zh-CN" altLang="en-US" smtClean="0">
                <a:latin typeface="Times New Roman" pitchFamily="18" charset="0"/>
                <a:ea typeface="华文新魏" pitchFamily="2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748" name="内容占位符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zh-CN" dirty="0"/>
              <a:t>组合服务求解质量</a:t>
            </a:r>
            <a:r>
              <a:rPr lang="zh-CN" altLang="zh-CN" dirty="0" smtClean="0"/>
              <a:t>对比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随机数据集</a:t>
            </a:r>
            <a:endParaRPr lang="en-US" altLang="zh-CN" dirty="0" smtClean="0"/>
          </a:p>
        </p:txBody>
      </p:sp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华文新魏" pitchFamily="2" charset="-122"/>
            </a:endParaRPr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华文新魏" pitchFamily="2" charset="-122"/>
            </a:endParaRP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华文新魏" pitchFamily="2" charset="-122"/>
            </a:endParaRPr>
          </a:p>
        </p:txBody>
      </p:sp>
      <p:sp>
        <p:nvSpPr>
          <p:cNvPr id="3175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Rectangle 5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050876"/>
              </p:ext>
            </p:extLst>
          </p:nvPr>
        </p:nvGraphicFramePr>
        <p:xfrm>
          <a:off x="-88900" y="2525234"/>
          <a:ext cx="4826000" cy="3408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7" r:id="rId4" imgW="4276954" imgH="3023616" progId="Origin50.Graph">
                  <p:embed/>
                </p:oleObj>
              </mc:Choice>
              <mc:Fallback>
                <p:oleObj r:id="rId4" imgW="4276954" imgH="3023616" progId="Origin50.Grap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8900" y="2525234"/>
                        <a:ext cx="4826000" cy="34088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36623"/>
              </p:ext>
            </p:extLst>
          </p:nvPr>
        </p:nvGraphicFramePr>
        <p:xfrm>
          <a:off x="4292600" y="2499834"/>
          <a:ext cx="4826000" cy="3408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8" r:id="rId6" imgW="4276954" imgH="3023616" progId="Origin50.Graph">
                  <p:embed/>
                </p:oleObj>
              </mc:Choice>
              <mc:Fallback>
                <p:oleObj r:id="rId6" imgW="4276954" imgH="3023616" progId="Origin50.Grap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2499834"/>
                        <a:ext cx="4826000" cy="34088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991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基于人工蜂群算法的可信服务</a:t>
            </a:r>
            <a:r>
              <a:rPr lang="zh-CN" altLang="zh-CN" dirty="0"/>
              <a:t>组合方法</a:t>
            </a:r>
            <a:endParaRPr lang="zh-CN" altLang="en-US" dirty="0" smtClean="0"/>
          </a:p>
        </p:txBody>
      </p:sp>
      <p:sp>
        <p:nvSpPr>
          <p:cNvPr id="3277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zh-CN" dirty="0" smtClean="0"/>
              <a:t>算法</a:t>
            </a:r>
            <a:r>
              <a:rPr lang="zh-CN" altLang="zh-CN" dirty="0"/>
              <a:t>运行时间</a:t>
            </a:r>
            <a:r>
              <a:rPr lang="zh-CN" altLang="zh-CN" dirty="0" smtClean="0"/>
              <a:t>对比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en-US" altLang="zh-CN" dirty="0" smtClean="0"/>
              <a:t>QWS</a:t>
            </a:r>
            <a:r>
              <a:rPr lang="zh-CN" altLang="en-US" dirty="0" smtClean="0"/>
              <a:t>数据集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/>
              <a:t>随机数据集</a:t>
            </a:r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575C25-6F02-4E58-99B4-92C404D4C22F}" type="slidenum">
              <a:rPr lang="zh-CN" altLang="en-US"/>
              <a:pPr>
                <a:defRPr/>
              </a:pPr>
              <a:t>27</a:t>
            </a:fld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919876"/>
              </p:ext>
            </p:extLst>
          </p:nvPr>
        </p:nvGraphicFramePr>
        <p:xfrm>
          <a:off x="2699792" y="1772815"/>
          <a:ext cx="6120000" cy="2365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09" name="Visio" r:id="rId3" imgW="4801140" imgH="1859262" progId="Visio.Drawing.11">
                  <p:embed/>
                </p:oleObj>
              </mc:Choice>
              <mc:Fallback>
                <p:oleObj name="Visio" r:id="rId3" imgW="4801140" imgH="185926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772815"/>
                        <a:ext cx="6120000" cy="2365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072030"/>
              </p:ext>
            </p:extLst>
          </p:nvPr>
        </p:nvGraphicFramePr>
        <p:xfrm>
          <a:off x="2699791" y="4005064"/>
          <a:ext cx="6120000" cy="2382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10" name="Visio" r:id="rId5" imgW="4800330" imgH="1870045" progId="Visio.Drawing.11">
                  <p:embed/>
                </p:oleObj>
              </mc:Choice>
              <mc:Fallback>
                <p:oleObj name="Visio" r:id="rId5" imgW="4800330" imgH="187004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1" y="4005064"/>
                        <a:ext cx="6120000" cy="23829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基于人工蜂群算法的可信服务</a:t>
            </a:r>
            <a:r>
              <a:rPr lang="zh-CN" altLang="zh-CN" dirty="0"/>
              <a:t>组合方法</a:t>
            </a:r>
            <a:endParaRPr lang="zh-CN" altLang="en-US" dirty="0" smtClean="0"/>
          </a:p>
        </p:txBody>
      </p:sp>
      <p:sp>
        <p:nvSpPr>
          <p:cNvPr id="3277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zh-CN" dirty="0" smtClean="0"/>
              <a:t>全局</a:t>
            </a:r>
            <a:r>
              <a:rPr lang="zh-CN" altLang="zh-CN" dirty="0"/>
              <a:t>指导策略的影响</a:t>
            </a:r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575C25-6F02-4E58-99B4-92C404D4C22F}" type="slidenum">
              <a:rPr lang="zh-CN" altLang="en-US"/>
              <a:pPr>
                <a:defRPr/>
              </a:pPr>
              <a:t>28</a:t>
            </a:fld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965461"/>
              </p:ext>
            </p:extLst>
          </p:nvPr>
        </p:nvGraphicFramePr>
        <p:xfrm>
          <a:off x="647984" y="2708920"/>
          <a:ext cx="3780000" cy="384048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756000"/>
                <a:gridCol w="756000"/>
                <a:gridCol w="756000"/>
                <a:gridCol w="756000"/>
                <a:gridCol w="756000"/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DABC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DGABC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0.8002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1.7341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0.8008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1.7431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0.8036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1.7603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0.8048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1.7664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0.7884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1.7410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0.7902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1.7673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0.8147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1.7748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0.8167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1.7417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0.7989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1.7333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0.7999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1.7550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0.8123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1.7676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0.8155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1.7550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0.8134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1.8551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0.8185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1.7226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0.8109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1.7341</a:t>
                      </a:r>
                      <a:endParaRPr lang="zh-CN" sz="1400" b="1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0.8132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1.7429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0.8034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1.7263</a:t>
                      </a:r>
                      <a:endParaRPr lang="zh-CN" sz="1400" b="1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0.8107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1.7479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0.8156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1.7589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0.8183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1.7604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679285"/>
              </p:ext>
            </p:extLst>
          </p:nvPr>
        </p:nvGraphicFramePr>
        <p:xfrm>
          <a:off x="4824448" y="2712296"/>
          <a:ext cx="3780000" cy="384048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756000"/>
                <a:gridCol w="756000"/>
                <a:gridCol w="756000"/>
                <a:gridCol w="756000"/>
                <a:gridCol w="756000"/>
              </a:tblGrid>
              <a:tr h="28080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DABC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DGABC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80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csQoS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0.8006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1.7645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0.8008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1.8098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sz="14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0.7757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1.7705</a:t>
                      </a:r>
                      <a:endParaRPr lang="zh-CN" sz="14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0.7835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1.7628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0.7501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1.7842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0.7480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1.8088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zh-CN" sz="14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0.7369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1.8454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0.7425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1.8272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0.7253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1.8601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0.7322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1.8668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0.7177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1.9047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0.7281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1.9135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0.7117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1.9591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0.7228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1.9488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0.7045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1.9891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0.7147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1.9917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0.6977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2.0260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0.7078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2.0381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zh-CN" sz="14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0.6885</a:t>
                      </a:r>
                      <a:endParaRPr lang="zh-CN" sz="1400" kern="10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2.0429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0.6960</a:t>
                      </a:r>
                      <a:endParaRPr lang="zh-CN" sz="1400" b="1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2.0607</a:t>
                      </a:r>
                      <a:endParaRPr lang="zh-CN" sz="140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403648" y="227313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 5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从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50~500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4128" y="2273139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 50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从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5~50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59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873789"/>
              </p:ext>
            </p:extLst>
          </p:nvPr>
        </p:nvGraphicFramePr>
        <p:xfrm>
          <a:off x="438150" y="2111375"/>
          <a:ext cx="8347075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0" name="Visio" r:id="rId3" imgW="5570977" imgH="2194883" progId="Visio.Drawing.11">
                  <p:embed/>
                </p:oleObj>
              </mc:Choice>
              <mc:Fallback>
                <p:oleObj name="Visio" r:id="rId3" imgW="5570977" imgH="2194883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2111375"/>
                        <a:ext cx="8347075" cy="352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en-US" smtClean="0"/>
              <a:t>研究内容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zh-CN" altLang="en-US" smtClean="0"/>
              <a:t>论文研究思路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48037" y="3573016"/>
            <a:ext cx="5328419" cy="576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 w="28575">
                <a:solidFill>
                  <a:srgbClr val="FF0000"/>
                </a:solidFill>
              </a:ln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127BF2-69CE-4AC7-ADD7-1F16AE8F5BFE}" type="slidenum">
              <a:rPr lang="zh-CN" altLang="en-US"/>
              <a:pPr>
                <a:defRPr/>
              </a:pPr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92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zh-CN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多目标</a:t>
            </a:r>
            <a:r>
              <a:rPr lang="zh-CN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服务</a:t>
            </a:r>
            <a:r>
              <a:rPr lang="zh-CN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组合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问题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30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30298"/>
              </p:ext>
            </p:extLst>
          </p:nvPr>
        </p:nvGraphicFramePr>
        <p:xfrm>
          <a:off x="4845050" y="847725"/>
          <a:ext cx="5559425" cy="601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2" name="Visio" r:id="rId3" imgW="7724032" imgH="8356840" progId="Visio.Drawing.11">
                  <p:embed/>
                </p:oleObj>
              </mc:Choice>
              <mc:Fallback>
                <p:oleObj name="Visio" r:id="rId3" imgW="7724032" imgH="8356840" progId="Visio.Drawing.11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847725"/>
                        <a:ext cx="5559425" cy="601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105831"/>
              </p:ext>
            </p:extLst>
          </p:nvPr>
        </p:nvGraphicFramePr>
        <p:xfrm>
          <a:off x="179512" y="2240219"/>
          <a:ext cx="4490085" cy="109728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080120"/>
                <a:gridCol w="720080"/>
                <a:gridCol w="1008112"/>
                <a:gridCol w="877863"/>
                <a:gridCol w="803910"/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组合服务</a:t>
                      </a:r>
                      <a:endParaRPr lang="zh-CN" sz="16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价格</a:t>
                      </a:r>
                      <a:endParaRPr lang="zh-CN" sz="16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反馈时间</a:t>
                      </a:r>
                      <a:endParaRPr lang="zh-CN" sz="16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可用性</a:t>
                      </a:r>
                      <a:endParaRPr lang="zh-CN" sz="16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吞吐量</a:t>
                      </a:r>
                      <a:endParaRPr lang="zh-CN" sz="16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cs1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12 $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302.75 s</a:t>
                      </a:r>
                      <a:endParaRPr lang="zh-CN" sz="16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79 %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1.9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cs2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20 $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107 s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87 %</a:t>
                      </a:r>
                      <a:endParaRPr lang="zh-CN" sz="1600" b="0" kern="10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7.1</a:t>
                      </a:r>
                      <a:endParaRPr lang="zh-CN" sz="1600" b="0" kern="1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圆角矩形 5"/>
          <p:cNvSpPr/>
          <p:nvPr/>
        </p:nvSpPr>
        <p:spPr>
          <a:xfrm>
            <a:off x="275928" y="3861048"/>
            <a:ext cx="4248472" cy="194421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zh-CN" dirty="0"/>
              <a:t>组合服务</a:t>
            </a:r>
            <a:r>
              <a:rPr lang="en-US" altLang="zh-CN" dirty="0"/>
              <a:t>cs1</a:t>
            </a:r>
            <a:r>
              <a:rPr lang="zh-CN" altLang="zh-CN" dirty="0"/>
              <a:t>的</a:t>
            </a:r>
            <a:r>
              <a:rPr lang="en-US" altLang="zh-CN" dirty="0" err="1"/>
              <a:t>QoS</a:t>
            </a:r>
            <a:r>
              <a:rPr lang="zh-CN" altLang="zh-CN" dirty="0"/>
              <a:t>值为</a:t>
            </a:r>
            <a:r>
              <a:rPr lang="en-US" altLang="zh-CN" dirty="0"/>
              <a:t>0.675</a:t>
            </a:r>
            <a:r>
              <a:rPr lang="zh-CN" altLang="zh-CN" dirty="0"/>
              <a:t>，</a:t>
            </a:r>
            <a:r>
              <a:rPr lang="en-US" altLang="zh-CN" dirty="0"/>
              <a:t>cs2</a:t>
            </a:r>
            <a:r>
              <a:rPr lang="zh-CN" altLang="zh-CN" dirty="0"/>
              <a:t>的</a:t>
            </a:r>
            <a:r>
              <a:rPr lang="en-US" altLang="zh-CN" dirty="0" err="1"/>
              <a:t>QoS</a:t>
            </a:r>
            <a:r>
              <a:rPr lang="zh-CN" altLang="zh-CN" dirty="0"/>
              <a:t>值为</a:t>
            </a:r>
            <a:r>
              <a:rPr lang="en-US" altLang="zh-CN" dirty="0" smtClean="0"/>
              <a:t>0.725</a:t>
            </a:r>
          </a:p>
          <a:p>
            <a:r>
              <a:rPr lang="zh-CN" altLang="zh-CN" dirty="0"/>
              <a:t>若采用单目标优化方法，则</a:t>
            </a:r>
            <a:r>
              <a:rPr lang="en-US" altLang="zh-CN" dirty="0" err="1"/>
              <a:t>QoS</a:t>
            </a:r>
            <a:r>
              <a:rPr lang="zh-CN" altLang="zh-CN" dirty="0"/>
              <a:t>较高的</a:t>
            </a:r>
            <a:r>
              <a:rPr lang="en-US" altLang="zh-CN" dirty="0"/>
              <a:t>cs2</a:t>
            </a:r>
            <a:r>
              <a:rPr lang="zh-CN" altLang="zh-CN" dirty="0"/>
              <a:t>为最优组合服务方案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 smtClean="0"/>
              <a:t>在</a:t>
            </a:r>
            <a:r>
              <a:rPr lang="zh-CN" altLang="zh-CN" dirty="0"/>
              <a:t>实际的运用中，用户更希望获得</a:t>
            </a:r>
            <a:r>
              <a:rPr lang="en-US" altLang="zh-CN" dirty="0">
                <a:solidFill>
                  <a:srgbClr val="FF0000"/>
                </a:solidFill>
              </a:rPr>
              <a:t>“</a:t>
            </a:r>
            <a:r>
              <a:rPr lang="zh-CN" altLang="zh-CN" dirty="0">
                <a:solidFill>
                  <a:srgbClr val="FF0000"/>
                </a:solidFill>
              </a:rPr>
              <a:t>性价比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zh-CN" dirty="0">
                <a:solidFill>
                  <a:srgbClr val="FF0000"/>
                </a:solidFill>
              </a:rPr>
              <a:t>优</a:t>
            </a:r>
            <a:r>
              <a:rPr lang="zh-CN" altLang="zh-CN" dirty="0"/>
              <a:t>的服务组合</a:t>
            </a:r>
            <a:r>
              <a:rPr lang="zh-CN" altLang="zh-CN" dirty="0" smtClean="0"/>
              <a:t>方案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zh-CN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多目标</a:t>
            </a:r>
            <a:r>
              <a:rPr lang="zh-CN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服务</a:t>
            </a:r>
            <a:r>
              <a:rPr lang="zh-CN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组合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问题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31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680548"/>
              </p:ext>
            </p:extLst>
          </p:nvPr>
        </p:nvGraphicFramePr>
        <p:xfrm>
          <a:off x="4845050" y="847725"/>
          <a:ext cx="5559425" cy="601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0" name="Visio" r:id="rId3" imgW="7724032" imgH="8356840" progId="Visio.Drawing.11">
                  <p:embed/>
                </p:oleObj>
              </mc:Choice>
              <mc:Fallback>
                <p:oleObj name="Visio" r:id="rId3" imgW="7724032" imgH="83568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847725"/>
                        <a:ext cx="5559425" cy="601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8968"/>
              </p:ext>
            </p:extLst>
          </p:nvPr>
        </p:nvGraphicFramePr>
        <p:xfrm>
          <a:off x="769855" y="2019001"/>
          <a:ext cx="3584720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1" name="Equation" r:id="rId5" imgW="2577960" imgH="1447560" progId="Equation.DSMT4">
                  <p:embed/>
                </p:oleObj>
              </mc:Choice>
              <mc:Fallback>
                <p:oleObj name="Equation" r:id="rId5" imgW="2577960" imgH="1447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855" y="2019001"/>
                        <a:ext cx="3584720" cy="2016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6588224" y="6093296"/>
            <a:ext cx="7920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025067"/>
              </p:ext>
            </p:extLst>
          </p:nvPr>
        </p:nvGraphicFramePr>
        <p:xfrm>
          <a:off x="250825" y="4291013"/>
          <a:ext cx="462915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82" name="Equation" r:id="rId7" imgW="3124080" imgH="634680" progId="Equation.DSMT4">
                  <p:embed/>
                </p:oleObj>
              </mc:Choice>
              <mc:Fallback>
                <p:oleObj name="Equation" r:id="rId7" imgW="3124080" imgH="6346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291013"/>
                        <a:ext cx="4629150" cy="941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059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zh-CN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多目标</a:t>
            </a:r>
            <a:r>
              <a:rPr lang="zh-CN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服务</a:t>
            </a:r>
            <a:r>
              <a:rPr lang="zh-CN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组合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问题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32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040672"/>
              </p:ext>
            </p:extLst>
          </p:nvPr>
        </p:nvGraphicFramePr>
        <p:xfrm>
          <a:off x="4845050" y="847725"/>
          <a:ext cx="5559425" cy="601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7" name="Visio" r:id="rId3" imgW="7724032" imgH="8356840" progId="Visio.Drawing.11">
                  <p:embed/>
                </p:oleObj>
              </mc:Choice>
              <mc:Fallback>
                <p:oleObj name="Visio" r:id="rId3" imgW="7724032" imgH="83568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847725"/>
                        <a:ext cx="5559425" cy="601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176920"/>
              </p:ext>
            </p:extLst>
          </p:nvPr>
        </p:nvGraphicFramePr>
        <p:xfrm>
          <a:off x="250825" y="1916832"/>
          <a:ext cx="462915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8" name="Equation" r:id="rId5" imgW="3124080" imgH="634680" progId="Equation.DSMT4">
                  <p:embed/>
                </p:oleObj>
              </mc:Choice>
              <mc:Fallback>
                <p:oleObj name="Equation" r:id="rId5" imgW="312408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916832"/>
                        <a:ext cx="4629150" cy="941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140968"/>
            <a:ext cx="3165180" cy="317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838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zh-CN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多目标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优化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问题求解</a:t>
            </a:r>
            <a:endParaRPr lang="en-US" altLang="zh-CN" sz="32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dirty="0"/>
              <a:t>Pareto</a:t>
            </a:r>
            <a:r>
              <a:rPr lang="zh-CN" altLang="zh-CN" dirty="0" smtClean="0"/>
              <a:t>支配</a:t>
            </a:r>
            <a:endParaRPr lang="en-US" altLang="zh-CN" dirty="0" smtClean="0"/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dirty="0"/>
              <a:t>Pareto</a:t>
            </a:r>
            <a:r>
              <a:rPr lang="zh-CN" altLang="zh-CN" dirty="0"/>
              <a:t>最</a:t>
            </a:r>
            <a:r>
              <a:rPr lang="zh-CN" altLang="zh-CN" dirty="0" smtClean="0"/>
              <a:t>优</a:t>
            </a:r>
            <a:endParaRPr lang="en-US" altLang="zh-CN" dirty="0" smtClean="0"/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dirty="0"/>
              <a:t>Pareto</a:t>
            </a:r>
            <a:r>
              <a:rPr lang="zh-CN" altLang="zh-CN" dirty="0"/>
              <a:t>最优解</a:t>
            </a:r>
            <a:r>
              <a:rPr lang="zh-CN" altLang="zh-CN" dirty="0" smtClean="0"/>
              <a:t>集</a:t>
            </a:r>
            <a:r>
              <a:rPr lang="zh-CN" altLang="zh-CN" dirty="0"/>
              <a:t>（</a:t>
            </a:r>
            <a:r>
              <a:rPr lang="en-US" altLang="zh-CN" dirty="0"/>
              <a:t>Pareto-front</a:t>
            </a:r>
            <a:r>
              <a:rPr lang="zh-CN" altLang="zh-CN" dirty="0" smtClean="0"/>
              <a:t>）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33</a:t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465613"/>
              </p:ext>
            </p:extLst>
          </p:nvPr>
        </p:nvGraphicFramePr>
        <p:xfrm>
          <a:off x="1763688" y="2348880"/>
          <a:ext cx="4611941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3" name="Equation" r:id="rId3" imgW="2565400" imgH="203200" progId="Equation.DSMT4">
                  <p:embed/>
                </p:oleObj>
              </mc:Choice>
              <mc:Fallback>
                <p:oleObj name="Equation" r:id="rId3" imgW="2565400" imgH="20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348880"/>
                        <a:ext cx="4611941" cy="360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149499"/>
              </p:ext>
            </p:extLst>
          </p:nvPr>
        </p:nvGraphicFramePr>
        <p:xfrm>
          <a:off x="1763688" y="4869160"/>
          <a:ext cx="381930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4" name="Equation" r:id="rId5" imgW="2108200" imgH="215900" progId="Equation.DSMT4">
                  <p:embed/>
                </p:oleObj>
              </mc:Choice>
              <mc:Fallback>
                <p:oleObj name="Equation" r:id="rId5" imgW="2108200" imgH="215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869160"/>
                        <a:ext cx="3819304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011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724" y="3356992"/>
            <a:ext cx="5113532" cy="81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955359"/>
              </p:ext>
            </p:extLst>
          </p:nvPr>
        </p:nvGraphicFramePr>
        <p:xfrm>
          <a:off x="6843598" y="3762674"/>
          <a:ext cx="2220247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15" name="Equation" r:id="rId8" imgW="1397000" imgH="228600" progId="Equation.DSMT4">
                  <p:embed/>
                </p:oleObj>
              </mc:Choice>
              <mc:Fallback>
                <p:oleObj name="Equation" r:id="rId8" imgW="13970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598" y="3762674"/>
                        <a:ext cx="2220247" cy="360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0132" name="Picture 2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572" y="4173091"/>
            <a:ext cx="2590800" cy="246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297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EMOABC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算法</a:t>
            </a:r>
            <a:endParaRPr lang="en-US" altLang="zh-CN" sz="32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34</a:t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222075"/>
              </p:ext>
            </p:extLst>
          </p:nvPr>
        </p:nvGraphicFramePr>
        <p:xfrm>
          <a:off x="141288" y="1916113"/>
          <a:ext cx="2566987" cy="444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48" name="Visio" r:id="rId3" imgW="2155487" imgH="3724994" progId="Visio.Drawing.11">
                  <p:embed/>
                </p:oleObj>
              </mc:Choice>
              <mc:Fallback>
                <p:oleObj name="Visio" r:id="rId3" imgW="2155487" imgH="3724994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1916113"/>
                        <a:ext cx="2566987" cy="444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556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EMOABC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算法</a:t>
            </a:r>
            <a:endParaRPr lang="en-US" altLang="zh-CN" sz="32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35</a:t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同侧圆角矩形 25"/>
          <p:cNvSpPr/>
          <p:nvPr/>
        </p:nvSpPr>
        <p:spPr bwMode="auto">
          <a:xfrm>
            <a:off x="2971863" y="1989138"/>
            <a:ext cx="2133537" cy="431800"/>
          </a:xfrm>
          <a:prstGeom prst="round2Same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sz="2000" b="1" dirty="0" smtClean="0">
                <a:latin typeface="+mn-ea"/>
                <a:ea typeface="+mn-ea"/>
                <a:cs typeface="Times New Roman" pitchFamily="18" charset="0"/>
              </a:rPr>
              <a:t>快速非支配排序</a:t>
            </a:r>
            <a:endParaRPr lang="zh-CN" altLang="en-US" sz="20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2971800" y="2420938"/>
            <a:ext cx="5780314" cy="367188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各目标之间相互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制约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根据可行解之间的支配关系来对种群中的解进行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排序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每个可行解与种群中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其他</a:t>
            </a: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所有可行解进行比较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+mn-ea"/>
                <a:ea typeface="+mn-ea"/>
                <a:cs typeface="Times New Roman" pitchFamily="18" charset="0"/>
              </a:rPr>
              <a:t>获得</a:t>
            </a:r>
            <a:endParaRPr lang="en-US" altLang="zh-CN" sz="2000" dirty="0" smtClean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6941"/>
              </p:ext>
            </p:extLst>
          </p:nvPr>
        </p:nvGraphicFramePr>
        <p:xfrm>
          <a:off x="3907056" y="4437311"/>
          <a:ext cx="849997" cy="35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8" name="Equation" r:id="rId3" imgW="457200" imgH="203040" progId="Equation.DSMT4">
                  <p:embed/>
                </p:oleObj>
              </mc:Choice>
              <mc:Fallback>
                <p:oleObj name="Equation" r:id="rId3" imgW="45720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7056" y="4437311"/>
                        <a:ext cx="849997" cy="3528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183" y="4256882"/>
            <a:ext cx="2640017" cy="25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621245"/>
              </p:ext>
            </p:extLst>
          </p:nvPr>
        </p:nvGraphicFramePr>
        <p:xfrm>
          <a:off x="141288" y="1916113"/>
          <a:ext cx="2566987" cy="444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9" name="Visio" r:id="rId6" imgW="2155487" imgH="3724994" progId="Visio.Drawing.11">
                  <p:embed/>
                </p:oleObj>
              </mc:Choice>
              <mc:Fallback>
                <p:oleObj name="Visio" r:id="rId6" imgW="2155487" imgH="3724994" progId="Visio.Drawing.11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1916113"/>
                        <a:ext cx="2566987" cy="444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744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EMOABC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算法</a:t>
            </a:r>
            <a:endParaRPr lang="en-US" altLang="zh-CN" sz="32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36</a:t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同侧圆角矩形 25"/>
          <p:cNvSpPr/>
          <p:nvPr/>
        </p:nvSpPr>
        <p:spPr bwMode="auto">
          <a:xfrm>
            <a:off x="2971863" y="1989138"/>
            <a:ext cx="1763423" cy="431800"/>
          </a:xfrm>
          <a:prstGeom prst="round2Same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eaLnBrk="0" hangingPunct="0">
              <a:defRPr/>
            </a:pPr>
            <a:r>
              <a:rPr lang="zh-CN" altLang="en-US" sz="2000" b="1" dirty="0" smtClean="0">
                <a:latin typeface="+mn-ea"/>
                <a:ea typeface="+mn-ea"/>
                <a:cs typeface="Times New Roman" pitchFamily="18" charset="0"/>
              </a:rPr>
              <a:t>种群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选择策略</a:t>
            </a:r>
          </a:p>
        </p:txBody>
      </p:sp>
      <p:sp>
        <p:nvSpPr>
          <p:cNvPr id="27" name="圆角矩形 26"/>
          <p:cNvSpPr/>
          <p:nvPr/>
        </p:nvSpPr>
        <p:spPr bwMode="auto">
          <a:xfrm>
            <a:off x="2971800" y="2420938"/>
            <a:ext cx="5780314" cy="367188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根据解</a:t>
            </a:r>
            <a:r>
              <a:rPr lang="zh-CN" altLang="en-US" sz="2000" dirty="0">
                <a:latin typeface="Times New Roman" pitchFamily="18" charset="0"/>
                <a:ea typeface="+mn-ea"/>
                <a:cs typeface="Times New Roman" pitchFamily="18" charset="0"/>
              </a:rPr>
              <a:t>的密集程度，计算每个解的拥挤</a:t>
            </a: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距离</a:t>
            </a:r>
            <a:endParaRPr lang="en-US" altLang="zh-CN" sz="2000" dirty="0" smtClean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选择策略</a:t>
            </a:r>
            <a:endParaRPr lang="en-US" altLang="zh-CN" sz="2000" dirty="0" smtClean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800100" lvl="1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rank</a:t>
            </a: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尽量小</a:t>
            </a:r>
            <a:endParaRPr lang="en-US" altLang="zh-CN" sz="2000" dirty="0" smtClean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257300" lvl="2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使解朝质量更好的方向进化</a:t>
            </a:r>
            <a:endParaRPr lang="en-US" altLang="zh-CN" sz="2000" dirty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800100" lvl="1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当</a:t>
            </a: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rank</a:t>
            </a: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相等，选</a:t>
            </a: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distance</a:t>
            </a: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大的</a:t>
            </a:r>
            <a:endParaRPr lang="en-US" altLang="zh-CN" sz="2000" dirty="0" smtClean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257300" lvl="2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使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种群</a:t>
            </a: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中可行解的分布更加均匀，提高解的多样性</a:t>
            </a:r>
            <a:endParaRPr lang="en-US" altLang="zh-CN" sz="2000" dirty="0" smtClean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24441"/>
              </p:ext>
            </p:extLst>
          </p:nvPr>
        </p:nvGraphicFramePr>
        <p:xfrm>
          <a:off x="7418649" y="2923949"/>
          <a:ext cx="12065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6" name="Equation" r:id="rId3" imgW="647640" imgH="203040" progId="Equation.DSMT4">
                  <p:embed/>
                </p:oleObj>
              </mc:Choice>
              <mc:Fallback>
                <p:oleObj name="Equation" r:id="rId3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8649" y="2923949"/>
                        <a:ext cx="1206500" cy="352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319274"/>
              </p:ext>
            </p:extLst>
          </p:nvPr>
        </p:nvGraphicFramePr>
        <p:xfrm>
          <a:off x="141288" y="1916113"/>
          <a:ext cx="2566987" cy="444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7" name="Visio" r:id="rId5" imgW="2155487" imgH="3724994" progId="Visio.Drawing.11">
                  <p:embed/>
                </p:oleObj>
              </mc:Choice>
              <mc:Fallback>
                <p:oleObj name="Visio" r:id="rId5" imgW="2155487" imgH="3724994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1916113"/>
                        <a:ext cx="2566987" cy="444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66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EMOABC</a:t>
            </a:r>
            <a:r>
              <a:rPr lang="zh-CN" alt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算法</a:t>
            </a:r>
            <a:endParaRPr lang="en-US" altLang="zh-CN" sz="32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37</a:t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同侧圆角矩形 25"/>
          <p:cNvSpPr/>
          <p:nvPr/>
        </p:nvSpPr>
        <p:spPr bwMode="auto">
          <a:xfrm>
            <a:off x="2971863" y="1989138"/>
            <a:ext cx="3015280" cy="431800"/>
          </a:xfrm>
          <a:prstGeom prst="round2Same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none" anchor="ctr"/>
          <a:lstStyle/>
          <a:p>
            <a:pPr eaLnBrk="0" hangingPunct="0">
              <a:defRPr/>
            </a:pPr>
            <a:r>
              <a:rPr lang="zh-CN" altLang="en-US" sz="2000" b="1" dirty="0" smtClean="0">
                <a:latin typeface="+mn-ea"/>
                <a:ea typeface="+mn-ea"/>
                <a:cs typeface="Times New Roman" pitchFamily="18" charset="0"/>
              </a:rPr>
              <a:t>精英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指导离散解生成策略</a:t>
            </a:r>
          </a:p>
        </p:txBody>
      </p:sp>
      <p:sp>
        <p:nvSpPr>
          <p:cNvPr id="27" name="圆角矩形 26"/>
          <p:cNvSpPr/>
          <p:nvPr/>
        </p:nvSpPr>
        <p:spPr bwMode="auto">
          <a:xfrm>
            <a:off x="2971800" y="2420938"/>
            <a:ext cx="5780314" cy="367188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精英解集</a:t>
            </a:r>
            <a:endParaRPr lang="en-US" altLang="zh-CN" sz="2000" dirty="0" smtClean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endParaRPr lang="en-US" altLang="zh-CN" sz="20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局部搜索公式</a:t>
            </a:r>
            <a:endParaRPr lang="en-US" altLang="zh-CN" sz="2000" dirty="0" smtClean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endParaRPr lang="en-US" altLang="zh-CN" sz="20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zh-CN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利用当前的精英食物源来指导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蜂群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进行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局部</a:t>
            </a:r>
            <a:r>
              <a:rPr lang="zh-CN" altLang="zh-CN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搜索，</a:t>
            </a: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以</a:t>
            </a:r>
            <a:r>
              <a:rPr lang="zh-CN" altLang="zh-CN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保证每次解都往更好的方向进化</a:t>
            </a: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，</a:t>
            </a:r>
            <a:r>
              <a:rPr lang="zh-CN" altLang="zh-CN" sz="2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可在保证时间效率的基础上有效提高解的质量</a:t>
            </a:r>
            <a:endParaRPr lang="en-US" altLang="zh-CN" sz="2000" dirty="0">
              <a:solidFill>
                <a:srgbClr val="FF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355190"/>
              </p:ext>
            </p:extLst>
          </p:nvPr>
        </p:nvGraphicFramePr>
        <p:xfrm>
          <a:off x="4103918" y="3004457"/>
          <a:ext cx="2926090" cy="304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7" name="Equation" r:id="rId3" imgW="1828800" imgH="203200" progId="Equation.DSMT4">
                  <p:embed/>
                </p:oleObj>
              </mc:Choice>
              <mc:Fallback>
                <p:oleObj name="Equation" r:id="rId3" imgW="1828800" imgH="20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918" y="3004457"/>
                        <a:ext cx="2926090" cy="304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046776"/>
              </p:ext>
            </p:extLst>
          </p:nvPr>
        </p:nvGraphicFramePr>
        <p:xfrm>
          <a:off x="3733790" y="3875314"/>
          <a:ext cx="4667993" cy="41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8" name="Equation" r:id="rId5" imgW="2794000" imgH="254000" progId="Equation.DSMT4">
                  <p:embed/>
                </p:oleObj>
              </mc:Choice>
              <mc:Fallback>
                <p:oleObj name="Equation" r:id="rId5" imgW="27940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790" y="3875314"/>
                        <a:ext cx="4667993" cy="41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814416"/>
              </p:ext>
            </p:extLst>
          </p:nvPr>
        </p:nvGraphicFramePr>
        <p:xfrm>
          <a:off x="141288" y="1916113"/>
          <a:ext cx="2566987" cy="444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9" name="Visio" r:id="rId7" imgW="2155487" imgH="3724994" progId="Visio.Drawing.11">
                  <p:embed/>
                </p:oleObj>
              </mc:Choice>
              <mc:Fallback>
                <p:oleObj name="Visio" r:id="rId7" imgW="2155487" imgH="3724994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1916113"/>
                        <a:ext cx="2566987" cy="444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283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基于</a:t>
            </a:r>
            <a:r>
              <a:rPr lang="zh-CN" altLang="en-US" dirty="0"/>
              <a:t>成本效益优化的多目标服务组合</a:t>
            </a:r>
            <a:r>
              <a:rPr lang="zh-CN" altLang="en-US" dirty="0" smtClean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274320" lvl="1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评价指标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548957" lvl="2" indent="-27432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 3"/>
              <a:buChar char=""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548958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altLang="zh-C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B35436-FD00-4AFA-8903-130A71996208}" type="slidenum">
              <a:rPr lang="zh-CN" altLang="en-US"/>
              <a:pPr>
                <a:defRPr/>
              </a:pPr>
              <a:t>38</a:t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04" y="3592399"/>
            <a:ext cx="3512684" cy="2939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圆角矩形 21"/>
          <p:cNvSpPr/>
          <p:nvPr/>
        </p:nvSpPr>
        <p:spPr bwMode="auto">
          <a:xfrm>
            <a:off x="457198" y="1756911"/>
            <a:ext cx="2133591" cy="1650416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世代距离</a:t>
            </a: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GD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zh-CN" altLang="zh-CN" sz="1600" dirty="0">
                <a:latin typeface="Times New Roman" pitchFamily="18" charset="0"/>
                <a:ea typeface="+mn-ea"/>
                <a:cs typeface="Times New Roman" pitchFamily="18" charset="0"/>
              </a:rPr>
              <a:t>求得的解离真实点</a:t>
            </a:r>
            <a:r>
              <a:rPr lang="zh-CN" altLang="en-US" sz="1600" dirty="0">
                <a:latin typeface="Times New Roman" pitchFamily="18" charset="0"/>
                <a:ea typeface="+mn-ea"/>
                <a:cs typeface="Times New Roman" pitchFamily="18" charset="0"/>
              </a:rPr>
              <a:t>的距离</a:t>
            </a:r>
            <a:endParaRPr lang="en-US" altLang="zh-CN" sz="16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698045"/>
              </p:ext>
            </p:extLst>
          </p:nvPr>
        </p:nvGraphicFramePr>
        <p:xfrm>
          <a:off x="968830" y="2721159"/>
          <a:ext cx="1209976" cy="598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51" name="Equation" r:id="rId4" imgW="939800" imgH="457200" progId="Equation.DSMT4">
                  <p:embed/>
                </p:oleObj>
              </mc:Choice>
              <mc:Fallback>
                <p:oleObj name="Equation" r:id="rId4" imgW="9398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830" y="2721159"/>
                        <a:ext cx="1209976" cy="5989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圆角矩形 27"/>
          <p:cNvSpPr/>
          <p:nvPr/>
        </p:nvSpPr>
        <p:spPr bwMode="auto">
          <a:xfrm>
            <a:off x="2590790" y="1750334"/>
            <a:ext cx="2122714" cy="165632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差错率</a:t>
            </a: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ER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zh-CN" altLang="zh-CN" sz="1600" dirty="0">
                <a:latin typeface="+mn-ea"/>
                <a:ea typeface="+mn-ea"/>
                <a:cs typeface="Times New Roman" pitchFamily="18" charset="0"/>
              </a:rPr>
              <a:t>求得的</a:t>
            </a:r>
            <a:r>
              <a:rPr lang="zh-CN" altLang="zh-CN" sz="1600" dirty="0" smtClean="0">
                <a:latin typeface="+mn-ea"/>
                <a:ea typeface="+mn-ea"/>
                <a:cs typeface="Times New Roman" pitchFamily="18" charset="0"/>
              </a:rPr>
              <a:t>解</a:t>
            </a:r>
            <a:r>
              <a:rPr lang="zh-CN" altLang="en-US" sz="1600" dirty="0" smtClean="0">
                <a:latin typeface="+mn-ea"/>
                <a:ea typeface="+mn-ea"/>
                <a:cs typeface="Times New Roman" pitchFamily="18" charset="0"/>
              </a:rPr>
              <a:t>在</a:t>
            </a:r>
            <a:r>
              <a:rPr lang="zh-CN" altLang="zh-CN" sz="1600" dirty="0" smtClean="0">
                <a:latin typeface="+mn-ea"/>
                <a:ea typeface="+mn-ea"/>
                <a:cs typeface="Times New Roman" pitchFamily="18" charset="0"/>
              </a:rPr>
              <a:t>真实点</a:t>
            </a:r>
            <a:r>
              <a:rPr lang="zh-CN" altLang="en-US" sz="1600" dirty="0" smtClean="0">
                <a:latin typeface="+mn-ea"/>
                <a:ea typeface="+mn-ea"/>
                <a:cs typeface="Times New Roman" pitchFamily="18" charset="0"/>
              </a:rPr>
              <a:t>集中的比率</a:t>
            </a:r>
            <a:endParaRPr lang="en-US" altLang="zh-CN" sz="1600" dirty="0">
              <a:latin typeface="+mn-ea"/>
              <a:ea typeface="+mn-ea"/>
              <a:cs typeface="Times New Roman" pitchFamily="18" charset="0"/>
            </a:endParaRPr>
          </a:p>
          <a:p>
            <a:pPr eaLnBrk="0" hangingPunct="0">
              <a:lnSpc>
                <a:spcPct val="150000"/>
              </a:lnSpc>
              <a:defRPr/>
            </a:pPr>
            <a:endParaRPr lang="en-US" altLang="zh-CN" sz="2000" i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959073"/>
              </p:ext>
            </p:extLst>
          </p:nvPr>
        </p:nvGraphicFramePr>
        <p:xfrm>
          <a:off x="3355509" y="2782494"/>
          <a:ext cx="1129394" cy="57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52" name="Equation" r:id="rId6" imgW="787400" imgH="419100" progId="Equation.DSMT4">
                  <p:embed/>
                </p:oleObj>
              </mc:Choice>
              <mc:Fallback>
                <p:oleObj name="Equation" r:id="rId6" imgW="7874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509" y="2782494"/>
                        <a:ext cx="1129394" cy="5784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圆角矩形 29"/>
          <p:cNvSpPr/>
          <p:nvPr/>
        </p:nvSpPr>
        <p:spPr bwMode="auto">
          <a:xfrm>
            <a:off x="4713504" y="1750902"/>
            <a:ext cx="2209810" cy="165632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>
                <a:latin typeface="Times New Roman" pitchFamily="18" charset="0"/>
                <a:ea typeface="+mn-ea"/>
                <a:cs typeface="Times New Roman" pitchFamily="18" charset="0"/>
              </a:rPr>
              <a:t>扩展</a:t>
            </a: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范围</a:t>
            </a: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SPR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zh-CN" altLang="en-US" sz="1600" dirty="0">
                <a:latin typeface="+mn-ea"/>
                <a:ea typeface="+mn-ea"/>
                <a:cs typeface="Times New Roman" pitchFamily="18" charset="0"/>
              </a:rPr>
              <a:t>解的扩展</a:t>
            </a:r>
            <a:r>
              <a:rPr lang="zh-CN" altLang="en-US" sz="1600" dirty="0" smtClean="0">
                <a:latin typeface="+mn-ea"/>
                <a:ea typeface="+mn-ea"/>
                <a:cs typeface="Times New Roman" pitchFamily="18" charset="0"/>
              </a:rPr>
              <a:t>程度</a:t>
            </a:r>
            <a:endParaRPr lang="en-US" altLang="zh-CN" sz="2000" i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378584"/>
              </p:ext>
            </p:extLst>
          </p:nvPr>
        </p:nvGraphicFramePr>
        <p:xfrm>
          <a:off x="4702206" y="2634336"/>
          <a:ext cx="219815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53" name="Equation" r:id="rId8" imgW="1905000" imgH="520700" progId="Equation.DSMT4">
                  <p:embed/>
                </p:oleObj>
              </mc:Choice>
              <mc:Fallback>
                <p:oleObj name="Equation" r:id="rId8" imgW="1905000" imgH="520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206" y="2634336"/>
                        <a:ext cx="2198158" cy="590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圆角矩形 32"/>
          <p:cNvSpPr/>
          <p:nvPr/>
        </p:nvSpPr>
        <p:spPr bwMode="auto">
          <a:xfrm>
            <a:off x="6923314" y="1751470"/>
            <a:ext cx="1717766" cy="1656327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anchor="t"/>
          <a:lstStyle/>
          <a:p>
            <a:pPr marL="342900" indent="-342900" eaLnBrk="0" hangingPunct="0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运行时间</a:t>
            </a:r>
            <a:r>
              <a:rPr lang="en-US" altLang="zh-CN" sz="2000" i="1" dirty="0" smtClean="0">
                <a:latin typeface="Times New Roman" pitchFamily="18" charset="0"/>
                <a:ea typeface="+mn-ea"/>
                <a:cs typeface="Times New Roman" pitchFamily="18" charset="0"/>
              </a:rPr>
              <a:t>TI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zh-CN" altLang="en-US" sz="1600" dirty="0" smtClean="0">
                <a:latin typeface="+mn-ea"/>
                <a:ea typeface="+mn-ea"/>
                <a:cs typeface="Times New Roman" pitchFamily="18" charset="0"/>
              </a:rPr>
              <a:t>算法</a:t>
            </a:r>
            <a:r>
              <a:rPr lang="zh-CN" altLang="en-US" sz="1600" dirty="0">
                <a:latin typeface="+mn-ea"/>
                <a:ea typeface="+mn-ea"/>
                <a:cs typeface="Times New Roman" pitchFamily="18" charset="0"/>
              </a:rPr>
              <a:t>运行的时间</a:t>
            </a:r>
            <a:endParaRPr lang="en-US" altLang="zh-CN" sz="2000" i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96270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986" y="3512493"/>
            <a:ext cx="356235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05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基于成本效益优化的多目标服务组合方法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测试函数验证</a:t>
            </a:r>
            <a:endParaRPr lang="en-US" altLang="zh-CN" dirty="0" smtClean="0"/>
          </a:p>
          <a:p>
            <a:pPr marL="593725" lvl="2" indent="0">
              <a:buNone/>
            </a:pPr>
            <a:r>
              <a:rPr lang="en-US" altLang="zh-CN" sz="1600" dirty="0" smtClean="0">
                <a:solidFill>
                  <a:srgbClr val="002060"/>
                </a:solidFill>
              </a:rPr>
              <a:t>ZDT</a:t>
            </a:r>
            <a:r>
              <a:rPr lang="zh-CN" altLang="en-US" sz="1600" dirty="0" smtClean="0">
                <a:solidFill>
                  <a:srgbClr val="002060"/>
                </a:solidFill>
              </a:rPr>
              <a:t>二维                   </a:t>
            </a:r>
            <a:r>
              <a:rPr lang="en-US" altLang="zh-CN" sz="1600" dirty="0" smtClean="0">
                <a:solidFill>
                  <a:srgbClr val="002060"/>
                </a:solidFill>
              </a:rPr>
              <a:t>DTLZ</a:t>
            </a:r>
            <a:r>
              <a:rPr lang="zh-CN" altLang="en-US" sz="1600" dirty="0" smtClean="0">
                <a:solidFill>
                  <a:srgbClr val="002060"/>
                </a:solidFill>
              </a:rPr>
              <a:t>三维</a:t>
            </a:r>
            <a:endParaRPr lang="en-US" altLang="zh-CN" sz="1600" dirty="0" smtClean="0">
              <a:solidFill>
                <a:srgbClr val="00206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CA1C44-227B-4B49-A909-DD2643F98D1B}" type="slidenum">
              <a:rPr lang="zh-CN" altLang="en-US" smtClean="0"/>
              <a:pPr>
                <a:defRPr/>
              </a:pPr>
              <a:t>39</a:t>
            </a:fld>
            <a:endParaRPr lang="zh-CN" altLang="en-US" dirty="0"/>
          </a:p>
        </p:txBody>
      </p:sp>
      <p:pic>
        <p:nvPicPr>
          <p:cNvPr id="97281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1261" y="2471293"/>
            <a:ext cx="5429250" cy="439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060" y="1064088"/>
            <a:ext cx="5429250" cy="598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939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20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090" y="987897"/>
            <a:ext cx="5010150" cy="605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基于成本效益优化的多目标服务组合方法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测试函数验证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CA1C44-227B-4B49-A909-DD2643F98D1B}" type="slidenum">
              <a:rPr lang="zh-CN" altLang="en-US" smtClean="0"/>
              <a:pPr>
                <a:defRPr/>
              </a:pPr>
              <a:t>40</a:t>
            </a:fld>
            <a:endParaRPr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832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175" y="1719943"/>
            <a:ext cx="6084434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8322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088" y="1905000"/>
            <a:ext cx="5553824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336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8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8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基于成本效益优化的多目标服务组合方法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altLang="zh-CN" dirty="0"/>
              <a:t>QWS</a:t>
            </a:r>
            <a:r>
              <a:rPr lang="zh-CN" altLang="en-US" dirty="0"/>
              <a:t>服务数据集验证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8AF2B9-BF6E-429B-9D29-C37C883F6C00}" type="slidenum">
              <a:rPr lang="zh-CN" altLang="en-US"/>
              <a:pPr>
                <a:defRPr/>
              </a:pPr>
              <a:t>41</a:t>
            </a:fld>
            <a:endParaRPr lang="zh-CN" altLang="en-US"/>
          </a:p>
        </p:txBody>
      </p:sp>
      <p:pic>
        <p:nvPicPr>
          <p:cNvPr id="99329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3315" y="2209801"/>
            <a:ext cx="5891275" cy="432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0" y="2209801"/>
            <a:ext cx="5891275" cy="432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1386800" y="1752983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m=5, n=50</a:t>
            </a:r>
            <a:r>
              <a:rPr lang="zh-CN" altLang="en-US" dirty="0"/>
              <a:t>实验结果</a:t>
            </a:r>
          </a:p>
        </p:txBody>
      </p:sp>
      <p:sp>
        <p:nvSpPr>
          <p:cNvPr id="13" name="矩形 12"/>
          <p:cNvSpPr/>
          <p:nvPr/>
        </p:nvSpPr>
        <p:spPr>
          <a:xfrm>
            <a:off x="5632229" y="175298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m=50, </a:t>
            </a:r>
            <a:r>
              <a:rPr lang="en-US" altLang="zh-CN" dirty="0"/>
              <a:t>n=50</a:t>
            </a:r>
            <a:r>
              <a:rPr lang="zh-CN" altLang="en-US" dirty="0"/>
              <a:t>实验结果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基于成本效益优化的多目标服务组合方法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en-US" dirty="0" smtClean="0"/>
              <a:t>随机数据</a:t>
            </a:r>
            <a:r>
              <a:rPr lang="zh-CN" altLang="en-US" dirty="0"/>
              <a:t>集验证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8AF2B9-BF6E-429B-9D29-C37C883F6C00}" type="slidenum">
              <a:rPr lang="zh-CN" altLang="en-US"/>
              <a:pPr>
                <a:defRPr/>
              </a:pPr>
              <a:t>42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386800" y="175298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m=100, n=500</a:t>
            </a:r>
            <a:r>
              <a:rPr lang="zh-CN" altLang="en-US" dirty="0"/>
              <a:t>实验结果</a:t>
            </a:r>
          </a:p>
        </p:txBody>
      </p:sp>
      <p:sp>
        <p:nvSpPr>
          <p:cNvPr id="13" name="矩形 12"/>
          <p:cNvSpPr/>
          <p:nvPr/>
        </p:nvSpPr>
        <p:spPr>
          <a:xfrm>
            <a:off x="5632229" y="175298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m=500, n=500</a:t>
            </a:r>
            <a:r>
              <a:rPr lang="zh-CN" altLang="en-US" dirty="0" smtClean="0"/>
              <a:t>实验</a:t>
            </a:r>
            <a:r>
              <a:rPr lang="zh-CN" altLang="en-US" dirty="0"/>
              <a:t>结果</a:t>
            </a: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0313" y="2225674"/>
            <a:ext cx="5891417" cy="432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85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590" y="2225674"/>
            <a:ext cx="5886722" cy="432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99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基于成本效益优化的多目标服务组合方法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en-US" dirty="0" smtClean="0"/>
              <a:t>解的二维分布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96A6FF-A6F6-4E73-9FC2-2DEF316DBC23}" type="slidenum">
              <a:rPr lang="zh-CN" altLang="en-US"/>
              <a:pPr>
                <a:defRPr/>
              </a:pPr>
              <a:t>43</a:t>
            </a:fld>
            <a:endParaRPr lang="zh-CN" altLang="en-US"/>
          </a:p>
        </p:txBody>
      </p:sp>
      <p:pic>
        <p:nvPicPr>
          <p:cNvPr id="368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44675"/>
            <a:ext cx="854075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zh-CN" altLang="en-US" smtClean="0"/>
              <a:t>研究内容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zh-CN" altLang="en-US" smtClean="0"/>
              <a:t>论文研究思路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127BF2-69CE-4AC7-ADD7-1F16AE8F5BFE}" type="slidenum">
              <a:rPr lang="zh-CN" altLang="en-US"/>
              <a:pPr>
                <a:defRPr/>
              </a:pPr>
              <a:t>44</a:t>
            </a:fld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615561"/>
              </p:ext>
            </p:extLst>
          </p:nvPr>
        </p:nvGraphicFramePr>
        <p:xfrm>
          <a:off x="438150" y="2111375"/>
          <a:ext cx="8347075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1" name="Visio" r:id="rId3" imgW="5570977" imgH="2194883" progId="Visio.Drawing.11">
                  <p:embed/>
                </p:oleObj>
              </mc:Choice>
              <mc:Fallback>
                <p:oleObj name="Visio" r:id="rId3" imgW="5570977" imgH="2194883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2111375"/>
                        <a:ext cx="8347075" cy="352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348036" y="5031702"/>
            <a:ext cx="5328419" cy="576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 w="28575"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9357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mtClean="0"/>
              <a:t>基于</a:t>
            </a:r>
            <a:r>
              <a:rPr lang="en-US" altLang="zh-CN" smtClean="0"/>
              <a:t>Skyline</a:t>
            </a:r>
            <a:r>
              <a:rPr lang="zh-CN" altLang="zh-CN" smtClean="0"/>
              <a:t>计算的非线性服务组合方法</a:t>
            </a:r>
            <a:endParaRPr lang="zh-CN" altLang="en-US" smtClean="0"/>
          </a:p>
        </p:txBody>
      </p:sp>
      <p:sp>
        <p:nvSpPr>
          <p:cNvPr id="4608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altLang="zh-CN" dirty="0" smtClean="0"/>
              <a:t>Skyline</a:t>
            </a:r>
            <a:r>
              <a:rPr lang="zh-CN" altLang="en-US" dirty="0" smtClean="0"/>
              <a:t>服务</a:t>
            </a:r>
            <a:endParaRPr lang="en-US" altLang="zh-CN" dirty="0" smtClean="0"/>
          </a:p>
          <a:p>
            <a:pPr lvl="1"/>
            <a:r>
              <a:rPr lang="zh-CN" altLang="zh-CN" dirty="0"/>
              <a:t>引入</a:t>
            </a:r>
            <a:r>
              <a:rPr lang="en-US" altLang="zh-CN" dirty="0"/>
              <a:t>skyline</a:t>
            </a:r>
            <a:r>
              <a:rPr lang="zh-CN" altLang="zh-CN" dirty="0"/>
              <a:t>技术计算筛选掉每个服务群中被其他候选服务支配的服务，</a:t>
            </a:r>
            <a:r>
              <a:rPr lang="zh-CN" altLang="zh-CN" dirty="0" smtClean="0"/>
              <a:t>可以缩小</a:t>
            </a:r>
            <a:r>
              <a:rPr lang="zh-CN" altLang="zh-CN" dirty="0"/>
              <a:t>搜索空间，有效降低服务</a:t>
            </a:r>
            <a:r>
              <a:rPr lang="zh-CN" altLang="zh-CN" dirty="0" smtClean="0"/>
              <a:t>选择时间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BA49ED-7B9A-452A-AEBF-578518D726D3}" type="slidenum">
              <a:rPr lang="zh-CN" altLang="en-US"/>
              <a:pPr>
                <a:defRPr/>
              </a:pPr>
              <a:t>45</a:t>
            </a:fld>
            <a:endParaRPr lang="zh-CN" altLang="en-US"/>
          </a:p>
        </p:txBody>
      </p:sp>
      <p:sp>
        <p:nvSpPr>
          <p:cNvPr id="460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040528"/>
              </p:ext>
            </p:extLst>
          </p:nvPr>
        </p:nvGraphicFramePr>
        <p:xfrm>
          <a:off x="4996243" y="3200405"/>
          <a:ext cx="3804858" cy="3389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8" name="Visio" r:id="rId3" imgW="4012930" imgH="3576727" progId="Visio.Drawing.11">
                  <p:embed/>
                </p:oleObj>
              </mc:Choice>
              <mc:Fallback>
                <p:oleObj name="Visio" r:id="rId3" imgW="4012930" imgH="3576727" progId="Visio.Drawing.11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6243" y="3200405"/>
                        <a:ext cx="3804858" cy="33895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mtClean="0"/>
              <a:t>基于</a:t>
            </a:r>
            <a:r>
              <a:rPr lang="en-US" altLang="zh-CN" smtClean="0"/>
              <a:t>Skyline</a:t>
            </a:r>
            <a:r>
              <a:rPr lang="zh-CN" altLang="zh-CN" smtClean="0"/>
              <a:t>计算的非线性服务组合方法</a:t>
            </a:r>
            <a:endParaRPr lang="zh-CN" altLang="en-US" smtClean="0"/>
          </a:p>
        </p:txBody>
      </p:sp>
      <p:sp>
        <p:nvSpPr>
          <p:cNvPr id="4608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altLang="zh-CN" dirty="0" smtClean="0"/>
              <a:t>Skyline</a:t>
            </a:r>
            <a:r>
              <a:rPr lang="zh-CN" altLang="en-US" dirty="0" smtClean="0"/>
              <a:t>服务计算方法</a:t>
            </a:r>
            <a:endParaRPr lang="en-US" altLang="zh-CN" dirty="0" smtClean="0"/>
          </a:p>
          <a:p>
            <a:pPr lvl="1"/>
            <a:r>
              <a:rPr lang="en-US" altLang="zh-CN" dirty="0"/>
              <a:t>Non-dominate</a:t>
            </a:r>
            <a:r>
              <a:rPr lang="zh-CN" altLang="zh-CN" dirty="0" smtClean="0"/>
              <a:t>算法</a:t>
            </a:r>
            <a:endParaRPr lang="en-US" altLang="zh-CN" dirty="0" smtClean="0"/>
          </a:p>
          <a:p>
            <a:pPr marL="593725" lvl="2" indent="0">
              <a:buNone/>
            </a:pPr>
            <a:endParaRPr lang="en-US" altLang="zh-CN" dirty="0" smtClean="0"/>
          </a:p>
          <a:p>
            <a:pPr marL="593725" lvl="2" indent="0">
              <a:buNone/>
            </a:pPr>
            <a:endParaRPr lang="en-US" altLang="zh-CN" dirty="0"/>
          </a:p>
          <a:p>
            <a:pPr marL="593725" lvl="2" indent="0">
              <a:buNone/>
            </a:pPr>
            <a:r>
              <a:rPr lang="zh-CN" altLang="en-US" dirty="0" smtClean="0"/>
              <a:t>算法复杂度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BA49ED-7B9A-452A-AEBF-578518D726D3}" type="slidenum">
              <a:rPr lang="zh-CN" altLang="en-US"/>
              <a:pPr>
                <a:defRPr/>
              </a:pPr>
              <a:t>46</a:t>
            </a:fld>
            <a:endParaRPr lang="zh-CN" altLang="en-US"/>
          </a:p>
        </p:txBody>
      </p:sp>
      <p:sp>
        <p:nvSpPr>
          <p:cNvPr id="460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552" y="1822675"/>
            <a:ext cx="5019675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065328"/>
              </p:ext>
            </p:extLst>
          </p:nvPr>
        </p:nvGraphicFramePr>
        <p:xfrm>
          <a:off x="784586" y="3951512"/>
          <a:ext cx="315468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33" name="Equation" r:id="rId4" imgW="1968500" imgH="215900" progId="Equation.DSMT4">
                  <p:embed/>
                </p:oleObj>
              </mc:Choice>
              <mc:Fallback>
                <p:oleObj name="Equation" r:id="rId4" imgW="1968500" imgH="215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586" y="3951512"/>
                        <a:ext cx="3154680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513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mtClean="0"/>
              <a:t>基于</a:t>
            </a:r>
            <a:r>
              <a:rPr lang="en-US" altLang="zh-CN" smtClean="0"/>
              <a:t>Skyline</a:t>
            </a:r>
            <a:r>
              <a:rPr lang="zh-CN" altLang="zh-CN" smtClean="0"/>
              <a:t>计算的非线性服务组合方法</a:t>
            </a:r>
            <a:endParaRPr lang="zh-CN" altLang="en-US" smtClean="0"/>
          </a:p>
        </p:txBody>
      </p:sp>
      <p:sp>
        <p:nvSpPr>
          <p:cNvPr id="4608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lvl="1"/>
            <a:r>
              <a:rPr lang="en-US" altLang="zh-CN" dirty="0" smtClean="0"/>
              <a:t>BBS</a:t>
            </a:r>
            <a:r>
              <a:rPr lang="zh-CN" altLang="zh-CN" dirty="0" smtClean="0"/>
              <a:t>算法</a:t>
            </a:r>
            <a:endParaRPr lang="en-US" altLang="zh-CN" dirty="0" smtClean="0"/>
          </a:p>
          <a:p>
            <a:pPr marL="593725" lvl="2" indent="0">
              <a:buNone/>
            </a:pPr>
            <a:endParaRPr lang="en-US" altLang="zh-CN" dirty="0" smtClean="0"/>
          </a:p>
          <a:p>
            <a:pPr marL="593725" lvl="2" indent="0">
              <a:buNone/>
            </a:pPr>
            <a:endParaRPr lang="en-US" altLang="zh-CN" dirty="0"/>
          </a:p>
          <a:p>
            <a:pPr lvl="1"/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BA49ED-7B9A-452A-AEBF-578518D726D3}" type="slidenum">
              <a:rPr lang="zh-CN" altLang="en-US"/>
              <a:pPr>
                <a:defRPr/>
              </a:pPr>
              <a:t>47</a:t>
            </a:fld>
            <a:endParaRPr lang="zh-CN" altLang="en-US"/>
          </a:p>
        </p:txBody>
      </p:sp>
      <p:sp>
        <p:nvSpPr>
          <p:cNvPr id="4608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511993"/>
              </p:ext>
            </p:extLst>
          </p:nvPr>
        </p:nvGraphicFramePr>
        <p:xfrm>
          <a:off x="3483537" y="1329423"/>
          <a:ext cx="5585445" cy="245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4" name="Visio" r:id="rId3" imgW="7815364" imgH="3388025" progId="Visio.Drawing.11">
                  <p:embed/>
                </p:oleObj>
              </mc:Choice>
              <mc:Fallback>
                <p:oleObj name="Visio" r:id="rId3" imgW="7815364" imgH="338802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537" y="1329423"/>
                        <a:ext cx="5585445" cy="24588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48" name="Picture 4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476" y="3937903"/>
            <a:ext cx="6873897" cy="311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1399" name="对象 1013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689475"/>
              </p:ext>
            </p:extLst>
          </p:nvPr>
        </p:nvGraphicFramePr>
        <p:xfrm>
          <a:off x="457427" y="1763485"/>
          <a:ext cx="2803068" cy="2496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5" name="Visio" r:id="rId6" imgW="4012930" imgH="3576727" progId="Visio.Drawing.11">
                  <p:embed/>
                </p:oleObj>
              </mc:Choice>
              <mc:Fallback>
                <p:oleObj name="Visio" r:id="rId6" imgW="4012930" imgH="3576727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427" y="1763485"/>
                        <a:ext cx="2803068" cy="2496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032500" y="6362700"/>
            <a:ext cx="1714500" cy="36830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53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1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mtClean="0"/>
              <a:t>基于</a:t>
            </a:r>
            <a:r>
              <a:rPr lang="en-US" altLang="zh-CN" smtClean="0"/>
              <a:t>Skyline</a:t>
            </a:r>
            <a:r>
              <a:rPr lang="zh-CN" altLang="zh-CN" smtClean="0"/>
              <a:t>计算的非线性服务组合方法</a:t>
            </a:r>
            <a:endParaRPr lang="zh-CN" altLang="en-US" smtClean="0"/>
          </a:p>
        </p:txBody>
      </p:sp>
      <p:sp>
        <p:nvSpPr>
          <p:cNvPr id="45059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zh-CN" dirty="0"/>
              <a:t>服务组合的</a:t>
            </a:r>
            <a:r>
              <a:rPr lang="en-US" altLang="zh-CN" dirty="0"/>
              <a:t>0-1</a:t>
            </a:r>
            <a:r>
              <a:rPr lang="zh-CN" altLang="zh-CN" dirty="0"/>
              <a:t>非线性规划</a:t>
            </a:r>
            <a:r>
              <a:rPr lang="zh-CN" altLang="zh-CN" dirty="0" smtClean="0"/>
              <a:t>建模</a:t>
            </a:r>
            <a:endParaRPr lang="en-US" altLang="zh-CN" dirty="0" smtClean="0"/>
          </a:p>
          <a:p>
            <a:pPr marL="274638" lvl="1" indent="0">
              <a:buNone/>
            </a:pPr>
            <a:r>
              <a:rPr lang="en-US" altLang="zh-CN" dirty="0" smtClean="0"/>
              <a:t>AMPL</a:t>
            </a:r>
            <a:r>
              <a:rPr lang="zh-CN" altLang="en-US" dirty="0" smtClean="0"/>
              <a:t>建模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DA8824-26A7-48EF-ABC6-F7457D187F8F}" type="slidenum">
              <a:rPr lang="zh-CN" altLang="en-US"/>
              <a:pPr>
                <a:defRPr/>
              </a:pPr>
              <a:t>48</a:t>
            </a:fld>
            <a:endParaRPr lang="zh-CN" altLang="en-US"/>
          </a:p>
        </p:txBody>
      </p:sp>
      <p:pic>
        <p:nvPicPr>
          <p:cNvPr id="450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49" y="2032000"/>
            <a:ext cx="6283821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mtClean="0"/>
              <a:t>基于</a:t>
            </a:r>
            <a:r>
              <a:rPr lang="en-US" altLang="zh-CN" smtClean="0"/>
              <a:t>Skyline</a:t>
            </a:r>
            <a:r>
              <a:rPr lang="zh-CN" altLang="zh-CN" smtClean="0"/>
              <a:t>计算的非线性服务组合方法</a:t>
            </a:r>
            <a:endParaRPr lang="zh-CN" altLang="en-US" smtClean="0"/>
          </a:p>
        </p:txBody>
      </p:sp>
      <p:sp>
        <p:nvSpPr>
          <p:cNvPr id="45059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zh-CN" dirty="0"/>
              <a:t>服务组合的</a:t>
            </a:r>
            <a:r>
              <a:rPr lang="en-US" altLang="zh-CN" dirty="0"/>
              <a:t>0-1</a:t>
            </a:r>
            <a:r>
              <a:rPr lang="zh-CN" altLang="zh-CN" dirty="0"/>
              <a:t>非线性规划</a:t>
            </a:r>
            <a:r>
              <a:rPr lang="zh-CN" altLang="zh-CN" dirty="0" smtClean="0"/>
              <a:t>建模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整数规划</a:t>
            </a:r>
            <a:r>
              <a:rPr lang="zh-CN" altLang="zh-CN" dirty="0"/>
              <a:t>求解器</a:t>
            </a:r>
            <a:r>
              <a:rPr lang="en-US" altLang="zh-CN" dirty="0" err="1" smtClean="0"/>
              <a:t>Bonmin</a:t>
            </a:r>
            <a:endParaRPr lang="en-US" altLang="zh-CN" dirty="0" smtClean="0"/>
          </a:p>
          <a:p>
            <a:pPr lvl="2"/>
            <a:r>
              <a:rPr lang="zh-CN" altLang="zh-CN" dirty="0"/>
              <a:t>可求解</a:t>
            </a:r>
            <a:r>
              <a:rPr lang="zh-CN" altLang="zh-CN" dirty="0" smtClean="0"/>
              <a:t>混合整数非线性规划问题</a:t>
            </a:r>
            <a:endParaRPr lang="en-US" altLang="zh-CN" dirty="0" smtClean="0"/>
          </a:p>
          <a:p>
            <a:pPr lvl="2"/>
            <a:r>
              <a:rPr lang="zh-CN" altLang="zh-CN" dirty="0"/>
              <a:t>包含多种</a:t>
            </a:r>
            <a:r>
              <a:rPr lang="zh-CN" altLang="zh-CN" dirty="0" smtClean="0"/>
              <a:t>算法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B-BB</a:t>
            </a:r>
            <a:r>
              <a:rPr lang="zh-CN" altLang="zh-CN" dirty="0"/>
              <a:t>（</a:t>
            </a:r>
            <a:r>
              <a:rPr lang="en-US" altLang="zh-CN" dirty="0"/>
              <a:t>Branch-and-Bound algorithm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B-OA</a:t>
            </a:r>
            <a:r>
              <a:rPr lang="zh-CN" altLang="zh-CN" dirty="0"/>
              <a:t>（</a:t>
            </a:r>
            <a:r>
              <a:rPr lang="en-US" altLang="zh-CN" dirty="0"/>
              <a:t>Outer-Approximation Decomposition algorithm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B-QG</a:t>
            </a:r>
            <a:r>
              <a:rPr lang="zh-CN" altLang="zh-CN" dirty="0"/>
              <a:t>（</a:t>
            </a:r>
            <a:r>
              <a:rPr lang="en-US" altLang="zh-CN" dirty="0"/>
              <a:t>Quesada and Grossmann's Branch-and-cut algorithm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B-</a:t>
            </a:r>
            <a:r>
              <a:rPr lang="en-US" altLang="zh-CN" dirty="0" err="1" smtClean="0"/>
              <a:t>Hyb</a:t>
            </a:r>
            <a:r>
              <a:rPr lang="zh-CN" altLang="zh-CN" dirty="0"/>
              <a:t>（</a:t>
            </a:r>
            <a:r>
              <a:rPr lang="en-US" altLang="zh-CN" dirty="0"/>
              <a:t>Hybrid outer-approximation based Branch-and-cut algorithm</a:t>
            </a:r>
            <a:r>
              <a:rPr lang="zh-CN" altLang="zh-CN" dirty="0"/>
              <a:t>）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DA8824-26A7-48EF-ABC6-F7457D187F8F}" type="slidenum">
              <a:rPr lang="zh-CN" altLang="en-US"/>
              <a:pPr>
                <a:defRPr/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08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mtClean="0"/>
              <a:t>基于</a:t>
            </a:r>
            <a:r>
              <a:rPr lang="en-US" altLang="zh-CN" smtClean="0"/>
              <a:t>Skyline</a:t>
            </a:r>
            <a:r>
              <a:rPr lang="zh-CN" altLang="zh-CN" smtClean="0"/>
              <a:t>计算的非线性服务组合方法</a:t>
            </a:r>
            <a:endParaRPr lang="zh-CN" altLang="en-US" smtClean="0"/>
          </a:p>
        </p:txBody>
      </p:sp>
      <p:sp>
        <p:nvSpPr>
          <p:cNvPr id="45059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en-US" dirty="0" smtClean="0"/>
              <a:t>模型求解效果对比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DA8824-26A7-48EF-ABC6-F7457D187F8F}" type="slidenum">
              <a:rPr lang="zh-CN" altLang="en-US"/>
              <a:pPr>
                <a:defRPr/>
              </a:pPr>
              <a:t>50</a:t>
            </a:fld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4" y="2616199"/>
            <a:ext cx="4005279" cy="279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1068387" y="5449888"/>
            <a:ext cx="272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dirty="0" smtClean="0">
                <a:solidFill>
                  <a:srgbClr val="7030A0"/>
                </a:solidFill>
              </a:rPr>
              <a:t>求解组合服务的质量对比</a:t>
            </a:r>
            <a:endParaRPr lang="zh-CN" altLang="en-US" dirty="0">
              <a:solidFill>
                <a:srgbClr val="7030A0"/>
              </a:solidFill>
            </a:endParaRP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87" r="47967" b="4487"/>
          <a:stretch/>
        </p:blipFill>
        <p:spPr bwMode="auto">
          <a:xfrm>
            <a:off x="4686299" y="1857752"/>
            <a:ext cx="4216401" cy="4115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6072187" y="5788720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求解时间</a:t>
            </a:r>
            <a:r>
              <a:rPr lang="zh-CN" altLang="zh-CN" dirty="0" smtClean="0">
                <a:solidFill>
                  <a:srgbClr val="7030A0"/>
                </a:solidFill>
              </a:rPr>
              <a:t>对比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94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mtClean="0"/>
              <a:t>基于</a:t>
            </a:r>
            <a:r>
              <a:rPr lang="en-US" altLang="zh-CN" smtClean="0"/>
              <a:t>Skyline</a:t>
            </a:r>
            <a:r>
              <a:rPr lang="zh-CN" altLang="zh-CN" smtClean="0"/>
              <a:t>计算的非线性服务组合方法</a:t>
            </a:r>
            <a:endParaRPr lang="zh-CN" altLang="en-US" smtClean="0"/>
          </a:p>
        </p:txBody>
      </p:sp>
      <p:sp>
        <p:nvSpPr>
          <p:cNvPr id="47107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zh-CN" altLang="zh-CN" dirty="0"/>
              <a:t>基于</a:t>
            </a:r>
            <a:r>
              <a:rPr lang="en-US" altLang="zh-CN" dirty="0"/>
              <a:t>skyline</a:t>
            </a:r>
            <a:r>
              <a:rPr lang="zh-CN" altLang="zh-CN" dirty="0"/>
              <a:t>的服务组合效果对比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826EB4-37FC-454C-84BD-0742CC3D06EA}" type="slidenum">
              <a:rPr lang="zh-CN" altLang="en-US"/>
              <a:pPr>
                <a:defRPr/>
              </a:pPr>
              <a:t>51</a:t>
            </a:fld>
            <a:endParaRPr lang="zh-CN" altLang="en-US"/>
          </a:p>
        </p:txBody>
      </p:sp>
      <p:sp>
        <p:nvSpPr>
          <p:cNvPr id="4710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71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2884488"/>
            <a:ext cx="5900738" cy="169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38" y="2289175"/>
            <a:ext cx="4171950" cy="324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14" name="矩形 4"/>
          <p:cNvSpPr>
            <a:spLocks noChangeArrowheads="1"/>
          </p:cNvSpPr>
          <p:nvPr/>
        </p:nvSpPr>
        <p:spPr bwMode="auto">
          <a:xfrm>
            <a:off x="2582863" y="2286000"/>
            <a:ext cx="284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7030A0"/>
                </a:solidFill>
              </a:rPr>
              <a:t>穷举算法有无</a:t>
            </a:r>
            <a:r>
              <a:rPr lang="en-US" altLang="zh-CN" dirty="0">
                <a:solidFill>
                  <a:srgbClr val="7030A0"/>
                </a:solidFill>
              </a:rPr>
              <a:t>Skyline</a:t>
            </a:r>
            <a:r>
              <a:rPr lang="zh-CN" altLang="zh-CN" dirty="0">
                <a:solidFill>
                  <a:srgbClr val="7030A0"/>
                </a:solidFill>
              </a:rPr>
              <a:t>对比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47115" name="矩形 5"/>
          <p:cNvSpPr>
            <a:spLocks noChangeArrowheads="1"/>
          </p:cNvSpPr>
          <p:nvPr/>
        </p:nvSpPr>
        <p:spPr bwMode="auto">
          <a:xfrm>
            <a:off x="3259138" y="5802313"/>
            <a:ext cx="399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7030A0"/>
                </a:solidFill>
              </a:rPr>
              <a:t>Bonmin</a:t>
            </a:r>
            <a:r>
              <a:rPr lang="zh-CN" altLang="zh-CN" dirty="0">
                <a:solidFill>
                  <a:srgbClr val="7030A0"/>
                </a:solidFill>
              </a:rPr>
              <a:t>方法有无</a:t>
            </a:r>
            <a:r>
              <a:rPr lang="en-US" altLang="zh-CN" dirty="0">
                <a:solidFill>
                  <a:srgbClr val="7030A0"/>
                </a:solidFill>
              </a:rPr>
              <a:t>Skyline</a:t>
            </a:r>
            <a:r>
              <a:rPr lang="zh-CN" altLang="zh-CN" dirty="0">
                <a:solidFill>
                  <a:srgbClr val="7030A0"/>
                </a:solidFill>
              </a:rPr>
              <a:t>运行效率对比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4" grpId="0"/>
      <p:bldP spid="47114" grpId="1"/>
      <p:bldP spid="471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378597" y="2053106"/>
            <a:ext cx="1269999" cy="1050925"/>
            <a:chOff x="4886177" y="2965824"/>
            <a:chExt cx="1269999" cy="1050925"/>
          </a:xfrm>
        </p:grpSpPr>
        <p:grpSp>
          <p:nvGrpSpPr>
            <p:cNvPr id="6" name="Group 32"/>
            <p:cNvGrpSpPr>
              <a:grpSpLocks/>
            </p:cNvGrpSpPr>
            <p:nvPr/>
          </p:nvGrpSpPr>
          <p:grpSpPr bwMode="auto">
            <a:xfrm>
              <a:off x="4999038" y="2965824"/>
              <a:ext cx="1041400" cy="1050925"/>
              <a:chOff x="0" y="0"/>
              <a:chExt cx="656" cy="662"/>
            </a:xfrm>
          </p:grpSpPr>
          <p:pic>
            <p:nvPicPr>
              <p:cNvPr id="9" name="Picture 47" descr="circuler_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56" cy="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Oval 4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52" cy="662"/>
              </a:xfrm>
              <a:prstGeom prst="ellipse">
                <a:avLst/>
              </a:prstGeom>
              <a:gradFill rotWithShape="1">
                <a:gsLst>
                  <a:gs pos="0">
                    <a:srgbClr val="44B9E8"/>
                  </a:gs>
                  <a:gs pos="50000">
                    <a:srgbClr val="D5EFFA"/>
                  </a:gs>
                  <a:gs pos="100000">
                    <a:srgbClr val="44B9E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" name="Group 35"/>
              <p:cNvGrpSpPr>
                <a:grpSpLocks/>
              </p:cNvGrpSpPr>
              <p:nvPr/>
            </p:nvGrpSpPr>
            <p:grpSpPr bwMode="auto">
              <a:xfrm>
                <a:off x="35" y="517"/>
                <a:ext cx="570" cy="110"/>
                <a:chOff x="0" y="0"/>
                <a:chExt cx="825" cy="156"/>
              </a:xfrm>
            </p:grpSpPr>
            <p:grpSp>
              <p:nvGrpSpPr>
                <p:cNvPr id="12" name="Group 36"/>
                <p:cNvGrpSpPr>
                  <a:grpSpLocks/>
                </p:cNvGrpSpPr>
                <p:nvPr/>
              </p:nvGrpSpPr>
              <p:grpSpPr bwMode="auto">
                <a:xfrm rot="-1297425" flipH="1" flipV="1">
                  <a:off x="144" y="0"/>
                  <a:ext cx="681" cy="150"/>
                  <a:chOff x="0" y="0"/>
                  <a:chExt cx="1118" cy="279"/>
                </a:xfrm>
              </p:grpSpPr>
              <p:sp>
                <p:nvSpPr>
                  <p:cNvPr id="18" name="AutoShape 51"/>
                  <p:cNvSpPr>
                    <a:spLocks noChangeArrowheads="1"/>
                  </p:cNvSpPr>
                  <p:nvPr/>
                </p:nvSpPr>
                <p:spPr bwMode="auto">
                  <a:xfrm rot="5263130">
                    <a:off x="293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" name="AutoShape 52"/>
                  <p:cNvSpPr>
                    <a:spLocks noChangeArrowheads="1"/>
                  </p:cNvSpPr>
                  <p:nvPr/>
                </p:nvSpPr>
                <p:spPr bwMode="auto">
                  <a:xfrm rot="6078281">
                    <a:off x="429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" name="AutoShape 53"/>
                  <p:cNvSpPr>
                    <a:spLocks noChangeArrowheads="1"/>
                  </p:cNvSpPr>
                  <p:nvPr/>
                </p:nvSpPr>
                <p:spPr bwMode="auto">
                  <a:xfrm rot="6373927">
                    <a:off x="505" y="-27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" name="AutoShape 54"/>
                  <p:cNvSpPr>
                    <a:spLocks noChangeArrowheads="1"/>
                  </p:cNvSpPr>
                  <p:nvPr/>
                </p:nvSpPr>
                <p:spPr bwMode="auto">
                  <a:xfrm rot="6906312">
                    <a:off x="595" y="-24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" name="Group 41"/>
                <p:cNvGrpSpPr>
                  <a:grpSpLocks/>
                </p:cNvGrpSpPr>
                <p:nvPr/>
              </p:nvGrpSpPr>
              <p:grpSpPr bwMode="auto">
                <a:xfrm rot="56115" flipH="1" flipV="1">
                  <a:off x="0" y="6"/>
                  <a:ext cx="681" cy="150"/>
                  <a:chOff x="0" y="0"/>
                  <a:chExt cx="1118" cy="279"/>
                </a:xfrm>
              </p:grpSpPr>
              <p:sp>
                <p:nvSpPr>
                  <p:cNvPr id="14" name="AutoShape 56"/>
                  <p:cNvSpPr>
                    <a:spLocks noChangeArrowheads="1"/>
                  </p:cNvSpPr>
                  <p:nvPr/>
                </p:nvSpPr>
                <p:spPr bwMode="auto">
                  <a:xfrm rot="5263130">
                    <a:off x="293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" name="AutoShape 57"/>
                  <p:cNvSpPr>
                    <a:spLocks noChangeArrowheads="1"/>
                  </p:cNvSpPr>
                  <p:nvPr/>
                </p:nvSpPr>
                <p:spPr bwMode="auto">
                  <a:xfrm rot="6078281">
                    <a:off x="429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" name="AutoShape 58"/>
                  <p:cNvSpPr>
                    <a:spLocks noChangeArrowheads="1"/>
                  </p:cNvSpPr>
                  <p:nvPr/>
                </p:nvSpPr>
                <p:spPr bwMode="auto">
                  <a:xfrm rot="6373927">
                    <a:off x="505" y="-27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" name="AutoShape 59"/>
                  <p:cNvSpPr>
                    <a:spLocks noChangeArrowheads="1"/>
                  </p:cNvSpPr>
                  <p:nvPr/>
                </p:nvSpPr>
                <p:spPr bwMode="auto">
                  <a:xfrm rot="6906312">
                    <a:off x="595" y="-24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7" name="Text Box 78"/>
            <p:cNvSpPr txBox="1">
              <a:spLocks noChangeArrowheads="1"/>
            </p:cNvSpPr>
            <p:nvPr/>
          </p:nvSpPr>
          <p:spPr bwMode="auto">
            <a:xfrm>
              <a:off x="4886177" y="3329786"/>
              <a:ext cx="12699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20650" indent="-1206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9pPr>
            </a:lstStyle>
            <a:p>
              <a:pPr indent="0" eaLnBrk="1" hangingPunct="1">
                <a:spcBef>
                  <a:spcPct val="50000"/>
                </a:spcBef>
              </a:pPr>
              <a:r>
                <a:rPr lang="zh-CN" altLang="en-US" sz="2000" b="1" dirty="0" smtClean="0">
                  <a:solidFill>
                    <a:srgbClr val="1C1C1C"/>
                  </a:solidFill>
                  <a:latin typeface="+mj-ea"/>
                  <a:ea typeface="+mj-ea"/>
                </a:rPr>
                <a:t> </a:t>
              </a:r>
              <a:r>
                <a:rPr lang="zh-CN" altLang="en-US" sz="2000" b="1" dirty="0" smtClean="0">
                  <a:solidFill>
                    <a:srgbClr val="1C1C1C"/>
                  </a:solidFill>
                  <a:latin typeface="+mn-ea"/>
                  <a:ea typeface="+mn-ea"/>
                </a:rPr>
                <a:t>总结</a:t>
              </a:r>
              <a:endParaRPr lang="en-US" sz="2000" b="1" dirty="0">
                <a:solidFill>
                  <a:srgbClr val="1C1C1C"/>
                </a:solidFill>
                <a:latin typeface="+mn-ea"/>
                <a:ea typeface="+mn-ea"/>
              </a:endParaRPr>
            </a:p>
          </p:txBody>
        </p:sp>
        <p:pic>
          <p:nvPicPr>
            <p:cNvPr id="8" name="Picture 92" descr="Picture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4925" y="2983287"/>
              <a:ext cx="825500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组合 21"/>
          <p:cNvGrpSpPr/>
          <p:nvPr/>
        </p:nvGrpSpPr>
        <p:grpSpPr>
          <a:xfrm>
            <a:off x="5614655" y="2045169"/>
            <a:ext cx="1319212" cy="1050925"/>
            <a:chOff x="6754083" y="2957887"/>
            <a:chExt cx="1319212" cy="1050925"/>
          </a:xfrm>
        </p:grpSpPr>
        <p:grpSp>
          <p:nvGrpSpPr>
            <p:cNvPr id="23" name="Group 46"/>
            <p:cNvGrpSpPr>
              <a:grpSpLocks/>
            </p:cNvGrpSpPr>
            <p:nvPr/>
          </p:nvGrpSpPr>
          <p:grpSpPr bwMode="auto">
            <a:xfrm>
              <a:off x="6961188" y="2957887"/>
              <a:ext cx="1041400" cy="1050925"/>
              <a:chOff x="0" y="0"/>
              <a:chExt cx="656" cy="662"/>
            </a:xfrm>
          </p:grpSpPr>
          <p:pic>
            <p:nvPicPr>
              <p:cNvPr id="26" name="Picture 61" descr="circuler_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56" cy="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Oval 6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52" cy="662"/>
              </a:xfrm>
              <a:prstGeom prst="ellipse">
                <a:avLst/>
              </a:prstGeom>
              <a:gradFill rotWithShape="1">
                <a:gsLst>
                  <a:gs pos="0">
                    <a:srgbClr val="2DA2BF"/>
                  </a:gs>
                  <a:gs pos="50000">
                    <a:srgbClr val="D0EAF1"/>
                  </a:gs>
                  <a:gs pos="100000">
                    <a:srgbClr val="2DA2B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8" name="Group 49"/>
              <p:cNvGrpSpPr>
                <a:grpSpLocks/>
              </p:cNvGrpSpPr>
              <p:nvPr/>
            </p:nvGrpSpPr>
            <p:grpSpPr bwMode="auto">
              <a:xfrm>
                <a:off x="35" y="517"/>
                <a:ext cx="570" cy="110"/>
                <a:chOff x="0" y="0"/>
                <a:chExt cx="825" cy="156"/>
              </a:xfrm>
            </p:grpSpPr>
            <p:grpSp>
              <p:nvGrpSpPr>
                <p:cNvPr id="29" name="Group 50"/>
                <p:cNvGrpSpPr>
                  <a:grpSpLocks/>
                </p:cNvGrpSpPr>
                <p:nvPr/>
              </p:nvGrpSpPr>
              <p:grpSpPr bwMode="auto">
                <a:xfrm rot="-1297425" flipH="1" flipV="1">
                  <a:off x="144" y="0"/>
                  <a:ext cx="681" cy="150"/>
                  <a:chOff x="0" y="0"/>
                  <a:chExt cx="1118" cy="279"/>
                </a:xfrm>
              </p:grpSpPr>
              <p:sp>
                <p:nvSpPr>
                  <p:cNvPr id="35" name="AutoShape 65"/>
                  <p:cNvSpPr>
                    <a:spLocks noChangeArrowheads="1"/>
                  </p:cNvSpPr>
                  <p:nvPr/>
                </p:nvSpPr>
                <p:spPr bwMode="auto">
                  <a:xfrm rot="5263130">
                    <a:off x="293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AutoShape 66"/>
                  <p:cNvSpPr>
                    <a:spLocks noChangeArrowheads="1"/>
                  </p:cNvSpPr>
                  <p:nvPr/>
                </p:nvSpPr>
                <p:spPr bwMode="auto">
                  <a:xfrm rot="6078281">
                    <a:off x="429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" name="AutoShape 67"/>
                  <p:cNvSpPr>
                    <a:spLocks noChangeArrowheads="1"/>
                  </p:cNvSpPr>
                  <p:nvPr/>
                </p:nvSpPr>
                <p:spPr bwMode="auto">
                  <a:xfrm rot="6373927">
                    <a:off x="505" y="-27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AutoShape 68"/>
                  <p:cNvSpPr>
                    <a:spLocks noChangeArrowheads="1"/>
                  </p:cNvSpPr>
                  <p:nvPr/>
                </p:nvSpPr>
                <p:spPr bwMode="auto">
                  <a:xfrm rot="6906312">
                    <a:off x="595" y="-24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" name="Group 55"/>
                <p:cNvGrpSpPr>
                  <a:grpSpLocks/>
                </p:cNvGrpSpPr>
                <p:nvPr/>
              </p:nvGrpSpPr>
              <p:grpSpPr bwMode="auto">
                <a:xfrm rot="56115" flipH="1" flipV="1">
                  <a:off x="0" y="6"/>
                  <a:ext cx="681" cy="150"/>
                  <a:chOff x="0" y="0"/>
                  <a:chExt cx="1118" cy="279"/>
                </a:xfrm>
              </p:grpSpPr>
              <p:sp>
                <p:nvSpPr>
                  <p:cNvPr id="31" name="AutoShape 70"/>
                  <p:cNvSpPr>
                    <a:spLocks noChangeArrowheads="1"/>
                  </p:cNvSpPr>
                  <p:nvPr/>
                </p:nvSpPr>
                <p:spPr bwMode="auto">
                  <a:xfrm rot="5263130">
                    <a:off x="293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AutoShape 71"/>
                  <p:cNvSpPr>
                    <a:spLocks noChangeArrowheads="1"/>
                  </p:cNvSpPr>
                  <p:nvPr/>
                </p:nvSpPr>
                <p:spPr bwMode="auto">
                  <a:xfrm rot="6078281">
                    <a:off x="429" y="-294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" name="AutoShape 72"/>
                  <p:cNvSpPr>
                    <a:spLocks noChangeArrowheads="1"/>
                  </p:cNvSpPr>
                  <p:nvPr/>
                </p:nvSpPr>
                <p:spPr bwMode="auto">
                  <a:xfrm rot="6373927">
                    <a:off x="505" y="-27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AutoShape 73"/>
                  <p:cNvSpPr>
                    <a:spLocks noChangeArrowheads="1"/>
                  </p:cNvSpPr>
                  <p:nvPr/>
                </p:nvSpPr>
                <p:spPr bwMode="auto">
                  <a:xfrm rot="6906312">
                    <a:off x="595" y="-242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3999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4" name="Text Box 80"/>
            <p:cNvSpPr txBox="1">
              <a:spLocks noChangeArrowheads="1"/>
            </p:cNvSpPr>
            <p:nvPr/>
          </p:nvSpPr>
          <p:spPr bwMode="auto">
            <a:xfrm>
              <a:off x="6754083" y="3260154"/>
              <a:ext cx="13192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20650" indent="-1206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华文细黑" pitchFamily="2" charset="-122"/>
                </a:defRPr>
              </a:lvl9pPr>
            </a:lstStyle>
            <a:p>
              <a:pPr indent="0" algn="ctr" eaLnBrk="1" hangingPunct="1"/>
              <a:r>
                <a:rPr lang="zh-CN" altLang="en-US" sz="2000" b="1" dirty="0" smtClean="0">
                  <a:solidFill>
                    <a:srgbClr val="1C1C1C"/>
                  </a:solidFill>
                  <a:latin typeface="+mn-ea"/>
                  <a:ea typeface="+mn-ea"/>
                </a:rPr>
                <a:t>展望</a:t>
              </a:r>
              <a:endParaRPr lang="en-US" sz="2000" b="1" dirty="0">
                <a:solidFill>
                  <a:srgbClr val="1C1C1C"/>
                </a:solidFill>
                <a:latin typeface="+mn-ea"/>
                <a:ea typeface="+mn-ea"/>
              </a:endParaRPr>
            </a:p>
          </p:txBody>
        </p:sp>
        <p:pic>
          <p:nvPicPr>
            <p:cNvPr id="25" name="Picture 93" descr="Picture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7075" y="2973762"/>
              <a:ext cx="825500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Rectangle 96"/>
          <p:cNvSpPr>
            <a:spLocks noChangeArrowheads="1"/>
          </p:cNvSpPr>
          <p:nvPr/>
        </p:nvSpPr>
        <p:spPr bwMode="auto">
          <a:xfrm>
            <a:off x="6937772" y="2523006"/>
            <a:ext cx="1535360" cy="89694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Rectangle 98"/>
          <p:cNvSpPr>
            <a:spLocks noChangeArrowheads="1"/>
          </p:cNvSpPr>
          <p:nvPr/>
        </p:nvSpPr>
        <p:spPr bwMode="auto">
          <a:xfrm>
            <a:off x="803772" y="2529356"/>
            <a:ext cx="1603549" cy="74613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99"/>
          <p:cNvSpPr>
            <a:spLocks noChangeArrowheads="1"/>
          </p:cNvSpPr>
          <p:nvPr/>
        </p:nvSpPr>
        <p:spPr bwMode="auto">
          <a:xfrm>
            <a:off x="3674146" y="2529356"/>
            <a:ext cx="2007914" cy="74613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AutoShape 101"/>
          <p:cNvSpPr>
            <a:spLocks/>
          </p:cNvSpPr>
          <p:nvPr/>
        </p:nvSpPr>
        <p:spPr bwMode="auto">
          <a:xfrm>
            <a:off x="5682060" y="1889594"/>
            <a:ext cx="1319213" cy="1446213"/>
          </a:xfrm>
          <a:custGeom>
            <a:avLst/>
            <a:gdLst>
              <a:gd name="T0" fmla="*/ 1213 w 21600"/>
              <a:gd name="T1" fmla="*/ 10670 h 21600"/>
              <a:gd name="T2" fmla="*/ 10800 w 21600"/>
              <a:gd name="T3" fmla="*/ 1213 h 21600"/>
              <a:gd name="T4" fmla="*/ 20386 w 21600"/>
              <a:gd name="T5" fmla="*/ 10670 h 21600"/>
              <a:gd name="T6" fmla="*/ 21599 w 21600"/>
              <a:gd name="T7" fmla="*/ 10653 h 21600"/>
              <a:gd name="T8" fmla="*/ 10799 w 21600"/>
              <a:gd name="T9" fmla="*/ 0 h 21600"/>
              <a:gd name="T10" fmla="*/ 0 w 21600"/>
              <a:gd name="T11" fmla="*/ 10653 h 21600"/>
              <a:gd name="T12" fmla="*/ 1213 w 21600"/>
              <a:gd name="T13" fmla="*/ 10670 h 21600"/>
              <a:gd name="T14" fmla="*/ 416 w 21600"/>
              <a:gd name="T15" fmla="*/ 0 h 21600"/>
              <a:gd name="T16" fmla="*/ 21184 w 21600"/>
              <a:gd name="T17" fmla="*/ 133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T14" t="T15" r="T16" b="T17"/>
            <a:pathLst>
              <a:path w="21600" h="21600">
                <a:moveTo>
                  <a:pt x="1213" y="10670"/>
                </a:moveTo>
                <a:cubicBezTo>
                  <a:pt x="1284" y="5426"/>
                  <a:pt x="5555" y="1212"/>
                  <a:pt x="10800" y="1213"/>
                </a:cubicBezTo>
                <a:cubicBezTo>
                  <a:pt x="16044" y="1213"/>
                  <a:pt x="20315" y="5426"/>
                  <a:pt x="20386" y="10670"/>
                </a:cubicBezTo>
                <a:lnTo>
                  <a:pt x="21599" y="10653"/>
                </a:lnTo>
                <a:cubicBezTo>
                  <a:pt x="21518" y="4746"/>
                  <a:pt x="16707" y="-1"/>
                  <a:pt x="10799" y="0"/>
                </a:cubicBezTo>
                <a:cubicBezTo>
                  <a:pt x="4892" y="0"/>
                  <a:pt x="81" y="4746"/>
                  <a:pt x="0" y="10653"/>
                </a:cubicBezTo>
                <a:lnTo>
                  <a:pt x="1213" y="10670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AutoShape 103"/>
          <p:cNvSpPr>
            <a:spLocks/>
          </p:cNvSpPr>
          <p:nvPr/>
        </p:nvSpPr>
        <p:spPr bwMode="auto">
          <a:xfrm flipV="1">
            <a:off x="2354933" y="1799106"/>
            <a:ext cx="1319213" cy="1446213"/>
          </a:xfrm>
          <a:custGeom>
            <a:avLst/>
            <a:gdLst>
              <a:gd name="T0" fmla="*/ 1213 w 21600"/>
              <a:gd name="T1" fmla="*/ 10670 h 21600"/>
              <a:gd name="T2" fmla="*/ 10800 w 21600"/>
              <a:gd name="T3" fmla="*/ 1213 h 21600"/>
              <a:gd name="T4" fmla="*/ 20386 w 21600"/>
              <a:gd name="T5" fmla="*/ 10670 h 21600"/>
              <a:gd name="T6" fmla="*/ 21599 w 21600"/>
              <a:gd name="T7" fmla="*/ 10653 h 21600"/>
              <a:gd name="T8" fmla="*/ 10799 w 21600"/>
              <a:gd name="T9" fmla="*/ 0 h 21600"/>
              <a:gd name="T10" fmla="*/ 0 w 21600"/>
              <a:gd name="T11" fmla="*/ 10653 h 21600"/>
              <a:gd name="T12" fmla="*/ 1213 w 21600"/>
              <a:gd name="T13" fmla="*/ 10670 h 21600"/>
              <a:gd name="T14" fmla="*/ 416 w 21600"/>
              <a:gd name="T15" fmla="*/ 0 h 21600"/>
              <a:gd name="T16" fmla="*/ 21184 w 21600"/>
              <a:gd name="T17" fmla="*/ 133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T14" t="T15" r="T16" b="T17"/>
            <a:pathLst>
              <a:path w="21600" h="21600">
                <a:moveTo>
                  <a:pt x="1213" y="10670"/>
                </a:moveTo>
                <a:cubicBezTo>
                  <a:pt x="1284" y="5426"/>
                  <a:pt x="5555" y="1212"/>
                  <a:pt x="10800" y="1213"/>
                </a:cubicBezTo>
                <a:cubicBezTo>
                  <a:pt x="16044" y="1213"/>
                  <a:pt x="20315" y="5426"/>
                  <a:pt x="20386" y="10670"/>
                </a:cubicBezTo>
                <a:lnTo>
                  <a:pt x="21599" y="10653"/>
                </a:lnTo>
                <a:cubicBezTo>
                  <a:pt x="21518" y="4746"/>
                  <a:pt x="16707" y="-1"/>
                  <a:pt x="10799" y="0"/>
                </a:cubicBezTo>
                <a:cubicBezTo>
                  <a:pt x="4892" y="0"/>
                  <a:pt x="81" y="4746"/>
                  <a:pt x="0" y="10653"/>
                </a:cubicBezTo>
                <a:lnTo>
                  <a:pt x="1213" y="10670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453096" y="3252732"/>
            <a:ext cx="6251951" cy="3235380"/>
            <a:chOff x="453096" y="3252732"/>
            <a:chExt cx="6251951" cy="3235380"/>
          </a:xfrm>
        </p:grpSpPr>
        <p:sp>
          <p:nvSpPr>
            <p:cNvPr id="47" name="Text Box 89"/>
            <p:cNvSpPr txBox="1">
              <a:spLocks noChangeArrowheads="1"/>
            </p:cNvSpPr>
            <p:nvPr/>
          </p:nvSpPr>
          <p:spPr bwMode="auto">
            <a:xfrm>
              <a:off x="453096" y="3472525"/>
              <a:ext cx="6251951" cy="3015587"/>
            </a:xfrm>
            <a:prstGeom prst="rect">
              <a:avLst/>
            </a:prstGeom>
            <a:solidFill>
              <a:srgbClr val="1F497D">
                <a:lumMod val="40000"/>
                <a:lumOff val="60000"/>
                <a:alpha val="26000"/>
              </a:srgbClr>
            </a:solidFill>
            <a:ln w="6350">
              <a:solidFill>
                <a:srgbClr val="4F81BD">
                  <a:shade val="50000"/>
                </a:srgbClr>
              </a:solidFill>
              <a:prstDash val="sysDot"/>
            </a:ln>
            <a:effectLst/>
            <a:extLst/>
          </p:spPr>
          <p:txBody>
            <a:bodyPr wrap="square">
              <a:noAutofit/>
            </a:bodyPr>
            <a:lstStyle>
              <a:defPPr>
                <a:defRPr lang="zh-CN"/>
              </a:defPPr>
              <a:lvl1pPr lvl="0" algn="just">
                <a:defRPr kumimoji="0" sz="1400" b="0" i="0" u="none" strike="noStrike" kern="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pPr marL="285750" indent="-285750">
                <a:lnSpc>
                  <a:spcPct val="130000"/>
                </a:lnSpc>
                <a:buFont typeface="Wingdings" pitchFamily="2" charset="2"/>
                <a:buChar char="Ø"/>
              </a:pPr>
              <a:r>
                <a:rPr lang="zh-CN" altLang="en-US" sz="1800" dirty="0" smtClean="0">
                  <a:ea typeface="+mn-ea"/>
                </a:rPr>
                <a:t>基于一致性强度的云服务可信评估方法</a:t>
              </a:r>
              <a:endParaRPr lang="en-US" altLang="zh-CN" sz="1800" dirty="0" smtClean="0">
                <a:ea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800" dirty="0" smtClean="0">
                  <a:ea typeface="+mn-ea"/>
                </a:rPr>
                <a:t>      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发表</a:t>
              </a:r>
              <a:r>
                <a:rPr lang="en-US" altLang="zh-CN" sz="1800" dirty="0" smtClean="0">
                  <a:solidFill>
                    <a:srgbClr val="C00000"/>
                  </a:solidFill>
                  <a:ea typeface="+mn-ea"/>
                </a:rPr>
                <a:t>SCI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收录论文</a:t>
              </a:r>
              <a:r>
                <a:rPr lang="en-US" altLang="zh-CN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1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篇，</a:t>
              </a:r>
              <a:r>
                <a:rPr lang="zh-CN" altLang="en-US" sz="1800" dirty="0" smtClean="0">
                  <a:solidFill>
                    <a:srgbClr val="C00000"/>
                  </a:solidFill>
                  <a:ea typeface="+mn-ea"/>
                </a:rPr>
                <a:t>重要核心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论文</a:t>
              </a:r>
              <a:r>
                <a:rPr lang="en-US" altLang="zh-CN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1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篇，</a:t>
              </a:r>
              <a:r>
                <a:rPr lang="zh-CN" altLang="en-US" sz="1800" dirty="0" smtClean="0">
                  <a:solidFill>
                    <a:srgbClr val="C00000"/>
                  </a:solidFill>
                  <a:ea typeface="+mn-ea"/>
                </a:rPr>
                <a:t>授权专利</a:t>
              </a:r>
              <a:r>
                <a:rPr lang="en-US" altLang="zh-CN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1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项</a:t>
              </a:r>
              <a:endPara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endParaRPr>
            </a:p>
            <a:p>
              <a:pPr marL="285750" indent="-285750">
                <a:lnSpc>
                  <a:spcPct val="130000"/>
                </a:lnSpc>
                <a:buFont typeface="Wingdings" pitchFamily="2" charset="2"/>
                <a:buChar char="Ø"/>
              </a:pPr>
              <a:r>
                <a:rPr lang="zh-CN" altLang="en-US" sz="1800" dirty="0" smtClean="0">
                  <a:ea typeface="+mn-ea"/>
                </a:rPr>
                <a:t>基于人工蜂群算法的可信服务组合方法</a:t>
              </a:r>
              <a:endParaRPr lang="en-US" altLang="zh-CN" sz="1800" dirty="0" smtClean="0">
                <a:ea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800" dirty="0" smtClean="0">
                  <a:ea typeface="+mn-ea"/>
                </a:rPr>
                <a:t>      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发表</a:t>
              </a:r>
              <a:r>
                <a:rPr lang="en-US" altLang="zh-CN" sz="1800" dirty="0">
                  <a:solidFill>
                    <a:srgbClr val="C00000"/>
                  </a:solidFill>
                  <a:ea typeface="+mn-ea"/>
                </a:rPr>
                <a:t>SCI</a:t>
              </a: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收录论文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1</a:t>
              </a: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篇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，公开专利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1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项</a:t>
              </a:r>
              <a:endPara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endParaRPr>
            </a:p>
            <a:p>
              <a:pPr marL="285750" indent="-285750">
                <a:lnSpc>
                  <a:spcPct val="130000"/>
                </a:lnSpc>
                <a:buFont typeface="Wingdings" pitchFamily="2" charset="2"/>
                <a:buChar char="Ø"/>
              </a:pPr>
              <a:r>
                <a:rPr lang="zh-CN" altLang="en-US" sz="1800" dirty="0">
                  <a:ea typeface="+mn-ea"/>
                </a:rPr>
                <a:t>基于成本效益优化的多目标服务组合</a:t>
              </a:r>
              <a:r>
                <a:rPr lang="zh-CN" altLang="en-US" sz="1800" dirty="0" smtClean="0">
                  <a:ea typeface="+mn-ea"/>
                </a:rPr>
                <a:t>方法</a:t>
              </a:r>
              <a:endParaRPr lang="en-US" altLang="zh-CN" sz="1800" dirty="0" smtClean="0">
                <a:ea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      发表</a:t>
              </a:r>
              <a:r>
                <a:rPr lang="en-US" altLang="zh-CN" sz="1800" dirty="0">
                  <a:solidFill>
                    <a:srgbClr val="C00000"/>
                  </a:solidFill>
                  <a:ea typeface="+mn-ea"/>
                </a:rPr>
                <a:t>SCI</a:t>
              </a: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收录论文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1</a:t>
              </a: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篇</a:t>
              </a:r>
              <a:endPara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endParaRPr>
            </a:p>
            <a:p>
              <a:pPr marL="285750" indent="-285750">
                <a:lnSpc>
                  <a:spcPct val="130000"/>
                </a:lnSpc>
                <a:buFont typeface="Wingdings" pitchFamily="2" charset="2"/>
                <a:buChar char="Ø"/>
              </a:pPr>
              <a:r>
                <a:rPr lang="zh-CN" altLang="en-US" sz="1800" dirty="0">
                  <a:ea typeface="+mn-ea"/>
                </a:rPr>
                <a:t>基于</a:t>
              </a:r>
              <a:r>
                <a:rPr lang="en-US" altLang="zh-CN" sz="1800" dirty="0">
                  <a:ea typeface="+mn-ea"/>
                </a:rPr>
                <a:t>skyline</a:t>
              </a:r>
              <a:r>
                <a:rPr lang="zh-CN" altLang="en-US" sz="1800" dirty="0">
                  <a:ea typeface="+mn-ea"/>
                </a:rPr>
                <a:t>计算的非线性服务组合</a:t>
              </a:r>
              <a:r>
                <a:rPr lang="zh-CN" altLang="en-US" sz="1800" dirty="0" smtClean="0">
                  <a:ea typeface="+mn-ea"/>
                </a:rPr>
                <a:t>方法</a:t>
              </a:r>
              <a:endParaRPr lang="en-US" altLang="zh-CN" sz="1800" dirty="0" smtClean="0">
                <a:ea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     已撰写论文</a:t>
              </a:r>
              <a:r>
                <a:rPr lang="en-US" altLang="zh-CN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1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篇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endParaRPr>
            </a:p>
          </p:txBody>
        </p:sp>
        <p:sp>
          <p:nvSpPr>
            <p:cNvPr id="45" name="Line 87"/>
            <p:cNvSpPr>
              <a:spLocks noChangeShapeType="1"/>
            </p:cNvSpPr>
            <p:nvPr/>
          </p:nvSpPr>
          <p:spPr bwMode="auto">
            <a:xfrm>
              <a:off x="3023973" y="3252732"/>
              <a:ext cx="0" cy="209267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88"/>
            <p:cNvSpPr>
              <a:spLocks noChangeShapeType="1"/>
            </p:cNvSpPr>
            <p:nvPr/>
          </p:nvSpPr>
          <p:spPr bwMode="auto">
            <a:xfrm flipH="1">
              <a:off x="970554" y="3472526"/>
              <a:ext cx="5035658" cy="0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178798" y="431801"/>
            <a:ext cx="5680497" cy="1457793"/>
            <a:chOff x="3178798" y="431801"/>
            <a:chExt cx="5680497" cy="1457793"/>
          </a:xfrm>
        </p:grpSpPr>
        <p:sp>
          <p:nvSpPr>
            <p:cNvPr id="51" name="Line 87"/>
            <p:cNvSpPr>
              <a:spLocks noChangeShapeType="1"/>
            </p:cNvSpPr>
            <p:nvPr/>
          </p:nvSpPr>
          <p:spPr bwMode="auto">
            <a:xfrm>
              <a:off x="6352410" y="1680327"/>
              <a:ext cx="0" cy="209267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88"/>
            <p:cNvSpPr>
              <a:spLocks noChangeShapeType="1"/>
            </p:cNvSpPr>
            <p:nvPr/>
          </p:nvSpPr>
          <p:spPr bwMode="auto">
            <a:xfrm flipH="1">
              <a:off x="3561992" y="1679063"/>
              <a:ext cx="5035658" cy="0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89"/>
            <p:cNvSpPr txBox="1">
              <a:spLocks noChangeArrowheads="1"/>
            </p:cNvSpPr>
            <p:nvPr/>
          </p:nvSpPr>
          <p:spPr bwMode="auto">
            <a:xfrm>
              <a:off x="3178798" y="431801"/>
              <a:ext cx="5680497" cy="1231900"/>
            </a:xfrm>
            <a:prstGeom prst="rect">
              <a:avLst/>
            </a:prstGeom>
            <a:solidFill>
              <a:srgbClr val="1F497D">
                <a:lumMod val="40000"/>
                <a:lumOff val="60000"/>
                <a:alpha val="26000"/>
              </a:srgbClr>
            </a:solidFill>
            <a:ln w="6350">
              <a:solidFill>
                <a:srgbClr val="4F81BD">
                  <a:shade val="50000"/>
                </a:srgbClr>
              </a:solidFill>
              <a:prstDash val="sysDot"/>
            </a:ln>
            <a:effectLst/>
            <a:extLst/>
          </p:spPr>
          <p:txBody>
            <a:bodyPr wrap="square">
              <a:noAutofit/>
            </a:bodyPr>
            <a:lstStyle>
              <a:defPPr>
                <a:defRPr lang="zh-CN"/>
              </a:defPPr>
              <a:lvl1pPr lvl="0" algn="just">
                <a:defRPr kumimoji="0" sz="1400" b="0" i="0" u="none" strike="noStrike" kern="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pPr marL="285750" indent="-285750">
                <a:lnSpc>
                  <a:spcPct val="130000"/>
                </a:lnSpc>
                <a:buFont typeface="Wingdings" pitchFamily="2" charset="2"/>
                <a:buChar char="Ø"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对服务可信评估与组合模型的进一步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研究</a:t>
              </a:r>
              <a:endPara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endParaRPr>
            </a:p>
            <a:p>
              <a:pPr marL="285750" indent="-285750">
                <a:lnSpc>
                  <a:spcPct val="130000"/>
                </a:lnSpc>
                <a:buFont typeface="Wingdings" pitchFamily="2" charset="2"/>
                <a:buChar char="Ø"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算法求解质量和效率的进一步</a:t>
              </a:r>
              <a:r>
                <a:rPr lang="zh-CN" altLang="en-US" sz="1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提高</a:t>
              </a:r>
              <a:endParaRPr lang="en-US" altLang="zh-CN" sz="18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endParaRPr>
            </a:p>
            <a:p>
              <a:pPr marL="285750" indent="-285750">
                <a:lnSpc>
                  <a:spcPct val="130000"/>
                </a:lnSpc>
                <a:buFont typeface="Wingdings" pitchFamily="2" charset="2"/>
                <a:buChar char="Ø"/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n-ea"/>
                </a:rPr>
                <a:t>方法在真实环境的实际应用</a:t>
              </a:r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endParaRPr>
            </a:p>
          </p:txBody>
        </p:sp>
      </p:grpSp>
      <p:sp>
        <p:nvSpPr>
          <p:cNvPr id="59" name="灯片编号占位符 3"/>
          <p:cNvSpPr txBox="1">
            <a:spLocks/>
          </p:cNvSpPr>
          <p:nvPr/>
        </p:nvSpPr>
        <p:spPr>
          <a:xfrm>
            <a:off x="8101013" y="6356350"/>
            <a:ext cx="719137" cy="365125"/>
          </a:xfrm>
          <a:prstGeom prst="rect">
            <a:avLst/>
          </a:prstGeom>
        </p:spPr>
        <p:txBody>
          <a:bodyPr vert="horz"/>
          <a:lstStyle>
            <a:defPPr>
              <a:defRPr lang="zh-CN"/>
            </a:defPPr>
            <a:lvl1pPr algn="l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CDDA8824-26A7-48EF-ABC6-F7457D187F8F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93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41987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endParaRPr lang="zh-CN" altLang="en-US" dirty="0" smtClean="0"/>
          </a:p>
        </p:txBody>
      </p:sp>
      <p:sp>
        <p:nvSpPr>
          <p:cNvPr id="4" name="矩形 3"/>
          <p:cNvSpPr/>
          <p:nvPr/>
        </p:nvSpPr>
        <p:spPr>
          <a:xfrm>
            <a:off x="1401901" y="2967335"/>
            <a:ext cx="6340197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感谢各位答辩专家</a:t>
            </a:r>
            <a:endParaRPr lang="en-US" altLang="zh-CN" sz="6000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的指导</a:t>
            </a:r>
            <a:endParaRPr lang="zh-CN" altLang="en-US" sz="6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371025-00B7-4D4D-A2F7-D4D27347D0F8}" type="slidenum">
              <a:rPr lang="zh-CN" altLang="en-US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98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研究背景与内容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zh-CN" altLang="en-US" smtClean="0"/>
              <a:t>云服务质量</a:t>
            </a:r>
            <a:endParaRPr lang="en-US" altLang="zh-CN" smtClean="0"/>
          </a:p>
          <a:p>
            <a:pPr lvl="1" eaLnBrk="1" hangingPunct="1"/>
            <a:r>
              <a:rPr lang="zh-CN" altLang="zh-CN" smtClean="0"/>
              <a:t>用一组非功能属性来描述云服务的特征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论文常用指标</a:t>
            </a:r>
            <a:endParaRPr lang="en-US" altLang="zh-CN" smtClean="0"/>
          </a:p>
          <a:p>
            <a:pPr lvl="2" eaLnBrk="1" hangingPunct="1"/>
            <a:r>
              <a:rPr lang="zh-CN" altLang="zh-CN" smtClean="0"/>
              <a:t>价格、执行时间、信誉、可靠性、可用性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Guelph</a:t>
            </a:r>
            <a:r>
              <a:rPr lang="zh-CN" altLang="zh-CN" smtClean="0"/>
              <a:t>大学</a:t>
            </a:r>
            <a:r>
              <a:rPr lang="zh-CN" altLang="en-US" smtClean="0"/>
              <a:t>：</a:t>
            </a:r>
            <a:r>
              <a:rPr lang="en-US" altLang="zh-CN" smtClean="0"/>
              <a:t>QWS</a:t>
            </a:r>
            <a:r>
              <a:rPr lang="zh-CN" altLang="zh-CN" smtClean="0"/>
              <a:t>数据集</a:t>
            </a:r>
            <a:endParaRPr lang="en-US" altLang="zh-CN" smtClean="0"/>
          </a:p>
          <a:p>
            <a:pPr lvl="2" eaLnBrk="1" hangingPunct="1"/>
            <a:r>
              <a:rPr lang="zh-CN" altLang="zh-CN" smtClean="0"/>
              <a:t>响应时间、吞吐量、可用性、可访问性、互操作性分析、服务成本等九项指标</a:t>
            </a:r>
            <a:endParaRPr lang="en-US" altLang="zh-CN" smtClean="0"/>
          </a:p>
          <a:p>
            <a:pPr lvl="1" eaLnBrk="1" hangingPunct="1"/>
            <a:r>
              <a:rPr lang="zh-CN" altLang="zh-CN" smtClean="0"/>
              <a:t>香港中文大学</a:t>
            </a:r>
            <a:r>
              <a:rPr lang="zh-CN" altLang="en-US" smtClean="0"/>
              <a:t>：</a:t>
            </a:r>
            <a:r>
              <a:rPr lang="en-US" altLang="zh-CN" smtClean="0"/>
              <a:t>WS-DREAM</a:t>
            </a:r>
            <a:r>
              <a:rPr lang="zh-CN" altLang="zh-CN" smtClean="0"/>
              <a:t>数据集</a:t>
            </a:r>
            <a:endParaRPr lang="en-US" altLang="zh-CN" smtClean="0"/>
          </a:p>
          <a:p>
            <a:pPr lvl="2" eaLnBrk="1" hangingPunct="1"/>
            <a:r>
              <a:rPr lang="zh-CN" altLang="zh-CN" smtClean="0"/>
              <a:t>与用户相关的</a:t>
            </a:r>
            <a:r>
              <a:rPr lang="en-US" altLang="zh-CN" smtClean="0"/>
              <a:t>QoS</a:t>
            </a:r>
            <a:r>
              <a:rPr lang="zh-CN" altLang="zh-CN" smtClean="0"/>
              <a:t>属性</a:t>
            </a:r>
            <a:r>
              <a:rPr lang="zh-CN" altLang="en-US" smtClean="0"/>
              <a:t>：</a:t>
            </a:r>
            <a:r>
              <a:rPr lang="zh-CN" altLang="zh-CN" smtClean="0"/>
              <a:t>错误概率、反馈时间、吞吐量</a:t>
            </a:r>
            <a:endParaRPr lang="en-US" altLang="zh-CN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EF8220-9A62-4F5A-B021-66B177C9C9BD}" type="slidenum">
              <a:rPr lang="zh-CN" altLang="en-US"/>
              <a:pPr>
                <a:defRPr/>
              </a:pPr>
              <a:t>54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819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研究背景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zh-CN" altLang="en-US" smtClean="0"/>
              <a:t>服务组合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单个</a:t>
            </a:r>
            <a:r>
              <a:rPr lang="zh-CN" altLang="zh-CN" smtClean="0"/>
              <a:t>服务具有单一功能</a:t>
            </a:r>
            <a:r>
              <a:rPr lang="en-US" altLang="zh-CN" smtClean="0"/>
              <a:t>——</a:t>
            </a:r>
            <a:r>
              <a:rPr lang="zh-CN" altLang="zh-CN" smtClean="0"/>
              <a:t>模块化</a:t>
            </a:r>
            <a:endParaRPr lang="en-US" altLang="zh-CN" smtClean="0"/>
          </a:p>
          <a:p>
            <a:pPr lvl="1" eaLnBrk="1" hangingPunct="1"/>
            <a:r>
              <a:rPr lang="zh-CN" altLang="zh-CN" smtClean="0"/>
              <a:t>根据预定义的业务流程，选取服务组件进行组合，以满足用户复杂的应用需求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云环境中的服务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租用模式</a:t>
            </a:r>
            <a:r>
              <a:rPr lang="en-US" altLang="zh-CN" smtClean="0"/>
              <a:t>——</a:t>
            </a:r>
            <a:r>
              <a:rPr lang="zh-CN" altLang="en-US" smtClean="0"/>
              <a:t>开发成本降低</a:t>
            </a:r>
            <a:endParaRPr lang="en-US" altLang="zh-CN" smtClean="0"/>
          </a:p>
          <a:p>
            <a:pPr lvl="1" eaLnBrk="1" hangingPunct="1"/>
            <a:r>
              <a:rPr lang="zh-CN" altLang="zh-CN" smtClean="0"/>
              <a:t>服务种类</a:t>
            </a:r>
            <a:r>
              <a:rPr lang="zh-CN" altLang="en-US" smtClean="0"/>
              <a:t>、服务</a:t>
            </a:r>
            <a:r>
              <a:rPr lang="zh-CN" altLang="zh-CN" smtClean="0"/>
              <a:t>数量迅速增长</a:t>
            </a:r>
            <a:endParaRPr lang="en-US" altLang="zh-CN" smtClean="0"/>
          </a:p>
          <a:p>
            <a:pPr lvl="1" eaLnBrk="1" hangingPunct="1"/>
            <a:r>
              <a:rPr lang="zh-CN" altLang="zh-CN" smtClean="0"/>
              <a:t>服务组合方法的有效性和实时性</a:t>
            </a:r>
            <a:endParaRPr lang="en-US" altLang="zh-CN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634057-94CA-43CB-9D8D-7ECE12F020E6}" type="slidenum">
              <a:rPr lang="zh-CN" altLang="en-US"/>
              <a:pPr>
                <a:defRPr/>
              </a:pPr>
              <a:t>55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240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质朴">
  <a:themeElements>
    <a:clrScheme name="质朴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质朴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质朴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质朴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3410</TotalTime>
  <Words>2585</Words>
  <Application>Microsoft Office PowerPoint</Application>
  <PresentationFormat>全屏显示(4:3)</PresentationFormat>
  <Paragraphs>680</Paragraphs>
  <Slides>55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55</vt:i4>
      </vt:variant>
    </vt:vector>
  </HeadingPairs>
  <TitlesOfParts>
    <vt:vector size="59" baseType="lpstr">
      <vt:lpstr>质朴</vt:lpstr>
      <vt:lpstr>Visio</vt:lpstr>
      <vt:lpstr>Equation</vt:lpstr>
      <vt:lpstr>Origin50.Graph</vt:lpstr>
      <vt:lpstr>PowerPoint 演示文稿</vt:lpstr>
      <vt:lpstr>目 录</vt:lpstr>
      <vt:lpstr>研究背景</vt:lpstr>
      <vt:lpstr>研究背景</vt:lpstr>
      <vt:lpstr>研究背景</vt:lpstr>
      <vt:lpstr>研究背景</vt:lpstr>
      <vt:lpstr>研究内容</vt:lpstr>
      <vt:lpstr>基于一致性强度的云服务可信评估方法</vt:lpstr>
      <vt:lpstr>基于一致性强度的云服务可信评估方法</vt:lpstr>
      <vt:lpstr>基于一致性强度的云服务可信评估方法</vt:lpstr>
      <vt:lpstr>基于一致性强度的云服务可信评估方法</vt:lpstr>
      <vt:lpstr>基于一致性强度的云服务可信评估方法</vt:lpstr>
      <vt:lpstr>基于一致性强度的云服务可信评估方法</vt:lpstr>
      <vt:lpstr>基于一致性强度的云服务可信评估方法</vt:lpstr>
      <vt:lpstr>基于一致性强度的云服务可信评估方法</vt:lpstr>
      <vt:lpstr>研究内容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基于人工蜂群算法的可信服务组合方法</vt:lpstr>
      <vt:lpstr>研究内容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基于成本效益优化的多目标服务组合方法</vt:lpstr>
      <vt:lpstr>研究内容</vt:lpstr>
      <vt:lpstr>基于Skyline计算的非线性服务组合方法</vt:lpstr>
      <vt:lpstr>基于Skyline计算的非线性服务组合方法</vt:lpstr>
      <vt:lpstr>基于Skyline计算的非线性服务组合方法</vt:lpstr>
      <vt:lpstr>基于Skyline计算的非线性服务组合方法</vt:lpstr>
      <vt:lpstr>基于Skyline计算的非线性服务组合方法</vt:lpstr>
      <vt:lpstr>基于Skyline计算的非线性服务组合方法</vt:lpstr>
      <vt:lpstr>基于Skyline计算的非线性服务组合方法</vt:lpstr>
      <vt:lpstr>PowerPoint 演示文稿</vt:lpstr>
      <vt:lpstr>PowerPoint 演示文稿</vt:lpstr>
      <vt:lpstr>研究背景与内容</vt:lpstr>
      <vt:lpstr>研究背景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研究生特别奖学金答辩</dc:title>
  <dc:creator>HY</dc:creator>
  <cp:lastModifiedBy>hp</cp:lastModifiedBy>
  <cp:revision>185</cp:revision>
  <dcterms:created xsi:type="dcterms:W3CDTF">2013-10-10T06:19:03Z</dcterms:created>
  <dcterms:modified xsi:type="dcterms:W3CDTF">2016-06-02T03:16:28Z</dcterms:modified>
</cp:coreProperties>
</file>