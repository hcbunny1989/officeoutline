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0" r:id="rId3"/>
    <p:sldId id="261" r:id="rId4"/>
    <p:sldId id="265" r:id="rId5"/>
    <p:sldId id="266" r:id="rId6"/>
    <p:sldId id="268" r:id="rId7"/>
    <p:sldId id="269" r:id="rId8"/>
    <p:sldId id="271" r:id="rId9"/>
    <p:sldId id="275" r:id="rId10"/>
    <p:sldId id="276" r:id="rId11"/>
    <p:sldId id="279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003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529" autoAdjust="0"/>
  </p:normalViewPr>
  <p:slideViewPr>
    <p:cSldViewPr>
      <p:cViewPr varScale="1">
        <p:scale>
          <a:sx n="56" d="100"/>
          <a:sy n="56" d="100"/>
        </p:scale>
        <p:origin x="-16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Learning\postgraduate\Final%20Project\dissertation\profile_results_8400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Learning\postgraduate\Final%20Project\dissertation\profile_results_840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autoTitleDeleted val="1"/>
    <c:plotArea>
      <c:layout>
        <c:manualLayout>
          <c:layoutTarget val="inner"/>
          <c:xMode val="edge"/>
          <c:yMode val="edge"/>
          <c:x val="0.24698688586598047"/>
          <c:y val="0.32814866927923519"/>
          <c:w val="0.35376261045336704"/>
          <c:h val="0.46504003301746383"/>
        </c:manualLayout>
      </c:layout>
      <c:radarChart>
        <c:radarStyle val="marker"/>
        <c:ser>
          <c:idx val="0"/>
          <c:order val="0"/>
          <c:tx>
            <c:strRef>
              <c:f>Best!$B$1</c:f>
              <c:strCache>
                <c:ptCount val="1"/>
                <c:pt idx="0">
                  <c:v>Full Contingency Table</c:v>
                </c:pt>
              </c:strCache>
            </c:strRef>
          </c:tx>
          <c:cat>
            <c:strRef>
              <c:f>Best!$A$2:$A$6</c:f>
              <c:strCache>
                <c:ptCount val="5"/>
                <c:pt idx="0">
                  <c:v>Length of arity list</c:v>
                </c:pt>
                <c:pt idx="1">
                  <c:v>Values of aritys</c:v>
                </c:pt>
                <c:pt idx="2">
                  <c:v>Number of records (non-distinct)</c:v>
                </c:pt>
                <c:pt idx="3">
                  <c:v>Number of records (distinct)</c:v>
                </c:pt>
                <c:pt idx="4">
                  <c:v>Length of attribute list</c:v>
                </c:pt>
              </c:strCache>
            </c:strRef>
          </c:cat>
          <c:val>
            <c:numRef>
              <c:f>Best!$B$2:$B$6</c:f>
              <c:numCache>
                <c:formatCode>0.00%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Best!$C$1</c:f>
              <c:strCache>
                <c:ptCount val="1"/>
                <c:pt idx="0">
                  <c:v>List Contingency Table</c:v>
                </c:pt>
              </c:strCache>
            </c:strRef>
          </c:tx>
          <c:cat>
            <c:strRef>
              <c:f>Best!$A$2:$A$6</c:f>
              <c:strCache>
                <c:ptCount val="5"/>
                <c:pt idx="0">
                  <c:v>Length of arity list</c:v>
                </c:pt>
                <c:pt idx="1">
                  <c:v>Values of aritys</c:v>
                </c:pt>
                <c:pt idx="2">
                  <c:v>Number of records (non-distinct)</c:v>
                </c:pt>
                <c:pt idx="3">
                  <c:v>Number of records (distinct)</c:v>
                </c:pt>
                <c:pt idx="4">
                  <c:v>Length of attribute list</c:v>
                </c:pt>
              </c:strCache>
            </c:strRef>
          </c:cat>
          <c:val>
            <c:numRef>
              <c:f>Best!$C$2:$C$6</c:f>
              <c:numCache>
                <c:formatCode>0.00%</c:formatCode>
                <c:ptCount val="5"/>
                <c:pt idx="0">
                  <c:v>0.86675224625106795</c:v>
                </c:pt>
                <c:pt idx="1">
                  <c:v>0.49261446811674403</c:v>
                </c:pt>
                <c:pt idx="2">
                  <c:v>0.92173676705248797</c:v>
                </c:pt>
                <c:pt idx="3">
                  <c:v>0.90574954299702104</c:v>
                </c:pt>
                <c:pt idx="4">
                  <c:v>0.51685875347626098</c:v>
                </c:pt>
              </c:numCache>
            </c:numRef>
          </c:val>
        </c:ser>
        <c:ser>
          <c:idx val="2"/>
          <c:order val="2"/>
          <c:tx>
            <c:strRef>
              <c:f>Best!$D$1</c:f>
              <c:strCache>
                <c:ptCount val="1"/>
                <c:pt idx="0">
                  <c:v>Iterated List Contingency Table</c:v>
                </c:pt>
              </c:strCache>
            </c:strRef>
          </c:tx>
          <c:cat>
            <c:strRef>
              <c:f>Best!$A$2:$A$6</c:f>
              <c:strCache>
                <c:ptCount val="5"/>
                <c:pt idx="0">
                  <c:v>Length of arity list</c:v>
                </c:pt>
                <c:pt idx="1">
                  <c:v>Values of aritys</c:v>
                </c:pt>
                <c:pt idx="2">
                  <c:v>Number of records (non-distinct)</c:v>
                </c:pt>
                <c:pt idx="3">
                  <c:v>Number of records (distinct)</c:v>
                </c:pt>
                <c:pt idx="4">
                  <c:v>Length of attribute list</c:v>
                </c:pt>
              </c:strCache>
            </c:strRef>
          </c:cat>
          <c:val>
            <c:numRef>
              <c:f>Best!$D$2:$D$6</c:f>
              <c:numCache>
                <c:formatCode>0.00%</c:formatCode>
                <c:ptCount val="5"/>
                <c:pt idx="0">
                  <c:v>0.66179656361163008</c:v>
                </c:pt>
                <c:pt idx="1">
                  <c:v>0.34391991062513999</c:v>
                </c:pt>
                <c:pt idx="2">
                  <c:v>0.6977352574776331</c:v>
                </c:pt>
                <c:pt idx="3">
                  <c:v>0.74027254040071799</c:v>
                </c:pt>
                <c:pt idx="4">
                  <c:v>0.38210962039465513</c:v>
                </c:pt>
              </c:numCache>
            </c:numRef>
          </c:val>
        </c:ser>
        <c:ser>
          <c:idx val="3"/>
          <c:order val="3"/>
          <c:tx>
            <c:strRef>
              <c:f>Best!$E$1</c:f>
              <c:strCache>
                <c:ptCount val="1"/>
                <c:pt idx="0">
                  <c:v>Dict Contingency Table</c:v>
                </c:pt>
              </c:strCache>
            </c:strRef>
          </c:tx>
          <c:cat>
            <c:strRef>
              <c:f>Best!$A$2:$A$6</c:f>
              <c:strCache>
                <c:ptCount val="5"/>
                <c:pt idx="0">
                  <c:v>Length of arity list</c:v>
                </c:pt>
                <c:pt idx="1">
                  <c:v>Values of aritys</c:v>
                </c:pt>
                <c:pt idx="2">
                  <c:v>Number of records (non-distinct)</c:v>
                </c:pt>
                <c:pt idx="3">
                  <c:v>Number of records (distinct)</c:v>
                </c:pt>
                <c:pt idx="4">
                  <c:v>Length of attribute list</c:v>
                </c:pt>
              </c:strCache>
            </c:strRef>
          </c:cat>
          <c:val>
            <c:numRef>
              <c:f>Best!$E$2:$E$6</c:f>
              <c:numCache>
                <c:formatCode>0.00%</c:formatCode>
                <c:ptCount val="5"/>
                <c:pt idx="0">
                  <c:v>0.83056484932055197</c:v>
                </c:pt>
                <c:pt idx="1">
                  <c:v>0.52590980429660805</c:v>
                </c:pt>
                <c:pt idx="2">
                  <c:v>0.8641890278394071</c:v>
                </c:pt>
                <c:pt idx="3">
                  <c:v>0.9518750281931232</c:v>
                </c:pt>
                <c:pt idx="4">
                  <c:v>0.63135727828396904</c:v>
                </c:pt>
              </c:numCache>
            </c:numRef>
          </c:val>
        </c:ser>
        <c:ser>
          <c:idx val="4"/>
          <c:order val="4"/>
          <c:tx>
            <c:strRef>
              <c:f>Best!$F$1</c:f>
              <c:strCache>
                <c:ptCount val="1"/>
                <c:pt idx="0">
                  <c:v>Iterated Dict Contingency Table</c:v>
                </c:pt>
              </c:strCache>
            </c:strRef>
          </c:tx>
          <c:cat>
            <c:strRef>
              <c:f>Best!$A$2:$A$6</c:f>
              <c:strCache>
                <c:ptCount val="5"/>
                <c:pt idx="0">
                  <c:v>Length of arity list</c:v>
                </c:pt>
                <c:pt idx="1">
                  <c:v>Values of aritys</c:v>
                </c:pt>
                <c:pt idx="2">
                  <c:v>Number of records (non-distinct)</c:v>
                </c:pt>
                <c:pt idx="3">
                  <c:v>Number of records (distinct)</c:v>
                </c:pt>
                <c:pt idx="4">
                  <c:v>Length of attribute list</c:v>
                </c:pt>
              </c:strCache>
            </c:strRef>
          </c:cat>
          <c:val>
            <c:numRef>
              <c:f>Best!$F$2:$F$6</c:f>
              <c:numCache>
                <c:formatCode>0.00%</c:formatCode>
                <c:ptCount val="5"/>
                <c:pt idx="0">
                  <c:v>0.69917856121786393</c:v>
                </c:pt>
                <c:pt idx="1">
                  <c:v>0.52234528211792597</c:v>
                </c:pt>
                <c:pt idx="2">
                  <c:v>0.69839031132047713</c:v>
                </c:pt>
                <c:pt idx="3">
                  <c:v>0.79624595423691602</c:v>
                </c:pt>
                <c:pt idx="4">
                  <c:v>0.53578955224205904</c:v>
                </c:pt>
              </c:numCache>
            </c:numRef>
          </c:val>
        </c:ser>
        <c:ser>
          <c:idx val="5"/>
          <c:order val="5"/>
          <c:tx>
            <c:strRef>
              <c:f>Best!$G$1</c:f>
              <c:strCache>
                <c:ptCount val="1"/>
                <c:pt idx="0">
                  <c:v>Tree Contingency Table</c:v>
                </c:pt>
              </c:strCache>
            </c:strRef>
          </c:tx>
          <c:cat>
            <c:strRef>
              <c:f>Best!$A$2:$A$6</c:f>
              <c:strCache>
                <c:ptCount val="5"/>
                <c:pt idx="0">
                  <c:v>Length of arity list</c:v>
                </c:pt>
                <c:pt idx="1">
                  <c:v>Values of aritys</c:v>
                </c:pt>
                <c:pt idx="2">
                  <c:v>Number of records (non-distinct)</c:v>
                </c:pt>
                <c:pt idx="3">
                  <c:v>Number of records (distinct)</c:v>
                </c:pt>
                <c:pt idx="4">
                  <c:v>Length of attribute list</c:v>
                </c:pt>
              </c:strCache>
            </c:strRef>
          </c:cat>
          <c:val>
            <c:numRef>
              <c:f>Best!$G$2:$G$6</c:f>
              <c:numCache>
                <c:formatCode>0.00%</c:formatCode>
                <c:ptCount val="5"/>
                <c:pt idx="0">
                  <c:v>0.65680872124105705</c:v>
                </c:pt>
                <c:pt idx="1">
                  <c:v>0.57169835850082806</c:v>
                </c:pt>
                <c:pt idx="2">
                  <c:v>0.63618805341748419</c:v>
                </c:pt>
                <c:pt idx="3">
                  <c:v>0.66557113291862213</c:v>
                </c:pt>
                <c:pt idx="4">
                  <c:v>0.89633284345690889</c:v>
                </c:pt>
              </c:numCache>
            </c:numRef>
          </c:val>
        </c:ser>
        <c:ser>
          <c:idx val="6"/>
          <c:order val="6"/>
          <c:tx>
            <c:strRef>
              <c:f>Best!$H$1</c:f>
              <c:strCache>
                <c:ptCount val="1"/>
                <c:pt idx="0">
                  <c:v>Iterated Tree Contingency Table</c:v>
                </c:pt>
              </c:strCache>
            </c:strRef>
          </c:tx>
          <c:cat>
            <c:strRef>
              <c:f>Best!$A$2:$A$6</c:f>
              <c:strCache>
                <c:ptCount val="5"/>
                <c:pt idx="0">
                  <c:v>Length of arity list</c:v>
                </c:pt>
                <c:pt idx="1">
                  <c:v>Values of aritys</c:v>
                </c:pt>
                <c:pt idx="2">
                  <c:v>Number of records (non-distinct)</c:v>
                </c:pt>
                <c:pt idx="3">
                  <c:v>Number of records (distinct)</c:v>
                </c:pt>
                <c:pt idx="4">
                  <c:v>Length of attribute list</c:v>
                </c:pt>
              </c:strCache>
            </c:strRef>
          </c:cat>
          <c:val>
            <c:numRef>
              <c:f>Best!$H$2:$H$6</c:f>
              <c:numCache>
                <c:formatCode>0.00%</c:formatCode>
                <c:ptCount val="5"/>
                <c:pt idx="0">
                  <c:v>0.79168922874971404</c:v>
                </c:pt>
                <c:pt idx="1">
                  <c:v>0.3484255969666421</c:v>
                </c:pt>
                <c:pt idx="2">
                  <c:v>0.77797821395535116</c:v>
                </c:pt>
                <c:pt idx="3">
                  <c:v>0.8042456051691681</c:v>
                </c:pt>
                <c:pt idx="4">
                  <c:v>0.64954336379267397</c:v>
                </c:pt>
              </c:numCache>
            </c:numRef>
          </c:val>
        </c:ser>
        <c:axId val="57606528"/>
        <c:axId val="57608064"/>
      </c:radarChart>
      <c:catAx>
        <c:axId val="57606528"/>
        <c:scaling>
          <c:orientation val="minMax"/>
        </c:scaling>
        <c:axPos val="b"/>
        <c:majorGridlines/>
        <c:majorTickMark val="none"/>
        <c:tickLblPos val="nextTo"/>
        <c:txPr>
          <a:bodyPr/>
          <a:lstStyle/>
          <a:p>
            <a:pPr>
              <a:defRPr sz="1600"/>
            </a:pPr>
            <a:endParaRPr lang="zh-CN"/>
          </a:p>
        </c:txPr>
        <c:crossAx val="57608064"/>
        <c:crosses val="autoZero"/>
        <c:auto val="1"/>
        <c:lblAlgn val="ctr"/>
        <c:lblOffset val="100"/>
      </c:catAx>
      <c:valAx>
        <c:axId val="57608064"/>
        <c:scaling>
          <c:orientation val="minMax"/>
        </c:scaling>
        <c:axPos val="l"/>
        <c:majorGridlines/>
        <c:numFmt formatCode="0.00%" sourceLinked="1"/>
        <c:majorTickMark val="none"/>
        <c:tickLblPos val="nextTo"/>
        <c:txPr>
          <a:bodyPr/>
          <a:lstStyle/>
          <a:p>
            <a:pPr>
              <a:defRPr sz="1050"/>
            </a:pPr>
            <a:endParaRPr lang="zh-CN"/>
          </a:p>
        </c:txPr>
        <c:crossAx val="5760652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7450974605992253"/>
          <c:y val="0.37985413109935517"/>
          <c:w val="0.29185710637956447"/>
          <c:h val="0.29947789164041755"/>
        </c:manualLayout>
      </c:layout>
      <c:txPr>
        <a:bodyPr/>
        <a:lstStyle/>
        <a:p>
          <a:pPr>
            <a:defRPr sz="1300"/>
          </a:pPr>
          <a:endParaRPr lang="zh-CN"/>
        </a:p>
      </c:txPr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Best!$A$7</c:f>
              <c:strCache>
                <c:ptCount val="1"/>
                <c:pt idx="0">
                  <c:v>Overall Optimization</c:v>
                </c:pt>
              </c:strCache>
            </c:strRef>
          </c:tx>
          <c:dLbls>
            <c:txPr>
              <a:bodyPr/>
              <a:lstStyle/>
              <a:p>
                <a:pPr>
                  <a:defRPr sz="1600"/>
                </a:pPr>
                <a:endParaRPr lang="zh-CN"/>
              </a:p>
            </c:txPr>
            <c:showVal val="1"/>
          </c:dLbls>
          <c:cat>
            <c:strRef>
              <c:f>Best!$B$1:$H$1</c:f>
              <c:strCache>
                <c:ptCount val="7"/>
                <c:pt idx="0">
                  <c:v>Full Contingency Table</c:v>
                </c:pt>
                <c:pt idx="1">
                  <c:v>List Contingency Table</c:v>
                </c:pt>
                <c:pt idx="2">
                  <c:v>Iterated List Contingency Table</c:v>
                </c:pt>
                <c:pt idx="3">
                  <c:v>Dict Contingency Table</c:v>
                </c:pt>
                <c:pt idx="4">
                  <c:v>Iterated Dict Contingency Table</c:v>
                </c:pt>
                <c:pt idx="5">
                  <c:v>Tree Contingency Table</c:v>
                </c:pt>
                <c:pt idx="6">
                  <c:v>Iterated Tree Contingency Table</c:v>
                </c:pt>
              </c:strCache>
            </c:strRef>
          </c:cat>
          <c:val>
            <c:numRef>
              <c:f>Best!$B$7:$H$7</c:f>
              <c:numCache>
                <c:formatCode>0.00%</c:formatCode>
                <c:ptCount val="7"/>
                <c:pt idx="0">
                  <c:v>1</c:v>
                </c:pt>
                <c:pt idx="1">
                  <c:v>0.74074235557871615</c:v>
                </c:pt>
                <c:pt idx="2">
                  <c:v>0.56516677850195485</c:v>
                </c:pt>
                <c:pt idx="3">
                  <c:v>0.76077919758673218</c:v>
                </c:pt>
                <c:pt idx="4">
                  <c:v>0.65038993222704811</c:v>
                </c:pt>
                <c:pt idx="5">
                  <c:v>0.68531982190697993</c:v>
                </c:pt>
                <c:pt idx="6">
                  <c:v>0.67437640172670998</c:v>
                </c:pt>
              </c:numCache>
            </c:numRef>
          </c:val>
        </c:ser>
        <c:dLbls>
          <c:showVal val="1"/>
        </c:dLbls>
        <c:axId val="57653120"/>
        <c:axId val="57654656"/>
      </c:barChart>
      <c:catAx>
        <c:axId val="57653120"/>
        <c:scaling>
          <c:orientation val="minMax"/>
        </c:scaling>
        <c:axPos val="b"/>
        <c:tickLblPos val="nextTo"/>
        <c:txPr>
          <a:bodyPr/>
          <a:lstStyle/>
          <a:p>
            <a:pPr>
              <a:defRPr sz="1600"/>
            </a:pPr>
            <a:endParaRPr lang="zh-CN"/>
          </a:p>
        </c:txPr>
        <c:crossAx val="57654656"/>
        <c:crosses val="autoZero"/>
        <c:auto val="1"/>
        <c:lblAlgn val="ctr"/>
        <c:lblOffset val="100"/>
      </c:catAx>
      <c:valAx>
        <c:axId val="57654656"/>
        <c:scaling>
          <c:orientation val="minMax"/>
        </c:scaling>
        <c:axPos val="l"/>
        <c:majorGridlines/>
        <c:numFmt formatCode="0.00%" sourceLinked="1"/>
        <c:tickLblPos val="nextTo"/>
        <c:crossAx val="57653120"/>
        <c:crosses val="autoZero"/>
        <c:crossBetween val="between"/>
      </c:valAx>
    </c:plotArea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ED7CF-2CD2-4D67-B77A-522F36BCD030}" type="datetimeFigureOut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3148B-22AF-4E67-A3E4-D185267F6A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Contingency</a:t>
            </a:r>
            <a:r>
              <a:rPr lang="en-US" altLang="zh-CN" baseline="0" dirty="0" smtClean="0"/>
              <a:t> tables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Sparse ADtree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Alternative</a:t>
            </a:r>
            <a:r>
              <a:rPr lang="en-US" altLang="zh-CN" baseline="0" dirty="0" smtClean="0"/>
              <a:t> design </a:t>
            </a:r>
            <a:r>
              <a:rPr lang="en-US" altLang="zh-CN" baseline="0" smtClean="0"/>
              <a:t>and implementation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List Contingency Table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Tree Contingency Table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Iteration instead of</a:t>
            </a:r>
            <a:r>
              <a:rPr lang="en-US" altLang="zh-CN" baseline="0" dirty="0" smtClean="0"/>
              <a:t> Recursion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Iteration instead of</a:t>
            </a:r>
            <a:r>
              <a:rPr lang="en-US" altLang="zh-CN" baseline="0" dirty="0" smtClean="0"/>
              <a:t> Recursion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5 aspects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overall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Conclusions and Further work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3148B-22AF-4E67-A3E4-D185267F6A0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2052860-41F7-4228-8D1F-685899D8FF0B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EB60-DCA6-4F0E-9011-81AD51B696D5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C658BDE-45BA-416E-91ED-EF62C072010B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2F95-720E-4BF2-AEAA-7FB0F1E46ECF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5D4BC-75C3-4E0D-8EA4-9DF190C0BF46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C6EE-78F7-47D4-A8D3-B294F9321DBA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E702-BAA4-4EE3-94F9-5E876D34476C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直接连接符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CC7B-539B-4A11-8A24-8E26BA5F3F85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内容占位符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ED06-CCF1-461E-9EF7-B542C1DFE2A3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939-1283-4BD2-9E2F-E94DC3CC9310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50ED-AE50-4AA2-8DC5-1EBC8B358F94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2E5F156-844F-43F4-BA27-856288C2021C}" type="datetime1">
              <a:rPr lang="zh-CN" altLang="en-US" smtClean="0"/>
              <a:pPr/>
              <a:t>2012/9/18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GB" altLang="zh-CN" smtClean="0"/>
              <a:t>University of York</a:t>
            </a:r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8" name="直接连接符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接连接符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19200" y="3786190"/>
            <a:ext cx="6858000" cy="990600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latin typeface="Cambria" pitchFamily="18" charset="0"/>
                <a:cs typeface="Times New Roman" pitchFamily="18" charset="0"/>
              </a:rPr>
              <a:t>Computing Contingency Tables</a:t>
            </a:r>
            <a:br>
              <a:rPr lang="en-US" altLang="zh-CN" dirty="0" smtClean="0">
                <a:latin typeface="Cambria" pitchFamily="18" charset="0"/>
                <a:cs typeface="Times New Roman" pitchFamily="18" charset="0"/>
              </a:rPr>
            </a:br>
            <a:r>
              <a:rPr lang="en-US" altLang="zh-CN" dirty="0" smtClean="0">
                <a:latin typeface="Cambria" pitchFamily="18" charset="0"/>
                <a:cs typeface="Times New Roman" pitchFamily="18" charset="0"/>
              </a:rPr>
              <a:t>from Sparse ADtrees in Python</a:t>
            </a:r>
            <a:endParaRPr lang="zh-CN" altLang="en-US" dirty="0"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28728" y="5072074"/>
            <a:ext cx="6858000" cy="662004"/>
          </a:xfrm>
        </p:spPr>
        <p:txBody>
          <a:bodyPr>
            <a:norm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dirty="0" smtClean="0">
                <a:latin typeface="Cambria" pitchFamily="18" charset="0"/>
                <a:cs typeface="Calibri" pitchFamily="34" charset="0"/>
              </a:rPr>
              <a:t>				Student name:       </a:t>
            </a:r>
            <a:r>
              <a:rPr lang="en-US" altLang="zh-CN" dirty="0" err="1" smtClean="0">
                <a:latin typeface="Cambria" pitchFamily="18" charset="0"/>
                <a:cs typeface="Calibri" pitchFamily="34" charset="0"/>
              </a:rPr>
              <a:t>Fei</a:t>
            </a:r>
            <a:r>
              <a:rPr lang="en-US" altLang="zh-CN" dirty="0" smtClean="0">
                <a:latin typeface="Cambria" pitchFamily="18" charset="0"/>
                <a:cs typeface="Calibri" pitchFamily="34" charset="0"/>
              </a:rPr>
              <a:t> Ding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dirty="0" smtClean="0">
                <a:latin typeface="Cambria" pitchFamily="18" charset="0"/>
                <a:cs typeface="Calibri" pitchFamily="34" charset="0"/>
              </a:rPr>
              <a:t>				Supervisor: James </a:t>
            </a:r>
            <a:r>
              <a:rPr lang="en-US" altLang="zh-CN" dirty="0" err="1" smtClean="0">
                <a:latin typeface="Cambria" pitchFamily="18" charset="0"/>
                <a:cs typeface="Calibri" pitchFamily="34" charset="0"/>
              </a:rPr>
              <a:t>Cussens</a:t>
            </a:r>
            <a:endParaRPr lang="zh-CN" altLang="en-US" dirty="0">
              <a:latin typeface="Cambria" pitchFamily="18" charset="0"/>
              <a:cs typeface="Calibri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altLang="zh-CN" dirty="0" smtClean="0"/>
              <a:t>University of York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600" b="1" dirty="0" smtClean="0">
                <a:latin typeface="Cambria" pitchFamily="18" charset="0"/>
              </a:rPr>
              <a:t>1. Contingency Tables and Sparse ADtrees </a:t>
            </a:r>
            <a:endParaRPr lang="zh-CN" altLang="en-US" sz="2600" b="1" dirty="0">
              <a:latin typeface="Cambria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491636"/>
            <a:ext cx="8229600" cy="4937760"/>
          </a:xfrm>
        </p:spPr>
        <p:txBody>
          <a:bodyPr/>
          <a:lstStyle/>
          <a:p>
            <a:r>
              <a:rPr lang="en-US" altLang="zh-CN" dirty="0" smtClean="0"/>
              <a:t>Data </a:t>
            </a:r>
            <a:r>
              <a:rPr lang="en-US" altLang="zh-CN" dirty="0" smtClean="0"/>
              <a:t>Cube and </a:t>
            </a:r>
            <a:r>
              <a:rPr lang="en-US" altLang="zh-CN" dirty="0" smtClean="0"/>
              <a:t>Contingency Tables</a:t>
            </a:r>
          </a:p>
          <a:p>
            <a:pPr lvl="1"/>
            <a:r>
              <a:rPr lang="en-US" altLang="zh-CN" sz="2000" b="1" dirty="0" smtClean="0"/>
              <a:t>Data cube </a:t>
            </a:r>
            <a:r>
              <a:rPr lang="en-US" altLang="zh-CN" sz="2000" dirty="0" smtClean="0"/>
              <a:t>is a two-dimensional matrix representing counts</a:t>
            </a:r>
            <a:r>
              <a:rPr lang="en-US" altLang="zh-CN" sz="2000" b="1" dirty="0" smtClean="0"/>
              <a:t> </a:t>
            </a:r>
            <a:r>
              <a:rPr lang="en-US" altLang="zh-CN" sz="2000" dirty="0" smtClean="0"/>
              <a:t>of different combination of attributes.</a:t>
            </a:r>
            <a:endParaRPr lang="en-US" altLang="zh-CN" sz="2000" dirty="0" smtClean="0"/>
          </a:p>
          <a:p>
            <a:pPr lvl="1">
              <a:buNone/>
            </a:pPr>
            <a:r>
              <a:rPr lang="en-US" altLang="zh-CN" sz="2000" dirty="0" smtClean="0"/>
              <a:t>	</a:t>
            </a:r>
            <a:r>
              <a:rPr lang="en-US" altLang="zh-CN" sz="2000" b="1" dirty="0" smtClean="0"/>
              <a:t>Contingency Table </a:t>
            </a:r>
            <a:r>
              <a:rPr lang="en-US" altLang="zh-CN" sz="2000" dirty="0" smtClean="0"/>
              <a:t>is a smaller table for the counts of only several attributes.  [Moore &amp; Lee 1998]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85786" y="3452245"/>
          <a:ext cx="3643340" cy="2548523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910835"/>
                <a:gridCol w="910835"/>
                <a:gridCol w="910835"/>
                <a:gridCol w="910835"/>
              </a:tblGrid>
              <a:tr h="3539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Gender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Age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Height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09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09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09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09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09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091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右箭头 5"/>
          <p:cNvSpPr/>
          <p:nvPr/>
        </p:nvSpPr>
        <p:spPr>
          <a:xfrm>
            <a:off x="4572000" y="4601100"/>
            <a:ext cx="500066" cy="21431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857356" y="5957848"/>
            <a:ext cx="1071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Data Set</a:t>
            </a:r>
            <a:endParaRPr lang="zh-CN" alt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5786446" y="5957848"/>
            <a:ext cx="2286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Contingency Table</a:t>
            </a:r>
            <a:endParaRPr lang="zh-CN" altLang="en-US" sz="2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214942" y="3465073"/>
          <a:ext cx="3214710" cy="2529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1071570"/>
                <a:gridCol w="1071570"/>
                <a:gridCol w="1071570"/>
              </a:tblGrid>
              <a:tr h="327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Gender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Height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4519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4519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4519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4519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4519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4519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altLang="zh-CN" dirty="0" smtClean="0"/>
              <a:t>University of York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600" b="1" dirty="0" smtClean="0">
                <a:latin typeface="Cambria" pitchFamily="18" charset="0"/>
              </a:rPr>
              <a:t>1. Contingency Tables and Sparse ADtrees </a:t>
            </a:r>
            <a:endParaRPr lang="zh-CN" altLang="en-US" sz="2600" b="1" dirty="0">
              <a:latin typeface="Cambria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4422"/>
            <a:ext cx="8229600" cy="4937760"/>
          </a:xfrm>
        </p:spPr>
        <p:txBody>
          <a:bodyPr/>
          <a:lstStyle/>
          <a:p>
            <a:r>
              <a:rPr lang="en-US" altLang="zh-CN" dirty="0" smtClean="0"/>
              <a:t>Sparse ADtrees</a:t>
            </a:r>
          </a:p>
          <a:p>
            <a:pPr marL="277813" lvl="1" indent="-276225">
              <a:buNone/>
            </a:pPr>
            <a:r>
              <a:rPr lang="en-US" altLang="zh-CN" dirty="0" smtClean="0"/>
              <a:t>	Sparse ADtree(All-Dimensions tree) is a tree with two type of nodes: ADnodes and Vary nodes,  and omits the most common value nodes and those nodes with zero counts.  [Moore &amp; Lee 1998]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285720" y="2786058"/>
            <a:ext cx="8643998" cy="4500594"/>
            <a:chOff x="285720" y="2285992"/>
            <a:chExt cx="8643998" cy="4500570"/>
          </a:xfrm>
        </p:grpSpPr>
        <p:sp>
          <p:nvSpPr>
            <p:cNvPr id="9" name="矩形 8"/>
            <p:cNvSpPr/>
            <p:nvPr/>
          </p:nvSpPr>
          <p:spPr>
            <a:xfrm>
              <a:off x="4214810" y="2285992"/>
              <a:ext cx="100013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# = 100</a:t>
              </a:r>
              <a:endParaRPr lang="zh-CN" altLang="en-US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785786" y="3178967"/>
              <a:ext cx="150019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MCV = 2</a:t>
              </a:r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428596" y="4071942"/>
              <a:ext cx="100013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# = 40</a:t>
              </a:r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500166" y="4071942"/>
              <a:ext cx="1000132" cy="4286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# = 60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571736" y="4071942"/>
              <a:ext cx="1000132" cy="4286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# = 60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643306" y="4071942"/>
              <a:ext cx="100013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# = 20</a:t>
              </a:r>
              <a:endParaRPr lang="zh-CN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4714876" y="4071942"/>
              <a:ext cx="100013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# = 20</a:t>
              </a:r>
              <a:endParaRPr lang="zh-CN" altLang="en-US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5786446" y="4071942"/>
              <a:ext cx="1000132" cy="4286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# = 40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858016" y="4071942"/>
              <a:ext cx="100013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# = 30</a:t>
              </a:r>
              <a:endParaRPr lang="zh-CN" altLang="en-US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29586" y="4071942"/>
              <a:ext cx="100013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# = 30</a:t>
              </a:r>
              <a:endParaRPr lang="zh-CN" altLang="en-US" dirty="0"/>
            </a:p>
          </p:txBody>
        </p:sp>
        <p:sp>
          <p:nvSpPr>
            <p:cNvPr id="26" name="椭圆 25"/>
            <p:cNvSpPr/>
            <p:nvPr/>
          </p:nvSpPr>
          <p:spPr>
            <a:xfrm>
              <a:off x="3428992" y="3178967"/>
              <a:ext cx="150019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MCV = 1</a:t>
              </a:r>
              <a:endParaRPr lang="zh-CN" altLang="en-US" dirty="0"/>
            </a:p>
          </p:txBody>
        </p:sp>
        <p:sp>
          <p:nvSpPr>
            <p:cNvPr id="27" name="椭圆 26"/>
            <p:cNvSpPr/>
            <p:nvPr/>
          </p:nvSpPr>
          <p:spPr>
            <a:xfrm>
              <a:off x="6572264" y="3178967"/>
              <a:ext cx="150019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MCV = 1</a:t>
              </a:r>
              <a:endParaRPr lang="zh-CN" altLang="en-US" dirty="0"/>
            </a:p>
          </p:txBody>
        </p:sp>
        <p:sp>
          <p:nvSpPr>
            <p:cNvPr id="28" name="椭圆 27"/>
            <p:cNvSpPr/>
            <p:nvPr/>
          </p:nvSpPr>
          <p:spPr>
            <a:xfrm>
              <a:off x="285720" y="4929198"/>
              <a:ext cx="150019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MCV = 2</a:t>
              </a:r>
              <a:endParaRPr lang="zh-CN" altLang="en-US" dirty="0"/>
            </a:p>
          </p:txBody>
        </p:sp>
        <p:sp>
          <p:nvSpPr>
            <p:cNvPr id="29" name="椭圆 28"/>
            <p:cNvSpPr/>
            <p:nvPr/>
          </p:nvSpPr>
          <p:spPr>
            <a:xfrm>
              <a:off x="3428992" y="4929198"/>
              <a:ext cx="150019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MCV = 3</a:t>
              </a:r>
              <a:endParaRPr lang="zh-CN" altLang="en-US" dirty="0"/>
            </a:p>
          </p:txBody>
        </p:sp>
        <p:sp>
          <p:nvSpPr>
            <p:cNvPr id="30" name="椭圆 29"/>
            <p:cNvSpPr/>
            <p:nvPr/>
          </p:nvSpPr>
          <p:spPr>
            <a:xfrm>
              <a:off x="5000628" y="4929198"/>
              <a:ext cx="150019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MCV = 1</a:t>
              </a:r>
              <a:endParaRPr lang="zh-CN" altLang="en-US" dirty="0"/>
            </a:p>
          </p:txBody>
        </p:sp>
        <p:cxnSp>
          <p:nvCxnSpPr>
            <p:cNvPr id="33" name="直接连接符 32"/>
            <p:cNvCxnSpPr>
              <a:stCxn id="9" idx="2"/>
              <a:endCxn id="10" idx="0"/>
            </p:cNvCxnSpPr>
            <p:nvPr/>
          </p:nvCxnSpPr>
          <p:spPr>
            <a:xfrm rot="5400000">
              <a:off x="2893208" y="1357298"/>
              <a:ext cx="464347" cy="317899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9" idx="2"/>
              <a:endCxn id="26" idx="0"/>
            </p:cNvCxnSpPr>
            <p:nvPr/>
          </p:nvCxnSpPr>
          <p:spPr>
            <a:xfrm rot="5400000">
              <a:off x="4214811" y="2678901"/>
              <a:ext cx="464347" cy="53578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>
              <a:endCxn id="27" idx="0"/>
            </p:cNvCxnSpPr>
            <p:nvPr/>
          </p:nvCxnSpPr>
          <p:spPr>
            <a:xfrm>
              <a:off x="4714876" y="2786058"/>
              <a:ext cx="2607487" cy="39290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>
              <a:stCxn id="10" idx="4"/>
              <a:endCxn id="13" idx="0"/>
            </p:cNvCxnSpPr>
            <p:nvPr/>
          </p:nvCxnSpPr>
          <p:spPr>
            <a:xfrm rot="5400000">
              <a:off x="1035820" y="3571876"/>
              <a:ext cx="392909" cy="60722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10" idx="4"/>
            </p:cNvCxnSpPr>
            <p:nvPr/>
          </p:nvCxnSpPr>
          <p:spPr>
            <a:xfrm rot="16200000" flipH="1">
              <a:off x="1607323" y="3607594"/>
              <a:ext cx="321471" cy="464347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26" idx="4"/>
              <a:endCxn id="15" idx="0"/>
            </p:cNvCxnSpPr>
            <p:nvPr/>
          </p:nvCxnSpPr>
          <p:spPr>
            <a:xfrm rot="5400000">
              <a:off x="3428993" y="3321843"/>
              <a:ext cx="392909" cy="110728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26" idx="4"/>
              <a:endCxn id="16" idx="0"/>
            </p:cNvCxnSpPr>
            <p:nvPr/>
          </p:nvCxnSpPr>
          <p:spPr>
            <a:xfrm rot="5400000">
              <a:off x="3964778" y="3857628"/>
              <a:ext cx="392909" cy="3571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26" idx="4"/>
              <a:endCxn id="17" idx="0"/>
            </p:cNvCxnSpPr>
            <p:nvPr/>
          </p:nvCxnSpPr>
          <p:spPr>
            <a:xfrm rot="16200000" flipH="1">
              <a:off x="4500562" y="3357561"/>
              <a:ext cx="392909" cy="103585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27" idx="4"/>
              <a:endCxn id="18" idx="0"/>
            </p:cNvCxnSpPr>
            <p:nvPr/>
          </p:nvCxnSpPr>
          <p:spPr>
            <a:xfrm rot="5400000">
              <a:off x="6607984" y="3357562"/>
              <a:ext cx="392909" cy="103585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27" idx="4"/>
              <a:endCxn id="19" idx="0"/>
            </p:cNvCxnSpPr>
            <p:nvPr/>
          </p:nvCxnSpPr>
          <p:spPr>
            <a:xfrm rot="16200000" flipH="1">
              <a:off x="7143768" y="3857627"/>
              <a:ext cx="392909" cy="3571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>
              <a:stCxn id="27" idx="4"/>
              <a:endCxn id="20" idx="0"/>
            </p:cNvCxnSpPr>
            <p:nvPr/>
          </p:nvCxnSpPr>
          <p:spPr>
            <a:xfrm rot="16200000" flipH="1">
              <a:off x="7679553" y="3321842"/>
              <a:ext cx="392909" cy="110728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>
              <a:endCxn id="28" idx="0"/>
            </p:cNvCxnSpPr>
            <p:nvPr/>
          </p:nvCxnSpPr>
          <p:spPr>
            <a:xfrm rot="16200000" flipH="1">
              <a:off x="732207" y="4625586"/>
              <a:ext cx="500066" cy="107157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>
              <a:stCxn id="16" idx="2"/>
              <a:endCxn id="29" idx="0"/>
            </p:cNvCxnSpPr>
            <p:nvPr/>
          </p:nvCxnSpPr>
          <p:spPr>
            <a:xfrm rot="16200000" flipH="1">
              <a:off x="3946917" y="4697024"/>
              <a:ext cx="428628" cy="3571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>
              <a:stCxn id="17" idx="2"/>
              <a:endCxn id="30" idx="0"/>
            </p:cNvCxnSpPr>
            <p:nvPr/>
          </p:nvCxnSpPr>
          <p:spPr>
            <a:xfrm rot="16200000" flipH="1">
              <a:off x="5268520" y="4446991"/>
              <a:ext cx="428628" cy="53578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矩形 63"/>
            <p:cNvSpPr/>
            <p:nvPr/>
          </p:nvSpPr>
          <p:spPr>
            <a:xfrm>
              <a:off x="428596" y="5715016"/>
              <a:ext cx="100013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# = 10</a:t>
              </a:r>
              <a:endParaRPr lang="zh-CN" altLang="en-US" dirty="0"/>
            </a:p>
          </p:txBody>
        </p:sp>
        <p:sp>
          <p:nvSpPr>
            <p:cNvPr id="65" name="矩形 64"/>
            <p:cNvSpPr/>
            <p:nvPr/>
          </p:nvSpPr>
          <p:spPr>
            <a:xfrm>
              <a:off x="1500166" y="5715016"/>
              <a:ext cx="1000132" cy="4286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# = 20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2571736" y="5715016"/>
              <a:ext cx="100013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# = 10</a:t>
              </a:r>
              <a:endParaRPr lang="zh-CN" altLang="en-US" dirty="0"/>
            </a:p>
          </p:txBody>
        </p:sp>
        <p:cxnSp>
          <p:nvCxnSpPr>
            <p:cNvPr id="68" name="直接连接符 67"/>
            <p:cNvCxnSpPr>
              <a:stCxn id="28" idx="4"/>
              <a:endCxn id="64" idx="0"/>
            </p:cNvCxnSpPr>
            <p:nvPr/>
          </p:nvCxnSpPr>
          <p:spPr>
            <a:xfrm rot="5400000">
              <a:off x="839365" y="5518562"/>
              <a:ext cx="285752" cy="107157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>
              <a:stCxn id="28" idx="4"/>
              <a:endCxn id="65" idx="0"/>
            </p:cNvCxnSpPr>
            <p:nvPr/>
          </p:nvCxnSpPr>
          <p:spPr>
            <a:xfrm rot="16200000" flipH="1">
              <a:off x="1375149" y="5089933"/>
              <a:ext cx="285752" cy="96441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stCxn id="28" idx="4"/>
              <a:endCxn id="66" idx="0"/>
            </p:cNvCxnSpPr>
            <p:nvPr/>
          </p:nvCxnSpPr>
          <p:spPr>
            <a:xfrm rot="16200000" flipH="1">
              <a:off x="1910934" y="4554148"/>
              <a:ext cx="285752" cy="203598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1967195" y="4572008"/>
              <a:ext cx="461665" cy="6429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b="1" dirty="0" smtClean="0"/>
                <a:t>…</a:t>
              </a:r>
              <a:endParaRPr lang="zh-CN" altLang="en-US" b="1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857488" y="4572008"/>
              <a:ext cx="461665" cy="6429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b="1" dirty="0" smtClean="0"/>
                <a:t>…</a:t>
              </a:r>
              <a:endParaRPr lang="zh-CN" altLang="en-US" b="1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038897" y="5500702"/>
              <a:ext cx="461665" cy="6429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b="1" dirty="0" smtClean="0"/>
                <a:t>……</a:t>
              </a:r>
              <a:endParaRPr lang="zh-CN" altLang="en-US" b="1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610533" y="5500702"/>
              <a:ext cx="461665" cy="6429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b="1" dirty="0" smtClean="0"/>
                <a:t>……</a:t>
              </a:r>
              <a:endParaRPr lang="zh-CN" altLang="en-US" b="1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14348" y="6143620"/>
              <a:ext cx="461665" cy="6429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b="1" dirty="0" smtClean="0"/>
                <a:t>…</a:t>
              </a:r>
              <a:endParaRPr lang="zh-CN" altLang="en-US" b="1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785918" y="6143620"/>
              <a:ext cx="461665" cy="6429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b="1" dirty="0" smtClean="0"/>
                <a:t>…</a:t>
              </a:r>
              <a:endParaRPr lang="zh-CN" altLang="en-US" b="1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857488" y="6143620"/>
              <a:ext cx="461665" cy="6429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b="1" dirty="0" smtClean="0"/>
                <a:t>…</a:t>
              </a:r>
              <a:endParaRPr lang="zh-CN" altLang="en-US" b="1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143108" y="2643182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Gender</a:t>
              </a:r>
              <a:endParaRPr lang="zh-CN" alt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357686" y="2786058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Age</a:t>
              </a:r>
              <a:endParaRPr lang="zh-CN" alt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715008" y="2571744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Height</a:t>
              </a:r>
              <a:endParaRPr lang="zh-CN" alt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00034" y="3643314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Male</a:t>
              </a:r>
              <a:endParaRPr lang="zh-CN" altLang="en-US" dirty="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857356" y="3643314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Female</a:t>
              </a:r>
              <a:endParaRPr lang="zh-CN" altLang="en-US" dirty="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143240" y="3643314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20</a:t>
              </a:r>
              <a:endParaRPr lang="zh-CN" altLang="en-US" dirty="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071934" y="3643314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30</a:t>
              </a:r>
              <a:endParaRPr lang="zh-CN" altLang="en-US" dirty="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786314" y="3643314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40</a:t>
              </a:r>
              <a:endParaRPr lang="zh-CN" altLang="en-US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286512" y="3643314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160</a:t>
              </a:r>
              <a:endParaRPr lang="zh-CN" altLang="en-US" dirty="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929454" y="3643314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170</a:t>
              </a:r>
              <a:endParaRPr lang="zh-CN" altLang="en-US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786710" y="3631172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180</a:t>
              </a:r>
              <a:endParaRPr lang="zh-CN" altLang="en-US" dirty="0"/>
            </a:p>
          </p:txBody>
        </p:sp>
        <p:sp>
          <p:nvSpPr>
            <p:cNvPr id="93" name="椭圆 92"/>
            <p:cNvSpPr/>
            <p:nvPr/>
          </p:nvSpPr>
          <p:spPr>
            <a:xfrm>
              <a:off x="1857356" y="4929198"/>
              <a:ext cx="150019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MCV = 3</a:t>
              </a:r>
              <a:endParaRPr lang="zh-CN" altLang="en-US" dirty="0"/>
            </a:p>
          </p:txBody>
        </p:sp>
        <p:cxnSp>
          <p:nvCxnSpPr>
            <p:cNvPr id="95" name="直接连接符 94"/>
            <p:cNvCxnSpPr>
              <a:stCxn id="13" idx="2"/>
              <a:endCxn id="93" idx="0"/>
            </p:cNvCxnSpPr>
            <p:nvPr/>
          </p:nvCxnSpPr>
          <p:spPr>
            <a:xfrm rot="16200000" flipH="1">
              <a:off x="1553744" y="3875487"/>
              <a:ext cx="428628" cy="167879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571472" y="5357826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20</a:t>
              </a:r>
              <a:endParaRPr lang="zh-CN" altLang="en-US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142976" y="5357826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30</a:t>
              </a:r>
              <a:endParaRPr lang="zh-CN" altLang="en-US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928794" y="5357826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40</a:t>
              </a:r>
              <a:endParaRPr lang="zh-CN" altLang="en-US" dirty="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500298" y="5429264"/>
              <a:ext cx="461665" cy="64294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b="1" dirty="0" smtClean="0"/>
                <a:t>…</a:t>
              </a:r>
              <a:endParaRPr lang="zh-CN" altLang="en-US" b="1" dirty="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00034" y="4572008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Age</a:t>
              </a:r>
              <a:endParaRPr lang="zh-CN" altLang="en-US" dirty="0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14414" y="4559866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Height</a:t>
              </a:r>
              <a:endParaRPr lang="zh-CN" altLang="en-US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143372" y="4572008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Height</a:t>
              </a:r>
              <a:endParaRPr lang="zh-CN" altLang="en-US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5500694" y="4572008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Height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600" b="1" dirty="0" smtClean="0">
                <a:latin typeface="Cambria" pitchFamily="18" charset="0"/>
              </a:rPr>
              <a:t>2. Algorithm Design and Implementation</a:t>
            </a:r>
            <a:endParaRPr lang="zh-CN" altLang="en-US" sz="2600" b="1" dirty="0">
              <a:latin typeface="Cambria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491636"/>
            <a:ext cx="8229600" cy="4937760"/>
          </a:xfrm>
        </p:spPr>
        <p:txBody>
          <a:bodyPr/>
          <a:lstStyle/>
          <a:p>
            <a:r>
              <a:rPr lang="en-US" altLang="zh-CN" dirty="0" smtClean="0"/>
              <a:t>Six alternative algorithms for building Contingency Tables from Sparse ADtrees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285720" y="2428868"/>
            <a:ext cx="9001188" cy="3429024"/>
            <a:chOff x="285720" y="2428868"/>
            <a:chExt cx="9001188" cy="3429024"/>
          </a:xfrm>
        </p:grpSpPr>
        <p:sp>
          <p:nvSpPr>
            <p:cNvPr id="6" name="圆角矩形 5"/>
            <p:cNvSpPr/>
            <p:nvPr/>
          </p:nvSpPr>
          <p:spPr>
            <a:xfrm>
              <a:off x="3428992" y="2428868"/>
              <a:ext cx="2428892" cy="50006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Full Contingency Table</a:t>
              </a:r>
              <a:endParaRPr lang="zh-CN" altLang="en-US" dirty="0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857224" y="4000504"/>
              <a:ext cx="2428892" cy="50006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List Contingency Table</a:t>
              </a:r>
              <a:endParaRPr lang="zh-CN" altLang="en-US" dirty="0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3428992" y="4000504"/>
              <a:ext cx="2428892" cy="50006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Dict Contingency Table</a:t>
              </a:r>
              <a:endParaRPr lang="zh-CN" altLang="en-US" dirty="0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6000760" y="4000504"/>
              <a:ext cx="2428892" cy="50006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Tree Contingency Table</a:t>
              </a:r>
              <a:endParaRPr lang="zh-CN" altLang="en-US" dirty="0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857224" y="5214950"/>
              <a:ext cx="2428892" cy="64294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Iterated</a:t>
              </a:r>
            </a:p>
            <a:p>
              <a:pPr algn="ctr"/>
              <a:r>
                <a:rPr lang="en-US" altLang="zh-CN" dirty="0" smtClean="0"/>
                <a:t>List Contingency Table</a:t>
              </a:r>
              <a:endParaRPr lang="zh-CN" altLang="en-US" dirty="0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3428992" y="5214950"/>
              <a:ext cx="2428892" cy="64294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Iterated</a:t>
              </a:r>
            </a:p>
            <a:p>
              <a:pPr algn="ctr"/>
              <a:r>
                <a:rPr lang="en-US" altLang="zh-CN" dirty="0" smtClean="0"/>
                <a:t>Dict Contingency Table</a:t>
              </a:r>
              <a:endParaRPr lang="zh-CN" altLang="en-US" dirty="0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6000760" y="5214950"/>
              <a:ext cx="2428892" cy="64294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Iterated</a:t>
              </a:r>
            </a:p>
            <a:p>
              <a:pPr algn="ctr"/>
              <a:r>
                <a:rPr lang="en-US" altLang="zh-CN" dirty="0" smtClean="0"/>
                <a:t>Tree Contingency Table</a:t>
              </a:r>
              <a:endParaRPr lang="zh-CN" altLang="en-US" dirty="0"/>
            </a:p>
          </p:txBody>
        </p:sp>
        <p:cxnSp>
          <p:nvCxnSpPr>
            <p:cNvPr id="19" name="肘形连接符 18"/>
            <p:cNvCxnSpPr>
              <a:stCxn id="6" idx="2"/>
              <a:endCxn id="8" idx="0"/>
            </p:cNvCxnSpPr>
            <p:nvPr/>
          </p:nvCxnSpPr>
          <p:spPr>
            <a:xfrm rot="5400000">
              <a:off x="4107653" y="3464719"/>
              <a:ext cx="1071570" cy="1588"/>
            </a:xfrm>
            <a:prstGeom prst="bentConnector3">
              <a:avLst>
                <a:gd name="adj1" fmla="val 50000"/>
              </a:avLst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形状 20"/>
            <p:cNvCxnSpPr>
              <a:endCxn id="7" idx="0"/>
            </p:cNvCxnSpPr>
            <p:nvPr/>
          </p:nvCxnSpPr>
          <p:spPr>
            <a:xfrm rot="10800000" flipV="1">
              <a:off x="2071670" y="3643314"/>
              <a:ext cx="2571768" cy="357190"/>
            </a:xfrm>
            <a:prstGeom prst="bentConnector2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形状 22"/>
            <p:cNvCxnSpPr>
              <a:endCxn id="9" idx="0"/>
            </p:cNvCxnSpPr>
            <p:nvPr/>
          </p:nvCxnSpPr>
          <p:spPr>
            <a:xfrm>
              <a:off x="4643438" y="3643314"/>
              <a:ext cx="2571768" cy="357190"/>
            </a:xfrm>
            <a:prstGeom prst="bentConnector2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肘形连接符 24"/>
            <p:cNvCxnSpPr>
              <a:stCxn id="7" idx="2"/>
              <a:endCxn id="10" idx="0"/>
            </p:cNvCxnSpPr>
            <p:nvPr/>
          </p:nvCxnSpPr>
          <p:spPr>
            <a:xfrm rot="5400000">
              <a:off x="1714480" y="4857760"/>
              <a:ext cx="714380" cy="1588"/>
            </a:xfrm>
            <a:prstGeom prst="bentConnector3">
              <a:avLst>
                <a:gd name="adj1" fmla="val 50000"/>
              </a:avLst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肘形连接符 26"/>
            <p:cNvCxnSpPr>
              <a:endCxn id="11" idx="0"/>
            </p:cNvCxnSpPr>
            <p:nvPr/>
          </p:nvCxnSpPr>
          <p:spPr>
            <a:xfrm rot="5400000">
              <a:off x="4179091" y="4750603"/>
              <a:ext cx="928694" cy="1588"/>
            </a:xfrm>
            <a:prstGeom prst="bentConnector3">
              <a:avLst>
                <a:gd name="adj1" fmla="val 50000"/>
              </a:avLst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9" idx="2"/>
              <a:endCxn id="12" idx="0"/>
            </p:cNvCxnSpPr>
            <p:nvPr/>
          </p:nvCxnSpPr>
          <p:spPr>
            <a:xfrm rot="5400000">
              <a:off x="6858016" y="4857760"/>
              <a:ext cx="714380" cy="1588"/>
            </a:xfrm>
            <a:prstGeom prst="bentConnector3">
              <a:avLst>
                <a:gd name="adj1" fmla="val 50000"/>
              </a:avLst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500034" y="3068421"/>
              <a:ext cx="32147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One dimensional array instead of two dimensional matrix</a:t>
              </a:r>
              <a:endParaRPr lang="zh-CN" alt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00496" y="3143248"/>
              <a:ext cx="164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Using </a:t>
              </a:r>
              <a:r>
                <a:rPr lang="en-US" altLang="zh-CN" dirty="0" err="1" smtClean="0"/>
                <a:t>hashmap</a:t>
              </a:r>
              <a:endParaRPr lang="zh-CN" alt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215074" y="3143248"/>
              <a:ext cx="2143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Using tree structure</a:t>
              </a:r>
              <a:endParaRPr lang="zh-CN" alt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85720" y="4714884"/>
              <a:ext cx="3143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Iteration instead of recursion</a:t>
              </a:r>
              <a:endParaRPr lang="zh-CN" alt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14678" y="4714884"/>
              <a:ext cx="3143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Iteration instead of recursion</a:t>
              </a:r>
              <a:endParaRPr lang="zh-CN" alt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43636" y="4714884"/>
              <a:ext cx="3143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Iteration instead of recursion</a:t>
              </a:r>
              <a:endParaRPr lang="zh-CN" altLang="en-US" dirty="0"/>
            </a:p>
          </p:txBody>
        </p:sp>
      </p:grp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altLang="zh-CN" dirty="0" smtClean="0"/>
              <a:t>University of York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600" b="1" dirty="0" smtClean="0">
                <a:latin typeface="Cambria" pitchFamily="18" charset="0"/>
              </a:rPr>
              <a:t>2. Algorithm Design and Implementation</a:t>
            </a:r>
            <a:endParaRPr lang="zh-CN" altLang="en-US" sz="2600" b="1" dirty="0">
              <a:latin typeface="Cambria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491636"/>
            <a:ext cx="8229600" cy="4937760"/>
          </a:xfrm>
        </p:spPr>
        <p:txBody>
          <a:bodyPr/>
          <a:lstStyle/>
          <a:p>
            <a:r>
              <a:rPr lang="en-US" altLang="zh-CN" dirty="0" smtClean="0"/>
              <a:t>List Contingency </a:t>
            </a:r>
            <a:r>
              <a:rPr lang="en-US" altLang="zh-CN" dirty="0" smtClean="0"/>
              <a:t>Table and Dict Contingency Table</a:t>
            </a:r>
            <a:endParaRPr lang="en-US" altLang="zh-CN" dirty="0" smtClean="0"/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571473" y="2071678"/>
          <a:ext cx="3286149" cy="3100412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1095383"/>
                <a:gridCol w="1095383"/>
                <a:gridCol w="1095383"/>
              </a:tblGrid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Gender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Height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 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 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 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170 (2)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 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180 (3)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 (2)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 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 (2)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170 (2)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 (2)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180 (3)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4643438" y="2071678"/>
          <a:ext cx="714380" cy="31004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380"/>
              </a:tblGrid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Index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5429257" y="2071678"/>
          <a:ext cx="857256" cy="3100412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857256"/>
              </a:tblGrid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142976" y="5286388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Full Contingency Table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500562" y="5214950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List Contingency Table</a:t>
            </a:r>
            <a:endParaRPr lang="zh-CN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571604" y="5786454"/>
            <a:ext cx="6286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Query: (Female, 160)      Index = (2-1)*3+(1-1)=3</a:t>
            </a:r>
            <a:endParaRPr lang="zh-CN" altLang="en-US" sz="2000" b="1" dirty="0"/>
          </a:p>
        </p:txBody>
      </p:sp>
      <p:sp>
        <p:nvSpPr>
          <p:cNvPr id="40" name="矩形 39"/>
          <p:cNvSpPr/>
          <p:nvPr/>
        </p:nvSpPr>
        <p:spPr>
          <a:xfrm>
            <a:off x="428596" y="3786190"/>
            <a:ext cx="3571900" cy="500066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4786314" y="3786190"/>
            <a:ext cx="1643074" cy="500066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>
            <a:off x="4143372" y="3500438"/>
            <a:ext cx="428628" cy="42862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altLang="zh-CN" dirty="0" smtClean="0"/>
              <a:t>University of York</a:t>
            </a:r>
            <a:endParaRPr lang="zh-CN" altLang="en-US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072330" y="2500306"/>
          <a:ext cx="714380" cy="221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380"/>
              </a:tblGrid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Index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858148" y="2500306"/>
          <a:ext cx="881101" cy="22145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881101"/>
              </a:tblGrid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58016" y="5214950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Dict Contingency Table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000892" y="2000240"/>
            <a:ext cx="185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/>
              <a:t>Key   </a:t>
            </a:r>
            <a:r>
              <a:rPr lang="en-US" altLang="zh-CN" sz="2000" b="1" dirty="0" smtClean="0"/>
              <a:t>   </a:t>
            </a:r>
            <a:r>
              <a:rPr lang="en-US" altLang="zh-CN" sz="2000" b="1" dirty="0" smtClean="0"/>
              <a:t>Value</a:t>
            </a:r>
            <a:endParaRPr lang="zh-CN" altLang="en-US" sz="2000" b="1" dirty="0"/>
          </a:p>
        </p:txBody>
      </p:sp>
      <p:sp>
        <p:nvSpPr>
          <p:cNvPr id="18" name="右箭头 17"/>
          <p:cNvSpPr/>
          <p:nvPr/>
        </p:nvSpPr>
        <p:spPr>
          <a:xfrm>
            <a:off x="6643702" y="3500438"/>
            <a:ext cx="428628" cy="42862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215206" y="3786192"/>
            <a:ext cx="1643074" cy="500066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600" b="1" dirty="0" smtClean="0">
                <a:latin typeface="Cambria" pitchFamily="18" charset="0"/>
              </a:rPr>
              <a:t>2. Algorithm Design and Implementation</a:t>
            </a:r>
            <a:endParaRPr lang="zh-CN" altLang="en-US" sz="2600" b="1" dirty="0">
              <a:latin typeface="Cambria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491636"/>
            <a:ext cx="8229600" cy="4937760"/>
          </a:xfrm>
        </p:spPr>
        <p:txBody>
          <a:bodyPr/>
          <a:lstStyle/>
          <a:p>
            <a:r>
              <a:rPr lang="en-US" altLang="zh-CN" dirty="0" smtClean="0"/>
              <a:t>Tree Contingency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1604" y="5786454"/>
            <a:ext cx="6786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Query: (Female, 160)    Path:  Root -&gt; Female -&gt; 160cm</a:t>
            </a:r>
            <a:endParaRPr lang="zh-CN" altLang="en-US" sz="2000" b="1" dirty="0"/>
          </a:p>
        </p:txBody>
      </p:sp>
      <p:grpSp>
        <p:nvGrpSpPr>
          <p:cNvPr id="65" name="组合 64"/>
          <p:cNvGrpSpPr/>
          <p:nvPr/>
        </p:nvGrpSpPr>
        <p:grpSpPr>
          <a:xfrm>
            <a:off x="1000100" y="2071678"/>
            <a:ext cx="7286676" cy="3584042"/>
            <a:chOff x="1000100" y="2071678"/>
            <a:chExt cx="7286676" cy="3584042"/>
          </a:xfrm>
        </p:grpSpPr>
        <p:sp>
          <p:nvSpPr>
            <p:cNvPr id="12" name="矩形 11"/>
            <p:cNvSpPr/>
            <p:nvPr/>
          </p:nvSpPr>
          <p:spPr>
            <a:xfrm>
              <a:off x="3929058" y="2071678"/>
              <a:ext cx="135732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Root</a:t>
              </a:r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071670" y="2928934"/>
              <a:ext cx="135732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Male</a:t>
              </a:r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5786446" y="2928934"/>
              <a:ext cx="1357322" cy="42862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Female</a:t>
              </a:r>
              <a:endParaRPr lang="zh-CN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000100" y="3929066"/>
              <a:ext cx="1071570" cy="85725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160cm</a:t>
              </a:r>
            </a:p>
            <a:p>
              <a:pPr algn="ctr"/>
              <a:r>
                <a:rPr lang="en-US" altLang="zh-CN" dirty="0" smtClean="0"/>
                <a:t># = 10</a:t>
              </a:r>
              <a:endParaRPr lang="zh-CN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2214546" y="3929066"/>
              <a:ext cx="1071570" cy="85725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170cm</a:t>
              </a:r>
            </a:p>
            <a:p>
              <a:pPr algn="ctr"/>
              <a:r>
                <a:rPr lang="en-US" altLang="zh-CN" dirty="0" smtClean="0"/>
                <a:t># = 0</a:t>
              </a:r>
              <a:endParaRPr lang="zh-CN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3457568" y="3929066"/>
              <a:ext cx="1071570" cy="85725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180cm</a:t>
              </a:r>
            </a:p>
            <a:p>
              <a:pPr algn="ctr"/>
              <a:r>
                <a:rPr lang="en-US" altLang="zh-CN" dirty="0" smtClean="0"/>
                <a:t># = 30</a:t>
              </a:r>
              <a:endParaRPr lang="zh-CN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4686302" y="3929066"/>
              <a:ext cx="1071570" cy="85725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160cm</a:t>
              </a:r>
            </a:p>
            <a:p>
              <a:pPr algn="ctr"/>
              <a:r>
                <a:rPr lang="en-US" altLang="zh-CN" dirty="0" smtClean="0"/>
                <a:t># = 30</a:t>
              </a:r>
              <a:endParaRPr lang="zh-CN" altLang="en-US" dirty="0"/>
            </a:p>
          </p:txBody>
        </p:sp>
        <p:sp>
          <p:nvSpPr>
            <p:cNvPr id="27" name="矩形 26"/>
            <p:cNvSpPr/>
            <p:nvPr/>
          </p:nvSpPr>
          <p:spPr>
            <a:xfrm>
              <a:off x="5929322" y="3929066"/>
              <a:ext cx="1071570" cy="85725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170cm</a:t>
              </a:r>
            </a:p>
            <a:p>
              <a:pPr algn="ctr"/>
              <a:r>
                <a:rPr lang="en-US" altLang="zh-CN" dirty="0" smtClean="0"/>
                <a:t># = 30</a:t>
              </a:r>
              <a:endParaRPr lang="zh-CN" altLang="en-US" dirty="0"/>
            </a:p>
          </p:txBody>
        </p:sp>
        <p:sp>
          <p:nvSpPr>
            <p:cNvPr id="29" name="矩形 28"/>
            <p:cNvSpPr/>
            <p:nvPr/>
          </p:nvSpPr>
          <p:spPr>
            <a:xfrm>
              <a:off x="7143768" y="3929066"/>
              <a:ext cx="1071570" cy="85725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180cm</a:t>
              </a:r>
            </a:p>
            <a:p>
              <a:pPr algn="ctr"/>
              <a:r>
                <a:rPr lang="en-US" altLang="zh-CN" dirty="0" smtClean="0"/>
                <a:t># = 0</a:t>
              </a:r>
              <a:endParaRPr lang="zh-CN" altLang="en-US" dirty="0"/>
            </a:p>
          </p:txBody>
        </p:sp>
        <p:cxnSp>
          <p:nvCxnSpPr>
            <p:cNvPr id="34" name="直接连接符 33"/>
            <p:cNvCxnSpPr>
              <a:stCxn id="13" idx="2"/>
              <a:endCxn id="15" idx="0"/>
            </p:cNvCxnSpPr>
            <p:nvPr/>
          </p:nvCxnSpPr>
          <p:spPr>
            <a:xfrm rot="5400000">
              <a:off x="1857356" y="3036091"/>
              <a:ext cx="571504" cy="1214446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13" idx="2"/>
              <a:endCxn id="22" idx="0"/>
            </p:cNvCxnSpPr>
            <p:nvPr/>
          </p:nvCxnSpPr>
          <p:spPr>
            <a:xfrm rot="5400000">
              <a:off x="2464579" y="3643314"/>
              <a:ext cx="57150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>
              <a:stCxn id="13" idx="2"/>
              <a:endCxn id="23" idx="0"/>
            </p:cNvCxnSpPr>
            <p:nvPr/>
          </p:nvCxnSpPr>
          <p:spPr>
            <a:xfrm rot="16200000" flipH="1">
              <a:off x="3086090" y="3021803"/>
              <a:ext cx="571504" cy="124302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2" idx="2"/>
              <a:endCxn id="13" idx="0"/>
            </p:cNvCxnSpPr>
            <p:nvPr/>
          </p:nvCxnSpPr>
          <p:spPr>
            <a:xfrm rot="5400000">
              <a:off x="3464711" y="1785926"/>
              <a:ext cx="428628" cy="185738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12" idx="2"/>
              <a:endCxn id="14" idx="0"/>
            </p:cNvCxnSpPr>
            <p:nvPr/>
          </p:nvCxnSpPr>
          <p:spPr>
            <a:xfrm rot="16200000" flipH="1">
              <a:off x="5322099" y="1785926"/>
              <a:ext cx="428628" cy="185738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14" idx="2"/>
              <a:endCxn id="25" idx="0"/>
            </p:cNvCxnSpPr>
            <p:nvPr/>
          </p:nvCxnSpPr>
          <p:spPr>
            <a:xfrm rot="5400000">
              <a:off x="5557845" y="3021804"/>
              <a:ext cx="571504" cy="12430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14" idx="2"/>
              <a:endCxn id="27" idx="0"/>
            </p:cNvCxnSpPr>
            <p:nvPr/>
          </p:nvCxnSpPr>
          <p:spPr>
            <a:xfrm rot="5400000">
              <a:off x="6179355" y="3643314"/>
              <a:ext cx="57150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14" idx="2"/>
              <a:endCxn id="29" idx="0"/>
            </p:cNvCxnSpPr>
            <p:nvPr/>
          </p:nvCxnSpPr>
          <p:spPr>
            <a:xfrm rot="16200000" flipH="1">
              <a:off x="6786578" y="3036091"/>
              <a:ext cx="571504" cy="1214446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/>
            <p:cNvSpPr/>
            <p:nvPr/>
          </p:nvSpPr>
          <p:spPr>
            <a:xfrm>
              <a:off x="2143108" y="3786190"/>
              <a:ext cx="1214446" cy="1214446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7072330" y="3786190"/>
              <a:ext cx="1214446" cy="1214446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57422" y="5072074"/>
              <a:ext cx="785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NULL</a:t>
              </a:r>
              <a:endParaRPr lang="zh-CN" altLang="en-US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286644" y="5072074"/>
              <a:ext cx="785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NULL</a:t>
              </a:r>
              <a:endParaRPr lang="zh-CN" alt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357554" y="5286388"/>
              <a:ext cx="25003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Tree Contingency Table</a:t>
              </a:r>
              <a:endParaRPr lang="zh-CN" altLang="en-US" dirty="0"/>
            </a:p>
          </p:txBody>
        </p:sp>
        <p:cxnSp>
          <p:nvCxnSpPr>
            <p:cNvPr id="59" name="直接箭头连接符 58"/>
            <p:cNvCxnSpPr/>
            <p:nvPr/>
          </p:nvCxnSpPr>
          <p:spPr>
            <a:xfrm>
              <a:off x="5357818" y="2500306"/>
              <a:ext cx="1071570" cy="285752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/>
            <p:nvPr/>
          </p:nvCxnSpPr>
          <p:spPr>
            <a:xfrm rot="10800000" flipV="1">
              <a:off x="5214942" y="3500436"/>
              <a:ext cx="571504" cy="285754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页脚占位符 2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altLang="zh-CN" dirty="0" smtClean="0"/>
              <a:t>University of York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600" b="1" dirty="0" smtClean="0">
                <a:latin typeface="Cambria" pitchFamily="18" charset="0"/>
              </a:rPr>
              <a:t>2. Algorithm Design and Implementation</a:t>
            </a:r>
            <a:endParaRPr lang="zh-CN" altLang="en-US" sz="2600" b="1" dirty="0">
              <a:latin typeface="Cambria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142984"/>
            <a:ext cx="8229600" cy="4937760"/>
          </a:xfrm>
        </p:spPr>
        <p:txBody>
          <a:bodyPr/>
          <a:lstStyle/>
          <a:p>
            <a:r>
              <a:rPr lang="en-US" altLang="zh-CN" dirty="0" smtClean="0"/>
              <a:t>Using Iteration instead of Recursion</a:t>
            </a:r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857224" y="2673797"/>
          <a:ext cx="1071570" cy="1673692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1071570"/>
              </a:tblGrid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Gender</a:t>
                      </a:r>
                      <a:endParaRPr lang="zh-CN" altLang="en-US" sz="1600" dirty="0"/>
                    </a:p>
                  </a:txBody>
                  <a:tcPr anchor="ctr"/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Male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5500694" y="2214554"/>
          <a:ext cx="2143140" cy="1673692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1071570"/>
                <a:gridCol w="1071570"/>
              </a:tblGrid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Height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5572132" y="4684266"/>
          <a:ext cx="2143140" cy="1673692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1071570"/>
                <a:gridCol w="1071570"/>
              </a:tblGrid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Height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857224" y="4531185"/>
          <a:ext cx="1071570" cy="1255269"/>
        </p:xfrm>
        <a:graphic>
          <a:graphicData uri="http://schemas.openxmlformats.org/drawingml/2006/table">
            <a:tbl>
              <a:tblPr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1071570"/>
              </a:tblGrid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Female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/>
        </p:nvGraphicFramePr>
        <p:xfrm>
          <a:off x="2071670" y="2673797"/>
          <a:ext cx="2143140" cy="1673692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1071570"/>
                <a:gridCol w="1071570"/>
              </a:tblGrid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Height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/>
        </p:nvGraphicFramePr>
        <p:xfrm>
          <a:off x="2071670" y="4531185"/>
          <a:ext cx="2143140" cy="1255269"/>
        </p:xfrm>
        <a:graphic>
          <a:graphicData uri="http://schemas.openxmlformats.org/drawingml/2006/table">
            <a:tbl>
              <a:tblPr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{6E25E649-3F16-4E02-A733-19D2CDBF48F0}</a:tableStyleId>
              </a:tblPr>
              <a:tblGrid>
                <a:gridCol w="1071570"/>
                <a:gridCol w="1071570"/>
              </a:tblGrid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8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571472" y="2214554"/>
            <a:ext cx="407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Contingency Table for </a:t>
            </a:r>
            <a:r>
              <a:rPr lang="en-US" altLang="zh-CN" b="1" dirty="0" smtClean="0"/>
              <a:t>Gender,</a:t>
            </a:r>
            <a:r>
              <a:rPr lang="en-US" altLang="zh-CN" dirty="0" smtClean="0"/>
              <a:t> </a:t>
            </a:r>
            <a:r>
              <a:rPr lang="en-US" altLang="zh-CN" b="1" dirty="0" smtClean="0"/>
              <a:t>Height</a:t>
            </a:r>
            <a:endParaRPr lang="zh-CN" alt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000628" y="1571612"/>
            <a:ext cx="3214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Contingency Table for </a:t>
            </a:r>
            <a:r>
              <a:rPr lang="en-US" altLang="zh-CN" b="1" dirty="0" smtClean="0"/>
              <a:t>Height,</a:t>
            </a:r>
            <a:r>
              <a:rPr lang="en-US" altLang="zh-CN" dirty="0" smtClean="0"/>
              <a:t>  </a:t>
            </a:r>
          </a:p>
          <a:p>
            <a:pPr algn="ctr"/>
            <a:r>
              <a:rPr lang="en-US" altLang="zh-CN" dirty="0" smtClean="0"/>
              <a:t>when gender is </a:t>
            </a:r>
            <a:r>
              <a:rPr lang="en-US" altLang="zh-CN" b="1" dirty="0" smtClean="0"/>
              <a:t>Male</a:t>
            </a:r>
            <a:endParaRPr lang="zh-CN" altLang="en-US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5072066" y="4071942"/>
            <a:ext cx="3214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Contingency Table for </a:t>
            </a:r>
            <a:r>
              <a:rPr lang="en-US" altLang="zh-CN" b="1" dirty="0" smtClean="0"/>
              <a:t>Height,</a:t>
            </a:r>
            <a:r>
              <a:rPr lang="en-US" altLang="zh-CN" dirty="0" smtClean="0"/>
              <a:t>  </a:t>
            </a:r>
          </a:p>
          <a:p>
            <a:pPr algn="ctr"/>
            <a:r>
              <a:rPr lang="en-US" altLang="zh-CN" dirty="0" smtClean="0"/>
              <a:t>when gender is </a:t>
            </a:r>
            <a:r>
              <a:rPr lang="en-US" altLang="zh-CN" b="1" dirty="0" smtClean="0"/>
              <a:t>Female</a:t>
            </a:r>
            <a:endParaRPr lang="zh-CN" altLang="en-US" b="1" dirty="0"/>
          </a:p>
        </p:txBody>
      </p:sp>
      <p:sp>
        <p:nvSpPr>
          <p:cNvPr id="58" name="右箭头 57"/>
          <p:cNvSpPr/>
          <p:nvPr/>
        </p:nvSpPr>
        <p:spPr>
          <a:xfrm rot="9153179">
            <a:off x="4420536" y="3126832"/>
            <a:ext cx="925936" cy="27535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/>
        </p:nvSpPr>
        <p:spPr>
          <a:xfrm rot="12424107">
            <a:off x="4448019" y="5082629"/>
            <a:ext cx="925936" cy="27535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altLang="zh-CN" dirty="0" smtClean="0"/>
              <a:t>University of York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600" b="1" dirty="0" smtClean="0">
                <a:latin typeface="Cambria" pitchFamily="18" charset="0"/>
              </a:rPr>
              <a:t>2. Algorithm Design and Implementation</a:t>
            </a:r>
            <a:endParaRPr lang="zh-CN" altLang="en-US" sz="2600" b="1" dirty="0">
              <a:latin typeface="Cambria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85860"/>
            <a:ext cx="8229600" cy="5143536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 smtClean="0"/>
              <a:t>Using Iteration instead of Recursion</a:t>
            </a:r>
          </a:p>
          <a:p>
            <a:pPr lvl="1"/>
            <a:r>
              <a:rPr lang="en-US" altLang="zh-CN" dirty="0" smtClean="0"/>
              <a:t>Recursion approach of building </a:t>
            </a:r>
            <a:r>
              <a:rPr lang="en-US" altLang="zh-CN" b="1" dirty="0" smtClean="0"/>
              <a:t>ct</a:t>
            </a:r>
            <a:r>
              <a:rPr lang="en-US" altLang="zh-CN" dirty="0" smtClean="0"/>
              <a:t>(Gender, Height) from dense </a:t>
            </a:r>
            <a:r>
              <a:rPr lang="en-US" altLang="zh-CN" dirty="0" smtClean="0"/>
              <a:t>ADtree</a:t>
            </a:r>
            <a:endParaRPr lang="en-US" altLang="zh-CN" dirty="0" smtClean="0"/>
          </a:p>
          <a:p>
            <a:pPr marL="542925" indent="-1588">
              <a:lnSpc>
                <a:spcPct val="114000"/>
              </a:lnSpc>
              <a:buNone/>
            </a:pPr>
            <a:r>
              <a:rPr lang="en-US" altLang="zh-CN" sz="2200" dirty="0" smtClean="0">
                <a:solidFill>
                  <a:srgbClr val="660033"/>
                </a:solidFill>
              </a:rPr>
              <a:t>Function</a:t>
            </a:r>
            <a:r>
              <a:rPr lang="en-US" altLang="zh-CN" sz="2200" dirty="0" smtClean="0"/>
              <a:t> </a:t>
            </a:r>
            <a:r>
              <a:rPr lang="en-US" altLang="zh-CN" sz="2200" b="1" dirty="0" err="1" smtClean="0"/>
              <a:t>MakeContab</a:t>
            </a:r>
            <a:r>
              <a:rPr lang="en-US" altLang="zh-CN" sz="2200" dirty="0" smtClean="0"/>
              <a:t>([</a:t>
            </a:r>
            <a:r>
              <a:rPr lang="en-US" altLang="zh-CN" sz="2200" dirty="0" smtClean="0">
                <a:solidFill>
                  <a:srgbClr val="0000FF"/>
                </a:solidFill>
              </a:rPr>
              <a:t>Gender</a:t>
            </a:r>
            <a:r>
              <a:rPr lang="en-US" altLang="zh-CN" sz="2200" dirty="0" smtClean="0"/>
              <a:t>, </a:t>
            </a:r>
            <a:r>
              <a:rPr lang="en-US" altLang="zh-CN" sz="2200" dirty="0" smtClean="0">
                <a:solidFill>
                  <a:srgbClr val="0000FF"/>
                </a:solidFill>
              </a:rPr>
              <a:t>Height</a:t>
            </a:r>
            <a:r>
              <a:rPr lang="en-US" altLang="zh-CN" sz="2200" dirty="0" smtClean="0"/>
              <a:t>], </a:t>
            </a:r>
            <a:r>
              <a:rPr lang="en-US" altLang="zh-CN" sz="2200" dirty="0" err="1" smtClean="0"/>
              <a:t>adTree</a:t>
            </a:r>
            <a:r>
              <a:rPr lang="en-US" altLang="zh-CN" sz="2200" dirty="0" smtClean="0"/>
              <a:t>)</a:t>
            </a:r>
          </a:p>
          <a:p>
            <a:pPr marL="542925" indent="-1588">
              <a:lnSpc>
                <a:spcPct val="114000"/>
              </a:lnSpc>
              <a:buNone/>
            </a:pPr>
            <a:r>
              <a:rPr lang="en-US" altLang="zh-CN" sz="2200" dirty="0" smtClean="0"/>
              <a:t>	</a:t>
            </a:r>
            <a:r>
              <a:rPr lang="en-US" altLang="zh-CN" sz="2200" dirty="0" smtClean="0"/>
              <a:t>	</a:t>
            </a:r>
            <a:r>
              <a:rPr lang="en-US" altLang="zh-CN" sz="2200" i="1" dirty="0" smtClean="0">
                <a:solidFill>
                  <a:srgbClr val="0000FF"/>
                </a:solidFill>
              </a:rPr>
              <a:t>ct_1</a:t>
            </a:r>
            <a:r>
              <a:rPr lang="en-US" altLang="zh-CN" sz="2200" dirty="0" smtClean="0"/>
              <a:t> = </a:t>
            </a:r>
            <a:r>
              <a:rPr lang="en-US" altLang="zh-CN" sz="2200" b="1" dirty="0" err="1" smtClean="0"/>
              <a:t>MakeContab</a:t>
            </a:r>
            <a:r>
              <a:rPr lang="en-US" altLang="zh-CN" sz="2200" dirty="0" smtClean="0"/>
              <a:t>([</a:t>
            </a:r>
            <a:r>
              <a:rPr lang="en-US" altLang="zh-CN" sz="2200" dirty="0" smtClean="0">
                <a:solidFill>
                  <a:srgbClr val="0000FF"/>
                </a:solidFill>
              </a:rPr>
              <a:t>Height</a:t>
            </a:r>
            <a:r>
              <a:rPr lang="en-US" altLang="zh-CN" sz="2200" dirty="0" smtClean="0"/>
              <a:t>], </a:t>
            </a:r>
            <a:r>
              <a:rPr lang="en-US" altLang="zh-CN" sz="2200" dirty="0" err="1" smtClean="0"/>
              <a:t>adTree</a:t>
            </a:r>
            <a:r>
              <a:rPr lang="en-US" altLang="zh-CN" sz="2200" dirty="0" smtClean="0"/>
              <a:t>) when Gender is </a:t>
            </a:r>
            <a:r>
              <a:rPr lang="en-US" altLang="zh-CN" sz="2200" dirty="0" smtClean="0">
                <a:solidFill>
                  <a:srgbClr val="0000FF"/>
                </a:solidFill>
              </a:rPr>
              <a:t>Male</a:t>
            </a:r>
          </a:p>
          <a:p>
            <a:pPr marL="542925" indent="-1588">
              <a:lnSpc>
                <a:spcPct val="114000"/>
              </a:lnSpc>
              <a:buNone/>
            </a:pPr>
            <a:r>
              <a:rPr lang="en-US" altLang="zh-CN" sz="2200" dirty="0" smtClean="0"/>
              <a:t>	</a:t>
            </a:r>
            <a:r>
              <a:rPr lang="en-US" altLang="zh-CN" sz="2200" dirty="0" smtClean="0"/>
              <a:t>	</a:t>
            </a:r>
            <a:r>
              <a:rPr lang="en-US" altLang="zh-CN" sz="2200" i="1" dirty="0" smtClean="0">
                <a:solidFill>
                  <a:srgbClr val="0000FF"/>
                </a:solidFill>
              </a:rPr>
              <a:t>ct_2</a:t>
            </a:r>
            <a:r>
              <a:rPr lang="en-US" altLang="zh-CN" sz="2200" dirty="0" smtClean="0"/>
              <a:t> = </a:t>
            </a:r>
            <a:r>
              <a:rPr lang="en-US" altLang="zh-CN" sz="2200" b="1" dirty="0" err="1" smtClean="0"/>
              <a:t>MakeContab</a:t>
            </a:r>
            <a:r>
              <a:rPr lang="en-US" altLang="zh-CN" sz="2200" dirty="0" smtClean="0"/>
              <a:t>([</a:t>
            </a:r>
            <a:r>
              <a:rPr lang="en-US" altLang="zh-CN" sz="2200" dirty="0" smtClean="0">
                <a:solidFill>
                  <a:srgbClr val="0000FF"/>
                </a:solidFill>
              </a:rPr>
              <a:t>Height</a:t>
            </a:r>
            <a:r>
              <a:rPr lang="en-US" altLang="zh-CN" sz="2200" dirty="0" smtClean="0"/>
              <a:t>], </a:t>
            </a:r>
            <a:r>
              <a:rPr lang="en-US" altLang="zh-CN" sz="2200" dirty="0" err="1" smtClean="0"/>
              <a:t>adTree</a:t>
            </a:r>
            <a:r>
              <a:rPr lang="en-US" altLang="zh-CN" sz="2200" dirty="0" smtClean="0"/>
              <a:t>) when Gender is </a:t>
            </a:r>
            <a:r>
              <a:rPr lang="en-US" altLang="zh-CN" sz="2200" dirty="0" smtClean="0">
                <a:solidFill>
                  <a:srgbClr val="0000FF"/>
                </a:solidFill>
              </a:rPr>
              <a:t>Female</a:t>
            </a:r>
          </a:p>
          <a:p>
            <a:pPr marL="542925" lvl="1" indent="-1588">
              <a:lnSpc>
                <a:spcPct val="114000"/>
              </a:lnSpc>
              <a:buNone/>
            </a:pPr>
            <a:r>
              <a:rPr lang="en-US" altLang="zh-CN" sz="1900" i="1" dirty="0" smtClean="0">
                <a:solidFill>
                  <a:srgbClr val="0000FF"/>
                </a:solidFill>
              </a:rPr>
              <a:t>		ct</a:t>
            </a:r>
            <a:r>
              <a:rPr lang="en-US" altLang="zh-CN" sz="1900" dirty="0" smtClean="0"/>
              <a:t> </a:t>
            </a:r>
            <a:r>
              <a:rPr lang="en-US" altLang="zh-CN" sz="1900" dirty="0" smtClean="0"/>
              <a:t>= Concatenates </a:t>
            </a:r>
            <a:r>
              <a:rPr lang="en-US" altLang="zh-CN" sz="1900" i="1" dirty="0" smtClean="0">
                <a:solidFill>
                  <a:srgbClr val="0000FF"/>
                </a:solidFill>
              </a:rPr>
              <a:t>ct_1</a:t>
            </a:r>
            <a:r>
              <a:rPr lang="en-US" altLang="zh-CN" sz="1900" dirty="0" smtClean="0"/>
              <a:t> and </a:t>
            </a:r>
            <a:r>
              <a:rPr lang="en-US" altLang="zh-CN" sz="1900" i="1" dirty="0" smtClean="0">
                <a:solidFill>
                  <a:srgbClr val="0000FF"/>
                </a:solidFill>
              </a:rPr>
              <a:t>ct_2</a:t>
            </a:r>
          </a:p>
          <a:p>
            <a:pPr marL="542925" indent="-1588">
              <a:buNone/>
            </a:pPr>
            <a:r>
              <a:rPr lang="en-US" altLang="zh-CN" sz="2200" dirty="0" smtClean="0"/>
              <a:t>	</a:t>
            </a:r>
            <a:r>
              <a:rPr lang="en-US" altLang="zh-CN" sz="2200" dirty="0" smtClean="0"/>
              <a:t>	</a:t>
            </a:r>
            <a:r>
              <a:rPr lang="en-US" altLang="zh-CN" sz="2200" dirty="0" smtClean="0">
                <a:solidFill>
                  <a:srgbClr val="660033"/>
                </a:solidFill>
              </a:rPr>
              <a:t>Return</a:t>
            </a:r>
            <a:r>
              <a:rPr lang="en-US" altLang="zh-CN" sz="2200" dirty="0" smtClean="0"/>
              <a:t> </a:t>
            </a:r>
            <a:r>
              <a:rPr lang="en-US" altLang="zh-CN" sz="2200" i="1" dirty="0" smtClean="0">
                <a:solidFill>
                  <a:srgbClr val="0000FF"/>
                </a:solidFill>
              </a:rPr>
              <a:t>ct</a:t>
            </a:r>
            <a:endParaRPr lang="en-US" altLang="zh-CN" dirty="0" smtClean="0"/>
          </a:p>
          <a:p>
            <a:pPr lvl="1"/>
            <a:r>
              <a:rPr lang="en-US" altLang="zh-CN" sz="2400" dirty="0" smtClean="0"/>
              <a:t>Iteration approach of building </a:t>
            </a:r>
            <a:r>
              <a:rPr lang="en-US" altLang="zh-CN" sz="2400" b="1" dirty="0" smtClean="0"/>
              <a:t>ct</a:t>
            </a:r>
            <a:r>
              <a:rPr lang="en-US" altLang="zh-CN" sz="2400" dirty="0" smtClean="0"/>
              <a:t>(Gender, Height) from dense ADtree</a:t>
            </a:r>
            <a:endParaRPr lang="en-US" altLang="zh-CN" sz="2200" i="1" dirty="0" smtClean="0">
              <a:solidFill>
                <a:srgbClr val="0000FF"/>
              </a:solidFill>
            </a:endParaRPr>
          </a:p>
          <a:p>
            <a:pPr marL="814388" indent="-273050">
              <a:lnSpc>
                <a:spcPct val="114000"/>
              </a:lnSpc>
              <a:buNone/>
            </a:pPr>
            <a:r>
              <a:rPr lang="en-US" altLang="zh-CN" sz="2200" dirty="0" smtClean="0">
                <a:solidFill>
                  <a:srgbClr val="660033"/>
                </a:solidFill>
              </a:rPr>
              <a:t>Function</a:t>
            </a:r>
            <a:r>
              <a:rPr lang="en-US" altLang="zh-CN" sz="2200" dirty="0" smtClean="0"/>
              <a:t> </a:t>
            </a:r>
            <a:r>
              <a:rPr lang="en-US" altLang="zh-CN" sz="2200" b="1" dirty="0" err="1" smtClean="0"/>
              <a:t>MakeContab</a:t>
            </a:r>
            <a:r>
              <a:rPr lang="en-US" altLang="zh-CN" sz="2200" dirty="0" smtClean="0"/>
              <a:t>([</a:t>
            </a:r>
            <a:r>
              <a:rPr lang="en-US" altLang="zh-CN" sz="2200" dirty="0" smtClean="0">
                <a:solidFill>
                  <a:srgbClr val="0000FF"/>
                </a:solidFill>
              </a:rPr>
              <a:t>Gender</a:t>
            </a:r>
            <a:r>
              <a:rPr lang="en-US" altLang="zh-CN" sz="2200" dirty="0" smtClean="0"/>
              <a:t>, </a:t>
            </a:r>
            <a:r>
              <a:rPr lang="en-US" altLang="zh-CN" sz="2200" dirty="0" smtClean="0">
                <a:solidFill>
                  <a:srgbClr val="0000FF"/>
                </a:solidFill>
              </a:rPr>
              <a:t>Height</a:t>
            </a:r>
            <a:r>
              <a:rPr lang="en-US" altLang="zh-CN" sz="2200" dirty="0" smtClean="0"/>
              <a:t>], </a:t>
            </a:r>
            <a:r>
              <a:rPr lang="en-US" altLang="zh-CN" sz="2200" dirty="0" err="1" smtClean="0"/>
              <a:t>adTree</a:t>
            </a:r>
            <a:r>
              <a:rPr lang="en-US" altLang="zh-CN" sz="2200" dirty="0" smtClean="0"/>
              <a:t>)</a:t>
            </a:r>
          </a:p>
          <a:p>
            <a:pPr marL="814388" indent="-273050">
              <a:lnSpc>
                <a:spcPct val="114000"/>
              </a:lnSpc>
              <a:buNone/>
            </a:pPr>
            <a:r>
              <a:rPr lang="en-US" altLang="zh-CN" sz="2200" dirty="0" smtClean="0"/>
              <a:t>	</a:t>
            </a:r>
            <a:r>
              <a:rPr lang="en-US" altLang="zh-CN" sz="2200" dirty="0" err="1" smtClean="0">
                <a:solidFill>
                  <a:srgbClr val="0000FF"/>
                </a:solidFill>
              </a:rPr>
              <a:t>stack</a:t>
            </a:r>
            <a:r>
              <a:rPr lang="en-US" altLang="zh-CN" sz="2200" dirty="0" err="1" smtClean="0"/>
              <a:t>.</a:t>
            </a:r>
            <a:r>
              <a:rPr lang="en-US" altLang="zh-CN" sz="2200" dirty="0" err="1" smtClean="0">
                <a:solidFill>
                  <a:srgbClr val="660033"/>
                </a:solidFill>
              </a:rPr>
              <a:t>push</a:t>
            </a:r>
            <a:r>
              <a:rPr lang="en-US" altLang="zh-CN" sz="2200" dirty="0" smtClean="0"/>
              <a:t>(The Root of </a:t>
            </a:r>
            <a:r>
              <a:rPr lang="en-US" altLang="zh-CN" sz="2200" dirty="0" err="1" smtClean="0"/>
              <a:t>adTree</a:t>
            </a:r>
            <a:r>
              <a:rPr lang="en-US" altLang="zh-CN" sz="2200" dirty="0" smtClean="0"/>
              <a:t>)</a:t>
            </a:r>
          </a:p>
          <a:p>
            <a:pPr marL="814388" indent="-273050">
              <a:lnSpc>
                <a:spcPct val="114000"/>
              </a:lnSpc>
              <a:buNone/>
            </a:pPr>
            <a:r>
              <a:rPr lang="en-US" altLang="zh-CN" sz="2200" dirty="0" smtClean="0"/>
              <a:t>	</a:t>
            </a:r>
            <a:r>
              <a:rPr lang="en-US" altLang="zh-CN" sz="2200" dirty="0" smtClean="0">
                <a:solidFill>
                  <a:srgbClr val="660033"/>
                </a:solidFill>
              </a:rPr>
              <a:t>While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0000FF"/>
                </a:solidFill>
              </a:rPr>
              <a:t>stack</a:t>
            </a:r>
            <a:r>
              <a:rPr lang="en-US" altLang="zh-CN" sz="2200" dirty="0" smtClean="0"/>
              <a:t> is not empty</a:t>
            </a:r>
          </a:p>
          <a:p>
            <a:pPr marL="814388" indent="-273050">
              <a:lnSpc>
                <a:spcPct val="114000"/>
              </a:lnSpc>
              <a:buNone/>
            </a:pPr>
            <a:r>
              <a:rPr lang="en-US" altLang="zh-CN" sz="2200" dirty="0" smtClean="0"/>
              <a:t>			Builds the whole contingency table with the help of pushing and popping nodes from </a:t>
            </a:r>
            <a:r>
              <a:rPr lang="en-US" altLang="zh-CN" sz="2200" dirty="0" smtClean="0">
                <a:solidFill>
                  <a:srgbClr val="0000FF"/>
                </a:solidFill>
              </a:rPr>
              <a:t>stack</a:t>
            </a:r>
            <a:endParaRPr lang="en-US" altLang="zh-CN" sz="2200" dirty="0" smtClean="0">
              <a:solidFill>
                <a:srgbClr val="660033"/>
              </a:solidFill>
            </a:endParaRPr>
          </a:p>
          <a:p>
            <a:pPr marL="814388" indent="-273050">
              <a:lnSpc>
                <a:spcPct val="114000"/>
              </a:lnSpc>
              <a:buNone/>
            </a:pPr>
            <a:r>
              <a:rPr lang="en-US" altLang="zh-CN" sz="2200" dirty="0" smtClean="0"/>
              <a:t>	</a:t>
            </a:r>
            <a:r>
              <a:rPr lang="en-US" altLang="zh-CN" sz="2200" dirty="0" smtClean="0">
                <a:solidFill>
                  <a:srgbClr val="660033"/>
                </a:solidFill>
              </a:rPr>
              <a:t>Return</a:t>
            </a:r>
            <a:r>
              <a:rPr lang="en-US" altLang="zh-CN" sz="2200" dirty="0" smtClean="0"/>
              <a:t> </a:t>
            </a:r>
            <a:r>
              <a:rPr lang="en-US" altLang="zh-CN" sz="2200" i="1" dirty="0" smtClean="0">
                <a:solidFill>
                  <a:srgbClr val="0000FF"/>
                </a:solidFill>
              </a:rPr>
              <a:t>ct</a:t>
            </a: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altLang="zh-CN" dirty="0" smtClean="0"/>
              <a:t>University of York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600" b="1" dirty="0" smtClean="0">
                <a:latin typeface="Cambria" pitchFamily="18" charset="0"/>
              </a:rPr>
              <a:t>3. Testing and Evaluation</a:t>
            </a:r>
            <a:endParaRPr lang="zh-CN" altLang="en-US" sz="2600" b="1" dirty="0">
              <a:latin typeface="Cambria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491636"/>
            <a:ext cx="8229600" cy="4937760"/>
          </a:xfrm>
        </p:spPr>
        <p:txBody>
          <a:bodyPr/>
          <a:lstStyle/>
          <a:p>
            <a:r>
              <a:rPr lang="en-US" altLang="zh-CN" dirty="0" smtClean="0"/>
              <a:t>Comparing 6 alternative implementations of contingency tables with the original Full Contingency Table on 5 aspects</a:t>
            </a:r>
            <a:endParaRPr lang="zh-CN" altLang="en-US" sz="2200" i="1" dirty="0" smtClean="0">
              <a:solidFill>
                <a:srgbClr val="0000FF"/>
              </a:solidFill>
            </a:endParaRPr>
          </a:p>
          <a:p>
            <a:pPr lvl="1"/>
            <a:endParaRPr lang="en-US" altLang="zh-CN" dirty="0" smtClean="0"/>
          </a:p>
        </p:txBody>
      </p:sp>
      <p:graphicFrame>
        <p:nvGraphicFramePr>
          <p:cNvPr id="4" name="图表 3"/>
          <p:cNvGraphicFramePr/>
          <p:nvPr/>
        </p:nvGraphicFramePr>
        <p:xfrm>
          <a:off x="-857288" y="571480"/>
          <a:ext cx="10572888" cy="7358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altLang="zh-CN" dirty="0" smtClean="0"/>
              <a:t>University of York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600" b="1" dirty="0" smtClean="0">
                <a:latin typeface="Cambria" pitchFamily="18" charset="0"/>
              </a:rPr>
              <a:t>3. Testing and Evaluation</a:t>
            </a:r>
            <a:endParaRPr lang="zh-CN" altLang="en-US" sz="2600" b="1" dirty="0">
              <a:latin typeface="Cambria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491636"/>
            <a:ext cx="8229600" cy="4937760"/>
          </a:xfrm>
        </p:spPr>
        <p:txBody>
          <a:bodyPr/>
          <a:lstStyle/>
          <a:p>
            <a:r>
              <a:rPr lang="en-US" altLang="zh-CN" dirty="0" smtClean="0"/>
              <a:t>The time for building 6 types of contingency tables compared with Full Contingency Table</a:t>
            </a:r>
            <a:endParaRPr lang="zh-CN" altLang="en-US" sz="2200" i="1" dirty="0" smtClean="0">
              <a:solidFill>
                <a:srgbClr val="0000FF"/>
              </a:solidFill>
            </a:endParaRPr>
          </a:p>
          <a:p>
            <a:pPr lvl="1"/>
            <a:endParaRPr lang="en-US" altLang="zh-CN" dirty="0" smtClean="0"/>
          </a:p>
        </p:txBody>
      </p:sp>
      <p:graphicFrame>
        <p:nvGraphicFramePr>
          <p:cNvPr id="5" name="图表 4"/>
          <p:cNvGraphicFramePr/>
          <p:nvPr/>
        </p:nvGraphicFramePr>
        <p:xfrm>
          <a:off x="214282" y="2500306"/>
          <a:ext cx="8501122" cy="4000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altLang="zh-CN" dirty="0" smtClean="0"/>
              <a:t>University of York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600" b="1" dirty="0" smtClean="0">
                <a:latin typeface="Cambria" pitchFamily="18" charset="0"/>
              </a:rPr>
              <a:t>4. Conclusions and Further work</a:t>
            </a:r>
            <a:endParaRPr lang="zh-CN" altLang="en-US" sz="2600" b="1" dirty="0">
              <a:latin typeface="Cambria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491636"/>
            <a:ext cx="8229600" cy="4937760"/>
          </a:xfrm>
        </p:spPr>
        <p:txBody>
          <a:bodyPr/>
          <a:lstStyle/>
          <a:p>
            <a:r>
              <a:rPr lang="en-US" altLang="zh-CN" dirty="0" smtClean="0"/>
              <a:t>Conclusions</a:t>
            </a:r>
          </a:p>
          <a:p>
            <a:pPr lvl="1" algn="just"/>
            <a:r>
              <a:rPr lang="en-US" altLang="zh-CN" dirty="0" smtClean="0"/>
              <a:t>Six alternative algorithms of building contingency tables from sparse ADtrees are designed and implemented in Python.</a:t>
            </a:r>
          </a:p>
          <a:p>
            <a:pPr lvl="1" algn="just"/>
            <a:r>
              <a:rPr lang="en-US" altLang="zh-CN" dirty="0" smtClean="0"/>
              <a:t>Tests by cProfile indicates that building Iterated List Contingency Table takes about 56% of that of Full Contingency Table.</a:t>
            </a:r>
          </a:p>
          <a:p>
            <a:r>
              <a:rPr lang="en-US" altLang="zh-CN" dirty="0" smtClean="0"/>
              <a:t>Further work</a:t>
            </a:r>
            <a:endParaRPr lang="zh-CN" altLang="en-US" sz="2200" i="1" dirty="0" smtClean="0">
              <a:solidFill>
                <a:srgbClr val="0000FF"/>
              </a:solidFill>
            </a:endParaRPr>
          </a:p>
          <a:p>
            <a:pPr lvl="1"/>
            <a:r>
              <a:rPr lang="en-US" altLang="zh-CN" dirty="0" smtClean="0"/>
              <a:t>The algorithms could be implemented in C which could be faster than Python.</a:t>
            </a:r>
          </a:p>
          <a:p>
            <a:pPr lvl="1"/>
            <a:r>
              <a:rPr lang="en-US" altLang="zh-CN" dirty="0" smtClean="0"/>
              <a:t>The algorithms could be optimized by using bottom-up iteration instead of top-down iteration.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altLang="zh-CN" dirty="0" smtClean="0"/>
              <a:t>University of York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质朴">
  <a:themeElements>
    <a:clrScheme name="质朴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质朴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2155</TotalTime>
  <Words>704</Words>
  <Application>Microsoft Office PowerPoint</Application>
  <PresentationFormat>全屏显示(4:3)</PresentationFormat>
  <Paragraphs>297</Paragraphs>
  <Slides>11</Slides>
  <Notes>11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质朴</vt:lpstr>
      <vt:lpstr>Computing Contingency Tables from Sparse ADtrees in Python</vt:lpstr>
      <vt:lpstr>1. Contingency Tables and Sparse ADtrees </vt:lpstr>
      <vt:lpstr>1. Contingency Tables and Sparse ADtrees </vt:lpstr>
      <vt:lpstr>2. Algorithm Design and Implementation</vt:lpstr>
      <vt:lpstr>2. Algorithm Design and Implementation</vt:lpstr>
      <vt:lpstr>2. Algorithm Design and Implementation</vt:lpstr>
      <vt:lpstr>2. Algorithm Design and Implementation</vt:lpstr>
      <vt:lpstr>2. Algorithm Design and Implementation</vt:lpstr>
      <vt:lpstr>3. Testing and Evaluation</vt:lpstr>
      <vt:lpstr>3. Testing and Evaluation</vt:lpstr>
      <vt:lpstr>4. Conclusions and Further work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Contingency Tables from Sparse ADtrees</dc:title>
  <dc:creator>uraplutonium</dc:creator>
  <cp:lastModifiedBy>uraplutonium</cp:lastModifiedBy>
  <cp:revision>127</cp:revision>
  <dcterms:created xsi:type="dcterms:W3CDTF">2012-09-15T15:07:43Z</dcterms:created>
  <dcterms:modified xsi:type="dcterms:W3CDTF">2012-09-18T21:46:22Z</dcterms:modified>
</cp:coreProperties>
</file>