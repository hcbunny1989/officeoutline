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11.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Text 0"/>
          <p:cNvSpPr/>
          <p:nvPr/>
        </p:nvSpPr>
        <p:spPr>
          <a:xfrm>
            <a:off x="407670" y="2595245"/>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800" b="1" dirty="0">
                <a:solidFill>
                  <a:srgbClr val="404040"/>
                </a:solidFill>
                <a:latin typeface="微软雅黑" pitchFamily="34" charset="0"/>
                <a:ea typeface="微软雅黑" pitchFamily="34" charset="-122"/>
                <a:cs typeface="微软雅黑" pitchFamily="34" charset="-120"/>
              </a:rPr>
              <a:t>光纤通信的发展与应用</a:t>
            </a:r>
            <a:endParaRPr lang="en-US" sz="4800" dirty="0"/>
          </a:p>
        </p:txBody>
      </p:sp>
      <p:sp>
        <p:nvSpPr>
          <p:cNvPr id="3" name="Text 1"/>
          <p:cNvSpPr/>
          <p:nvPr/>
        </p:nvSpPr>
        <p:spPr>
          <a:xfrm>
            <a:off x="2623820" y="2139315"/>
            <a:ext cx="6944360" cy="39871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950" dirty="0">
                <a:solidFill>
                  <a:srgbClr val="808080"/>
                </a:solidFill>
                <a:latin typeface="思源黑体 CN Light" pitchFamily="34" charset="0"/>
                <a:ea typeface="思源黑体 CN Light" pitchFamily="34" charset="-122"/>
                <a:cs typeface="思源黑体 CN Light" pitchFamily="34" charset="-120"/>
              </a:rPr>
              <a:t>BUSINESS PLAN TEMPLATE</a:t>
            </a:r>
            <a:endParaRPr lang="en-US" sz="1950" dirty="0"/>
          </a:p>
        </p:txBody>
      </p:sp>
      <p:sp>
        <p:nvSpPr>
          <p:cNvPr id="4" name="Shape 2"/>
          <p:cNvSpPr/>
          <p:nvPr/>
        </p:nvSpPr>
        <p:spPr>
          <a:xfrm>
            <a:off x="4133215" y="3700780"/>
            <a:ext cx="1625600" cy="366395"/>
          </a:xfrm>
          <a:custGeom>
            <a:avLst/>
            <a:gdLst/>
            <a:ahLst/>
            <a:cxnLst/>
            <a:rect l="l" t="t" r="r" b="b"/>
            <a:pathLst>
              <a:path w="1625600" h="366395">
                <a:moveTo>
                  <a:pt x="174474" y="0"/>
                </a:moveTo>
                <a:lnTo>
                  <a:pt x="1451126" y="0"/>
                </a:lnTo>
                <a:quadBezTo>
                  <a:pt x="1625600" y="0"/>
                  <a:pt x="1625600" y="174474"/>
                </a:quadBezTo>
                <a:lnTo>
                  <a:pt x="1625600" y="191921"/>
                </a:lnTo>
                <a:quadBezTo>
                  <a:pt x="1625600" y="366395"/>
                  <a:pt x="1451126" y="366395"/>
                </a:quadBezTo>
                <a:lnTo>
                  <a:pt x="174474" y="366395"/>
                </a:lnTo>
                <a:quadBezTo>
                  <a:pt x="0" y="366395"/>
                  <a:pt x="0" y="191921"/>
                </a:quadBezTo>
                <a:lnTo>
                  <a:pt x="0" y="174474"/>
                </a:lnTo>
                <a:quadBezTo>
                  <a:pt x="0" y="0"/>
                  <a:pt x="174474" y="0"/>
                </a:quadBezTo>
                <a:close/>
              </a:path>
            </a:pathLst>
          </a:custGeom>
          <a:solidFill>
            <a:srgbClr val="3B3838"/>
          </a:solidFill>
        </p:spPr>
      </p:sp>
      <p:sp>
        <p:nvSpPr>
          <p:cNvPr id="5" name="Text 3"/>
          <p:cNvSpPr/>
          <p:nvPr/>
        </p:nvSpPr>
        <p:spPr>
          <a:xfrm>
            <a:off x="4133215" y="3700780"/>
            <a:ext cx="1625600" cy="366395"/>
          </a:xfrm>
          <a:prstGeom prst="rect">
            <a:avLst/>
          </a:prstGeom>
          <a:noFill/>
        </p:spPr>
        <p:txBody>
          <a:bodyPr wrap="square" rtlCol="0" anchor="ctr"/>
          <a:lstStyle/>
          <a:p>
            <a:pPr marL="0" indent="0" algn="ctr">
              <a:lnSpc>
                <a:spcPct val="120000"/>
              </a:lnSpc>
              <a:spcBef>
                <a:spcPts val="375"/>
              </a:spcBef>
              <a:buNone/>
            </a:pPr>
            <a:r>
              <a:rPr lang="en-US" sz="1425" dirty="0">
                <a:solidFill>
                  <a:srgbClr val="FFFFFF"/>
                </a:solidFill>
                <a:latin typeface="微软雅黑" pitchFamily="34" charset="0"/>
                <a:ea typeface="微软雅黑" pitchFamily="34" charset="-122"/>
                <a:cs typeface="微软雅黑" pitchFamily="34" charset="-120"/>
              </a:rPr>
              <a:t>主讲人：</a:t>
            </a:r>
            <a:r>
              <a:rPr lang="x-none" altLang="en-US" sz="1425" dirty="0">
                <a:solidFill>
                  <a:srgbClr val="FFFFFF"/>
                </a:solidFill>
                <a:latin typeface="微软雅黑" pitchFamily="34" charset="0"/>
                <a:ea typeface="微软雅黑" pitchFamily="34" charset="-122"/>
                <a:cs typeface="微软雅黑" pitchFamily="34" charset="-120"/>
              </a:rPr>
              <a:t>张三</a:t>
            </a:r>
            <a:endParaRPr lang="x-none" altLang="en-US" sz="1425" dirty="0">
              <a:solidFill>
                <a:srgbClr val="FFFFFF"/>
              </a:solidFill>
              <a:latin typeface="微软雅黑" pitchFamily="34" charset="0"/>
              <a:ea typeface="微软雅黑" pitchFamily="34" charset="-122"/>
              <a:cs typeface="微软雅黑" pitchFamily="34" charset="-120"/>
            </a:endParaRPr>
          </a:p>
        </p:txBody>
      </p:sp>
      <p:sp>
        <p:nvSpPr>
          <p:cNvPr id="6" name="Shape 4"/>
          <p:cNvSpPr/>
          <p:nvPr/>
        </p:nvSpPr>
        <p:spPr>
          <a:xfrm>
            <a:off x="6426835" y="3700145"/>
            <a:ext cx="1339850" cy="367030"/>
          </a:xfrm>
          <a:custGeom>
            <a:avLst/>
            <a:gdLst/>
            <a:ahLst/>
            <a:cxnLst/>
            <a:rect l="l" t="t" r="r" b="b"/>
            <a:pathLst>
              <a:path w="1339850" h="367030">
                <a:moveTo>
                  <a:pt x="174776" y="0"/>
                </a:moveTo>
                <a:lnTo>
                  <a:pt x="1165074" y="0"/>
                </a:lnTo>
                <a:quadBezTo>
                  <a:pt x="1339850" y="0"/>
                  <a:pt x="1339850" y="174776"/>
                </a:quadBezTo>
                <a:lnTo>
                  <a:pt x="1339850" y="192254"/>
                </a:lnTo>
                <a:quadBezTo>
                  <a:pt x="1339850" y="367030"/>
                  <a:pt x="1165074" y="367030"/>
                </a:quadBezTo>
                <a:lnTo>
                  <a:pt x="174776" y="367030"/>
                </a:lnTo>
                <a:quadBezTo>
                  <a:pt x="0" y="367030"/>
                  <a:pt x="0" y="192254"/>
                </a:quadBezTo>
                <a:lnTo>
                  <a:pt x="0" y="174776"/>
                </a:lnTo>
                <a:quadBezTo>
                  <a:pt x="0" y="0"/>
                  <a:pt x="174776" y="0"/>
                </a:quadBezTo>
                <a:close/>
              </a:path>
            </a:pathLst>
          </a:custGeom>
          <a:solidFill>
            <a:srgbClr val="3B3838"/>
          </a:solidFill>
        </p:spPr>
      </p:sp>
      <p:sp>
        <p:nvSpPr>
          <p:cNvPr id="7" name="Text 5"/>
          <p:cNvSpPr/>
          <p:nvPr/>
        </p:nvSpPr>
        <p:spPr>
          <a:xfrm>
            <a:off x="6426835" y="3700145"/>
            <a:ext cx="1339850" cy="367030"/>
          </a:xfrm>
          <a:prstGeom prst="rect">
            <a:avLst/>
          </a:prstGeom>
          <a:noFill/>
        </p:spPr>
        <p:txBody>
          <a:bodyPr wrap="square" rtlCol="0" anchor="ctr"/>
          <a:lstStyle/>
          <a:p>
            <a:pPr marL="0" indent="0" algn="ctr">
              <a:lnSpc>
                <a:spcPct val="120000"/>
              </a:lnSpc>
              <a:spcBef>
                <a:spcPts val="375"/>
              </a:spcBef>
              <a:buNone/>
            </a:pPr>
            <a:r>
              <a:rPr lang="en-US" sz="1425" dirty="0">
                <a:solidFill>
                  <a:srgbClr val="FFFFFF"/>
                </a:solidFill>
                <a:latin typeface="微软雅黑" pitchFamily="34" charset="0"/>
                <a:ea typeface="微软雅黑" pitchFamily="34" charset="-122"/>
                <a:cs typeface="微软雅黑" pitchFamily="34" charset="-120"/>
              </a:rPr>
              <a:t>202</a:t>
            </a:r>
            <a:r>
              <a:rPr lang="x-none" altLang="en-US" sz="1425" dirty="0">
                <a:solidFill>
                  <a:srgbClr val="FFFFFF"/>
                </a:solidFill>
                <a:latin typeface="微软雅黑" pitchFamily="34" charset="0"/>
                <a:ea typeface="微软雅黑" pitchFamily="34" charset="-122"/>
                <a:cs typeface="微软雅黑" pitchFamily="34" charset="-120"/>
              </a:rPr>
              <a:t>5</a:t>
            </a:r>
            <a:r>
              <a:rPr lang="en-US" sz="1425" dirty="0">
                <a:solidFill>
                  <a:srgbClr val="FFFFFF"/>
                </a:solidFill>
                <a:latin typeface="微软雅黑" pitchFamily="34" charset="0"/>
                <a:ea typeface="微软雅黑" pitchFamily="34" charset="-122"/>
                <a:cs typeface="微软雅黑" pitchFamily="34" charset="-120"/>
              </a:rPr>
              <a:t>-</a:t>
            </a:r>
            <a:r>
              <a:rPr lang="x-none" altLang="en-US" sz="1425" dirty="0">
                <a:solidFill>
                  <a:srgbClr val="FFFFFF"/>
                </a:solidFill>
                <a:latin typeface="微软雅黑" pitchFamily="34" charset="0"/>
                <a:ea typeface="微软雅黑" pitchFamily="34" charset="-122"/>
                <a:cs typeface="微软雅黑" pitchFamily="34" charset="-120"/>
              </a:rPr>
              <a:t>01</a:t>
            </a:r>
            <a:r>
              <a:rPr lang="en-US" sz="1425" dirty="0">
                <a:solidFill>
                  <a:srgbClr val="FFFFFF"/>
                </a:solidFill>
                <a:latin typeface="微软雅黑" pitchFamily="34" charset="0"/>
                <a:ea typeface="微软雅黑" pitchFamily="34" charset="-122"/>
                <a:cs typeface="微软雅黑" pitchFamily="34" charset="-120"/>
              </a:rPr>
              <a:t>-1</a:t>
            </a:r>
            <a:r>
              <a:rPr lang="x-none" altLang="en-US" sz="1425" dirty="0">
                <a:solidFill>
                  <a:srgbClr val="FFFFFF"/>
                </a:solidFill>
                <a:latin typeface="微软雅黑" pitchFamily="34" charset="0"/>
                <a:ea typeface="微软雅黑" pitchFamily="34" charset="-122"/>
                <a:cs typeface="微软雅黑" pitchFamily="34" charset="-120"/>
              </a:rPr>
              <a:t>3</a:t>
            </a:r>
            <a:endParaRPr lang="x-none" altLang="en-US" sz="1425" dirty="0">
              <a:solidFill>
                <a:srgbClr val="FFFFFF"/>
              </a:solidFill>
              <a:latin typeface="微软雅黑" pitchFamily="34" charset="0"/>
              <a:ea typeface="微软雅黑" pitchFamily="34" charset="-122"/>
              <a:cs typeface="微软雅黑" pitchFamily="34" charset="-120"/>
            </a:endParaRPr>
          </a:p>
        </p:txBody>
      </p:sp>
      <p:pic>
        <p:nvPicPr>
          <p:cNvPr id="8"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9" name="Shape 6"/>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目录</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704975" y="161925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14" name="Text 12"/>
          <p:cNvSpPr/>
          <p:nvPr/>
        </p:nvSpPr>
        <p:spPr>
          <a:xfrm>
            <a:off x="1704975" y="161925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01</a:t>
            </a:r>
            <a:endParaRPr lang="en-US" sz="1500" dirty="0"/>
          </a:p>
        </p:txBody>
      </p:sp>
      <p:sp>
        <p:nvSpPr>
          <p:cNvPr id="15" name="Text 13"/>
          <p:cNvSpPr/>
          <p:nvPr/>
        </p:nvSpPr>
        <p:spPr>
          <a:xfrm>
            <a:off x="2219325" y="161925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光纤通信基本原理</a:t>
            </a:r>
            <a:endParaRPr lang="en-US" sz="2025" dirty="0"/>
          </a:p>
        </p:txBody>
      </p:sp>
      <p:sp>
        <p:nvSpPr>
          <p:cNvPr id="16" name="Shape 14"/>
          <p:cNvSpPr/>
          <p:nvPr/>
        </p:nvSpPr>
        <p:spPr>
          <a:xfrm>
            <a:off x="1704975" y="266700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17" name="Text 15"/>
          <p:cNvSpPr/>
          <p:nvPr/>
        </p:nvSpPr>
        <p:spPr>
          <a:xfrm>
            <a:off x="1704975" y="266700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02</a:t>
            </a:r>
            <a:endParaRPr lang="en-US" sz="1500" dirty="0"/>
          </a:p>
        </p:txBody>
      </p:sp>
      <p:sp>
        <p:nvSpPr>
          <p:cNvPr id="18" name="Text 16"/>
          <p:cNvSpPr/>
          <p:nvPr/>
        </p:nvSpPr>
        <p:spPr>
          <a:xfrm>
            <a:off x="2219325" y="266700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光纤通信的构成要素</a:t>
            </a:r>
            <a:endParaRPr lang="en-US" sz="2025" dirty="0"/>
          </a:p>
        </p:txBody>
      </p:sp>
      <p:sp>
        <p:nvSpPr>
          <p:cNvPr id="19" name="Shape 17"/>
          <p:cNvSpPr/>
          <p:nvPr/>
        </p:nvSpPr>
        <p:spPr>
          <a:xfrm>
            <a:off x="1704975" y="371475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20" name="Text 18"/>
          <p:cNvSpPr/>
          <p:nvPr/>
        </p:nvSpPr>
        <p:spPr>
          <a:xfrm>
            <a:off x="1704975" y="371475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03</a:t>
            </a:r>
            <a:endParaRPr lang="en-US" sz="1500" dirty="0"/>
          </a:p>
        </p:txBody>
      </p:sp>
      <p:sp>
        <p:nvSpPr>
          <p:cNvPr id="21" name="Text 19"/>
          <p:cNvSpPr/>
          <p:nvPr/>
        </p:nvSpPr>
        <p:spPr>
          <a:xfrm>
            <a:off x="2219325" y="371475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光纤通信的优点</a:t>
            </a:r>
            <a:endParaRPr lang="en-US" sz="2025" dirty="0"/>
          </a:p>
        </p:txBody>
      </p:sp>
      <p:sp>
        <p:nvSpPr>
          <p:cNvPr id="22" name="Shape 20"/>
          <p:cNvSpPr/>
          <p:nvPr/>
        </p:nvSpPr>
        <p:spPr>
          <a:xfrm>
            <a:off x="1704975" y="476250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23" name="Text 21"/>
          <p:cNvSpPr/>
          <p:nvPr/>
        </p:nvSpPr>
        <p:spPr>
          <a:xfrm>
            <a:off x="1704975" y="476250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04</a:t>
            </a:r>
            <a:endParaRPr lang="en-US" sz="1500" dirty="0"/>
          </a:p>
        </p:txBody>
      </p:sp>
      <p:sp>
        <p:nvSpPr>
          <p:cNvPr id="24" name="Text 22"/>
          <p:cNvSpPr/>
          <p:nvPr/>
        </p:nvSpPr>
        <p:spPr>
          <a:xfrm>
            <a:off x="2219325" y="476250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光纤通信在各行业的应用</a:t>
            </a:r>
            <a:endParaRPr lang="en-US" sz="2025" dirty="0"/>
          </a:p>
        </p:txBody>
      </p:sp>
      <p:sp>
        <p:nvSpPr>
          <p:cNvPr id="25" name="Shape 23"/>
          <p:cNvSpPr/>
          <p:nvPr/>
        </p:nvSpPr>
        <p:spPr>
          <a:xfrm>
            <a:off x="7124700" y="161925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26" name="Text 24"/>
          <p:cNvSpPr/>
          <p:nvPr/>
        </p:nvSpPr>
        <p:spPr>
          <a:xfrm>
            <a:off x="7124700" y="161925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05</a:t>
            </a:r>
            <a:endParaRPr lang="en-US" sz="1500" dirty="0"/>
          </a:p>
        </p:txBody>
      </p:sp>
      <p:sp>
        <p:nvSpPr>
          <p:cNvPr id="27" name="Text 25"/>
          <p:cNvSpPr/>
          <p:nvPr/>
        </p:nvSpPr>
        <p:spPr>
          <a:xfrm>
            <a:off x="7639050" y="161925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光纤通信的发展前景</a:t>
            </a:r>
            <a:endParaRPr lang="en-US" sz="2025" dirty="0"/>
          </a:p>
        </p:txBody>
      </p:sp>
      <p:sp>
        <p:nvSpPr>
          <p:cNvPr id="28" name="Shape 26"/>
          <p:cNvSpPr/>
          <p:nvPr/>
        </p:nvSpPr>
        <p:spPr>
          <a:xfrm>
            <a:off x="7124700" y="266700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29" name="Text 27"/>
          <p:cNvSpPr/>
          <p:nvPr/>
        </p:nvSpPr>
        <p:spPr>
          <a:xfrm>
            <a:off x="7124700" y="266700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06</a:t>
            </a:r>
            <a:endParaRPr lang="en-US" sz="1500" dirty="0"/>
          </a:p>
        </p:txBody>
      </p:sp>
      <p:sp>
        <p:nvSpPr>
          <p:cNvPr id="30" name="Text 28"/>
          <p:cNvSpPr/>
          <p:nvPr/>
        </p:nvSpPr>
        <p:spPr>
          <a:xfrm>
            <a:off x="7639050" y="266700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光纤通信的未来趋势</a:t>
            </a:r>
            <a:endParaRPr lang="en-US" sz="2025" dirty="0"/>
          </a:p>
        </p:txBody>
      </p:sp>
      <p:sp>
        <p:nvSpPr>
          <p:cNvPr id="31" name="Shape 29"/>
          <p:cNvSpPr/>
          <p:nvPr/>
        </p:nvSpPr>
        <p:spPr>
          <a:xfrm>
            <a:off x="7124700" y="371475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32" name="Text 30"/>
          <p:cNvSpPr/>
          <p:nvPr/>
        </p:nvSpPr>
        <p:spPr>
          <a:xfrm>
            <a:off x="7124700" y="371475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07</a:t>
            </a:r>
            <a:endParaRPr lang="en-US" sz="1500" dirty="0"/>
          </a:p>
        </p:txBody>
      </p:sp>
      <p:sp>
        <p:nvSpPr>
          <p:cNvPr id="33" name="Text 31"/>
          <p:cNvSpPr/>
          <p:nvPr/>
        </p:nvSpPr>
        <p:spPr>
          <a:xfrm>
            <a:off x="7639050" y="371475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光纤通信技术的挑战</a:t>
            </a:r>
            <a:endParaRPr lang="en-US" sz="2025" dirty="0"/>
          </a:p>
        </p:txBody>
      </p:sp>
      <p:sp>
        <p:nvSpPr>
          <p:cNvPr id="34" name="Shape 32"/>
          <p:cNvSpPr/>
          <p:nvPr/>
        </p:nvSpPr>
        <p:spPr>
          <a:xfrm>
            <a:off x="7124700" y="4762500"/>
            <a:ext cx="438150" cy="476250"/>
          </a:xfrm>
          <a:custGeom>
            <a:avLst/>
            <a:gdLst/>
            <a:ahLst/>
            <a:cxnLst/>
            <a:rect l="l" t="t" r="r" b="b"/>
            <a:pathLst>
              <a:path w="438150" h="476250">
                <a:moveTo>
                  <a:pt x="54769" y="0"/>
                </a:moveTo>
                <a:lnTo>
                  <a:pt x="383381" y="0"/>
                </a:lnTo>
                <a:quadBezTo>
                  <a:pt x="438150" y="0"/>
                  <a:pt x="438150" y="52917"/>
                </a:quadBezTo>
                <a:lnTo>
                  <a:pt x="438150" y="423333"/>
                </a:lnTo>
                <a:quadBezTo>
                  <a:pt x="438150" y="476250"/>
                  <a:pt x="383381" y="476250"/>
                </a:quadBezTo>
                <a:lnTo>
                  <a:pt x="54769" y="476250"/>
                </a:lnTo>
                <a:quadBezTo>
                  <a:pt x="0" y="476250"/>
                  <a:pt x="0" y="423333"/>
                </a:quadBezTo>
                <a:lnTo>
                  <a:pt x="0" y="52917"/>
                </a:lnTo>
                <a:quadBezTo>
                  <a:pt x="0" y="0"/>
                  <a:pt x="54769" y="0"/>
                </a:quadBezTo>
                <a:close/>
              </a:path>
            </a:pathLst>
          </a:custGeom>
          <a:solidFill>
            <a:srgbClr val="1C1C1C"/>
          </a:solidFill>
        </p:spPr>
      </p:sp>
      <p:sp>
        <p:nvSpPr>
          <p:cNvPr id="35" name="Text 33"/>
          <p:cNvSpPr/>
          <p:nvPr/>
        </p:nvSpPr>
        <p:spPr>
          <a:xfrm>
            <a:off x="7124700" y="4762500"/>
            <a:ext cx="438150" cy="476250"/>
          </a:xfrm>
          <a:prstGeom prst="rect">
            <a:avLst/>
          </a:prstGeom>
          <a:noFill/>
        </p:spPr>
        <p:txBody>
          <a:bodyPr wrap="square" rtlCol="0" anchor="ctr"/>
          <a:lstStyle/>
          <a:p>
            <a:pPr marL="0" indent="0">
              <a:lnSpc>
                <a:spcPct val="120000"/>
              </a:lnSpc>
              <a:spcBef>
                <a:spcPts val="375"/>
              </a:spcBef>
              <a:buNone/>
            </a:pPr>
            <a:r>
              <a:rPr lang="en-US" sz="1500" dirty="0">
                <a:solidFill>
                  <a:srgbClr val="FFFFFF"/>
                </a:solidFill>
                <a:latin typeface="微软雅黑" pitchFamily="34" charset="0"/>
                <a:ea typeface="微软雅黑" pitchFamily="34" charset="-122"/>
                <a:cs typeface="微软雅黑" pitchFamily="34" charset="-120"/>
              </a:rPr>
              <a:t>08</a:t>
            </a:r>
            <a:endParaRPr lang="en-US" sz="1500" dirty="0"/>
          </a:p>
        </p:txBody>
      </p:sp>
      <p:sp>
        <p:nvSpPr>
          <p:cNvPr id="36" name="Text 34"/>
          <p:cNvSpPr/>
          <p:nvPr/>
        </p:nvSpPr>
        <p:spPr>
          <a:xfrm>
            <a:off x="7639050" y="4762500"/>
            <a:ext cx="4000500" cy="471488"/>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2025" b="1" dirty="0">
                <a:solidFill>
                  <a:srgbClr val="404040"/>
                </a:solidFill>
                <a:latin typeface="Microsoft Yahei" pitchFamily="34" charset="0"/>
                <a:ea typeface="Microsoft Yahei" pitchFamily="34" charset="-122"/>
                <a:cs typeface="Microsoft Yahei" pitchFamily="34" charset="-120"/>
              </a:rPr>
              <a:t>光纤通信在中国的发展</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光纤通信基本原理</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01</a:t>
            </a:r>
            <a:endParaRPr lang="en-US" sz="9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光波作为信息载体</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2647315" y="1838960"/>
            <a:ext cx="920750" cy="292100"/>
          </a:xfrm>
          <a:custGeom>
            <a:avLst/>
            <a:gdLst/>
            <a:ahLst/>
            <a:cxnLst/>
            <a:rect l="l" t="t" r="r" b="b"/>
            <a:pathLst>
              <a:path w="920750" h="292100">
                <a:moveTo>
                  <a:pt x="0" y="0"/>
                </a:moveTo>
                <a:lnTo>
                  <a:pt x="920750" y="0"/>
                </a:lnTo>
                <a:lnTo>
                  <a:pt x="920750" y="292100"/>
                </a:lnTo>
                <a:lnTo>
                  <a:pt x="0" y="292100"/>
                </a:lnTo>
                <a:close/>
              </a:path>
            </a:pathLst>
          </a:custGeom>
          <a:solidFill>
            <a:srgbClr val="1C1C1C"/>
          </a:solidFill>
          <a:effectLst>
            <a:outerShdw blurRad="182516" dist="34416" dir="2700000" algn="bl" rotWithShape="0">
              <a:srgbClr val="000000">
                <a:alpha val="20000"/>
              </a:srgbClr>
            </a:outerShdw>
          </a:effectLst>
        </p:spPr>
      </p:sp>
      <p:sp>
        <p:nvSpPr>
          <p:cNvPr id="14" name="Text 12"/>
          <p:cNvSpPr/>
          <p:nvPr/>
        </p:nvSpPr>
        <p:spPr>
          <a:xfrm>
            <a:off x="2647315" y="1838960"/>
            <a:ext cx="920750" cy="2921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2647315" y="2969260"/>
            <a:ext cx="1553845" cy="292100"/>
          </a:xfrm>
          <a:custGeom>
            <a:avLst/>
            <a:gdLst/>
            <a:ahLst/>
            <a:cxnLst/>
            <a:rect l="l" t="t" r="r" b="b"/>
            <a:pathLst>
              <a:path w="1553845" h="292100">
                <a:moveTo>
                  <a:pt x="0" y="0"/>
                </a:moveTo>
                <a:lnTo>
                  <a:pt x="1553845" y="0"/>
                </a:lnTo>
                <a:lnTo>
                  <a:pt x="1553845" y="292100"/>
                </a:lnTo>
                <a:lnTo>
                  <a:pt x="0" y="292100"/>
                </a:lnTo>
                <a:close/>
              </a:path>
            </a:pathLst>
          </a:custGeom>
          <a:solidFill>
            <a:srgbClr val="616161"/>
          </a:solidFill>
          <a:effectLst>
            <a:outerShdw blurRad="182516" dist="34416" dir="2700000" algn="bl" rotWithShape="0">
              <a:srgbClr val="000000">
                <a:alpha val="20000"/>
              </a:srgbClr>
            </a:outerShdw>
          </a:effectLst>
        </p:spPr>
      </p:sp>
      <p:sp>
        <p:nvSpPr>
          <p:cNvPr id="16" name="Text 14"/>
          <p:cNvSpPr/>
          <p:nvPr/>
        </p:nvSpPr>
        <p:spPr>
          <a:xfrm>
            <a:off x="2647315" y="2969260"/>
            <a:ext cx="1553845" cy="2921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a:off x="2647315" y="4099560"/>
            <a:ext cx="2160270" cy="293370"/>
          </a:xfrm>
          <a:custGeom>
            <a:avLst/>
            <a:gdLst/>
            <a:ahLst/>
            <a:cxnLst/>
            <a:rect l="l" t="t" r="r" b="b"/>
            <a:pathLst>
              <a:path w="2160270" h="293370">
                <a:moveTo>
                  <a:pt x="0" y="0"/>
                </a:moveTo>
                <a:lnTo>
                  <a:pt x="2160270" y="0"/>
                </a:lnTo>
                <a:lnTo>
                  <a:pt x="2160270" y="293370"/>
                </a:lnTo>
                <a:lnTo>
                  <a:pt x="0" y="293370"/>
                </a:lnTo>
                <a:close/>
              </a:path>
            </a:pathLst>
          </a:custGeom>
          <a:solidFill>
            <a:srgbClr val="1C1C1C"/>
          </a:solidFill>
          <a:effectLst>
            <a:outerShdw blurRad="182516" dist="34416" dir="2700000" algn="bl" rotWithShape="0">
              <a:srgbClr val="000000">
                <a:alpha val="20000"/>
              </a:srgbClr>
            </a:outerShdw>
          </a:effectLst>
        </p:spPr>
      </p:sp>
      <p:sp>
        <p:nvSpPr>
          <p:cNvPr id="18" name="Text 16"/>
          <p:cNvSpPr/>
          <p:nvPr/>
        </p:nvSpPr>
        <p:spPr>
          <a:xfrm>
            <a:off x="2647315" y="4099560"/>
            <a:ext cx="2160270" cy="29337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2647315" y="5231130"/>
            <a:ext cx="2965450" cy="292100"/>
          </a:xfrm>
          <a:custGeom>
            <a:avLst/>
            <a:gdLst/>
            <a:ahLst/>
            <a:cxnLst/>
            <a:rect l="l" t="t" r="r" b="b"/>
            <a:pathLst>
              <a:path w="2965450" h="292100">
                <a:moveTo>
                  <a:pt x="0" y="0"/>
                </a:moveTo>
                <a:lnTo>
                  <a:pt x="2965450" y="0"/>
                </a:lnTo>
                <a:lnTo>
                  <a:pt x="2965450" y="292100"/>
                </a:lnTo>
                <a:lnTo>
                  <a:pt x="0" y="292100"/>
                </a:lnTo>
                <a:close/>
              </a:path>
            </a:pathLst>
          </a:custGeom>
          <a:solidFill>
            <a:srgbClr val="616161"/>
          </a:solidFill>
          <a:effectLst>
            <a:outerShdw blurRad="182516" dist="34416" dir="2700000" algn="bl" rotWithShape="0">
              <a:srgbClr val="000000">
                <a:alpha val="20000"/>
              </a:srgbClr>
            </a:outerShdw>
          </a:effectLst>
        </p:spPr>
      </p:sp>
      <p:sp>
        <p:nvSpPr>
          <p:cNvPr id="20" name="Text 18"/>
          <p:cNvSpPr/>
          <p:nvPr/>
        </p:nvSpPr>
        <p:spPr>
          <a:xfrm>
            <a:off x="2647315" y="5231130"/>
            <a:ext cx="2965450" cy="2921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2212340" y="1764030"/>
            <a:ext cx="441325" cy="441325"/>
          </a:xfrm>
          <a:custGeom>
            <a:avLst/>
            <a:gdLst/>
            <a:ahLst/>
            <a:cxnLst/>
            <a:rect l="l" t="t" r="r" b="b"/>
            <a:pathLst>
              <a:path w="441325" h="441325">
                <a:moveTo>
                  <a:pt x="0" y="0"/>
                </a:moveTo>
                <a:lnTo>
                  <a:pt x="441325" y="0"/>
                </a:lnTo>
                <a:lnTo>
                  <a:pt x="441325" y="441325"/>
                </a:lnTo>
                <a:lnTo>
                  <a:pt x="0" y="441325"/>
                </a:lnTo>
                <a:close/>
              </a:path>
            </a:pathLst>
          </a:custGeom>
          <a:solidFill>
            <a:srgbClr val="1C1C1C"/>
          </a:solidFill>
          <a:effectLst>
            <a:outerShdw blurRad="182516" dist="34416" dir="2700000" algn="bl" rotWithShape="0">
              <a:srgbClr val="000000">
                <a:alpha val="20000"/>
              </a:srgbClr>
            </a:outerShdw>
          </a:effectLst>
        </p:spPr>
      </p:sp>
      <p:sp>
        <p:nvSpPr>
          <p:cNvPr id="22" name="Text 20"/>
          <p:cNvSpPr/>
          <p:nvPr/>
        </p:nvSpPr>
        <p:spPr>
          <a:xfrm>
            <a:off x="2212340" y="1764030"/>
            <a:ext cx="441325" cy="44132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a:off x="2212340" y="2894330"/>
            <a:ext cx="441325" cy="441325"/>
          </a:xfrm>
          <a:custGeom>
            <a:avLst/>
            <a:gdLst/>
            <a:ahLst/>
            <a:cxnLst/>
            <a:rect l="l" t="t" r="r" b="b"/>
            <a:pathLst>
              <a:path w="441325" h="441325">
                <a:moveTo>
                  <a:pt x="0" y="0"/>
                </a:moveTo>
                <a:lnTo>
                  <a:pt x="441325" y="0"/>
                </a:lnTo>
                <a:lnTo>
                  <a:pt x="441325" y="441325"/>
                </a:lnTo>
                <a:lnTo>
                  <a:pt x="0" y="441325"/>
                </a:lnTo>
                <a:close/>
              </a:path>
            </a:pathLst>
          </a:custGeom>
          <a:solidFill>
            <a:srgbClr val="616161"/>
          </a:solidFill>
          <a:effectLst>
            <a:outerShdw blurRad="182516" dist="34416" dir="2700000" algn="bl" rotWithShape="0">
              <a:srgbClr val="000000">
                <a:alpha val="20000"/>
              </a:srgbClr>
            </a:outerShdw>
          </a:effectLst>
        </p:spPr>
      </p:sp>
      <p:sp>
        <p:nvSpPr>
          <p:cNvPr id="24" name="Text 22"/>
          <p:cNvSpPr/>
          <p:nvPr/>
        </p:nvSpPr>
        <p:spPr>
          <a:xfrm>
            <a:off x="2212340" y="2894330"/>
            <a:ext cx="441325" cy="44132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5" name="Shape 23"/>
          <p:cNvSpPr/>
          <p:nvPr/>
        </p:nvSpPr>
        <p:spPr>
          <a:xfrm>
            <a:off x="2212340" y="4024630"/>
            <a:ext cx="441325" cy="443230"/>
          </a:xfrm>
          <a:custGeom>
            <a:avLst/>
            <a:gdLst/>
            <a:ahLst/>
            <a:cxnLst/>
            <a:rect l="l" t="t" r="r" b="b"/>
            <a:pathLst>
              <a:path w="441325" h="443230">
                <a:moveTo>
                  <a:pt x="0" y="0"/>
                </a:moveTo>
                <a:lnTo>
                  <a:pt x="441325" y="0"/>
                </a:lnTo>
                <a:lnTo>
                  <a:pt x="441325" y="443230"/>
                </a:lnTo>
                <a:lnTo>
                  <a:pt x="0" y="443230"/>
                </a:lnTo>
                <a:close/>
              </a:path>
            </a:pathLst>
          </a:custGeom>
          <a:solidFill>
            <a:srgbClr val="1C1C1C"/>
          </a:solidFill>
          <a:effectLst>
            <a:outerShdw blurRad="182516" dist="34416" dir="2700000" algn="bl" rotWithShape="0">
              <a:srgbClr val="000000">
                <a:alpha val="20000"/>
              </a:srgbClr>
            </a:outerShdw>
          </a:effectLst>
        </p:spPr>
      </p:sp>
      <p:sp>
        <p:nvSpPr>
          <p:cNvPr id="26" name="Text 24"/>
          <p:cNvSpPr/>
          <p:nvPr/>
        </p:nvSpPr>
        <p:spPr>
          <a:xfrm>
            <a:off x="2212340" y="4024630"/>
            <a:ext cx="441325" cy="44323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a:off x="2212340" y="5156835"/>
            <a:ext cx="441325" cy="441325"/>
          </a:xfrm>
          <a:custGeom>
            <a:avLst/>
            <a:gdLst/>
            <a:ahLst/>
            <a:cxnLst/>
            <a:rect l="l" t="t" r="r" b="b"/>
            <a:pathLst>
              <a:path w="441325" h="441325">
                <a:moveTo>
                  <a:pt x="0" y="0"/>
                </a:moveTo>
                <a:lnTo>
                  <a:pt x="441325" y="0"/>
                </a:lnTo>
                <a:lnTo>
                  <a:pt x="441325" y="441325"/>
                </a:lnTo>
                <a:lnTo>
                  <a:pt x="0" y="441325"/>
                </a:lnTo>
                <a:close/>
              </a:path>
            </a:pathLst>
          </a:custGeom>
          <a:solidFill>
            <a:srgbClr val="616161"/>
          </a:solidFill>
          <a:effectLst>
            <a:outerShdw blurRad="182516" dist="34416" dir="2700000" algn="bl" rotWithShape="0">
              <a:srgbClr val="000000">
                <a:alpha val="20000"/>
              </a:srgbClr>
            </a:outerShdw>
          </a:effectLst>
        </p:spPr>
      </p:sp>
      <p:sp>
        <p:nvSpPr>
          <p:cNvPr id="28" name="Text 26"/>
          <p:cNvSpPr/>
          <p:nvPr/>
        </p:nvSpPr>
        <p:spPr>
          <a:xfrm>
            <a:off x="2212340" y="5156835"/>
            <a:ext cx="441325" cy="44132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Text 27"/>
          <p:cNvSpPr/>
          <p:nvPr/>
        </p:nvSpPr>
        <p:spPr>
          <a:xfrm>
            <a:off x="1128395" y="1661160"/>
            <a:ext cx="1076325" cy="645765"/>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404040"/>
                </a:solidFill>
                <a:latin typeface="+mj-lt"/>
                <a:ea typeface="+mj-lt"/>
                <a:cs typeface="+mj-lt"/>
              </a:rPr>
              <a:t>标题一</a:t>
            </a:r>
            <a:endParaRPr lang="en-US" sz="1800" dirty="0"/>
          </a:p>
        </p:txBody>
      </p:sp>
      <p:sp>
        <p:nvSpPr>
          <p:cNvPr id="30" name="Text 28"/>
          <p:cNvSpPr/>
          <p:nvPr/>
        </p:nvSpPr>
        <p:spPr>
          <a:xfrm>
            <a:off x="1128395" y="2792730"/>
            <a:ext cx="1076325" cy="646361"/>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404040"/>
                </a:solidFill>
                <a:latin typeface="+mj-lt"/>
                <a:ea typeface="+mj-lt"/>
                <a:cs typeface="+mj-lt"/>
              </a:rPr>
              <a:t>标题二</a:t>
            </a:r>
            <a:endParaRPr lang="en-US" sz="1800" dirty="0"/>
          </a:p>
        </p:txBody>
      </p:sp>
      <p:sp>
        <p:nvSpPr>
          <p:cNvPr id="31" name="Text 29"/>
          <p:cNvSpPr/>
          <p:nvPr/>
        </p:nvSpPr>
        <p:spPr>
          <a:xfrm>
            <a:off x="1128395" y="3924935"/>
            <a:ext cx="1076325" cy="645765"/>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404040"/>
                </a:solidFill>
                <a:latin typeface="+mj-lt"/>
                <a:ea typeface="+mj-lt"/>
                <a:cs typeface="+mj-lt"/>
              </a:rPr>
              <a:t>标题三</a:t>
            </a:r>
            <a:endParaRPr lang="en-US" sz="1800" dirty="0"/>
          </a:p>
        </p:txBody>
      </p:sp>
      <p:sp>
        <p:nvSpPr>
          <p:cNvPr id="32" name="Text 30"/>
          <p:cNvSpPr/>
          <p:nvPr/>
        </p:nvSpPr>
        <p:spPr>
          <a:xfrm>
            <a:off x="1128395" y="5056505"/>
            <a:ext cx="1076325" cy="646361"/>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404040"/>
                </a:solidFill>
                <a:latin typeface="+mj-lt"/>
                <a:ea typeface="+mj-lt"/>
                <a:cs typeface="+mj-lt"/>
              </a:rPr>
              <a:t>标题四</a:t>
            </a:r>
            <a:endParaRPr lang="en-US" sz="1800" dirty="0"/>
          </a:p>
        </p:txBody>
      </p:sp>
      <p:sp>
        <p:nvSpPr>
          <p:cNvPr id="33" name="Text 31"/>
          <p:cNvSpPr/>
          <p:nvPr/>
        </p:nvSpPr>
        <p:spPr>
          <a:xfrm>
            <a:off x="3731895" y="1764030"/>
            <a:ext cx="848995" cy="43993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800" dirty="0">
                <a:solidFill>
                  <a:srgbClr val="404040"/>
                </a:solidFill>
                <a:latin typeface="+mj-lt"/>
                <a:ea typeface="+mj-lt"/>
                <a:cs typeface="+mj-lt"/>
              </a:rPr>
              <a:t>20%</a:t>
            </a:r>
            <a:endParaRPr lang="en-US" sz="1800" dirty="0"/>
          </a:p>
        </p:txBody>
      </p:sp>
      <p:sp>
        <p:nvSpPr>
          <p:cNvPr id="34" name="Text 32"/>
          <p:cNvSpPr/>
          <p:nvPr/>
        </p:nvSpPr>
        <p:spPr>
          <a:xfrm>
            <a:off x="4385945" y="2896235"/>
            <a:ext cx="848995" cy="439341"/>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800" dirty="0">
                <a:solidFill>
                  <a:srgbClr val="404040"/>
                </a:solidFill>
                <a:latin typeface="+mj-lt"/>
                <a:ea typeface="+mj-lt"/>
                <a:cs typeface="+mj-lt"/>
              </a:rPr>
              <a:t>40%</a:t>
            </a:r>
            <a:endParaRPr lang="en-US" sz="1800" dirty="0"/>
          </a:p>
        </p:txBody>
      </p:sp>
      <p:sp>
        <p:nvSpPr>
          <p:cNvPr id="35" name="Text 33"/>
          <p:cNvSpPr/>
          <p:nvPr/>
        </p:nvSpPr>
        <p:spPr>
          <a:xfrm>
            <a:off x="4999990" y="4027805"/>
            <a:ext cx="848995" cy="43993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800" dirty="0">
                <a:solidFill>
                  <a:srgbClr val="404040"/>
                </a:solidFill>
                <a:latin typeface="+mj-lt"/>
                <a:ea typeface="+mj-lt"/>
                <a:cs typeface="+mj-lt"/>
              </a:rPr>
              <a:t>60%</a:t>
            </a:r>
            <a:endParaRPr lang="en-US" sz="1800" dirty="0"/>
          </a:p>
        </p:txBody>
      </p:sp>
      <p:sp>
        <p:nvSpPr>
          <p:cNvPr id="36" name="Text 34"/>
          <p:cNvSpPr/>
          <p:nvPr/>
        </p:nvSpPr>
        <p:spPr>
          <a:xfrm>
            <a:off x="5821045" y="5160010"/>
            <a:ext cx="848995" cy="439341"/>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800" dirty="0">
                <a:solidFill>
                  <a:srgbClr val="404040"/>
                </a:solidFill>
                <a:latin typeface="+mj-lt"/>
                <a:ea typeface="+mj-lt"/>
                <a:cs typeface="+mj-lt"/>
              </a:rPr>
              <a:t>80%</a:t>
            </a:r>
            <a:endParaRPr lang="en-US" sz="1800" dirty="0"/>
          </a:p>
        </p:txBody>
      </p:sp>
      <p:sp>
        <p:nvSpPr>
          <p:cNvPr id="37" name="Text 35"/>
          <p:cNvSpPr/>
          <p:nvPr/>
        </p:nvSpPr>
        <p:spPr>
          <a:xfrm>
            <a:off x="6670040" y="1847850"/>
            <a:ext cx="4706620" cy="576560"/>
          </a:xfrm>
          <a:prstGeom prst="rect">
            <a:avLst/>
          </a:prstGeom>
          <a:solidFill>
            <a:srgbClr val="1C1C1C"/>
          </a:solidFill>
        </p:spPr>
        <p:txBody>
          <a:bodyPr wrap="square" lIns="95250" tIns="95250" rIns="95250" bIns="95250" rtlCol="0" anchor="ctr">
            <a:spAutoFit/>
          </a:bodyPr>
          <a:lstStyle/>
          <a:p>
            <a:pPr marL="0" indent="0" algn="l">
              <a:lnSpc>
                <a:spcPct val="100000"/>
              </a:lnSpc>
              <a:spcBef>
                <a:spcPts val="375"/>
              </a:spcBef>
              <a:buNone/>
            </a:pPr>
            <a:r>
              <a:rPr lang="en-US" sz="2400" b="1" dirty="0">
                <a:solidFill>
                  <a:srgbClr val="1C1C1C"/>
                </a:solidFill>
                <a:latin typeface="Arial" panose="02080604020202020204" pitchFamily="34" charset="0"/>
                <a:ea typeface="Arial" pitchFamily="34" charset="-122"/>
                <a:cs typeface="Arial" pitchFamily="34" charset="-120"/>
              </a:rPr>
              <a:t>项目数据分析</a:t>
            </a:r>
            <a:endParaRPr lang="en-US" sz="2400" dirty="0"/>
          </a:p>
        </p:txBody>
      </p:sp>
      <p:sp>
        <p:nvSpPr>
          <p:cNvPr id="38" name="Text 36"/>
          <p:cNvSpPr/>
          <p:nvPr/>
        </p:nvSpPr>
        <p:spPr>
          <a:xfrm>
            <a:off x="6833870" y="2717800"/>
            <a:ext cx="4491355" cy="368201"/>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光波的特性与优势</a:t>
            </a:r>
            <a:endParaRPr lang="en-US" sz="1725" dirty="0"/>
          </a:p>
        </p:txBody>
      </p:sp>
      <p:sp>
        <p:nvSpPr>
          <p:cNvPr id="39" name="Text 37"/>
          <p:cNvSpPr/>
          <p:nvPr/>
        </p:nvSpPr>
        <p:spPr>
          <a:xfrm>
            <a:off x="6833870" y="3087370"/>
            <a:ext cx="4491355" cy="2344341"/>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光波作为信息传输的载体具有高速、大容量、低衰减等优势，能够满足日益增长的通信需求。</a:t>
            </a:r>
            <a:endParaRPr lang="en-US" sz="1350" dirty="0"/>
          </a:p>
        </p:txBody>
      </p:sp>
      <p:sp>
        <p:nvSpPr>
          <p:cNvPr id="40" name="Shape 38"/>
          <p:cNvSpPr/>
          <p:nvPr/>
        </p:nvSpPr>
        <p:spPr>
          <a:xfrm>
            <a:off x="2228215" y="1451610"/>
            <a:ext cx="0" cy="4451350"/>
          </a:xfrm>
          <a:custGeom>
            <a:avLst/>
            <a:gdLst/>
            <a:ahLst/>
            <a:cxnLst/>
            <a:rect l="l" t="t" r="r" b="b"/>
            <a:pathLst>
              <a:path h="4451350">
                <a:moveTo>
                  <a:pt x="0" y="0"/>
                </a:moveTo>
                <a:lnTo>
                  <a:pt x="0" y="4451350"/>
                </a:lnTo>
              </a:path>
            </a:pathLst>
          </a:custGeom>
          <a:noFill/>
          <a:ln w="16669">
            <a:solidFill>
              <a:srgbClr val="1C1C1C"/>
            </a:solidFill>
            <a:prstDash val="solid"/>
            <a:headEnd type="none"/>
            <a:tailEnd type="non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光纤作为传输介质</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pic>
        <p:nvPicPr>
          <p:cNvPr id="13" name="Image 0" descr="https://cdn.ciniaoppt.com/webroot/upload/ppt/local/20240305/b76931defcafb3ebed878ca31581fb06.png"/>
          <p:cNvPicPr>
            <a:picLocks noChangeAspect="1"/>
          </p:cNvPicPr>
          <p:nvPr/>
        </p:nvPicPr>
        <p:blipFill>
          <a:blip r:embed="rId1"/>
          <a:stretch>
            <a:fillRect/>
          </a:stretch>
        </p:blipFill>
        <p:spPr>
          <a:xfrm>
            <a:off x="6492142" y="1460413"/>
            <a:ext cx="4657011" cy="2429337"/>
          </a:xfrm>
          <a:prstGeom prst="rect">
            <a:avLst/>
          </a:prstGeom>
        </p:spPr>
      </p:pic>
      <p:pic>
        <p:nvPicPr>
          <p:cNvPr id="14" name="Image 1" descr="https://cdn.ciniaoppt.com/webroot/upload/ppt/local/20240305/c77a7623753bdf931af7d0809594b6a5.png"/>
          <p:cNvPicPr>
            <a:picLocks noChangeAspect="1"/>
          </p:cNvPicPr>
          <p:nvPr/>
        </p:nvPicPr>
        <p:blipFill>
          <a:blip r:embed="rId2"/>
          <a:stretch>
            <a:fillRect/>
          </a:stretch>
        </p:blipFill>
        <p:spPr>
          <a:xfrm>
            <a:off x="880110" y="1460413"/>
            <a:ext cx="4657011" cy="2429337"/>
          </a:xfrm>
          <a:prstGeom prst="rect">
            <a:avLst/>
          </a:prstGeom>
        </p:spPr>
      </p:pic>
      <p:sp>
        <p:nvSpPr>
          <p:cNvPr id="15" name="Text 11"/>
          <p:cNvSpPr/>
          <p:nvPr/>
        </p:nvSpPr>
        <p:spPr>
          <a:xfrm>
            <a:off x="5242889" y="3255342"/>
            <a:ext cx="666569" cy="648444"/>
          </a:xfrm>
          <a:prstGeom prst="rect">
            <a:avLst/>
          </a:prstGeom>
          <a:solidFill>
            <a:srgbClr val="616161"/>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616161"/>
                </a:solidFill>
                <a:latin typeface="Arial" panose="02080604020202020204" pitchFamily="34" charset="0"/>
                <a:ea typeface="Arial" pitchFamily="34" charset="-122"/>
                <a:cs typeface="Arial" pitchFamily="34" charset="-120"/>
              </a:rPr>
              <a:t> </a:t>
            </a:r>
            <a:endParaRPr lang="en-US" sz="1800" dirty="0"/>
          </a:p>
        </p:txBody>
      </p:sp>
      <p:sp>
        <p:nvSpPr>
          <p:cNvPr id="16" name="Shape 12"/>
          <p:cNvSpPr/>
          <p:nvPr/>
        </p:nvSpPr>
        <p:spPr>
          <a:xfrm>
            <a:off x="5431058" y="3443770"/>
            <a:ext cx="290226" cy="271678"/>
          </a:xfrm>
          <a:custGeom>
            <a:avLst/>
            <a:gdLst/>
            <a:ahLst/>
            <a:cxnLst/>
            <a:rect l="l" t="t" r="r" b="b"/>
            <a:pathLst>
              <a:path w="290226" h="271678">
                <a:moveTo>
                  <a:pt x="20099" y="120638"/>
                </a:moveTo>
                <a:lnTo>
                  <a:pt x="20099" y="226836"/>
                </a:lnTo>
                <a:cubicBezTo>
                  <a:pt x="20099" y="230327"/>
                  <a:pt x="21438" y="233581"/>
                  <a:pt x="23917" y="236089"/>
                </a:cubicBezTo>
                <a:cubicBezTo>
                  <a:pt x="26396" y="238564"/>
                  <a:pt x="29645" y="239954"/>
                  <a:pt x="33062" y="239954"/>
                </a:cubicBezTo>
                <a:lnTo>
                  <a:pt x="244967" y="239954"/>
                </a:lnTo>
                <a:cubicBezTo>
                  <a:pt x="248417" y="239954"/>
                  <a:pt x="251633" y="238598"/>
                  <a:pt x="254112" y="236089"/>
                </a:cubicBezTo>
                <a:cubicBezTo>
                  <a:pt x="256557" y="233581"/>
                  <a:pt x="257930" y="230293"/>
                  <a:pt x="257930" y="226836"/>
                </a:cubicBezTo>
                <a:lnTo>
                  <a:pt x="257930" y="120638"/>
                </a:lnTo>
                <a:moveTo>
                  <a:pt x="33062" y="51353"/>
                </a:moveTo>
                <a:cubicBezTo>
                  <a:pt x="25893" y="51353"/>
                  <a:pt x="20099" y="57251"/>
                  <a:pt x="20099" y="64471"/>
                </a:cubicBezTo>
                <a:lnTo>
                  <a:pt x="20099" y="100300"/>
                </a:lnTo>
                <a:lnTo>
                  <a:pt x="257930" y="100300"/>
                </a:lnTo>
                <a:lnTo>
                  <a:pt x="257930" y="64471"/>
                </a:lnTo>
                <a:cubicBezTo>
                  <a:pt x="257930" y="57217"/>
                  <a:pt x="252102" y="51353"/>
                  <a:pt x="244967" y="51353"/>
                </a:cubicBezTo>
                <a:lnTo>
                  <a:pt x="200549" y="51353"/>
                </a:lnTo>
                <a:lnTo>
                  <a:pt x="200549" y="72674"/>
                </a:lnTo>
                <a:cubicBezTo>
                  <a:pt x="200549" y="78301"/>
                  <a:pt x="196060" y="82877"/>
                  <a:pt x="190500" y="82877"/>
                </a:cubicBezTo>
                <a:cubicBezTo>
                  <a:pt x="184939" y="82877"/>
                  <a:pt x="180451" y="78335"/>
                  <a:pt x="180451" y="72708"/>
                </a:cubicBezTo>
                <a:lnTo>
                  <a:pt x="180451" y="51353"/>
                </a:lnTo>
                <a:lnTo>
                  <a:pt x="97578" y="51353"/>
                </a:lnTo>
                <a:lnTo>
                  <a:pt x="97578" y="72674"/>
                </a:lnTo>
                <a:cubicBezTo>
                  <a:pt x="97578" y="78301"/>
                  <a:pt x="93089" y="82877"/>
                  <a:pt x="87529" y="82877"/>
                </a:cubicBezTo>
                <a:cubicBezTo>
                  <a:pt x="81968" y="82877"/>
                  <a:pt x="77480" y="78335"/>
                  <a:pt x="77480" y="72708"/>
                </a:cubicBezTo>
                <a:lnTo>
                  <a:pt x="77480" y="51353"/>
                </a:lnTo>
                <a:moveTo>
                  <a:pt x="87529" y="0"/>
                </a:moveTo>
                <a:cubicBezTo>
                  <a:pt x="93089" y="0"/>
                  <a:pt x="97578" y="4542"/>
                  <a:pt x="97578" y="10169"/>
                </a:cubicBezTo>
                <a:lnTo>
                  <a:pt x="97578" y="31015"/>
                </a:lnTo>
                <a:lnTo>
                  <a:pt x="180451" y="31015"/>
                </a:lnTo>
                <a:lnTo>
                  <a:pt x="180451" y="10169"/>
                </a:lnTo>
                <a:cubicBezTo>
                  <a:pt x="180451" y="4542"/>
                  <a:pt x="184939" y="0"/>
                  <a:pt x="190500" y="0"/>
                </a:cubicBezTo>
                <a:cubicBezTo>
                  <a:pt x="196060" y="0"/>
                  <a:pt x="200549" y="4542"/>
                  <a:pt x="200549" y="10169"/>
                </a:cubicBezTo>
                <a:lnTo>
                  <a:pt x="200549" y="31015"/>
                </a:lnTo>
                <a:lnTo>
                  <a:pt x="244967" y="31015"/>
                </a:lnTo>
                <a:cubicBezTo>
                  <a:pt x="263223" y="31015"/>
                  <a:pt x="278029" y="45997"/>
                  <a:pt x="278062" y="64471"/>
                </a:cubicBezTo>
                <a:lnTo>
                  <a:pt x="278062" y="226836"/>
                </a:lnTo>
                <a:cubicBezTo>
                  <a:pt x="278062" y="245241"/>
                  <a:pt x="263190" y="260292"/>
                  <a:pt x="245000" y="260292"/>
                </a:cubicBezTo>
                <a:lnTo>
                  <a:pt x="33062" y="260292"/>
                </a:lnTo>
                <a:cubicBezTo>
                  <a:pt x="14873" y="260292"/>
                  <a:pt x="0" y="245241"/>
                  <a:pt x="0" y="226836"/>
                </a:cubicBezTo>
                <a:lnTo>
                  <a:pt x="0" y="120638"/>
                </a:lnTo>
                <a:lnTo>
                  <a:pt x="0" y="100300"/>
                </a:lnTo>
                <a:lnTo>
                  <a:pt x="0" y="64471"/>
                </a:lnTo>
                <a:cubicBezTo>
                  <a:pt x="0" y="45997"/>
                  <a:pt x="14806" y="31015"/>
                  <a:pt x="33062" y="31015"/>
                </a:cubicBezTo>
                <a:lnTo>
                  <a:pt x="77480" y="31015"/>
                </a:lnTo>
                <a:lnTo>
                  <a:pt x="77480" y="10169"/>
                </a:lnTo>
                <a:cubicBezTo>
                  <a:pt x="77480" y="4542"/>
                  <a:pt x="81968" y="0"/>
                  <a:pt x="87529" y="0"/>
                </a:cubicBezTo>
                <a:close/>
                <a:close/>
                <a:close/>
              </a:path>
            </a:pathLst>
          </a:custGeom>
          <a:solidFill>
            <a:srgbClr val="FFFFFF"/>
          </a:solidFill>
        </p:spPr>
      </p:sp>
      <p:sp>
        <p:nvSpPr>
          <p:cNvPr id="17" name="Text 13"/>
          <p:cNvSpPr/>
          <p:nvPr/>
        </p:nvSpPr>
        <p:spPr>
          <a:xfrm>
            <a:off x="5431058" y="3443770"/>
            <a:ext cx="290226" cy="271678"/>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8" name="Text 14"/>
          <p:cNvSpPr/>
          <p:nvPr/>
        </p:nvSpPr>
        <p:spPr>
          <a:xfrm>
            <a:off x="10830031" y="3255342"/>
            <a:ext cx="666569" cy="648444"/>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19" name="Shape 15"/>
          <p:cNvSpPr/>
          <p:nvPr/>
        </p:nvSpPr>
        <p:spPr>
          <a:xfrm>
            <a:off x="11018202" y="3443770"/>
            <a:ext cx="290226" cy="271678"/>
          </a:xfrm>
          <a:custGeom>
            <a:avLst/>
            <a:gdLst/>
            <a:ahLst/>
            <a:cxnLst/>
            <a:rect l="l" t="t" r="r" b="b"/>
            <a:pathLst>
              <a:path w="290226" h="271678">
                <a:moveTo>
                  <a:pt x="20099" y="120638"/>
                </a:moveTo>
                <a:lnTo>
                  <a:pt x="20099" y="226836"/>
                </a:lnTo>
                <a:cubicBezTo>
                  <a:pt x="20099" y="230327"/>
                  <a:pt x="21438" y="233581"/>
                  <a:pt x="23917" y="236089"/>
                </a:cubicBezTo>
                <a:cubicBezTo>
                  <a:pt x="26396" y="238564"/>
                  <a:pt x="29645" y="239954"/>
                  <a:pt x="33062" y="239954"/>
                </a:cubicBezTo>
                <a:lnTo>
                  <a:pt x="244967" y="239954"/>
                </a:lnTo>
                <a:cubicBezTo>
                  <a:pt x="248417" y="239954"/>
                  <a:pt x="251633" y="238598"/>
                  <a:pt x="254112" y="236089"/>
                </a:cubicBezTo>
                <a:cubicBezTo>
                  <a:pt x="256557" y="233581"/>
                  <a:pt x="257930" y="230293"/>
                  <a:pt x="257930" y="226836"/>
                </a:cubicBezTo>
                <a:lnTo>
                  <a:pt x="257930" y="120638"/>
                </a:lnTo>
                <a:moveTo>
                  <a:pt x="33062" y="51353"/>
                </a:moveTo>
                <a:cubicBezTo>
                  <a:pt x="25893" y="51353"/>
                  <a:pt x="20099" y="57251"/>
                  <a:pt x="20099" y="64471"/>
                </a:cubicBezTo>
                <a:lnTo>
                  <a:pt x="20099" y="100300"/>
                </a:lnTo>
                <a:lnTo>
                  <a:pt x="257930" y="100300"/>
                </a:lnTo>
                <a:lnTo>
                  <a:pt x="257930" y="64471"/>
                </a:lnTo>
                <a:cubicBezTo>
                  <a:pt x="257930" y="57217"/>
                  <a:pt x="252102" y="51353"/>
                  <a:pt x="244967" y="51353"/>
                </a:cubicBezTo>
                <a:lnTo>
                  <a:pt x="200549" y="51353"/>
                </a:lnTo>
                <a:lnTo>
                  <a:pt x="200549" y="72674"/>
                </a:lnTo>
                <a:cubicBezTo>
                  <a:pt x="200549" y="78301"/>
                  <a:pt x="196060" y="82877"/>
                  <a:pt x="190500" y="82877"/>
                </a:cubicBezTo>
                <a:cubicBezTo>
                  <a:pt x="184939" y="82877"/>
                  <a:pt x="180451" y="78335"/>
                  <a:pt x="180451" y="72708"/>
                </a:cubicBezTo>
                <a:lnTo>
                  <a:pt x="180451" y="51353"/>
                </a:lnTo>
                <a:lnTo>
                  <a:pt x="97578" y="51353"/>
                </a:lnTo>
                <a:lnTo>
                  <a:pt x="97578" y="72674"/>
                </a:lnTo>
                <a:cubicBezTo>
                  <a:pt x="97578" y="78301"/>
                  <a:pt x="93089" y="82877"/>
                  <a:pt x="87529" y="82877"/>
                </a:cubicBezTo>
                <a:cubicBezTo>
                  <a:pt x="81968" y="82877"/>
                  <a:pt x="77480" y="78335"/>
                  <a:pt x="77480" y="72708"/>
                </a:cubicBezTo>
                <a:lnTo>
                  <a:pt x="77480" y="51353"/>
                </a:lnTo>
                <a:moveTo>
                  <a:pt x="87529" y="0"/>
                </a:moveTo>
                <a:cubicBezTo>
                  <a:pt x="93089" y="0"/>
                  <a:pt x="97578" y="4542"/>
                  <a:pt x="97578" y="10169"/>
                </a:cubicBezTo>
                <a:lnTo>
                  <a:pt x="97578" y="31015"/>
                </a:lnTo>
                <a:lnTo>
                  <a:pt x="180451" y="31015"/>
                </a:lnTo>
                <a:lnTo>
                  <a:pt x="180451" y="10169"/>
                </a:lnTo>
                <a:cubicBezTo>
                  <a:pt x="180451" y="4542"/>
                  <a:pt x="184939" y="0"/>
                  <a:pt x="190500" y="0"/>
                </a:cubicBezTo>
                <a:cubicBezTo>
                  <a:pt x="196060" y="0"/>
                  <a:pt x="200549" y="4542"/>
                  <a:pt x="200549" y="10169"/>
                </a:cubicBezTo>
                <a:lnTo>
                  <a:pt x="200549" y="31015"/>
                </a:lnTo>
                <a:lnTo>
                  <a:pt x="244967" y="31015"/>
                </a:lnTo>
                <a:cubicBezTo>
                  <a:pt x="263223" y="31015"/>
                  <a:pt x="278029" y="45997"/>
                  <a:pt x="278062" y="64471"/>
                </a:cubicBezTo>
                <a:lnTo>
                  <a:pt x="278062" y="226836"/>
                </a:lnTo>
                <a:cubicBezTo>
                  <a:pt x="278062" y="245241"/>
                  <a:pt x="263190" y="260292"/>
                  <a:pt x="245000" y="260292"/>
                </a:cubicBezTo>
                <a:lnTo>
                  <a:pt x="33062" y="260292"/>
                </a:lnTo>
                <a:cubicBezTo>
                  <a:pt x="14873" y="260292"/>
                  <a:pt x="0" y="245241"/>
                  <a:pt x="0" y="226836"/>
                </a:cubicBezTo>
                <a:lnTo>
                  <a:pt x="0" y="120638"/>
                </a:lnTo>
                <a:lnTo>
                  <a:pt x="0" y="100300"/>
                </a:lnTo>
                <a:lnTo>
                  <a:pt x="0" y="64471"/>
                </a:lnTo>
                <a:cubicBezTo>
                  <a:pt x="0" y="45997"/>
                  <a:pt x="14806" y="31015"/>
                  <a:pt x="33062" y="31015"/>
                </a:cubicBezTo>
                <a:lnTo>
                  <a:pt x="77480" y="31015"/>
                </a:lnTo>
                <a:lnTo>
                  <a:pt x="77480" y="10169"/>
                </a:lnTo>
                <a:cubicBezTo>
                  <a:pt x="77480" y="4542"/>
                  <a:pt x="81968" y="0"/>
                  <a:pt x="87529" y="0"/>
                </a:cubicBezTo>
                <a:close/>
                <a:close/>
                <a:close/>
              </a:path>
            </a:pathLst>
          </a:custGeom>
          <a:solidFill>
            <a:srgbClr val="FFFFFF"/>
          </a:solidFill>
        </p:spPr>
      </p:sp>
      <p:sp>
        <p:nvSpPr>
          <p:cNvPr id="20" name="Text 16"/>
          <p:cNvSpPr/>
          <p:nvPr/>
        </p:nvSpPr>
        <p:spPr>
          <a:xfrm>
            <a:off x="11018202" y="3443770"/>
            <a:ext cx="290226" cy="271678"/>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Text 17"/>
          <p:cNvSpPr/>
          <p:nvPr/>
        </p:nvSpPr>
        <p:spPr>
          <a:xfrm>
            <a:off x="880110" y="4018915"/>
            <a:ext cx="4733290" cy="436215"/>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光纤的结构与材料</a:t>
            </a:r>
            <a:endParaRPr lang="en-US" sz="1725" dirty="0"/>
          </a:p>
        </p:txBody>
      </p:sp>
      <p:sp>
        <p:nvSpPr>
          <p:cNvPr id="22" name="Text 18"/>
          <p:cNvSpPr/>
          <p:nvPr/>
        </p:nvSpPr>
        <p:spPr>
          <a:xfrm>
            <a:off x="880110" y="4570095"/>
            <a:ext cx="4732655" cy="1208336"/>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光纤由高折射率的内核和低折射率的包层构成，通常采用石英玻璃或塑料等材料制成，具有优异的光学特性和机械性能。</a:t>
            </a:r>
            <a:endParaRPr lang="en-US" sz="1350" dirty="0"/>
          </a:p>
        </p:txBody>
      </p:sp>
      <p:sp>
        <p:nvSpPr>
          <p:cNvPr id="23" name="Text 19"/>
          <p:cNvSpPr/>
          <p:nvPr/>
        </p:nvSpPr>
        <p:spPr>
          <a:xfrm>
            <a:off x="6492240" y="4018915"/>
            <a:ext cx="4733290" cy="436215"/>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光纤的传输特性</a:t>
            </a:r>
            <a:endParaRPr lang="en-US" sz="1725" dirty="0"/>
          </a:p>
        </p:txBody>
      </p:sp>
      <p:sp>
        <p:nvSpPr>
          <p:cNvPr id="24" name="Text 20"/>
          <p:cNvSpPr/>
          <p:nvPr/>
        </p:nvSpPr>
        <p:spPr>
          <a:xfrm>
            <a:off x="6492240" y="4570095"/>
            <a:ext cx="4732655" cy="1208336"/>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光纤能够实现远距离的信号传输，且不易受外界干扰，能够稳定地传输高质量的信号。</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电信号转换为光信号</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4633595" y="2526665"/>
            <a:ext cx="2901950" cy="593090"/>
          </a:xfrm>
          <a:custGeom>
            <a:avLst/>
            <a:gdLst/>
            <a:ahLst/>
            <a:cxnLst/>
            <a:rect l="l" t="t" r="r" b="b"/>
            <a:pathLst>
              <a:path w="2901950" h="593090">
                <a:moveTo>
                  <a:pt x="222406" y="0"/>
                </a:moveTo>
                <a:lnTo>
                  <a:pt x="2557920" y="0"/>
                </a:lnTo>
                <a:cubicBezTo>
                  <a:pt x="2680751" y="0"/>
                  <a:pt x="2780326" y="109504"/>
                  <a:pt x="2780326" y="244585"/>
                </a:cubicBezTo>
                <a:lnTo>
                  <a:pt x="2779121" y="251149"/>
                </a:lnTo>
                <a:lnTo>
                  <a:pt x="2780326" y="251149"/>
                </a:lnTo>
                <a:lnTo>
                  <a:pt x="2780326" y="568233"/>
                </a:lnTo>
                <a:lnTo>
                  <a:pt x="0" y="568233"/>
                </a:lnTo>
                <a:lnTo>
                  <a:pt x="0" y="251149"/>
                </a:lnTo>
                <a:lnTo>
                  <a:pt x="1205" y="251149"/>
                </a:lnTo>
                <a:lnTo>
                  <a:pt x="0" y="244585"/>
                </a:lnTo>
                <a:cubicBezTo>
                  <a:pt x="0" y="109504"/>
                  <a:pt x="99575" y="0"/>
                  <a:pt x="222406" y="0"/>
                </a:cubicBezTo>
                <a:close/>
              </a:path>
            </a:pathLst>
          </a:custGeom>
          <a:solidFill>
            <a:srgbClr val="C9C9C9"/>
          </a:solidFill>
        </p:spPr>
      </p:sp>
      <p:sp>
        <p:nvSpPr>
          <p:cNvPr id="14" name="Text 12"/>
          <p:cNvSpPr/>
          <p:nvPr/>
        </p:nvSpPr>
        <p:spPr>
          <a:xfrm>
            <a:off x="4633595" y="2526665"/>
            <a:ext cx="2901950" cy="59309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Text 13"/>
          <p:cNvSpPr/>
          <p:nvPr/>
        </p:nvSpPr>
        <p:spPr>
          <a:xfrm>
            <a:off x="4632960" y="3028950"/>
            <a:ext cx="2784695" cy="1651546"/>
          </a:xfrm>
          <a:prstGeom prst="rect">
            <a:avLst/>
          </a:prstGeom>
          <a:solidFill>
            <a:srgbClr val="C9C9C9"/>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C9C9C9"/>
                </a:solidFill>
                <a:latin typeface="Arial" panose="02080604020202020204" pitchFamily="34" charset="0"/>
                <a:ea typeface="Arial" pitchFamily="34" charset="-122"/>
                <a:cs typeface="Arial" pitchFamily="34" charset="-120"/>
              </a:rPr>
              <a:t> </a:t>
            </a:r>
            <a:endParaRPr lang="en-US" sz="1800" dirty="0"/>
          </a:p>
        </p:txBody>
      </p:sp>
      <p:sp>
        <p:nvSpPr>
          <p:cNvPr id="16" name="Shape 14"/>
          <p:cNvSpPr/>
          <p:nvPr/>
        </p:nvSpPr>
        <p:spPr>
          <a:xfrm flipV="1">
            <a:off x="4633595" y="4389755"/>
            <a:ext cx="2901950" cy="593090"/>
          </a:xfrm>
          <a:custGeom>
            <a:avLst/>
            <a:gdLst/>
            <a:ahLst/>
            <a:cxnLst/>
            <a:rect l="l" t="t" r="r" b="b"/>
            <a:pathLst>
              <a:path w="2901950" h="593090">
                <a:moveTo>
                  <a:pt x="222406" y="0"/>
                </a:moveTo>
                <a:lnTo>
                  <a:pt x="2557920" y="0"/>
                </a:lnTo>
                <a:cubicBezTo>
                  <a:pt x="2680751" y="0"/>
                  <a:pt x="2780326" y="109504"/>
                  <a:pt x="2780326" y="244585"/>
                </a:cubicBezTo>
                <a:lnTo>
                  <a:pt x="2779121" y="251149"/>
                </a:lnTo>
                <a:lnTo>
                  <a:pt x="2780326" y="251149"/>
                </a:lnTo>
                <a:lnTo>
                  <a:pt x="2780326" y="568233"/>
                </a:lnTo>
                <a:lnTo>
                  <a:pt x="0" y="568233"/>
                </a:lnTo>
                <a:lnTo>
                  <a:pt x="0" y="251149"/>
                </a:lnTo>
                <a:lnTo>
                  <a:pt x="1205" y="251149"/>
                </a:lnTo>
                <a:lnTo>
                  <a:pt x="0" y="244585"/>
                </a:lnTo>
                <a:cubicBezTo>
                  <a:pt x="0" y="109504"/>
                  <a:pt x="99575" y="0"/>
                  <a:pt x="222406" y="0"/>
                </a:cubicBezTo>
                <a:close/>
              </a:path>
            </a:pathLst>
          </a:custGeom>
          <a:solidFill>
            <a:srgbClr val="C9C9C9"/>
          </a:solidFill>
        </p:spPr>
      </p:sp>
      <p:sp>
        <p:nvSpPr>
          <p:cNvPr id="17" name="Text 15"/>
          <p:cNvSpPr/>
          <p:nvPr/>
        </p:nvSpPr>
        <p:spPr>
          <a:xfrm>
            <a:off x="4633595" y="4389755"/>
            <a:ext cx="2901950" cy="59309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8" name="Shape 16"/>
          <p:cNvSpPr/>
          <p:nvPr/>
        </p:nvSpPr>
        <p:spPr>
          <a:xfrm>
            <a:off x="4633595" y="2320290"/>
            <a:ext cx="2838450" cy="412750"/>
          </a:xfrm>
          <a:custGeom>
            <a:avLst/>
            <a:gdLst/>
            <a:ahLst/>
            <a:cxnLst/>
            <a:rect l="l" t="t" r="r" b="b"/>
            <a:pathLst>
              <a:path w="2838450" h="412750">
                <a:moveTo>
                  <a:pt x="217539" y="0"/>
                </a:moveTo>
                <a:lnTo>
                  <a:pt x="2501948" y="0"/>
                </a:lnTo>
                <a:cubicBezTo>
                  <a:pt x="2622091" y="0"/>
                  <a:pt x="2719487" y="76208"/>
                  <a:pt x="2719487" y="170214"/>
                </a:cubicBezTo>
                <a:lnTo>
                  <a:pt x="2718309" y="174782"/>
                </a:lnTo>
                <a:lnTo>
                  <a:pt x="2719487" y="174782"/>
                </a:lnTo>
                <a:lnTo>
                  <a:pt x="2719487" y="395451"/>
                </a:lnTo>
                <a:lnTo>
                  <a:pt x="0" y="395451"/>
                </a:lnTo>
                <a:lnTo>
                  <a:pt x="0" y="174782"/>
                </a:lnTo>
                <a:lnTo>
                  <a:pt x="1179" y="174782"/>
                </a:lnTo>
                <a:lnTo>
                  <a:pt x="0" y="170214"/>
                </a:lnTo>
                <a:cubicBezTo>
                  <a:pt x="0" y="76208"/>
                  <a:pt x="97396" y="0"/>
                  <a:pt x="217539" y="0"/>
                </a:cubicBezTo>
                <a:close/>
              </a:path>
            </a:pathLst>
          </a:custGeom>
          <a:solidFill>
            <a:srgbClr val="1C1C1C"/>
          </a:solidFill>
        </p:spPr>
      </p:sp>
      <p:sp>
        <p:nvSpPr>
          <p:cNvPr id="19" name="Text 17"/>
          <p:cNvSpPr/>
          <p:nvPr/>
        </p:nvSpPr>
        <p:spPr>
          <a:xfrm>
            <a:off x="4633595" y="2320290"/>
            <a:ext cx="2838450" cy="41275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0" name="Shape 18"/>
          <p:cNvSpPr/>
          <p:nvPr/>
        </p:nvSpPr>
        <p:spPr>
          <a:xfrm>
            <a:off x="6002655" y="4765040"/>
            <a:ext cx="1820545" cy="432435"/>
          </a:xfrm>
          <a:custGeom>
            <a:avLst/>
            <a:gdLst/>
            <a:ahLst/>
            <a:cxnLst/>
            <a:rect l="l" t="t" r="r" b="b"/>
            <a:pathLst>
              <a:path w="1820545" h="432435">
                <a:moveTo>
                  <a:pt x="205921" y="0"/>
                </a:moveTo>
                <a:lnTo>
                  <a:pt x="1614624" y="0"/>
                </a:lnTo>
                <a:quadBezTo>
                  <a:pt x="1820545" y="0"/>
                  <a:pt x="1820545" y="205921"/>
                </a:quadBezTo>
                <a:lnTo>
                  <a:pt x="1820545" y="226514"/>
                </a:lnTo>
                <a:quadBezTo>
                  <a:pt x="1820545" y="432435"/>
                  <a:pt x="1614624" y="432435"/>
                </a:quadBezTo>
                <a:lnTo>
                  <a:pt x="205921" y="432435"/>
                </a:lnTo>
                <a:quadBezTo>
                  <a:pt x="0" y="432435"/>
                  <a:pt x="0" y="226514"/>
                </a:quadBezTo>
                <a:lnTo>
                  <a:pt x="0" y="205921"/>
                </a:lnTo>
                <a:quadBezTo>
                  <a:pt x="0" y="0"/>
                  <a:pt x="205921" y="0"/>
                </a:quadBezTo>
                <a:close/>
              </a:path>
            </a:pathLst>
          </a:custGeom>
          <a:solidFill>
            <a:srgbClr val="616161"/>
          </a:solidFill>
        </p:spPr>
      </p:sp>
      <p:sp>
        <p:nvSpPr>
          <p:cNvPr id="21" name="Text 19"/>
          <p:cNvSpPr/>
          <p:nvPr/>
        </p:nvSpPr>
        <p:spPr>
          <a:xfrm>
            <a:off x="6002655" y="4765040"/>
            <a:ext cx="1820545" cy="43243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2" name="Shape 20"/>
          <p:cNvSpPr/>
          <p:nvPr/>
        </p:nvSpPr>
        <p:spPr>
          <a:xfrm rot="16200000">
            <a:off x="3913505"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23" name="Text 21"/>
          <p:cNvSpPr/>
          <p:nvPr/>
        </p:nvSpPr>
        <p:spPr>
          <a:xfrm rot="16200000">
            <a:off x="3913505"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4" name="Shape 22"/>
          <p:cNvSpPr/>
          <p:nvPr/>
        </p:nvSpPr>
        <p:spPr>
          <a:xfrm rot="16200000">
            <a:off x="4411980"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25" name="Text 23"/>
          <p:cNvSpPr/>
          <p:nvPr/>
        </p:nvSpPr>
        <p:spPr>
          <a:xfrm rot="16200000">
            <a:off x="4411980"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6" name="Shape 24"/>
          <p:cNvSpPr/>
          <p:nvPr/>
        </p:nvSpPr>
        <p:spPr>
          <a:xfrm rot="16200000">
            <a:off x="4910455"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27" name="Text 25"/>
          <p:cNvSpPr/>
          <p:nvPr/>
        </p:nvSpPr>
        <p:spPr>
          <a:xfrm rot="16200000">
            <a:off x="4910455"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8" name="Shape 26"/>
          <p:cNvSpPr/>
          <p:nvPr/>
        </p:nvSpPr>
        <p:spPr>
          <a:xfrm rot="16200000">
            <a:off x="5409565"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29" name="Text 27"/>
          <p:cNvSpPr/>
          <p:nvPr/>
        </p:nvSpPr>
        <p:spPr>
          <a:xfrm rot="16200000">
            <a:off x="5409565"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0" name="Shape 28"/>
          <p:cNvSpPr/>
          <p:nvPr/>
        </p:nvSpPr>
        <p:spPr>
          <a:xfrm rot="16200000">
            <a:off x="5908040"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31" name="Text 29"/>
          <p:cNvSpPr/>
          <p:nvPr/>
        </p:nvSpPr>
        <p:spPr>
          <a:xfrm rot="16200000">
            <a:off x="5908040"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2" name="Shape 30"/>
          <p:cNvSpPr/>
          <p:nvPr/>
        </p:nvSpPr>
        <p:spPr>
          <a:xfrm rot="16200000">
            <a:off x="6430010" y="3600450"/>
            <a:ext cx="1539240" cy="349885"/>
          </a:xfrm>
          <a:custGeom>
            <a:avLst/>
            <a:gdLst/>
            <a:ahLst/>
            <a:cxnLst/>
            <a:rect l="l" t="t" r="r" b="b"/>
            <a:pathLst>
              <a:path w="1539240" h="349885">
                <a:moveTo>
                  <a:pt x="166612" y="0"/>
                </a:moveTo>
                <a:lnTo>
                  <a:pt x="1372628" y="0"/>
                </a:lnTo>
                <a:quadBezTo>
                  <a:pt x="1539240" y="0"/>
                  <a:pt x="1539240" y="166612"/>
                </a:quadBezTo>
                <a:lnTo>
                  <a:pt x="1539240" y="183273"/>
                </a:lnTo>
                <a:quadBezTo>
                  <a:pt x="1539240" y="349885"/>
                  <a:pt x="1372628" y="349885"/>
                </a:quadBezTo>
                <a:lnTo>
                  <a:pt x="166612" y="349885"/>
                </a:lnTo>
                <a:quadBezTo>
                  <a:pt x="0" y="349885"/>
                  <a:pt x="0" y="183273"/>
                </a:quadBezTo>
                <a:lnTo>
                  <a:pt x="0" y="166612"/>
                </a:lnTo>
                <a:quadBezTo>
                  <a:pt x="0" y="0"/>
                  <a:pt x="166612" y="0"/>
                </a:quadBezTo>
                <a:close/>
              </a:path>
            </a:pathLst>
          </a:custGeom>
          <a:solidFill>
            <a:srgbClr val="FFFAFA"/>
          </a:solidFill>
        </p:spPr>
      </p:sp>
      <p:sp>
        <p:nvSpPr>
          <p:cNvPr id="33" name="Text 31"/>
          <p:cNvSpPr/>
          <p:nvPr/>
        </p:nvSpPr>
        <p:spPr>
          <a:xfrm rot="16200000">
            <a:off x="6430010" y="3600450"/>
            <a:ext cx="1539240" cy="34988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4" name="Shape 32"/>
          <p:cNvSpPr/>
          <p:nvPr/>
        </p:nvSpPr>
        <p:spPr>
          <a:xfrm>
            <a:off x="4612916" y="2491233"/>
            <a:ext cx="170719" cy="170719"/>
          </a:xfrm>
          <a:custGeom>
            <a:avLst/>
            <a:gdLst/>
            <a:ahLst/>
            <a:cxnLst/>
            <a:rect l="l" t="t" r="r" b="b"/>
            <a:pathLst>
              <a:path w="170719" h="170719">
                <a:moveTo>
                  <a:pt x="81782" y="0"/>
                </a:moveTo>
                <a:cubicBezTo>
                  <a:pt x="126919" y="0"/>
                  <a:pt x="163564" y="36645"/>
                  <a:pt x="163564" y="81782"/>
                </a:cubicBezTo>
                <a:cubicBezTo>
                  <a:pt x="163564" y="126919"/>
                  <a:pt x="126919" y="163564"/>
                  <a:pt x="81782" y="163564"/>
                </a:cubicBezTo>
                <a:cubicBezTo>
                  <a:pt x="36645" y="163564"/>
                  <a:pt x="0" y="126919"/>
                  <a:pt x="0" y="81782"/>
                </a:cubicBezTo>
                <a:cubicBezTo>
                  <a:pt x="0" y="36645"/>
                  <a:pt x="36645" y="0"/>
                  <a:pt x="81782" y="0"/>
                </a:cubicBezTo>
                <a:close/>
              </a:path>
            </a:pathLst>
          </a:custGeom>
          <a:solidFill>
            <a:srgbClr val="FFFFFF"/>
          </a:solidFill>
        </p:spPr>
      </p:sp>
      <p:sp>
        <p:nvSpPr>
          <p:cNvPr id="35" name="Text 33"/>
          <p:cNvSpPr/>
          <p:nvPr/>
        </p:nvSpPr>
        <p:spPr>
          <a:xfrm>
            <a:off x="4612916" y="2491233"/>
            <a:ext cx="170719" cy="170719"/>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6" name="Shape 34"/>
          <p:cNvSpPr/>
          <p:nvPr/>
        </p:nvSpPr>
        <p:spPr>
          <a:xfrm>
            <a:off x="4929017" y="2491233"/>
            <a:ext cx="170719" cy="170719"/>
          </a:xfrm>
          <a:custGeom>
            <a:avLst/>
            <a:gdLst/>
            <a:ahLst/>
            <a:cxnLst/>
            <a:rect l="l" t="t" r="r" b="b"/>
            <a:pathLst>
              <a:path w="170719" h="170719">
                <a:moveTo>
                  <a:pt x="81782" y="0"/>
                </a:moveTo>
                <a:cubicBezTo>
                  <a:pt x="126919" y="0"/>
                  <a:pt x="163564" y="36645"/>
                  <a:pt x="163564" y="81782"/>
                </a:cubicBezTo>
                <a:cubicBezTo>
                  <a:pt x="163564" y="126919"/>
                  <a:pt x="126919" y="163564"/>
                  <a:pt x="81782" y="163564"/>
                </a:cubicBezTo>
                <a:cubicBezTo>
                  <a:pt x="36645" y="163564"/>
                  <a:pt x="0" y="126919"/>
                  <a:pt x="0" y="81782"/>
                </a:cubicBezTo>
                <a:cubicBezTo>
                  <a:pt x="0" y="36645"/>
                  <a:pt x="36645" y="0"/>
                  <a:pt x="81782" y="0"/>
                </a:cubicBezTo>
                <a:close/>
              </a:path>
            </a:pathLst>
          </a:custGeom>
          <a:solidFill>
            <a:srgbClr val="616161"/>
          </a:solidFill>
        </p:spPr>
      </p:sp>
      <p:sp>
        <p:nvSpPr>
          <p:cNvPr id="37" name="Text 35"/>
          <p:cNvSpPr/>
          <p:nvPr/>
        </p:nvSpPr>
        <p:spPr>
          <a:xfrm>
            <a:off x="4929017" y="2491233"/>
            <a:ext cx="170719" cy="170719"/>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8" name="Shape 36"/>
          <p:cNvSpPr/>
          <p:nvPr/>
        </p:nvSpPr>
        <p:spPr>
          <a:xfrm>
            <a:off x="5245118" y="2491233"/>
            <a:ext cx="170719" cy="170719"/>
          </a:xfrm>
          <a:custGeom>
            <a:avLst/>
            <a:gdLst/>
            <a:ahLst/>
            <a:cxnLst/>
            <a:rect l="l" t="t" r="r" b="b"/>
            <a:pathLst>
              <a:path w="170719" h="170719">
                <a:moveTo>
                  <a:pt x="81782" y="0"/>
                </a:moveTo>
                <a:cubicBezTo>
                  <a:pt x="126919" y="0"/>
                  <a:pt x="163564" y="36645"/>
                  <a:pt x="163564" y="81782"/>
                </a:cubicBezTo>
                <a:cubicBezTo>
                  <a:pt x="163564" y="126919"/>
                  <a:pt x="126919" y="163564"/>
                  <a:pt x="81782" y="163564"/>
                </a:cubicBezTo>
                <a:cubicBezTo>
                  <a:pt x="36645" y="163564"/>
                  <a:pt x="0" y="126919"/>
                  <a:pt x="0" y="81782"/>
                </a:cubicBezTo>
                <a:cubicBezTo>
                  <a:pt x="0" y="36645"/>
                  <a:pt x="36645" y="0"/>
                  <a:pt x="81782" y="0"/>
                </a:cubicBezTo>
                <a:close/>
              </a:path>
            </a:pathLst>
          </a:custGeom>
          <a:solidFill>
            <a:srgbClr val="C9C9C9"/>
          </a:solidFill>
        </p:spPr>
      </p:sp>
      <p:sp>
        <p:nvSpPr>
          <p:cNvPr id="39" name="Text 37"/>
          <p:cNvSpPr/>
          <p:nvPr/>
        </p:nvSpPr>
        <p:spPr>
          <a:xfrm>
            <a:off x="5245118" y="2491233"/>
            <a:ext cx="170719" cy="170719"/>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0" name="Text 38"/>
          <p:cNvSpPr/>
          <p:nvPr/>
        </p:nvSpPr>
        <p:spPr>
          <a:xfrm rot="2340000">
            <a:off x="4719839" y="3334553"/>
            <a:ext cx="61381" cy="654397"/>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41" name="Text 39"/>
          <p:cNvSpPr/>
          <p:nvPr/>
        </p:nvSpPr>
        <p:spPr>
          <a:xfrm rot="19080000">
            <a:off x="5222819" y="3378644"/>
            <a:ext cx="61381" cy="624483"/>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42" name="Text 40"/>
          <p:cNvSpPr/>
          <p:nvPr/>
        </p:nvSpPr>
        <p:spPr>
          <a:xfrm rot="14400000">
            <a:off x="5742842" y="3454978"/>
            <a:ext cx="61381" cy="624483"/>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43" name="Text 41"/>
          <p:cNvSpPr/>
          <p:nvPr/>
        </p:nvSpPr>
        <p:spPr>
          <a:xfrm rot="19740000">
            <a:off x="6239076" y="3612998"/>
            <a:ext cx="61381" cy="698004"/>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44" name="Text 42"/>
          <p:cNvSpPr/>
          <p:nvPr/>
        </p:nvSpPr>
        <p:spPr>
          <a:xfrm rot="13500000">
            <a:off x="6846460" y="3321038"/>
            <a:ext cx="61381" cy="1125885"/>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45" name="Shape 43"/>
          <p:cNvSpPr/>
          <p:nvPr/>
        </p:nvSpPr>
        <p:spPr>
          <a:xfrm>
            <a:off x="4846916" y="3293362"/>
            <a:ext cx="253846" cy="253846"/>
          </a:xfrm>
          <a:custGeom>
            <a:avLst/>
            <a:gdLst/>
            <a:ahLst/>
            <a:cxnLst/>
            <a:rect l="l" t="t" r="r" b="b"/>
            <a:pathLst>
              <a:path w="253846" h="253846">
                <a:moveTo>
                  <a:pt x="121604" y="0"/>
                </a:moveTo>
                <a:cubicBezTo>
                  <a:pt x="188718" y="0"/>
                  <a:pt x="243207" y="54489"/>
                  <a:pt x="243207" y="121604"/>
                </a:cubicBezTo>
                <a:cubicBezTo>
                  <a:pt x="243207" y="188718"/>
                  <a:pt x="188718" y="243207"/>
                  <a:pt x="121604" y="243207"/>
                </a:cubicBezTo>
                <a:cubicBezTo>
                  <a:pt x="54489" y="243207"/>
                  <a:pt x="0" y="188718"/>
                  <a:pt x="0" y="121604"/>
                </a:cubicBezTo>
                <a:cubicBezTo>
                  <a:pt x="0" y="54489"/>
                  <a:pt x="54489" y="0"/>
                  <a:pt x="121604" y="0"/>
                </a:cubicBezTo>
                <a:close/>
              </a:path>
            </a:pathLst>
          </a:custGeom>
          <a:solidFill>
            <a:srgbClr val="1C1C1C"/>
          </a:solidFill>
        </p:spPr>
      </p:sp>
      <p:sp>
        <p:nvSpPr>
          <p:cNvPr id="46" name="Text 44"/>
          <p:cNvSpPr/>
          <p:nvPr/>
        </p:nvSpPr>
        <p:spPr>
          <a:xfrm>
            <a:off x="4846916" y="3293362"/>
            <a:ext cx="253846" cy="253846"/>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7" name="Shape 45"/>
          <p:cNvSpPr/>
          <p:nvPr/>
        </p:nvSpPr>
        <p:spPr>
          <a:xfrm>
            <a:off x="5349207" y="3811855"/>
            <a:ext cx="253846" cy="253846"/>
          </a:xfrm>
          <a:custGeom>
            <a:avLst/>
            <a:gdLst/>
            <a:ahLst/>
            <a:cxnLst/>
            <a:rect l="l" t="t" r="r" b="b"/>
            <a:pathLst>
              <a:path w="253846" h="253846">
                <a:moveTo>
                  <a:pt x="121604" y="0"/>
                </a:moveTo>
                <a:cubicBezTo>
                  <a:pt x="188718" y="0"/>
                  <a:pt x="243207" y="54489"/>
                  <a:pt x="243207" y="121604"/>
                </a:cubicBezTo>
                <a:cubicBezTo>
                  <a:pt x="243207" y="188718"/>
                  <a:pt x="188718" y="243207"/>
                  <a:pt x="121604" y="243207"/>
                </a:cubicBezTo>
                <a:cubicBezTo>
                  <a:pt x="54489" y="243207"/>
                  <a:pt x="0" y="188718"/>
                  <a:pt x="0" y="121604"/>
                </a:cubicBezTo>
                <a:cubicBezTo>
                  <a:pt x="0" y="54489"/>
                  <a:pt x="54489" y="0"/>
                  <a:pt x="121604" y="0"/>
                </a:cubicBezTo>
                <a:close/>
              </a:path>
            </a:pathLst>
          </a:custGeom>
          <a:solidFill>
            <a:srgbClr val="1C1C1C"/>
          </a:solidFill>
        </p:spPr>
      </p:sp>
      <p:sp>
        <p:nvSpPr>
          <p:cNvPr id="48" name="Text 46"/>
          <p:cNvSpPr/>
          <p:nvPr/>
        </p:nvSpPr>
        <p:spPr>
          <a:xfrm>
            <a:off x="5349207" y="3811855"/>
            <a:ext cx="253846" cy="253846"/>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9" name="Shape 47"/>
          <p:cNvSpPr/>
          <p:nvPr/>
        </p:nvSpPr>
        <p:spPr>
          <a:xfrm>
            <a:off x="5921710" y="3504000"/>
            <a:ext cx="253846" cy="253846"/>
          </a:xfrm>
          <a:custGeom>
            <a:avLst/>
            <a:gdLst/>
            <a:ahLst/>
            <a:cxnLst/>
            <a:rect l="l" t="t" r="r" b="b"/>
            <a:pathLst>
              <a:path w="253846" h="253846">
                <a:moveTo>
                  <a:pt x="121604" y="0"/>
                </a:moveTo>
                <a:cubicBezTo>
                  <a:pt x="188718" y="0"/>
                  <a:pt x="243207" y="54489"/>
                  <a:pt x="243207" y="121604"/>
                </a:cubicBezTo>
                <a:cubicBezTo>
                  <a:pt x="243207" y="188718"/>
                  <a:pt x="188718" y="243207"/>
                  <a:pt x="121604" y="243207"/>
                </a:cubicBezTo>
                <a:cubicBezTo>
                  <a:pt x="54489" y="243207"/>
                  <a:pt x="0" y="188718"/>
                  <a:pt x="0" y="121604"/>
                </a:cubicBezTo>
                <a:cubicBezTo>
                  <a:pt x="0" y="54489"/>
                  <a:pt x="54489" y="0"/>
                  <a:pt x="121604" y="0"/>
                </a:cubicBezTo>
                <a:close/>
              </a:path>
            </a:pathLst>
          </a:custGeom>
          <a:solidFill>
            <a:srgbClr val="1C1C1C"/>
          </a:solidFill>
        </p:spPr>
      </p:sp>
      <p:sp>
        <p:nvSpPr>
          <p:cNvPr id="50" name="Text 48"/>
          <p:cNvSpPr/>
          <p:nvPr/>
        </p:nvSpPr>
        <p:spPr>
          <a:xfrm>
            <a:off x="5921710" y="3504000"/>
            <a:ext cx="253846" cy="253846"/>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1" name="Shape 49"/>
          <p:cNvSpPr/>
          <p:nvPr/>
        </p:nvSpPr>
        <p:spPr>
          <a:xfrm>
            <a:off x="6353787" y="4162919"/>
            <a:ext cx="253846" cy="253846"/>
          </a:xfrm>
          <a:custGeom>
            <a:avLst/>
            <a:gdLst/>
            <a:ahLst/>
            <a:cxnLst/>
            <a:rect l="l" t="t" r="r" b="b"/>
            <a:pathLst>
              <a:path w="253846" h="253846">
                <a:moveTo>
                  <a:pt x="121604" y="0"/>
                </a:moveTo>
                <a:cubicBezTo>
                  <a:pt x="188718" y="0"/>
                  <a:pt x="243207" y="54489"/>
                  <a:pt x="243207" y="121604"/>
                </a:cubicBezTo>
                <a:cubicBezTo>
                  <a:pt x="243207" y="188718"/>
                  <a:pt x="188718" y="243207"/>
                  <a:pt x="121604" y="243207"/>
                </a:cubicBezTo>
                <a:cubicBezTo>
                  <a:pt x="54489" y="243207"/>
                  <a:pt x="0" y="188718"/>
                  <a:pt x="0" y="121604"/>
                </a:cubicBezTo>
                <a:cubicBezTo>
                  <a:pt x="0" y="54489"/>
                  <a:pt x="54489" y="0"/>
                  <a:pt x="121604" y="0"/>
                </a:cubicBezTo>
                <a:close/>
              </a:path>
            </a:pathLst>
          </a:custGeom>
          <a:solidFill>
            <a:srgbClr val="1C1C1C"/>
          </a:solidFill>
        </p:spPr>
      </p:sp>
      <p:sp>
        <p:nvSpPr>
          <p:cNvPr id="52" name="Text 50"/>
          <p:cNvSpPr/>
          <p:nvPr/>
        </p:nvSpPr>
        <p:spPr>
          <a:xfrm>
            <a:off x="6353787" y="4162919"/>
            <a:ext cx="253846" cy="253846"/>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3" name="Shape 51"/>
          <p:cNvSpPr/>
          <p:nvPr/>
        </p:nvSpPr>
        <p:spPr>
          <a:xfrm>
            <a:off x="4356435" y="3855714"/>
            <a:ext cx="253846" cy="253846"/>
          </a:xfrm>
          <a:custGeom>
            <a:avLst/>
            <a:gdLst/>
            <a:ahLst/>
            <a:cxnLst/>
            <a:rect l="l" t="t" r="r" b="b"/>
            <a:pathLst>
              <a:path w="253846" h="253846">
                <a:moveTo>
                  <a:pt x="121604" y="0"/>
                </a:moveTo>
                <a:cubicBezTo>
                  <a:pt x="188718" y="0"/>
                  <a:pt x="243207" y="54489"/>
                  <a:pt x="243207" y="121604"/>
                </a:cubicBezTo>
                <a:cubicBezTo>
                  <a:pt x="243207" y="188718"/>
                  <a:pt x="188718" y="243207"/>
                  <a:pt x="121604" y="243207"/>
                </a:cubicBezTo>
                <a:cubicBezTo>
                  <a:pt x="54489" y="243207"/>
                  <a:pt x="0" y="188718"/>
                  <a:pt x="0" y="121604"/>
                </a:cubicBezTo>
                <a:cubicBezTo>
                  <a:pt x="0" y="54489"/>
                  <a:pt x="54489" y="0"/>
                  <a:pt x="121604" y="0"/>
                </a:cubicBezTo>
                <a:close/>
              </a:path>
            </a:pathLst>
          </a:custGeom>
          <a:solidFill>
            <a:srgbClr val="1C1C1C"/>
          </a:solidFill>
        </p:spPr>
      </p:sp>
      <p:sp>
        <p:nvSpPr>
          <p:cNvPr id="54" name="Text 52"/>
          <p:cNvSpPr/>
          <p:nvPr/>
        </p:nvSpPr>
        <p:spPr>
          <a:xfrm>
            <a:off x="4356435" y="3855714"/>
            <a:ext cx="253846" cy="253846"/>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5" name="Shape 53"/>
          <p:cNvSpPr/>
          <p:nvPr/>
        </p:nvSpPr>
        <p:spPr>
          <a:xfrm rot="2640000">
            <a:off x="7182024" y="3286733"/>
            <a:ext cx="287168" cy="283968"/>
          </a:xfrm>
          <a:custGeom>
            <a:avLst/>
            <a:gdLst/>
            <a:ahLst/>
            <a:cxnLst/>
            <a:rect l="l" t="t" r="r" b="b"/>
            <a:pathLst>
              <a:path w="287168" h="283968">
                <a:moveTo>
                  <a:pt x="143584" y="0"/>
                </a:moveTo>
                <a:lnTo>
                  <a:pt x="0" y="283968"/>
                </a:lnTo>
                <a:lnTo>
                  <a:pt x="287168" y="283968"/>
                </a:lnTo>
                <a:close/>
              </a:path>
            </a:pathLst>
          </a:custGeom>
          <a:solidFill>
            <a:srgbClr val="1C1C1C"/>
          </a:solidFill>
        </p:spPr>
      </p:sp>
      <p:sp>
        <p:nvSpPr>
          <p:cNvPr id="56" name="Text 54"/>
          <p:cNvSpPr/>
          <p:nvPr/>
        </p:nvSpPr>
        <p:spPr>
          <a:xfrm rot="2640000">
            <a:off x="7182024" y="3286733"/>
            <a:ext cx="287168" cy="283968"/>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7" name="Shape 55"/>
          <p:cNvSpPr/>
          <p:nvPr/>
        </p:nvSpPr>
        <p:spPr>
          <a:xfrm>
            <a:off x="6259052" y="4882904"/>
            <a:ext cx="220578" cy="199979"/>
          </a:xfrm>
          <a:custGeom>
            <a:avLst/>
            <a:gdLst/>
            <a:ahLst/>
            <a:cxnLst/>
            <a:rect l="l" t="t" r="r" b="b"/>
            <a:pathLst>
              <a:path w="220578" h="199979">
                <a:moveTo>
                  <a:pt x="48052" y="71633"/>
                </a:moveTo>
                <a:cubicBezTo>
                  <a:pt x="48078" y="71633"/>
                  <a:pt x="48078" y="71633"/>
                  <a:pt x="48052" y="71633"/>
                </a:cubicBezTo>
                <a:cubicBezTo>
                  <a:pt x="48078" y="71633"/>
                  <a:pt x="48103" y="71658"/>
                  <a:pt x="48103" y="71658"/>
                </a:cubicBezTo>
                <a:lnTo>
                  <a:pt x="48103" y="139624"/>
                </a:lnTo>
                <a:lnTo>
                  <a:pt x="48052" y="139675"/>
                </a:lnTo>
                <a:lnTo>
                  <a:pt x="22384" y="139675"/>
                </a:lnTo>
                <a:lnTo>
                  <a:pt x="22333" y="139624"/>
                </a:lnTo>
                <a:lnTo>
                  <a:pt x="22333" y="71658"/>
                </a:lnTo>
                <a:lnTo>
                  <a:pt x="22333" y="71633"/>
                </a:lnTo>
                <a:lnTo>
                  <a:pt x="22358" y="71607"/>
                </a:lnTo>
                <a:lnTo>
                  <a:pt x="48052" y="71607"/>
                </a:lnTo>
                <a:moveTo>
                  <a:pt x="48052" y="56354"/>
                </a:moveTo>
                <a:lnTo>
                  <a:pt x="22358" y="56354"/>
                </a:lnTo>
                <a:cubicBezTo>
                  <a:pt x="13904" y="56354"/>
                  <a:pt x="7028" y="63204"/>
                  <a:pt x="7028" y="71684"/>
                </a:cubicBezTo>
                <a:lnTo>
                  <a:pt x="7028" y="139649"/>
                </a:lnTo>
                <a:cubicBezTo>
                  <a:pt x="7028" y="148078"/>
                  <a:pt x="13929" y="154979"/>
                  <a:pt x="22358" y="154979"/>
                </a:cubicBezTo>
                <a:lnTo>
                  <a:pt x="48052" y="154979"/>
                </a:lnTo>
                <a:cubicBezTo>
                  <a:pt x="56481" y="154979"/>
                  <a:pt x="63382" y="148078"/>
                  <a:pt x="63382" y="139649"/>
                </a:cubicBezTo>
                <a:lnTo>
                  <a:pt x="63382" y="71658"/>
                </a:lnTo>
                <a:cubicBezTo>
                  <a:pt x="63382" y="63204"/>
                  <a:pt x="56532" y="56354"/>
                  <a:pt x="48052" y="56354"/>
                </a:cubicBezTo>
                <a:moveTo>
                  <a:pt x="118514" y="15279"/>
                </a:moveTo>
                <a:cubicBezTo>
                  <a:pt x="118539" y="15279"/>
                  <a:pt x="118565" y="15304"/>
                  <a:pt x="118565" y="15304"/>
                </a:cubicBezTo>
                <a:lnTo>
                  <a:pt x="118565" y="139624"/>
                </a:lnTo>
                <a:lnTo>
                  <a:pt x="118514" y="139675"/>
                </a:lnTo>
                <a:lnTo>
                  <a:pt x="92845" y="139675"/>
                </a:lnTo>
                <a:lnTo>
                  <a:pt x="92794" y="139624"/>
                </a:lnTo>
                <a:lnTo>
                  <a:pt x="92794" y="15330"/>
                </a:lnTo>
                <a:lnTo>
                  <a:pt x="92794" y="15304"/>
                </a:lnTo>
                <a:lnTo>
                  <a:pt x="92820" y="15279"/>
                </a:lnTo>
                <a:lnTo>
                  <a:pt x="118514" y="15279"/>
                </a:lnTo>
                <a:moveTo>
                  <a:pt x="118514" y="0"/>
                </a:moveTo>
                <a:lnTo>
                  <a:pt x="92794" y="0"/>
                </a:lnTo>
                <a:cubicBezTo>
                  <a:pt x="84340" y="0"/>
                  <a:pt x="77464" y="6850"/>
                  <a:pt x="77464" y="15330"/>
                </a:cubicBezTo>
                <a:lnTo>
                  <a:pt x="77464" y="139649"/>
                </a:lnTo>
                <a:cubicBezTo>
                  <a:pt x="77464" y="148078"/>
                  <a:pt x="84365" y="154979"/>
                  <a:pt x="92794" y="154979"/>
                </a:cubicBezTo>
                <a:lnTo>
                  <a:pt x="118488" y="154979"/>
                </a:lnTo>
                <a:cubicBezTo>
                  <a:pt x="126917" y="154979"/>
                  <a:pt x="133818" y="148078"/>
                  <a:pt x="133818" y="139649"/>
                </a:cubicBezTo>
                <a:lnTo>
                  <a:pt x="133818" y="15330"/>
                </a:lnTo>
                <a:cubicBezTo>
                  <a:pt x="133818" y="6850"/>
                  <a:pt x="126968" y="0"/>
                  <a:pt x="118514" y="0"/>
                </a:cubicBezTo>
                <a:moveTo>
                  <a:pt x="188950" y="99797"/>
                </a:moveTo>
                <a:cubicBezTo>
                  <a:pt x="188975" y="99797"/>
                  <a:pt x="189001" y="99822"/>
                  <a:pt x="189001" y="99822"/>
                </a:cubicBezTo>
                <a:lnTo>
                  <a:pt x="189001" y="139624"/>
                </a:lnTo>
                <a:lnTo>
                  <a:pt x="188950" y="139675"/>
                </a:lnTo>
                <a:lnTo>
                  <a:pt x="163281" y="139675"/>
                </a:lnTo>
                <a:lnTo>
                  <a:pt x="163230" y="139624"/>
                </a:lnTo>
                <a:lnTo>
                  <a:pt x="163230" y="99848"/>
                </a:lnTo>
                <a:lnTo>
                  <a:pt x="163230" y="99822"/>
                </a:lnTo>
                <a:lnTo>
                  <a:pt x="163256" y="99797"/>
                </a:lnTo>
                <a:lnTo>
                  <a:pt x="188950" y="99797"/>
                </a:lnTo>
                <a:moveTo>
                  <a:pt x="188950" y="84518"/>
                </a:moveTo>
                <a:lnTo>
                  <a:pt x="163256" y="84518"/>
                </a:lnTo>
                <a:cubicBezTo>
                  <a:pt x="154801" y="84518"/>
                  <a:pt x="147926" y="91368"/>
                  <a:pt x="147926" y="99848"/>
                </a:cubicBezTo>
                <a:lnTo>
                  <a:pt x="147926" y="139624"/>
                </a:lnTo>
                <a:cubicBezTo>
                  <a:pt x="147926" y="148053"/>
                  <a:pt x="154827" y="154954"/>
                  <a:pt x="163256" y="154954"/>
                </a:cubicBezTo>
                <a:lnTo>
                  <a:pt x="188950" y="154954"/>
                </a:lnTo>
                <a:cubicBezTo>
                  <a:pt x="197379" y="154954"/>
                  <a:pt x="204280" y="148053"/>
                  <a:pt x="204280" y="139624"/>
                </a:cubicBezTo>
                <a:lnTo>
                  <a:pt x="204280" y="99848"/>
                </a:lnTo>
                <a:cubicBezTo>
                  <a:pt x="204280" y="91393"/>
                  <a:pt x="197404" y="84518"/>
                  <a:pt x="188950" y="84518"/>
                </a:cubicBezTo>
                <a:moveTo>
                  <a:pt x="202854" y="174689"/>
                </a:moveTo>
                <a:lnTo>
                  <a:pt x="8454" y="174689"/>
                </a:lnTo>
                <a:cubicBezTo>
                  <a:pt x="3794" y="174689"/>
                  <a:pt x="0" y="178483"/>
                  <a:pt x="0" y="183143"/>
                </a:cubicBezTo>
                <a:cubicBezTo>
                  <a:pt x="0" y="187803"/>
                  <a:pt x="3794" y="191598"/>
                  <a:pt x="8454" y="191598"/>
                </a:cubicBezTo>
                <a:lnTo>
                  <a:pt x="202879" y="191598"/>
                </a:lnTo>
                <a:cubicBezTo>
                  <a:pt x="207539" y="191598"/>
                  <a:pt x="211333" y="187803"/>
                  <a:pt x="211333" y="183143"/>
                </a:cubicBezTo>
                <a:cubicBezTo>
                  <a:pt x="211308" y="178458"/>
                  <a:pt x="207539" y="174689"/>
                  <a:pt x="202854" y="174689"/>
                </a:cubicBezTo>
                <a:close/>
                <a:close/>
                <a:close/>
                <a:close/>
              </a:path>
            </a:pathLst>
          </a:custGeom>
          <a:solidFill>
            <a:srgbClr val="FFFFFF"/>
          </a:solidFill>
        </p:spPr>
      </p:sp>
      <p:sp>
        <p:nvSpPr>
          <p:cNvPr id="58" name="Text 56"/>
          <p:cNvSpPr/>
          <p:nvPr/>
        </p:nvSpPr>
        <p:spPr>
          <a:xfrm>
            <a:off x="6259052" y="4882904"/>
            <a:ext cx="220578" cy="199979"/>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9" name="Shape 57"/>
          <p:cNvSpPr/>
          <p:nvPr/>
        </p:nvSpPr>
        <p:spPr>
          <a:xfrm>
            <a:off x="6794433" y="4872605"/>
            <a:ext cx="212128" cy="220578"/>
          </a:xfrm>
          <a:custGeom>
            <a:avLst/>
            <a:gdLst/>
            <a:ahLst/>
            <a:cxnLst/>
            <a:rect l="l" t="t" r="r" b="b"/>
            <a:pathLst>
              <a:path w="212128" h="220578">
                <a:moveTo>
                  <a:pt x="50024" y="194802"/>
                </a:moveTo>
                <a:lnTo>
                  <a:pt x="78520" y="194802"/>
                </a:lnTo>
                <a:lnTo>
                  <a:pt x="124718" y="194802"/>
                </a:lnTo>
                <a:lnTo>
                  <a:pt x="153213" y="194802"/>
                </a:lnTo>
                <a:cubicBezTo>
                  <a:pt x="157787" y="194802"/>
                  <a:pt x="161479" y="198494"/>
                  <a:pt x="161479" y="203068"/>
                </a:cubicBezTo>
                <a:cubicBezTo>
                  <a:pt x="161479" y="207641"/>
                  <a:pt x="157760" y="211333"/>
                  <a:pt x="153213" y="211333"/>
                </a:cubicBezTo>
                <a:lnTo>
                  <a:pt x="124718" y="211333"/>
                </a:lnTo>
                <a:lnTo>
                  <a:pt x="78520" y="211333"/>
                </a:lnTo>
                <a:lnTo>
                  <a:pt x="50024" y="211333"/>
                </a:lnTo>
                <a:cubicBezTo>
                  <a:pt x="45450" y="211333"/>
                  <a:pt x="41758" y="207641"/>
                  <a:pt x="41758" y="203068"/>
                </a:cubicBezTo>
                <a:cubicBezTo>
                  <a:pt x="41758" y="198494"/>
                  <a:pt x="45450" y="194802"/>
                  <a:pt x="50024" y="194802"/>
                </a:cubicBezTo>
                <a:moveTo>
                  <a:pt x="101621" y="16531"/>
                </a:moveTo>
                <a:cubicBezTo>
                  <a:pt x="65004" y="16531"/>
                  <a:pt x="35193" y="46315"/>
                  <a:pt x="35193" y="82959"/>
                </a:cubicBezTo>
                <a:lnTo>
                  <a:pt x="35193" y="145971"/>
                </a:lnTo>
                <a:cubicBezTo>
                  <a:pt x="35193" y="147514"/>
                  <a:pt x="34779" y="149002"/>
                  <a:pt x="33953" y="150297"/>
                </a:cubicBezTo>
                <a:lnTo>
                  <a:pt x="23070" y="168068"/>
                </a:lnTo>
                <a:lnTo>
                  <a:pt x="179896" y="168068"/>
                </a:lnTo>
                <a:lnTo>
                  <a:pt x="169344" y="151592"/>
                </a:lnTo>
                <a:cubicBezTo>
                  <a:pt x="168490" y="150269"/>
                  <a:pt x="168049" y="148726"/>
                  <a:pt x="168049" y="147128"/>
                </a:cubicBezTo>
                <a:lnTo>
                  <a:pt x="168049" y="82959"/>
                </a:lnTo>
                <a:cubicBezTo>
                  <a:pt x="168049" y="46343"/>
                  <a:pt x="138265" y="16531"/>
                  <a:pt x="101621" y="16531"/>
                </a:cubicBezTo>
                <a:moveTo>
                  <a:pt x="101621" y="0"/>
                </a:moveTo>
                <a:cubicBezTo>
                  <a:pt x="112779" y="0"/>
                  <a:pt x="123607" y="2204"/>
                  <a:pt x="133857" y="6557"/>
                </a:cubicBezTo>
                <a:cubicBezTo>
                  <a:pt x="143720" y="10745"/>
                  <a:pt x="152592" y="16752"/>
                  <a:pt x="160224" y="24356"/>
                </a:cubicBezTo>
                <a:cubicBezTo>
                  <a:pt x="167856" y="31988"/>
                  <a:pt x="173835" y="40860"/>
                  <a:pt x="178023" y="50723"/>
                </a:cubicBezTo>
                <a:cubicBezTo>
                  <a:pt x="182376" y="60945"/>
                  <a:pt x="184580" y="71801"/>
                  <a:pt x="184580" y="82959"/>
                </a:cubicBezTo>
                <a:lnTo>
                  <a:pt x="184580" y="144731"/>
                </a:lnTo>
                <a:lnTo>
                  <a:pt x="201938" y="171870"/>
                </a:lnTo>
                <a:cubicBezTo>
                  <a:pt x="203564" y="174405"/>
                  <a:pt x="203674" y="177656"/>
                  <a:pt x="202214" y="180301"/>
                </a:cubicBezTo>
                <a:cubicBezTo>
                  <a:pt x="200781" y="182946"/>
                  <a:pt x="197998" y="184599"/>
                  <a:pt x="194995" y="184599"/>
                </a:cubicBezTo>
                <a:lnTo>
                  <a:pt x="8274" y="184599"/>
                </a:lnTo>
                <a:cubicBezTo>
                  <a:pt x="5271" y="184599"/>
                  <a:pt x="2516" y="182974"/>
                  <a:pt x="1055" y="180356"/>
                </a:cubicBezTo>
                <a:cubicBezTo>
                  <a:pt x="-405" y="177739"/>
                  <a:pt x="-350" y="174543"/>
                  <a:pt x="1221" y="171980"/>
                </a:cubicBezTo>
                <a:lnTo>
                  <a:pt x="18661" y="143629"/>
                </a:lnTo>
                <a:lnTo>
                  <a:pt x="18661" y="82959"/>
                </a:lnTo>
                <a:cubicBezTo>
                  <a:pt x="18661" y="71801"/>
                  <a:pt x="20865" y="60973"/>
                  <a:pt x="25219" y="50723"/>
                </a:cubicBezTo>
                <a:cubicBezTo>
                  <a:pt x="29407" y="40860"/>
                  <a:pt x="35413" y="31988"/>
                  <a:pt x="43017" y="24356"/>
                </a:cubicBezTo>
                <a:cubicBezTo>
                  <a:pt x="50622" y="16724"/>
                  <a:pt x="59521" y="10745"/>
                  <a:pt x="69385" y="6557"/>
                </a:cubicBezTo>
                <a:cubicBezTo>
                  <a:pt x="79607" y="2204"/>
                  <a:pt x="90462" y="0"/>
                  <a:pt x="101621" y="0"/>
                </a:cubicBezTo>
                <a:close/>
                <a:close/>
                <a:close/>
              </a:path>
            </a:pathLst>
          </a:custGeom>
          <a:solidFill>
            <a:srgbClr val="FFFFFF"/>
          </a:solidFill>
        </p:spPr>
      </p:sp>
      <p:sp>
        <p:nvSpPr>
          <p:cNvPr id="60" name="Text 58"/>
          <p:cNvSpPr/>
          <p:nvPr/>
        </p:nvSpPr>
        <p:spPr>
          <a:xfrm>
            <a:off x="6794433" y="4872605"/>
            <a:ext cx="212128" cy="220578"/>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1" name="Shape 59"/>
          <p:cNvSpPr/>
          <p:nvPr/>
        </p:nvSpPr>
        <p:spPr>
          <a:xfrm>
            <a:off x="7321363" y="4878944"/>
            <a:ext cx="220578" cy="207899"/>
          </a:xfrm>
          <a:custGeom>
            <a:avLst/>
            <a:gdLst/>
            <a:ahLst/>
            <a:cxnLst/>
            <a:rect l="l" t="t" r="r" b="b"/>
            <a:pathLst>
              <a:path w="220578" h="207899">
                <a:moveTo>
                  <a:pt x="156513" y="146497"/>
                </a:moveTo>
                <a:cubicBezTo>
                  <a:pt x="158526" y="146497"/>
                  <a:pt x="160539" y="147264"/>
                  <a:pt x="162074" y="148799"/>
                </a:cubicBezTo>
                <a:lnTo>
                  <a:pt x="193366" y="180091"/>
                </a:lnTo>
                <a:cubicBezTo>
                  <a:pt x="196435" y="183160"/>
                  <a:pt x="196435" y="188143"/>
                  <a:pt x="193366" y="191212"/>
                </a:cubicBezTo>
                <a:cubicBezTo>
                  <a:pt x="191845" y="192733"/>
                  <a:pt x="189825" y="193520"/>
                  <a:pt x="187805" y="193520"/>
                </a:cubicBezTo>
                <a:cubicBezTo>
                  <a:pt x="185786" y="193520"/>
                  <a:pt x="183766" y="192760"/>
                  <a:pt x="182244" y="191212"/>
                </a:cubicBezTo>
                <a:lnTo>
                  <a:pt x="150952" y="159920"/>
                </a:lnTo>
                <a:cubicBezTo>
                  <a:pt x="147883" y="156851"/>
                  <a:pt x="147883" y="151868"/>
                  <a:pt x="150952" y="148799"/>
                </a:cubicBezTo>
                <a:cubicBezTo>
                  <a:pt x="152487" y="147264"/>
                  <a:pt x="154500" y="146497"/>
                  <a:pt x="156513" y="146497"/>
                </a:cubicBezTo>
                <a:moveTo>
                  <a:pt x="156513" y="99539"/>
                </a:moveTo>
                <a:lnTo>
                  <a:pt x="203464" y="99539"/>
                </a:lnTo>
                <a:cubicBezTo>
                  <a:pt x="207818" y="99539"/>
                  <a:pt x="211333" y="103054"/>
                  <a:pt x="211333" y="107408"/>
                </a:cubicBezTo>
                <a:cubicBezTo>
                  <a:pt x="211333" y="111763"/>
                  <a:pt x="207792" y="115277"/>
                  <a:pt x="203464" y="115277"/>
                </a:cubicBezTo>
                <a:lnTo>
                  <a:pt x="156513" y="115277"/>
                </a:lnTo>
                <a:cubicBezTo>
                  <a:pt x="152159" y="115277"/>
                  <a:pt x="148644" y="111763"/>
                  <a:pt x="148644" y="107408"/>
                </a:cubicBezTo>
                <a:cubicBezTo>
                  <a:pt x="148644" y="103054"/>
                  <a:pt x="152159" y="99539"/>
                  <a:pt x="156513" y="99539"/>
                </a:cubicBezTo>
                <a:moveTo>
                  <a:pt x="187805" y="21303"/>
                </a:moveTo>
                <a:cubicBezTo>
                  <a:pt x="189818" y="21303"/>
                  <a:pt x="191831" y="22070"/>
                  <a:pt x="193366" y="23605"/>
                </a:cubicBezTo>
                <a:cubicBezTo>
                  <a:pt x="196435" y="26674"/>
                  <a:pt x="196435" y="31657"/>
                  <a:pt x="193366" y="34726"/>
                </a:cubicBezTo>
                <a:lnTo>
                  <a:pt x="162074" y="66018"/>
                </a:lnTo>
                <a:cubicBezTo>
                  <a:pt x="160552" y="67566"/>
                  <a:pt x="158533" y="68326"/>
                  <a:pt x="156513" y="68326"/>
                </a:cubicBezTo>
                <a:cubicBezTo>
                  <a:pt x="154493" y="68326"/>
                  <a:pt x="152474" y="67566"/>
                  <a:pt x="150952" y="66018"/>
                </a:cubicBezTo>
                <a:cubicBezTo>
                  <a:pt x="147883" y="62949"/>
                  <a:pt x="147883" y="57966"/>
                  <a:pt x="150952" y="54897"/>
                </a:cubicBezTo>
                <a:lnTo>
                  <a:pt x="182244" y="23605"/>
                </a:lnTo>
                <a:cubicBezTo>
                  <a:pt x="183779" y="22070"/>
                  <a:pt x="185792" y="21303"/>
                  <a:pt x="187805" y="21303"/>
                </a:cubicBezTo>
                <a:moveTo>
                  <a:pt x="100067" y="15736"/>
                </a:moveTo>
                <a:cubicBezTo>
                  <a:pt x="97155" y="15736"/>
                  <a:pt x="94270" y="16470"/>
                  <a:pt x="91594" y="17965"/>
                </a:cubicBezTo>
                <a:lnTo>
                  <a:pt x="24551" y="55657"/>
                </a:lnTo>
                <a:cubicBezTo>
                  <a:pt x="19122" y="58700"/>
                  <a:pt x="15738" y="64470"/>
                  <a:pt x="15738" y="70713"/>
                </a:cubicBezTo>
                <a:lnTo>
                  <a:pt x="15738" y="128418"/>
                </a:lnTo>
                <a:cubicBezTo>
                  <a:pt x="15738" y="134661"/>
                  <a:pt x="19122" y="140431"/>
                  <a:pt x="24551" y="143474"/>
                </a:cubicBezTo>
                <a:lnTo>
                  <a:pt x="91621" y="181166"/>
                </a:lnTo>
                <a:cubicBezTo>
                  <a:pt x="97024" y="184209"/>
                  <a:pt x="103450" y="184156"/>
                  <a:pt x="108801" y="181009"/>
                </a:cubicBezTo>
                <a:cubicBezTo>
                  <a:pt x="114152" y="177887"/>
                  <a:pt x="117352" y="172300"/>
                  <a:pt x="117352" y="166110"/>
                </a:cubicBezTo>
                <a:lnTo>
                  <a:pt x="117352" y="33021"/>
                </a:lnTo>
                <a:cubicBezTo>
                  <a:pt x="117352" y="26805"/>
                  <a:pt x="114152" y="21244"/>
                  <a:pt x="108801" y="18123"/>
                </a:cubicBezTo>
                <a:cubicBezTo>
                  <a:pt x="106073" y="16523"/>
                  <a:pt x="103083" y="15736"/>
                  <a:pt x="100067" y="15736"/>
                </a:cubicBezTo>
                <a:moveTo>
                  <a:pt x="100368" y="1"/>
                </a:moveTo>
                <a:cubicBezTo>
                  <a:pt x="106008" y="50"/>
                  <a:pt x="111634" y="1572"/>
                  <a:pt x="116749" y="4562"/>
                </a:cubicBezTo>
                <a:cubicBezTo>
                  <a:pt x="126978" y="10542"/>
                  <a:pt x="133090" y="21192"/>
                  <a:pt x="133090" y="33047"/>
                </a:cubicBezTo>
                <a:lnTo>
                  <a:pt x="133090" y="166163"/>
                </a:lnTo>
                <a:cubicBezTo>
                  <a:pt x="133090" y="178018"/>
                  <a:pt x="126978" y="188668"/>
                  <a:pt x="116749" y="194648"/>
                </a:cubicBezTo>
                <a:cubicBezTo>
                  <a:pt x="111555" y="197664"/>
                  <a:pt x="105811" y="199186"/>
                  <a:pt x="100093" y="199186"/>
                </a:cubicBezTo>
                <a:cubicBezTo>
                  <a:pt x="94532" y="199186"/>
                  <a:pt x="88998" y="197769"/>
                  <a:pt x="83909" y="194910"/>
                </a:cubicBezTo>
                <a:lnTo>
                  <a:pt x="16840" y="157218"/>
                </a:lnTo>
                <a:cubicBezTo>
                  <a:pt x="6453" y="151369"/>
                  <a:pt x="0" y="140353"/>
                  <a:pt x="0" y="128445"/>
                </a:cubicBezTo>
                <a:lnTo>
                  <a:pt x="0" y="70739"/>
                </a:lnTo>
                <a:cubicBezTo>
                  <a:pt x="0" y="58831"/>
                  <a:pt x="6453" y="47788"/>
                  <a:pt x="16840" y="41965"/>
                </a:cubicBezTo>
                <a:lnTo>
                  <a:pt x="83909" y="4273"/>
                </a:lnTo>
                <a:cubicBezTo>
                  <a:pt x="89076" y="1375"/>
                  <a:pt x="94729" y="-48"/>
                  <a:pt x="100368" y="1"/>
                </a:cubicBezTo>
                <a:close/>
                <a:close/>
                <a:close/>
                <a:close/>
                <a:close/>
              </a:path>
            </a:pathLst>
          </a:custGeom>
          <a:solidFill>
            <a:srgbClr val="FFFFFF"/>
          </a:solidFill>
        </p:spPr>
      </p:sp>
      <p:sp>
        <p:nvSpPr>
          <p:cNvPr id="62" name="Text 60"/>
          <p:cNvSpPr/>
          <p:nvPr/>
        </p:nvSpPr>
        <p:spPr>
          <a:xfrm>
            <a:off x="7321363" y="4878944"/>
            <a:ext cx="220578" cy="207899"/>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3" name="Text 61"/>
          <p:cNvSpPr/>
          <p:nvPr/>
        </p:nvSpPr>
        <p:spPr>
          <a:xfrm>
            <a:off x="484505" y="2263140"/>
            <a:ext cx="3749040" cy="603200"/>
          </a:xfrm>
          <a:prstGeom prst="rect">
            <a:avLst/>
          </a:prstGeom>
          <a:noFill/>
        </p:spPr>
        <p:txBody>
          <a:bodyPr wrap="square" lIns="95250" tIns="95250" rIns="95250" bIns="95250" rtlCol="0" anchor="b">
            <a:spAutoFit/>
          </a:bodyPr>
          <a:lstStyle/>
          <a:p>
            <a:pPr marL="0" indent="0" algn="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光电转换技术</a:t>
            </a:r>
            <a:endParaRPr lang="en-US" sz="1725" dirty="0"/>
          </a:p>
        </p:txBody>
      </p:sp>
      <p:sp>
        <p:nvSpPr>
          <p:cNvPr id="64" name="Text 62"/>
          <p:cNvSpPr/>
          <p:nvPr/>
        </p:nvSpPr>
        <p:spPr>
          <a:xfrm>
            <a:off x="484505" y="3028950"/>
            <a:ext cx="3748405" cy="2129135"/>
          </a:xfrm>
          <a:prstGeom prst="rect">
            <a:avLst/>
          </a:prstGeom>
          <a:noFill/>
        </p:spPr>
        <p:txBody>
          <a:bodyPr wrap="square" lIns="95250" tIns="95250" rIns="95250" bIns="95250" rtlCol="0" anchor="t">
            <a:spAutoFit/>
          </a:bodyPr>
          <a:lstStyle/>
          <a:p>
            <a:pPr marL="0" indent="0" algn="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通过光电转换器件，可以将电信号转换为光信号，实现与光纤通信系统的连接，从而实现信号的高速传输和远距离传输。</a:t>
            </a:r>
            <a:endParaRPr lang="en-US" sz="1350" dirty="0"/>
          </a:p>
        </p:txBody>
      </p:sp>
      <p:sp>
        <p:nvSpPr>
          <p:cNvPr id="65" name="Text 63"/>
          <p:cNvSpPr/>
          <p:nvPr/>
        </p:nvSpPr>
        <p:spPr>
          <a:xfrm>
            <a:off x="7773670" y="2263140"/>
            <a:ext cx="3749040" cy="603200"/>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光信号的调制与解调</a:t>
            </a:r>
            <a:endParaRPr lang="en-US" sz="1725" dirty="0"/>
          </a:p>
        </p:txBody>
      </p:sp>
      <p:sp>
        <p:nvSpPr>
          <p:cNvPr id="66" name="Text 64"/>
          <p:cNvSpPr/>
          <p:nvPr/>
        </p:nvSpPr>
        <p:spPr>
          <a:xfrm>
            <a:off x="7773670" y="3028950"/>
            <a:ext cx="3748405" cy="212913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光信号的调制与解调技术能够将信息编码成光信号，并在接收端将光信号解码成原始信息，实现高效的通信传输。</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光纤通信的构成要素</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02</a:t>
            </a:r>
            <a:endParaRPr lang="en-US" sz="9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光源</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252709" y="2654830"/>
            <a:ext cx="1346855" cy="1346855"/>
          </a:xfrm>
          <a:custGeom>
            <a:avLst/>
            <a:gdLst/>
            <a:ahLst/>
            <a:cxnLst/>
            <a:rect l="l" t="t" r="r" b="b"/>
            <a:pathLst>
              <a:path w="1346855" h="1346855">
                <a:moveTo>
                  <a:pt x="645203" y="0"/>
                </a:moveTo>
                <a:cubicBezTo>
                  <a:pt x="1001301" y="0"/>
                  <a:pt x="1290407" y="289106"/>
                  <a:pt x="1290407" y="645203"/>
                </a:cubicBezTo>
                <a:cubicBezTo>
                  <a:pt x="1290407" y="1001301"/>
                  <a:pt x="1001301" y="1290407"/>
                  <a:pt x="645203" y="1290407"/>
                </a:cubicBezTo>
                <a:cubicBezTo>
                  <a:pt x="289106" y="1290407"/>
                  <a:pt x="0" y="1001301"/>
                  <a:pt x="0" y="645203"/>
                </a:cubicBezTo>
                <a:cubicBezTo>
                  <a:pt x="0" y="289106"/>
                  <a:pt x="289106" y="0"/>
                  <a:pt x="645203" y="0"/>
                </a:cubicBezTo>
                <a:close/>
              </a:path>
            </a:pathLst>
          </a:custGeom>
          <a:solidFill>
            <a:srgbClr val="1C1C1C"/>
          </a:solidFill>
        </p:spPr>
      </p:sp>
      <p:sp>
        <p:nvSpPr>
          <p:cNvPr id="14" name="Text 12"/>
          <p:cNvSpPr/>
          <p:nvPr/>
        </p:nvSpPr>
        <p:spPr>
          <a:xfrm>
            <a:off x="1252709" y="2654830"/>
            <a:ext cx="1346855" cy="1346855"/>
          </a:xfrm>
          <a:prstGeom prst="rect">
            <a:avLst/>
          </a:prstGeom>
          <a:noFill/>
        </p:spPr>
        <p:txBody>
          <a:bodyPr wrap="square" rtlCol="0" anchor="ctr"/>
          <a:lstStyle/>
          <a:p>
            <a:pPr marL="0" indent="0" algn="ctr">
              <a:lnSpc>
                <a:spcPct val="120000"/>
              </a:lnSpc>
              <a:spcBef>
                <a:spcPts val="375"/>
              </a:spcBef>
              <a:buNone/>
            </a:pPr>
            <a:r>
              <a:rPr lang="en-US" sz="3600" dirty="0">
                <a:solidFill>
                  <a:srgbClr val="FFFFFF"/>
                </a:solidFill>
                <a:latin typeface="微软雅黑" pitchFamily="34" charset="0"/>
                <a:ea typeface="微软雅黑" pitchFamily="34" charset="-122"/>
                <a:cs typeface="微软雅黑" pitchFamily="34" charset="-120"/>
              </a:rPr>
              <a:t>98%</a:t>
            </a:r>
            <a:endParaRPr lang="en-US" sz="3600" dirty="0"/>
          </a:p>
        </p:txBody>
      </p:sp>
      <p:sp>
        <p:nvSpPr>
          <p:cNvPr id="15" name="Shape 13"/>
          <p:cNvSpPr/>
          <p:nvPr/>
        </p:nvSpPr>
        <p:spPr>
          <a:xfrm>
            <a:off x="3600993" y="1687705"/>
            <a:ext cx="614255" cy="614255"/>
          </a:xfrm>
          <a:custGeom>
            <a:avLst/>
            <a:gdLst/>
            <a:ahLst/>
            <a:cxnLst/>
            <a:rect l="l" t="t" r="r" b="b"/>
            <a:pathLst>
              <a:path w="614255" h="614255">
                <a:moveTo>
                  <a:pt x="294255" y="0"/>
                </a:moveTo>
                <a:cubicBezTo>
                  <a:pt x="456659" y="0"/>
                  <a:pt x="588511" y="131851"/>
                  <a:pt x="588511" y="294255"/>
                </a:cubicBezTo>
                <a:cubicBezTo>
                  <a:pt x="588511" y="456659"/>
                  <a:pt x="456659" y="588511"/>
                  <a:pt x="294255" y="588511"/>
                </a:cubicBezTo>
                <a:cubicBezTo>
                  <a:pt x="131851" y="588511"/>
                  <a:pt x="0" y="456659"/>
                  <a:pt x="0" y="294255"/>
                </a:cubicBezTo>
                <a:cubicBezTo>
                  <a:pt x="0" y="131851"/>
                  <a:pt x="131851" y="0"/>
                  <a:pt x="294255" y="0"/>
                </a:cubicBezTo>
                <a:close/>
              </a:path>
            </a:pathLst>
          </a:custGeom>
          <a:solidFill>
            <a:srgbClr val="616161"/>
          </a:solidFill>
        </p:spPr>
      </p:sp>
      <p:sp>
        <p:nvSpPr>
          <p:cNvPr id="16" name="Text 14"/>
          <p:cNvSpPr/>
          <p:nvPr/>
        </p:nvSpPr>
        <p:spPr>
          <a:xfrm>
            <a:off x="3600993" y="1687705"/>
            <a:ext cx="614255" cy="614255"/>
          </a:xfrm>
          <a:prstGeom prst="rect">
            <a:avLst/>
          </a:prstGeom>
          <a:noFill/>
        </p:spPr>
        <p:txBody>
          <a:bodyPr wrap="square" rtlCol="0" anchor="ctr"/>
          <a:lstStyle/>
          <a:p>
            <a:pPr marL="0" indent="0" algn="ctr">
              <a:lnSpc>
                <a:spcPct val="120000"/>
              </a:lnSpc>
              <a:spcBef>
                <a:spcPts val="375"/>
              </a:spcBef>
              <a:buNone/>
            </a:pPr>
            <a:r>
              <a:rPr lang="en-US" sz="3600" dirty="0">
                <a:solidFill>
                  <a:srgbClr val="FFFFFF"/>
                </a:solidFill>
                <a:latin typeface="微软雅黑" pitchFamily="34" charset="0"/>
                <a:ea typeface="微软雅黑" pitchFamily="34" charset="-122"/>
                <a:cs typeface="微软雅黑" pitchFamily="34" charset="-120"/>
              </a:rPr>
              <a:t>1</a:t>
            </a:r>
            <a:endParaRPr lang="en-US" sz="3600" dirty="0"/>
          </a:p>
        </p:txBody>
      </p:sp>
      <p:sp>
        <p:nvSpPr>
          <p:cNvPr id="17" name="Shape 15"/>
          <p:cNvSpPr/>
          <p:nvPr/>
        </p:nvSpPr>
        <p:spPr>
          <a:xfrm>
            <a:off x="3578415" y="4294923"/>
            <a:ext cx="614255" cy="614255"/>
          </a:xfrm>
          <a:custGeom>
            <a:avLst/>
            <a:gdLst/>
            <a:ahLst/>
            <a:cxnLst/>
            <a:rect l="l" t="t" r="r" b="b"/>
            <a:pathLst>
              <a:path w="614255" h="614255">
                <a:moveTo>
                  <a:pt x="294255" y="0"/>
                </a:moveTo>
                <a:cubicBezTo>
                  <a:pt x="456659" y="0"/>
                  <a:pt x="588511" y="131851"/>
                  <a:pt x="588511" y="294255"/>
                </a:cubicBezTo>
                <a:cubicBezTo>
                  <a:pt x="588511" y="456659"/>
                  <a:pt x="456659" y="588511"/>
                  <a:pt x="294255" y="588511"/>
                </a:cubicBezTo>
                <a:cubicBezTo>
                  <a:pt x="131851" y="588511"/>
                  <a:pt x="0" y="456659"/>
                  <a:pt x="0" y="294255"/>
                </a:cubicBezTo>
                <a:cubicBezTo>
                  <a:pt x="0" y="131851"/>
                  <a:pt x="131851" y="0"/>
                  <a:pt x="294255" y="0"/>
                </a:cubicBezTo>
                <a:close/>
              </a:path>
            </a:pathLst>
          </a:custGeom>
          <a:solidFill>
            <a:srgbClr val="616161"/>
          </a:solidFill>
        </p:spPr>
      </p:sp>
      <p:sp>
        <p:nvSpPr>
          <p:cNvPr id="18" name="Text 16"/>
          <p:cNvSpPr/>
          <p:nvPr/>
        </p:nvSpPr>
        <p:spPr>
          <a:xfrm>
            <a:off x="3578415" y="4294923"/>
            <a:ext cx="614255" cy="614255"/>
          </a:xfrm>
          <a:prstGeom prst="rect">
            <a:avLst/>
          </a:prstGeom>
          <a:noFill/>
        </p:spPr>
        <p:txBody>
          <a:bodyPr wrap="square" rtlCol="0" anchor="ctr"/>
          <a:lstStyle/>
          <a:p>
            <a:pPr marL="0" indent="0" algn="ctr">
              <a:lnSpc>
                <a:spcPct val="120000"/>
              </a:lnSpc>
              <a:spcBef>
                <a:spcPts val="375"/>
              </a:spcBef>
              <a:buNone/>
            </a:pPr>
            <a:r>
              <a:rPr lang="en-US" sz="3600" dirty="0">
                <a:solidFill>
                  <a:srgbClr val="FFFFFF"/>
                </a:solidFill>
                <a:latin typeface="微软雅黑" pitchFamily="34" charset="0"/>
                <a:ea typeface="微软雅黑" pitchFamily="34" charset="-122"/>
                <a:cs typeface="微软雅黑" pitchFamily="34" charset="-120"/>
              </a:rPr>
              <a:t>2</a:t>
            </a:r>
            <a:endParaRPr lang="en-US" sz="3600" dirty="0"/>
          </a:p>
        </p:txBody>
      </p:sp>
      <p:sp>
        <p:nvSpPr>
          <p:cNvPr id="19" name="Text 17"/>
          <p:cNvSpPr/>
          <p:nvPr/>
        </p:nvSpPr>
        <p:spPr>
          <a:xfrm>
            <a:off x="4291330" y="1598930"/>
            <a:ext cx="6416040" cy="368201"/>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激光二极管</a:t>
            </a:r>
            <a:endParaRPr lang="en-US" sz="1725" dirty="0"/>
          </a:p>
        </p:txBody>
      </p:sp>
      <p:sp>
        <p:nvSpPr>
          <p:cNvPr id="20" name="Text 18"/>
          <p:cNvSpPr/>
          <p:nvPr/>
        </p:nvSpPr>
        <p:spPr>
          <a:xfrm>
            <a:off x="4304030" y="1985645"/>
            <a:ext cx="6514465" cy="1713756"/>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激光二极管是光纤通信中常用的光源之一，它具有小体积、低功耗和长寿命等优点，能够稳定输出高质量的激光光源，广泛应用于光纤通信系统中。</a:t>
            </a:r>
            <a:endParaRPr lang="en-US" sz="1350" dirty="0"/>
          </a:p>
        </p:txBody>
      </p:sp>
      <p:sp>
        <p:nvSpPr>
          <p:cNvPr id="21" name="Text 19"/>
          <p:cNvSpPr/>
          <p:nvPr/>
        </p:nvSpPr>
        <p:spPr>
          <a:xfrm>
            <a:off x="4291330" y="4183380"/>
            <a:ext cx="6416040" cy="368201"/>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LED光源</a:t>
            </a:r>
            <a:endParaRPr lang="en-US" sz="1725" dirty="0"/>
          </a:p>
        </p:txBody>
      </p:sp>
      <p:sp>
        <p:nvSpPr>
          <p:cNvPr id="22" name="Text 20"/>
          <p:cNvSpPr/>
          <p:nvPr/>
        </p:nvSpPr>
        <p:spPr>
          <a:xfrm>
            <a:off x="4304030" y="4570095"/>
            <a:ext cx="6514465" cy="136713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LED光源在光纤通信中也扮演着重要角色，它具有低成本、长寿命和高可靠性的特点，能够提供稳定的光源，适用于短距离通信和光纤传感器等领域。</a:t>
            </a:r>
            <a:endParaRPr lang="en-US" sz="1350" dirty="0"/>
          </a:p>
        </p:txBody>
      </p:sp>
      <p:sp>
        <p:nvSpPr>
          <p:cNvPr id="23" name="Shape 21"/>
          <p:cNvSpPr/>
          <p:nvPr/>
        </p:nvSpPr>
        <p:spPr>
          <a:xfrm>
            <a:off x="3103880" y="1977390"/>
            <a:ext cx="0" cy="2654935"/>
          </a:xfrm>
          <a:custGeom>
            <a:avLst/>
            <a:gdLst/>
            <a:ahLst/>
            <a:cxnLst/>
            <a:rect l="l" t="t" r="r" b="b"/>
            <a:pathLst>
              <a:path h="2654935">
                <a:moveTo>
                  <a:pt x="0" y="0"/>
                </a:moveTo>
                <a:lnTo>
                  <a:pt x="0" y="2654935"/>
                </a:lnTo>
              </a:path>
            </a:pathLst>
          </a:custGeom>
          <a:noFill/>
          <a:ln w="9525">
            <a:solidFill>
              <a:srgbClr val="DDC5B0"/>
            </a:solidFill>
            <a:prstDash val="dash"/>
            <a:headEnd type="none"/>
            <a:tailEnd type="none"/>
          </a:ln>
        </p:spPr>
      </p:sp>
      <p:sp>
        <p:nvSpPr>
          <p:cNvPr id="24" name="Shape 22"/>
          <p:cNvSpPr/>
          <p:nvPr/>
        </p:nvSpPr>
        <p:spPr>
          <a:xfrm>
            <a:off x="3096260" y="1976755"/>
            <a:ext cx="288290" cy="3175"/>
          </a:xfrm>
          <a:custGeom>
            <a:avLst/>
            <a:gdLst/>
            <a:ahLst/>
            <a:cxnLst/>
            <a:rect l="l" t="t" r="r" b="b"/>
            <a:pathLst>
              <a:path w="288290" h="3175">
                <a:moveTo>
                  <a:pt x="0" y="0"/>
                </a:moveTo>
                <a:lnTo>
                  <a:pt x="288290" y="3175"/>
                </a:lnTo>
              </a:path>
            </a:pathLst>
          </a:custGeom>
          <a:noFill/>
          <a:ln w="9525">
            <a:solidFill>
              <a:srgbClr val="DDC5B0"/>
            </a:solidFill>
            <a:prstDash val="dash"/>
            <a:headEnd type="none"/>
            <a:tailEnd type="none"/>
          </a:ln>
        </p:spPr>
      </p:sp>
      <p:sp>
        <p:nvSpPr>
          <p:cNvPr id="25" name="Shape 23"/>
          <p:cNvSpPr/>
          <p:nvPr/>
        </p:nvSpPr>
        <p:spPr>
          <a:xfrm>
            <a:off x="3101975" y="4628515"/>
            <a:ext cx="288290" cy="3175"/>
          </a:xfrm>
          <a:custGeom>
            <a:avLst/>
            <a:gdLst/>
            <a:ahLst/>
            <a:cxnLst/>
            <a:rect l="l" t="t" r="r" b="b"/>
            <a:pathLst>
              <a:path w="288290" h="3175">
                <a:moveTo>
                  <a:pt x="0" y="0"/>
                </a:moveTo>
                <a:lnTo>
                  <a:pt x="288290" y="3175"/>
                </a:lnTo>
              </a:path>
            </a:pathLst>
          </a:custGeom>
          <a:noFill/>
          <a:ln w="9525">
            <a:solidFill>
              <a:srgbClr val="DDC5B0"/>
            </a:solidFill>
            <a:prstDash val="dash"/>
            <a:headEnd type="none"/>
            <a:tailEnd type="non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光检测器</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Text 11"/>
          <p:cNvSpPr/>
          <p:nvPr/>
        </p:nvSpPr>
        <p:spPr>
          <a:xfrm>
            <a:off x="2082800" y="5622925"/>
            <a:ext cx="1108075" cy="372070"/>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800" dirty="0">
                <a:solidFill>
                  <a:srgbClr val="404040"/>
                </a:solidFill>
                <a:latin typeface="Museo Sans 500" pitchFamily="34" charset="0"/>
                <a:ea typeface="Museo Sans 500" pitchFamily="34" charset="-122"/>
                <a:cs typeface="Museo Sans 500" pitchFamily="34" charset="-120"/>
              </a:rPr>
              <a:t>技能进修</a:t>
            </a:r>
            <a:endParaRPr lang="en-US" sz="1800" dirty="0"/>
          </a:p>
        </p:txBody>
      </p:sp>
      <p:sp>
        <p:nvSpPr>
          <p:cNvPr id="14" name="Text 12"/>
          <p:cNvSpPr/>
          <p:nvPr/>
        </p:nvSpPr>
        <p:spPr>
          <a:xfrm>
            <a:off x="4304665" y="5118735"/>
            <a:ext cx="1108075" cy="372070"/>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800" dirty="0">
                <a:solidFill>
                  <a:srgbClr val="404040"/>
                </a:solidFill>
                <a:latin typeface="Museo Sans 500" pitchFamily="34" charset="0"/>
                <a:ea typeface="Museo Sans 500" pitchFamily="34" charset="-122"/>
                <a:cs typeface="Museo Sans 500" pitchFamily="34" charset="-120"/>
              </a:rPr>
              <a:t>消化技能</a:t>
            </a:r>
            <a:endParaRPr lang="en-US" sz="1800" dirty="0"/>
          </a:p>
        </p:txBody>
      </p:sp>
      <p:sp>
        <p:nvSpPr>
          <p:cNvPr id="15" name="Text 13"/>
          <p:cNvSpPr/>
          <p:nvPr/>
        </p:nvSpPr>
        <p:spPr>
          <a:xfrm>
            <a:off x="6778625" y="4594225"/>
            <a:ext cx="1108075" cy="372070"/>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800" dirty="0">
                <a:solidFill>
                  <a:srgbClr val="404040"/>
                </a:solidFill>
                <a:latin typeface="Museo Sans 500" pitchFamily="34" charset="0"/>
                <a:ea typeface="Museo Sans 500" pitchFamily="34" charset="-122"/>
                <a:cs typeface="Museo Sans 500" pitchFamily="34" charset="-120"/>
              </a:rPr>
              <a:t>结合实践</a:t>
            </a:r>
            <a:endParaRPr lang="en-US" sz="1800" dirty="0"/>
          </a:p>
        </p:txBody>
      </p:sp>
      <p:sp>
        <p:nvSpPr>
          <p:cNvPr id="16" name="Text 14"/>
          <p:cNvSpPr/>
          <p:nvPr/>
        </p:nvSpPr>
        <p:spPr>
          <a:xfrm>
            <a:off x="9253220" y="4234815"/>
            <a:ext cx="1108075" cy="372070"/>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800" dirty="0">
                <a:solidFill>
                  <a:srgbClr val="404040"/>
                </a:solidFill>
                <a:latin typeface="Museo Sans 500" pitchFamily="34" charset="0"/>
                <a:ea typeface="Museo Sans 500" pitchFamily="34" charset="-122"/>
                <a:cs typeface="Museo Sans 500" pitchFamily="34" charset="-120"/>
              </a:rPr>
              <a:t>总结经验</a:t>
            </a:r>
            <a:endParaRPr lang="en-US" sz="1800" dirty="0"/>
          </a:p>
        </p:txBody>
      </p:sp>
      <p:sp>
        <p:nvSpPr>
          <p:cNvPr id="17" name="Shape 15"/>
          <p:cNvSpPr/>
          <p:nvPr/>
        </p:nvSpPr>
        <p:spPr>
          <a:xfrm>
            <a:off x="8939530" y="2238375"/>
            <a:ext cx="1735455" cy="1747520"/>
          </a:xfrm>
          <a:custGeom>
            <a:avLst/>
            <a:gdLst/>
            <a:ahLst/>
            <a:cxnLst/>
            <a:rect l="l" t="t" r="r" b="b"/>
            <a:pathLst>
              <a:path w="1735455" h="1747520">
                <a:moveTo>
                  <a:pt x="830678" y="0"/>
                </a:moveTo>
                <a:cubicBezTo>
                  <a:pt x="1290347" y="0"/>
                  <a:pt x="1662720" y="374962"/>
                  <a:pt x="1662720" y="837826"/>
                </a:cubicBezTo>
                <a:cubicBezTo>
                  <a:pt x="1662720" y="1299318"/>
                  <a:pt x="1290347" y="1674279"/>
                  <a:pt x="830678" y="1674279"/>
                </a:cubicBezTo>
                <a:cubicBezTo>
                  <a:pt x="372373" y="1674279"/>
                  <a:pt x="0" y="1299318"/>
                  <a:pt x="0" y="837826"/>
                </a:cubicBezTo>
                <a:cubicBezTo>
                  <a:pt x="0" y="374962"/>
                  <a:pt x="372373" y="0"/>
                  <a:pt x="830678" y="0"/>
                </a:cubicBezTo>
                <a:moveTo>
                  <a:pt x="830678" y="144216"/>
                </a:moveTo>
                <a:cubicBezTo>
                  <a:pt x="450121" y="144216"/>
                  <a:pt x="141856" y="454624"/>
                  <a:pt x="141856" y="837826"/>
                </a:cubicBezTo>
                <a:cubicBezTo>
                  <a:pt x="141856" y="1221029"/>
                  <a:pt x="450121" y="1531437"/>
                  <a:pt x="830678" y="1531437"/>
                </a:cubicBezTo>
                <a:cubicBezTo>
                  <a:pt x="1211235" y="1531437"/>
                  <a:pt x="1519500" y="1221029"/>
                  <a:pt x="1519500" y="837826"/>
                </a:cubicBezTo>
                <a:cubicBezTo>
                  <a:pt x="1519500" y="454624"/>
                  <a:pt x="1211235" y="144216"/>
                  <a:pt x="830678" y="144216"/>
                </a:cubicBezTo>
                <a:close/>
                <a:close/>
              </a:path>
            </a:pathLst>
          </a:custGeom>
          <a:solidFill>
            <a:srgbClr val="616161"/>
          </a:solidFill>
        </p:spPr>
      </p:sp>
      <p:sp>
        <p:nvSpPr>
          <p:cNvPr id="18" name="Text 16"/>
          <p:cNvSpPr/>
          <p:nvPr/>
        </p:nvSpPr>
        <p:spPr>
          <a:xfrm>
            <a:off x="8939530" y="2238375"/>
            <a:ext cx="1735455" cy="174752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9573895" y="2752725"/>
            <a:ext cx="466725" cy="726440"/>
          </a:xfrm>
          <a:custGeom>
            <a:avLst/>
            <a:gdLst/>
            <a:ahLst/>
            <a:cxnLst/>
            <a:rect l="l" t="t" r="r" b="b"/>
            <a:pathLst>
              <a:path w="466725" h="726440">
                <a:moveTo>
                  <a:pt x="447164" y="224350"/>
                </a:moveTo>
                <a:cubicBezTo>
                  <a:pt x="447164" y="100702"/>
                  <a:pt x="347090" y="0"/>
                  <a:pt x="224215" y="0"/>
                </a:cubicBezTo>
                <a:cubicBezTo>
                  <a:pt x="100074" y="0"/>
                  <a:pt x="0" y="100702"/>
                  <a:pt x="0" y="224350"/>
                </a:cubicBezTo>
                <a:cubicBezTo>
                  <a:pt x="0" y="231998"/>
                  <a:pt x="1267" y="239646"/>
                  <a:pt x="2534" y="246020"/>
                </a:cubicBezTo>
                <a:cubicBezTo>
                  <a:pt x="0" y="248569"/>
                  <a:pt x="5067" y="335250"/>
                  <a:pt x="89940" y="444875"/>
                </a:cubicBezTo>
                <a:cubicBezTo>
                  <a:pt x="114008" y="478018"/>
                  <a:pt x="103874" y="544303"/>
                  <a:pt x="103874" y="544303"/>
                </a:cubicBezTo>
                <a:cubicBezTo>
                  <a:pt x="125409" y="544303"/>
                  <a:pt x="148210" y="544303"/>
                  <a:pt x="169745" y="544303"/>
                </a:cubicBezTo>
                <a:cubicBezTo>
                  <a:pt x="171012" y="562149"/>
                  <a:pt x="171012" y="562149"/>
                  <a:pt x="171012" y="562149"/>
                </a:cubicBezTo>
                <a:cubicBezTo>
                  <a:pt x="106407" y="562149"/>
                  <a:pt x="106407" y="562149"/>
                  <a:pt x="106407" y="562149"/>
                </a:cubicBezTo>
                <a:cubicBezTo>
                  <a:pt x="106407" y="581270"/>
                  <a:pt x="106407" y="581270"/>
                  <a:pt x="106407" y="581270"/>
                </a:cubicBezTo>
                <a:cubicBezTo>
                  <a:pt x="116541" y="581270"/>
                  <a:pt x="116541" y="581270"/>
                  <a:pt x="116541" y="581270"/>
                </a:cubicBezTo>
                <a:cubicBezTo>
                  <a:pt x="116541" y="599116"/>
                  <a:pt x="116541" y="599116"/>
                  <a:pt x="116541" y="599116"/>
                </a:cubicBezTo>
                <a:cubicBezTo>
                  <a:pt x="106407" y="599116"/>
                  <a:pt x="106407" y="599116"/>
                  <a:pt x="106407" y="599116"/>
                </a:cubicBezTo>
                <a:cubicBezTo>
                  <a:pt x="106407" y="616962"/>
                  <a:pt x="106407" y="616962"/>
                  <a:pt x="106407" y="616962"/>
                </a:cubicBezTo>
                <a:cubicBezTo>
                  <a:pt x="116541" y="616962"/>
                  <a:pt x="116541" y="616962"/>
                  <a:pt x="116541" y="616962"/>
                </a:cubicBezTo>
                <a:cubicBezTo>
                  <a:pt x="116541" y="634808"/>
                  <a:pt x="116541" y="634808"/>
                  <a:pt x="116541" y="634808"/>
                </a:cubicBezTo>
                <a:cubicBezTo>
                  <a:pt x="106407" y="634808"/>
                  <a:pt x="106407" y="634808"/>
                  <a:pt x="106407" y="634808"/>
                </a:cubicBezTo>
                <a:cubicBezTo>
                  <a:pt x="107674" y="656478"/>
                  <a:pt x="129209" y="675599"/>
                  <a:pt x="157077" y="676873"/>
                </a:cubicBezTo>
                <a:cubicBezTo>
                  <a:pt x="162144" y="688346"/>
                  <a:pt x="173545" y="695994"/>
                  <a:pt x="186213" y="695994"/>
                </a:cubicBezTo>
                <a:cubicBezTo>
                  <a:pt x="260951" y="695994"/>
                  <a:pt x="260951" y="695994"/>
                  <a:pt x="260951" y="695994"/>
                </a:cubicBezTo>
                <a:cubicBezTo>
                  <a:pt x="273619" y="695994"/>
                  <a:pt x="285020" y="688346"/>
                  <a:pt x="290087" y="676873"/>
                </a:cubicBezTo>
                <a:cubicBezTo>
                  <a:pt x="317955" y="675599"/>
                  <a:pt x="339490" y="656478"/>
                  <a:pt x="340757" y="634808"/>
                </a:cubicBezTo>
                <a:cubicBezTo>
                  <a:pt x="331889" y="634808"/>
                  <a:pt x="331889" y="634808"/>
                  <a:pt x="331889" y="634808"/>
                </a:cubicBezTo>
                <a:cubicBezTo>
                  <a:pt x="331889" y="616962"/>
                  <a:pt x="331889" y="616962"/>
                  <a:pt x="331889" y="616962"/>
                </a:cubicBezTo>
                <a:cubicBezTo>
                  <a:pt x="340757" y="616962"/>
                  <a:pt x="340757" y="616962"/>
                  <a:pt x="340757" y="616962"/>
                </a:cubicBezTo>
                <a:cubicBezTo>
                  <a:pt x="340757" y="599116"/>
                  <a:pt x="340757" y="599116"/>
                  <a:pt x="340757" y="599116"/>
                </a:cubicBezTo>
                <a:cubicBezTo>
                  <a:pt x="331889" y="599116"/>
                  <a:pt x="331889" y="599116"/>
                  <a:pt x="331889" y="599116"/>
                </a:cubicBezTo>
                <a:cubicBezTo>
                  <a:pt x="331889" y="581270"/>
                  <a:pt x="331889" y="581270"/>
                  <a:pt x="331889" y="581270"/>
                </a:cubicBezTo>
                <a:cubicBezTo>
                  <a:pt x="340757" y="581270"/>
                  <a:pt x="340757" y="581270"/>
                  <a:pt x="340757" y="581270"/>
                </a:cubicBezTo>
                <a:cubicBezTo>
                  <a:pt x="340757" y="562149"/>
                  <a:pt x="340757" y="562149"/>
                  <a:pt x="340757" y="562149"/>
                </a:cubicBezTo>
                <a:cubicBezTo>
                  <a:pt x="281219" y="562149"/>
                  <a:pt x="281219" y="562149"/>
                  <a:pt x="281219" y="562149"/>
                </a:cubicBezTo>
                <a:cubicBezTo>
                  <a:pt x="281219" y="557050"/>
                  <a:pt x="281219" y="550677"/>
                  <a:pt x="282486" y="544303"/>
                </a:cubicBezTo>
                <a:cubicBezTo>
                  <a:pt x="302754" y="544303"/>
                  <a:pt x="323022" y="544303"/>
                  <a:pt x="343290" y="544303"/>
                </a:cubicBezTo>
                <a:cubicBezTo>
                  <a:pt x="343290" y="544303"/>
                  <a:pt x="333156" y="478018"/>
                  <a:pt x="357225" y="444875"/>
                </a:cubicBezTo>
                <a:cubicBezTo>
                  <a:pt x="442097" y="335250"/>
                  <a:pt x="447164" y="248569"/>
                  <a:pt x="444631" y="246020"/>
                </a:cubicBezTo>
                <a:cubicBezTo>
                  <a:pt x="445897" y="239646"/>
                  <a:pt x="447164" y="231998"/>
                  <a:pt x="447164" y="224350"/>
                </a:cubicBezTo>
                <a:moveTo>
                  <a:pt x="220415" y="392612"/>
                </a:moveTo>
                <a:cubicBezTo>
                  <a:pt x="222949" y="392612"/>
                  <a:pt x="224215" y="392612"/>
                  <a:pt x="225482" y="392612"/>
                </a:cubicBezTo>
                <a:cubicBezTo>
                  <a:pt x="229282" y="504787"/>
                  <a:pt x="229282" y="504787"/>
                  <a:pt x="229282" y="504787"/>
                </a:cubicBezTo>
                <a:cubicBezTo>
                  <a:pt x="221682" y="504787"/>
                  <a:pt x="221682" y="504787"/>
                  <a:pt x="221682" y="504787"/>
                </a:cubicBezTo>
                <a:cubicBezTo>
                  <a:pt x="221682" y="461447"/>
                  <a:pt x="221682" y="415557"/>
                  <a:pt x="220415" y="392612"/>
                </a:cubicBezTo>
                <a:moveTo>
                  <a:pt x="220415" y="562149"/>
                </a:moveTo>
                <a:cubicBezTo>
                  <a:pt x="221682" y="557050"/>
                  <a:pt x="221682" y="550677"/>
                  <a:pt x="221682" y="544303"/>
                </a:cubicBezTo>
                <a:cubicBezTo>
                  <a:pt x="224215" y="544303"/>
                  <a:pt x="228016" y="544303"/>
                  <a:pt x="230549" y="544303"/>
                </a:cubicBezTo>
                <a:cubicBezTo>
                  <a:pt x="231816" y="562149"/>
                  <a:pt x="231816" y="562149"/>
                  <a:pt x="231816" y="562149"/>
                </a:cubicBezTo>
                <a:moveTo>
                  <a:pt x="407895" y="233273"/>
                </a:moveTo>
                <a:cubicBezTo>
                  <a:pt x="405361" y="260042"/>
                  <a:pt x="405361" y="260042"/>
                  <a:pt x="405361" y="260042"/>
                </a:cubicBezTo>
                <a:cubicBezTo>
                  <a:pt x="405361" y="260042"/>
                  <a:pt x="405361" y="260042"/>
                  <a:pt x="405361" y="260042"/>
                </a:cubicBezTo>
                <a:cubicBezTo>
                  <a:pt x="401561" y="284261"/>
                  <a:pt x="385093" y="345448"/>
                  <a:pt x="326822" y="420656"/>
                </a:cubicBezTo>
                <a:cubicBezTo>
                  <a:pt x="309088" y="444875"/>
                  <a:pt x="302754" y="476743"/>
                  <a:pt x="302754" y="504787"/>
                </a:cubicBezTo>
                <a:cubicBezTo>
                  <a:pt x="282486" y="504787"/>
                  <a:pt x="282486" y="504787"/>
                  <a:pt x="282486" y="504787"/>
                </a:cubicBezTo>
                <a:cubicBezTo>
                  <a:pt x="282486" y="461447"/>
                  <a:pt x="281219" y="415557"/>
                  <a:pt x="281219" y="392612"/>
                </a:cubicBezTo>
                <a:cubicBezTo>
                  <a:pt x="282486" y="392612"/>
                  <a:pt x="283753" y="392612"/>
                  <a:pt x="285020" y="392612"/>
                </a:cubicBezTo>
                <a:cubicBezTo>
                  <a:pt x="285020" y="392612"/>
                  <a:pt x="285020" y="392612"/>
                  <a:pt x="286286" y="392612"/>
                </a:cubicBezTo>
                <a:cubicBezTo>
                  <a:pt x="286286" y="392612"/>
                  <a:pt x="286286" y="392612"/>
                  <a:pt x="286286" y="392612"/>
                </a:cubicBezTo>
                <a:cubicBezTo>
                  <a:pt x="293887" y="392612"/>
                  <a:pt x="302754" y="391337"/>
                  <a:pt x="310355" y="391337"/>
                </a:cubicBezTo>
                <a:cubicBezTo>
                  <a:pt x="297687" y="219251"/>
                  <a:pt x="297687" y="219251"/>
                  <a:pt x="297687" y="219251"/>
                </a:cubicBezTo>
                <a:cubicBezTo>
                  <a:pt x="296420" y="207778"/>
                  <a:pt x="286286" y="198855"/>
                  <a:pt x="274886" y="198855"/>
                </a:cubicBezTo>
                <a:cubicBezTo>
                  <a:pt x="274886" y="198855"/>
                  <a:pt x="259684" y="196306"/>
                  <a:pt x="253351" y="196306"/>
                </a:cubicBezTo>
                <a:cubicBezTo>
                  <a:pt x="253351" y="197581"/>
                  <a:pt x="253351" y="197581"/>
                  <a:pt x="253351" y="197581"/>
                </a:cubicBezTo>
                <a:cubicBezTo>
                  <a:pt x="269819" y="210328"/>
                  <a:pt x="269819" y="210328"/>
                  <a:pt x="269819" y="210328"/>
                </a:cubicBezTo>
                <a:cubicBezTo>
                  <a:pt x="250817" y="219251"/>
                  <a:pt x="250817" y="219251"/>
                  <a:pt x="250817" y="219251"/>
                </a:cubicBezTo>
                <a:cubicBezTo>
                  <a:pt x="259684" y="234547"/>
                  <a:pt x="259684" y="234547"/>
                  <a:pt x="259684" y="234547"/>
                </a:cubicBezTo>
                <a:cubicBezTo>
                  <a:pt x="235616" y="286811"/>
                  <a:pt x="235616" y="286811"/>
                  <a:pt x="235616" y="286811"/>
                </a:cubicBezTo>
                <a:cubicBezTo>
                  <a:pt x="231816" y="215427"/>
                  <a:pt x="231816" y="215427"/>
                  <a:pt x="231816" y="215427"/>
                </a:cubicBezTo>
                <a:cubicBezTo>
                  <a:pt x="235616" y="212877"/>
                  <a:pt x="235616" y="212877"/>
                  <a:pt x="235616" y="212877"/>
                </a:cubicBezTo>
                <a:cubicBezTo>
                  <a:pt x="230549" y="195031"/>
                  <a:pt x="230549" y="195031"/>
                  <a:pt x="230549" y="195031"/>
                </a:cubicBezTo>
                <a:cubicBezTo>
                  <a:pt x="216615" y="195031"/>
                  <a:pt x="216615" y="195031"/>
                  <a:pt x="216615" y="195031"/>
                </a:cubicBezTo>
                <a:cubicBezTo>
                  <a:pt x="211548" y="212877"/>
                  <a:pt x="211548" y="212877"/>
                  <a:pt x="211548" y="212877"/>
                </a:cubicBezTo>
                <a:cubicBezTo>
                  <a:pt x="215348" y="215427"/>
                  <a:pt x="215348" y="215427"/>
                  <a:pt x="215348" y="215427"/>
                </a:cubicBezTo>
                <a:cubicBezTo>
                  <a:pt x="211548" y="289360"/>
                  <a:pt x="211548" y="289360"/>
                  <a:pt x="211548" y="289360"/>
                </a:cubicBezTo>
                <a:cubicBezTo>
                  <a:pt x="186213" y="234547"/>
                  <a:pt x="186213" y="234547"/>
                  <a:pt x="186213" y="234547"/>
                </a:cubicBezTo>
                <a:cubicBezTo>
                  <a:pt x="195080" y="219251"/>
                  <a:pt x="195080" y="219251"/>
                  <a:pt x="195080" y="219251"/>
                </a:cubicBezTo>
                <a:cubicBezTo>
                  <a:pt x="176079" y="210328"/>
                  <a:pt x="176079" y="210328"/>
                  <a:pt x="176079" y="210328"/>
                </a:cubicBezTo>
                <a:cubicBezTo>
                  <a:pt x="192547" y="197581"/>
                  <a:pt x="192547" y="197581"/>
                  <a:pt x="192547" y="197581"/>
                </a:cubicBezTo>
                <a:cubicBezTo>
                  <a:pt x="192547" y="196306"/>
                  <a:pt x="192547" y="196306"/>
                  <a:pt x="192547" y="196306"/>
                </a:cubicBezTo>
                <a:cubicBezTo>
                  <a:pt x="186213" y="196306"/>
                  <a:pt x="172278" y="198855"/>
                  <a:pt x="172278" y="198855"/>
                </a:cubicBezTo>
                <a:cubicBezTo>
                  <a:pt x="160878" y="198855"/>
                  <a:pt x="150744" y="207778"/>
                  <a:pt x="149477" y="219251"/>
                </a:cubicBezTo>
                <a:cubicBezTo>
                  <a:pt x="136809" y="391337"/>
                  <a:pt x="136809" y="391337"/>
                  <a:pt x="136809" y="391337"/>
                </a:cubicBezTo>
                <a:cubicBezTo>
                  <a:pt x="144410" y="391337"/>
                  <a:pt x="152010" y="392612"/>
                  <a:pt x="159611" y="392612"/>
                </a:cubicBezTo>
                <a:cubicBezTo>
                  <a:pt x="159611" y="392612"/>
                  <a:pt x="159611" y="392612"/>
                  <a:pt x="159611" y="392612"/>
                </a:cubicBezTo>
                <a:cubicBezTo>
                  <a:pt x="160878" y="392612"/>
                  <a:pt x="162144" y="392612"/>
                  <a:pt x="162144" y="392612"/>
                </a:cubicBezTo>
                <a:cubicBezTo>
                  <a:pt x="163411" y="392612"/>
                  <a:pt x="164678" y="392612"/>
                  <a:pt x="165945" y="392612"/>
                </a:cubicBezTo>
                <a:cubicBezTo>
                  <a:pt x="168478" y="504787"/>
                  <a:pt x="168478" y="504787"/>
                  <a:pt x="168478" y="504787"/>
                </a:cubicBezTo>
                <a:cubicBezTo>
                  <a:pt x="144410" y="504787"/>
                  <a:pt x="144410" y="504787"/>
                  <a:pt x="144410" y="504787"/>
                </a:cubicBezTo>
                <a:cubicBezTo>
                  <a:pt x="144410" y="478018"/>
                  <a:pt x="138076" y="444875"/>
                  <a:pt x="120342" y="421930"/>
                </a:cubicBezTo>
                <a:cubicBezTo>
                  <a:pt x="62071" y="345448"/>
                  <a:pt x="45603" y="284261"/>
                  <a:pt x="41803" y="260042"/>
                </a:cubicBezTo>
                <a:cubicBezTo>
                  <a:pt x="41803" y="260042"/>
                  <a:pt x="41803" y="260042"/>
                  <a:pt x="41803" y="260042"/>
                </a:cubicBezTo>
                <a:cubicBezTo>
                  <a:pt x="39269" y="233273"/>
                  <a:pt x="39269" y="233273"/>
                  <a:pt x="39269" y="233273"/>
                </a:cubicBezTo>
                <a:cubicBezTo>
                  <a:pt x="39269" y="230723"/>
                  <a:pt x="39269" y="228174"/>
                  <a:pt x="39269" y="224350"/>
                </a:cubicBezTo>
                <a:cubicBezTo>
                  <a:pt x="39269" y="122373"/>
                  <a:pt x="121608" y="38241"/>
                  <a:pt x="224215" y="38241"/>
                </a:cubicBezTo>
                <a:cubicBezTo>
                  <a:pt x="325556" y="38241"/>
                  <a:pt x="407895" y="122373"/>
                  <a:pt x="407895" y="224350"/>
                </a:cubicBezTo>
                <a:cubicBezTo>
                  <a:pt x="407895" y="228174"/>
                  <a:pt x="407895" y="230723"/>
                  <a:pt x="407895" y="233273"/>
                </a:cubicBezTo>
                <a:moveTo>
                  <a:pt x="259684" y="141493"/>
                </a:moveTo>
                <a:cubicBezTo>
                  <a:pt x="259684" y="166988"/>
                  <a:pt x="243217" y="187383"/>
                  <a:pt x="224215" y="187383"/>
                </a:cubicBezTo>
                <a:cubicBezTo>
                  <a:pt x="203947" y="187383"/>
                  <a:pt x="187480" y="166988"/>
                  <a:pt x="187480" y="141493"/>
                </a:cubicBezTo>
                <a:cubicBezTo>
                  <a:pt x="187480" y="115999"/>
                  <a:pt x="203947" y="95604"/>
                  <a:pt x="224215" y="95604"/>
                </a:cubicBezTo>
                <a:cubicBezTo>
                  <a:pt x="243217" y="95604"/>
                  <a:pt x="259684" y="115999"/>
                  <a:pt x="259684" y="141493"/>
                </a:cubicBezTo>
                <a:close/>
                <a:close/>
                <a:close/>
                <a:close/>
                <a:close/>
              </a:path>
            </a:pathLst>
          </a:custGeom>
          <a:solidFill>
            <a:srgbClr val="1C1C1C"/>
          </a:solidFill>
        </p:spPr>
      </p:sp>
      <p:sp>
        <p:nvSpPr>
          <p:cNvPr id="20" name="Text 18"/>
          <p:cNvSpPr/>
          <p:nvPr/>
        </p:nvSpPr>
        <p:spPr>
          <a:xfrm>
            <a:off x="9573895" y="2752725"/>
            <a:ext cx="466725" cy="72644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3991610" y="3124200"/>
            <a:ext cx="821055" cy="1744980"/>
          </a:xfrm>
          <a:custGeom>
            <a:avLst/>
            <a:gdLst/>
            <a:ahLst/>
            <a:cxnLst/>
            <a:rect l="l" t="t" r="r" b="b"/>
            <a:pathLst>
              <a:path w="821055" h="1744980">
                <a:moveTo>
                  <a:pt x="786644" y="1671846"/>
                </a:moveTo>
                <a:cubicBezTo>
                  <a:pt x="347650" y="1648492"/>
                  <a:pt x="0" y="1283076"/>
                  <a:pt x="0" y="836610"/>
                </a:cubicBezTo>
                <a:cubicBezTo>
                  <a:pt x="0" y="388769"/>
                  <a:pt x="347650" y="23354"/>
                  <a:pt x="786644" y="0"/>
                </a:cubicBezTo>
                <a:cubicBezTo>
                  <a:pt x="786644" y="144243"/>
                  <a:pt x="786644" y="144243"/>
                  <a:pt x="786644" y="144243"/>
                </a:cubicBezTo>
                <a:cubicBezTo>
                  <a:pt x="426724" y="167597"/>
                  <a:pt x="141787" y="468447"/>
                  <a:pt x="141787" y="836610"/>
                </a:cubicBezTo>
                <a:cubicBezTo>
                  <a:pt x="141787" y="1203399"/>
                  <a:pt x="426724" y="1505623"/>
                  <a:pt x="786644" y="1528977"/>
                </a:cubicBezTo>
                <a:close/>
              </a:path>
            </a:pathLst>
          </a:custGeom>
          <a:solidFill>
            <a:srgbClr val="C9C9C9"/>
          </a:solidFill>
        </p:spPr>
      </p:sp>
      <p:sp>
        <p:nvSpPr>
          <p:cNvPr id="22" name="Text 20"/>
          <p:cNvSpPr/>
          <p:nvPr/>
        </p:nvSpPr>
        <p:spPr>
          <a:xfrm>
            <a:off x="3991610" y="3124200"/>
            <a:ext cx="821055" cy="174498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a:off x="4905375" y="3124200"/>
            <a:ext cx="821055" cy="1744980"/>
          </a:xfrm>
          <a:custGeom>
            <a:avLst/>
            <a:gdLst/>
            <a:ahLst/>
            <a:cxnLst/>
            <a:rect l="l" t="t" r="r" b="b"/>
            <a:pathLst>
              <a:path w="821055" h="1744980">
                <a:moveTo>
                  <a:pt x="0" y="0"/>
                </a:moveTo>
                <a:cubicBezTo>
                  <a:pt x="438994" y="23354"/>
                  <a:pt x="786644" y="388769"/>
                  <a:pt x="786644" y="836610"/>
                </a:cubicBezTo>
                <a:cubicBezTo>
                  <a:pt x="786644" y="1283076"/>
                  <a:pt x="438994" y="1648492"/>
                  <a:pt x="0" y="1671846"/>
                </a:cubicBezTo>
                <a:cubicBezTo>
                  <a:pt x="0" y="1528977"/>
                  <a:pt x="0" y="1528977"/>
                  <a:pt x="0" y="1528977"/>
                </a:cubicBezTo>
                <a:cubicBezTo>
                  <a:pt x="359920" y="1505623"/>
                  <a:pt x="644857" y="1203399"/>
                  <a:pt x="644857" y="836610"/>
                </a:cubicBezTo>
                <a:cubicBezTo>
                  <a:pt x="644857" y="468447"/>
                  <a:pt x="359920" y="167597"/>
                  <a:pt x="0" y="144243"/>
                </a:cubicBezTo>
                <a:close/>
              </a:path>
            </a:pathLst>
          </a:custGeom>
          <a:solidFill>
            <a:srgbClr val="616161"/>
          </a:solidFill>
        </p:spPr>
      </p:sp>
      <p:sp>
        <p:nvSpPr>
          <p:cNvPr id="24" name="Text 22"/>
          <p:cNvSpPr/>
          <p:nvPr/>
        </p:nvSpPr>
        <p:spPr>
          <a:xfrm>
            <a:off x="4905375" y="3124200"/>
            <a:ext cx="821055" cy="174498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5" name="Shape 23"/>
          <p:cNvSpPr/>
          <p:nvPr/>
        </p:nvSpPr>
        <p:spPr>
          <a:xfrm>
            <a:off x="4653280" y="3611245"/>
            <a:ext cx="410845" cy="777240"/>
          </a:xfrm>
          <a:custGeom>
            <a:avLst/>
            <a:gdLst/>
            <a:ahLst/>
            <a:cxnLst/>
            <a:rect l="l" t="t" r="r" b="b"/>
            <a:pathLst>
              <a:path w="410845" h="777240">
                <a:moveTo>
                  <a:pt x="187320" y="322603"/>
                </a:moveTo>
                <a:cubicBezTo>
                  <a:pt x="187320" y="298376"/>
                  <a:pt x="203774" y="277974"/>
                  <a:pt x="224025" y="277974"/>
                </a:cubicBezTo>
                <a:cubicBezTo>
                  <a:pt x="243010" y="277974"/>
                  <a:pt x="259464" y="298376"/>
                  <a:pt x="259464" y="322603"/>
                </a:cubicBezTo>
                <a:cubicBezTo>
                  <a:pt x="259464" y="348105"/>
                  <a:pt x="243010" y="367232"/>
                  <a:pt x="224025" y="367232"/>
                </a:cubicBezTo>
                <a:cubicBezTo>
                  <a:pt x="203774" y="367232"/>
                  <a:pt x="187320" y="348105"/>
                  <a:pt x="187320" y="322603"/>
                </a:cubicBezTo>
                <a:moveTo>
                  <a:pt x="384766" y="306027"/>
                </a:moveTo>
                <a:cubicBezTo>
                  <a:pt x="380969" y="312402"/>
                  <a:pt x="374641" y="317503"/>
                  <a:pt x="368312" y="318778"/>
                </a:cubicBezTo>
                <a:cubicBezTo>
                  <a:pt x="364515" y="320053"/>
                  <a:pt x="360718" y="320053"/>
                  <a:pt x="356921" y="318778"/>
                </a:cubicBezTo>
                <a:cubicBezTo>
                  <a:pt x="356921" y="336629"/>
                  <a:pt x="356921" y="336629"/>
                  <a:pt x="356921" y="336629"/>
                </a:cubicBezTo>
                <a:cubicBezTo>
                  <a:pt x="356921" y="348105"/>
                  <a:pt x="356921" y="348105"/>
                  <a:pt x="356921" y="348105"/>
                </a:cubicBezTo>
                <a:cubicBezTo>
                  <a:pt x="356921" y="353206"/>
                  <a:pt x="356921" y="353206"/>
                  <a:pt x="356921" y="353206"/>
                </a:cubicBezTo>
                <a:cubicBezTo>
                  <a:pt x="356921" y="357031"/>
                  <a:pt x="356921" y="357031"/>
                  <a:pt x="356921" y="357031"/>
                </a:cubicBezTo>
                <a:cubicBezTo>
                  <a:pt x="356921" y="358306"/>
                  <a:pt x="356921" y="358306"/>
                  <a:pt x="356921" y="358306"/>
                </a:cubicBezTo>
                <a:cubicBezTo>
                  <a:pt x="356921" y="358306"/>
                  <a:pt x="356921" y="358306"/>
                  <a:pt x="356921" y="358306"/>
                </a:cubicBezTo>
                <a:cubicBezTo>
                  <a:pt x="356921" y="358306"/>
                  <a:pt x="356921" y="358306"/>
                  <a:pt x="356921" y="358306"/>
                </a:cubicBezTo>
                <a:cubicBezTo>
                  <a:pt x="356921" y="358306"/>
                  <a:pt x="356921" y="358306"/>
                  <a:pt x="356921" y="358306"/>
                </a:cubicBezTo>
                <a:cubicBezTo>
                  <a:pt x="359453" y="355756"/>
                  <a:pt x="361984" y="351931"/>
                  <a:pt x="342999" y="381258"/>
                </a:cubicBezTo>
                <a:cubicBezTo>
                  <a:pt x="342999" y="381258"/>
                  <a:pt x="342999" y="381258"/>
                  <a:pt x="342999" y="381258"/>
                </a:cubicBezTo>
                <a:cubicBezTo>
                  <a:pt x="342999" y="381258"/>
                  <a:pt x="342999" y="381258"/>
                  <a:pt x="342999" y="381258"/>
                </a:cubicBezTo>
                <a:cubicBezTo>
                  <a:pt x="280981" y="406760"/>
                  <a:pt x="280981" y="406760"/>
                  <a:pt x="280981" y="406760"/>
                </a:cubicBezTo>
                <a:cubicBezTo>
                  <a:pt x="283512" y="460315"/>
                  <a:pt x="284778" y="515145"/>
                  <a:pt x="286043" y="569975"/>
                </a:cubicBezTo>
                <a:cubicBezTo>
                  <a:pt x="286043" y="569975"/>
                  <a:pt x="286043" y="569975"/>
                  <a:pt x="286043" y="571250"/>
                </a:cubicBezTo>
                <a:cubicBezTo>
                  <a:pt x="283512" y="571250"/>
                  <a:pt x="282246" y="571250"/>
                  <a:pt x="280981" y="571250"/>
                </a:cubicBezTo>
                <a:cubicBezTo>
                  <a:pt x="280981" y="605678"/>
                  <a:pt x="282246" y="693661"/>
                  <a:pt x="280981" y="744665"/>
                </a:cubicBezTo>
                <a:cubicBezTo>
                  <a:pt x="231619" y="744665"/>
                  <a:pt x="231619" y="744665"/>
                  <a:pt x="231619" y="744665"/>
                </a:cubicBezTo>
                <a:cubicBezTo>
                  <a:pt x="226556" y="571250"/>
                  <a:pt x="226556" y="571250"/>
                  <a:pt x="226556" y="571250"/>
                </a:cubicBezTo>
                <a:cubicBezTo>
                  <a:pt x="224025" y="571250"/>
                  <a:pt x="222759" y="571250"/>
                  <a:pt x="221494" y="571250"/>
                </a:cubicBezTo>
                <a:cubicBezTo>
                  <a:pt x="221494" y="605678"/>
                  <a:pt x="222759" y="693661"/>
                  <a:pt x="220228" y="744665"/>
                </a:cubicBezTo>
                <a:cubicBezTo>
                  <a:pt x="172132" y="744665"/>
                  <a:pt x="172132" y="744665"/>
                  <a:pt x="172132" y="744665"/>
                </a:cubicBezTo>
                <a:cubicBezTo>
                  <a:pt x="165804" y="571250"/>
                  <a:pt x="165804" y="571250"/>
                  <a:pt x="165804" y="571250"/>
                </a:cubicBezTo>
                <a:cubicBezTo>
                  <a:pt x="164538" y="571250"/>
                  <a:pt x="163273" y="571250"/>
                  <a:pt x="162007" y="571250"/>
                </a:cubicBezTo>
                <a:cubicBezTo>
                  <a:pt x="162007" y="569975"/>
                  <a:pt x="162007" y="569975"/>
                  <a:pt x="162007" y="569975"/>
                </a:cubicBezTo>
                <a:cubicBezTo>
                  <a:pt x="162007" y="561049"/>
                  <a:pt x="162007" y="552123"/>
                  <a:pt x="162007" y="544473"/>
                </a:cubicBezTo>
                <a:cubicBezTo>
                  <a:pt x="153147" y="549573"/>
                  <a:pt x="144287" y="554673"/>
                  <a:pt x="134162" y="558499"/>
                </a:cubicBezTo>
                <a:cubicBezTo>
                  <a:pt x="115177" y="518970"/>
                  <a:pt x="115177" y="518970"/>
                  <a:pt x="115177" y="518970"/>
                </a:cubicBezTo>
                <a:cubicBezTo>
                  <a:pt x="105051" y="498569"/>
                  <a:pt x="105051" y="498569"/>
                  <a:pt x="105051" y="498569"/>
                </a:cubicBezTo>
                <a:cubicBezTo>
                  <a:pt x="99989" y="488368"/>
                  <a:pt x="99989" y="488368"/>
                  <a:pt x="99989" y="488368"/>
                </a:cubicBezTo>
                <a:cubicBezTo>
                  <a:pt x="97457" y="483267"/>
                  <a:pt x="97457" y="483267"/>
                  <a:pt x="97457" y="483267"/>
                </a:cubicBezTo>
                <a:cubicBezTo>
                  <a:pt x="96192" y="480717"/>
                  <a:pt x="96192" y="480717"/>
                  <a:pt x="96192" y="480717"/>
                </a:cubicBezTo>
                <a:cubicBezTo>
                  <a:pt x="94926" y="479442"/>
                  <a:pt x="94926" y="479442"/>
                  <a:pt x="94926" y="479442"/>
                </a:cubicBezTo>
                <a:cubicBezTo>
                  <a:pt x="94926" y="479442"/>
                  <a:pt x="94926" y="479442"/>
                  <a:pt x="94926" y="479442"/>
                </a:cubicBezTo>
                <a:cubicBezTo>
                  <a:pt x="94926" y="479442"/>
                  <a:pt x="94926" y="479442"/>
                  <a:pt x="94926" y="479442"/>
                </a:cubicBezTo>
                <a:cubicBezTo>
                  <a:pt x="94926" y="479442"/>
                  <a:pt x="94926" y="479442"/>
                  <a:pt x="94926" y="479442"/>
                </a:cubicBezTo>
                <a:cubicBezTo>
                  <a:pt x="96192" y="467966"/>
                  <a:pt x="91129" y="504944"/>
                  <a:pt x="97457" y="452664"/>
                </a:cubicBezTo>
                <a:cubicBezTo>
                  <a:pt x="97457" y="452664"/>
                  <a:pt x="97457" y="452664"/>
                  <a:pt x="97457" y="452664"/>
                </a:cubicBezTo>
                <a:cubicBezTo>
                  <a:pt x="97457" y="452664"/>
                  <a:pt x="97457" y="452664"/>
                  <a:pt x="97457" y="452664"/>
                </a:cubicBezTo>
                <a:cubicBezTo>
                  <a:pt x="158210" y="386359"/>
                  <a:pt x="158210" y="386359"/>
                  <a:pt x="158210" y="386359"/>
                </a:cubicBezTo>
                <a:cubicBezTo>
                  <a:pt x="163273" y="382533"/>
                  <a:pt x="168335" y="379983"/>
                  <a:pt x="173398" y="378708"/>
                </a:cubicBezTo>
                <a:cubicBezTo>
                  <a:pt x="174664" y="378708"/>
                  <a:pt x="174664" y="378708"/>
                  <a:pt x="175929" y="378708"/>
                </a:cubicBezTo>
                <a:cubicBezTo>
                  <a:pt x="180992" y="377433"/>
                  <a:pt x="187320" y="377433"/>
                  <a:pt x="193649" y="377433"/>
                </a:cubicBezTo>
                <a:cubicBezTo>
                  <a:pt x="193649" y="377433"/>
                  <a:pt x="193649" y="377433"/>
                  <a:pt x="193649" y="377433"/>
                </a:cubicBezTo>
                <a:cubicBezTo>
                  <a:pt x="178461" y="390184"/>
                  <a:pt x="178461" y="390184"/>
                  <a:pt x="178461" y="390184"/>
                </a:cubicBezTo>
                <a:cubicBezTo>
                  <a:pt x="196180" y="400385"/>
                  <a:pt x="196180" y="400385"/>
                  <a:pt x="196180" y="400385"/>
                </a:cubicBezTo>
                <a:cubicBezTo>
                  <a:pt x="187320" y="414411"/>
                  <a:pt x="187320" y="414411"/>
                  <a:pt x="187320" y="414411"/>
                </a:cubicBezTo>
                <a:cubicBezTo>
                  <a:pt x="211368" y="466691"/>
                  <a:pt x="211368" y="466691"/>
                  <a:pt x="211368" y="466691"/>
                </a:cubicBezTo>
                <a:cubicBezTo>
                  <a:pt x="215165" y="392734"/>
                  <a:pt x="215165" y="392734"/>
                  <a:pt x="215165" y="392734"/>
                </a:cubicBezTo>
                <a:cubicBezTo>
                  <a:pt x="211368" y="390184"/>
                  <a:pt x="211368" y="390184"/>
                  <a:pt x="211368" y="390184"/>
                </a:cubicBezTo>
                <a:cubicBezTo>
                  <a:pt x="216431" y="373608"/>
                  <a:pt x="216431" y="373608"/>
                  <a:pt x="216431" y="373608"/>
                </a:cubicBezTo>
                <a:cubicBezTo>
                  <a:pt x="230353" y="373608"/>
                  <a:pt x="230353" y="373608"/>
                  <a:pt x="230353" y="373608"/>
                </a:cubicBezTo>
                <a:cubicBezTo>
                  <a:pt x="235416" y="390184"/>
                  <a:pt x="235416" y="390184"/>
                  <a:pt x="235416" y="390184"/>
                </a:cubicBezTo>
                <a:cubicBezTo>
                  <a:pt x="231619" y="392734"/>
                  <a:pt x="231619" y="392734"/>
                  <a:pt x="231619" y="392734"/>
                </a:cubicBezTo>
                <a:cubicBezTo>
                  <a:pt x="235416" y="466691"/>
                  <a:pt x="235416" y="466691"/>
                  <a:pt x="235416" y="466691"/>
                </a:cubicBezTo>
                <a:cubicBezTo>
                  <a:pt x="259464" y="414411"/>
                  <a:pt x="259464" y="414411"/>
                  <a:pt x="259464" y="414411"/>
                </a:cubicBezTo>
                <a:cubicBezTo>
                  <a:pt x="250604" y="400385"/>
                  <a:pt x="250604" y="400385"/>
                  <a:pt x="250604" y="400385"/>
                </a:cubicBezTo>
                <a:cubicBezTo>
                  <a:pt x="269590" y="390184"/>
                  <a:pt x="269590" y="390184"/>
                  <a:pt x="269590" y="390184"/>
                </a:cubicBezTo>
                <a:cubicBezTo>
                  <a:pt x="250604" y="374883"/>
                  <a:pt x="250604" y="374883"/>
                  <a:pt x="250604" y="374883"/>
                </a:cubicBezTo>
                <a:cubicBezTo>
                  <a:pt x="310091" y="345555"/>
                  <a:pt x="310091" y="345555"/>
                  <a:pt x="310091" y="345555"/>
                </a:cubicBezTo>
                <a:cubicBezTo>
                  <a:pt x="310091" y="339180"/>
                  <a:pt x="310091" y="339180"/>
                  <a:pt x="310091" y="339180"/>
                </a:cubicBezTo>
                <a:cubicBezTo>
                  <a:pt x="307560" y="317503"/>
                  <a:pt x="307560" y="317503"/>
                  <a:pt x="307560" y="317503"/>
                </a:cubicBezTo>
                <a:cubicBezTo>
                  <a:pt x="306294" y="289450"/>
                  <a:pt x="306294" y="289450"/>
                  <a:pt x="306294" y="289450"/>
                </a:cubicBezTo>
                <a:cubicBezTo>
                  <a:pt x="269590" y="265223"/>
                  <a:pt x="269590" y="265223"/>
                  <a:pt x="269590" y="265223"/>
                </a:cubicBezTo>
                <a:cubicBezTo>
                  <a:pt x="260730" y="258848"/>
                  <a:pt x="255667" y="248647"/>
                  <a:pt x="256933" y="239721"/>
                </a:cubicBezTo>
                <a:cubicBezTo>
                  <a:pt x="243010" y="230795"/>
                  <a:pt x="243010" y="230795"/>
                  <a:pt x="243010" y="230795"/>
                </a:cubicBezTo>
                <a:cubicBezTo>
                  <a:pt x="226556" y="251197"/>
                  <a:pt x="202509" y="266498"/>
                  <a:pt x="174664" y="272874"/>
                </a:cubicBezTo>
                <a:cubicBezTo>
                  <a:pt x="105051" y="290725"/>
                  <a:pt x="34173" y="247372"/>
                  <a:pt x="16454" y="175965"/>
                </a:cubicBezTo>
                <a:cubicBezTo>
                  <a:pt x="0" y="105834"/>
                  <a:pt x="43033" y="34428"/>
                  <a:pt x="113911" y="16576"/>
                </a:cubicBezTo>
                <a:cubicBezTo>
                  <a:pt x="183523" y="0"/>
                  <a:pt x="254401" y="43354"/>
                  <a:pt x="270855" y="113485"/>
                </a:cubicBezTo>
                <a:cubicBezTo>
                  <a:pt x="279715" y="146638"/>
                  <a:pt x="274652" y="179791"/>
                  <a:pt x="259464" y="207843"/>
                </a:cubicBezTo>
                <a:cubicBezTo>
                  <a:pt x="272121" y="215494"/>
                  <a:pt x="272121" y="215494"/>
                  <a:pt x="272121" y="215494"/>
                </a:cubicBezTo>
                <a:cubicBezTo>
                  <a:pt x="273387" y="214219"/>
                  <a:pt x="275918" y="214219"/>
                  <a:pt x="278449" y="212944"/>
                </a:cubicBezTo>
                <a:cubicBezTo>
                  <a:pt x="286043" y="211668"/>
                  <a:pt x="293637" y="212944"/>
                  <a:pt x="299966" y="216769"/>
                </a:cubicBezTo>
                <a:cubicBezTo>
                  <a:pt x="377172" y="266498"/>
                  <a:pt x="377172" y="266498"/>
                  <a:pt x="377172" y="266498"/>
                </a:cubicBezTo>
                <a:cubicBezTo>
                  <a:pt x="389829" y="275424"/>
                  <a:pt x="393626" y="293276"/>
                  <a:pt x="384766" y="306027"/>
                </a:cubicBezTo>
                <a:moveTo>
                  <a:pt x="225291" y="124961"/>
                </a:moveTo>
                <a:cubicBezTo>
                  <a:pt x="215165" y="80332"/>
                  <a:pt x="169601" y="52280"/>
                  <a:pt x="124036" y="62480"/>
                </a:cubicBezTo>
                <a:cubicBezTo>
                  <a:pt x="79738" y="73956"/>
                  <a:pt x="51893" y="119860"/>
                  <a:pt x="63284" y="164489"/>
                </a:cubicBezTo>
                <a:cubicBezTo>
                  <a:pt x="73409" y="210393"/>
                  <a:pt x="118974" y="238446"/>
                  <a:pt x="164538" y="226970"/>
                </a:cubicBezTo>
                <a:cubicBezTo>
                  <a:pt x="208837" y="216769"/>
                  <a:pt x="236682" y="170865"/>
                  <a:pt x="225291" y="124961"/>
                </a:cubicBezTo>
                <a:moveTo>
                  <a:pt x="164538" y="443739"/>
                </a:moveTo>
                <a:cubicBezTo>
                  <a:pt x="143022" y="470516"/>
                  <a:pt x="143022" y="470516"/>
                  <a:pt x="143022" y="470516"/>
                </a:cubicBezTo>
                <a:cubicBezTo>
                  <a:pt x="145553" y="475617"/>
                  <a:pt x="145553" y="475617"/>
                  <a:pt x="145553" y="475617"/>
                </a:cubicBezTo>
                <a:cubicBezTo>
                  <a:pt x="156944" y="496018"/>
                  <a:pt x="156944" y="496018"/>
                  <a:pt x="156944" y="496018"/>
                </a:cubicBezTo>
                <a:cubicBezTo>
                  <a:pt x="163273" y="506219"/>
                  <a:pt x="163273" y="506219"/>
                  <a:pt x="163273" y="506219"/>
                </a:cubicBezTo>
                <a:cubicBezTo>
                  <a:pt x="163273" y="484542"/>
                  <a:pt x="163273" y="464141"/>
                  <a:pt x="164538" y="443739"/>
                </a:cubicBezTo>
                <a:close/>
                <a:close/>
                <a:close/>
                <a:close/>
              </a:path>
            </a:pathLst>
          </a:custGeom>
          <a:solidFill>
            <a:srgbClr val="1C1C1C"/>
          </a:solidFill>
        </p:spPr>
      </p:sp>
      <p:sp>
        <p:nvSpPr>
          <p:cNvPr id="26" name="Text 24"/>
          <p:cNvSpPr/>
          <p:nvPr/>
        </p:nvSpPr>
        <p:spPr>
          <a:xfrm>
            <a:off x="4653280" y="3611245"/>
            <a:ext cx="410845" cy="77724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a:off x="2683510" y="3627120"/>
            <a:ext cx="819785" cy="825500"/>
          </a:xfrm>
          <a:custGeom>
            <a:avLst/>
            <a:gdLst/>
            <a:ahLst/>
            <a:cxnLst/>
            <a:rect l="l" t="t" r="r" b="b"/>
            <a:pathLst>
              <a:path w="819785" h="825500">
                <a:moveTo>
                  <a:pt x="0" y="0"/>
                </a:moveTo>
                <a:cubicBezTo>
                  <a:pt x="422712" y="23343"/>
                  <a:pt x="762246" y="363870"/>
                  <a:pt x="785427" y="790902"/>
                </a:cubicBezTo>
                <a:cubicBezTo>
                  <a:pt x="642250" y="790902"/>
                  <a:pt x="642250" y="790902"/>
                  <a:pt x="642250" y="790902"/>
                </a:cubicBezTo>
                <a:cubicBezTo>
                  <a:pt x="620433" y="443509"/>
                  <a:pt x="344988" y="166144"/>
                  <a:pt x="0" y="144175"/>
                </a:cubicBezTo>
                <a:close/>
              </a:path>
            </a:pathLst>
          </a:custGeom>
          <a:solidFill>
            <a:srgbClr val="616161"/>
          </a:solidFill>
        </p:spPr>
      </p:sp>
      <p:sp>
        <p:nvSpPr>
          <p:cNvPr id="28" name="Text 26"/>
          <p:cNvSpPr/>
          <p:nvPr/>
        </p:nvSpPr>
        <p:spPr>
          <a:xfrm>
            <a:off x="2683510" y="3627120"/>
            <a:ext cx="819785" cy="82550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a:off x="1769745" y="3627120"/>
            <a:ext cx="1733550" cy="1746250"/>
          </a:xfrm>
          <a:custGeom>
            <a:avLst/>
            <a:gdLst/>
            <a:ahLst/>
            <a:cxnLst/>
            <a:rect l="l" t="t" r="r" b="b"/>
            <a:pathLst>
              <a:path w="1733550" h="1746250">
                <a:moveTo>
                  <a:pt x="1660895" y="880487"/>
                </a:moveTo>
                <a:cubicBezTo>
                  <a:pt x="1637713" y="1322791"/>
                  <a:pt x="1274989" y="1673063"/>
                  <a:pt x="830447" y="1673063"/>
                </a:cubicBezTo>
                <a:cubicBezTo>
                  <a:pt x="372270" y="1673063"/>
                  <a:pt x="0" y="1298066"/>
                  <a:pt x="0" y="836531"/>
                </a:cubicBezTo>
                <a:cubicBezTo>
                  <a:pt x="0" y="388733"/>
                  <a:pt x="347724" y="23351"/>
                  <a:pt x="785448" y="0"/>
                </a:cubicBezTo>
                <a:cubicBezTo>
                  <a:pt x="785448" y="144230"/>
                  <a:pt x="785448" y="144230"/>
                  <a:pt x="785448" y="144230"/>
                </a:cubicBezTo>
                <a:cubicBezTo>
                  <a:pt x="426815" y="167581"/>
                  <a:pt x="141817" y="468403"/>
                  <a:pt x="141817" y="836531"/>
                </a:cubicBezTo>
                <a:cubicBezTo>
                  <a:pt x="141817" y="1218396"/>
                  <a:pt x="449996" y="1530207"/>
                  <a:pt x="830447" y="1530207"/>
                </a:cubicBezTo>
                <a:cubicBezTo>
                  <a:pt x="1195899" y="1530207"/>
                  <a:pt x="1494533" y="1243121"/>
                  <a:pt x="1517714" y="880487"/>
                </a:cubicBezTo>
                <a:close/>
              </a:path>
            </a:pathLst>
          </a:custGeom>
          <a:solidFill>
            <a:srgbClr val="C9C9C9"/>
          </a:solidFill>
        </p:spPr>
      </p:sp>
      <p:sp>
        <p:nvSpPr>
          <p:cNvPr id="30" name="Text 28"/>
          <p:cNvSpPr/>
          <p:nvPr/>
        </p:nvSpPr>
        <p:spPr>
          <a:xfrm>
            <a:off x="1769745" y="3627120"/>
            <a:ext cx="1733550" cy="174625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a:off x="2286000" y="4158615"/>
            <a:ext cx="701675" cy="691515"/>
          </a:xfrm>
          <a:custGeom>
            <a:avLst/>
            <a:gdLst/>
            <a:ahLst/>
            <a:cxnLst/>
            <a:rect l="l" t="t" r="r" b="b"/>
            <a:pathLst>
              <a:path w="701675" h="691515">
                <a:moveTo>
                  <a:pt x="281061" y="47142"/>
                </a:moveTo>
                <a:cubicBezTo>
                  <a:pt x="286125" y="19112"/>
                  <a:pt x="308914" y="0"/>
                  <a:pt x="331702" y="5096"/>
                </a:cubicBezTo>
                <a:cubicBezTo>
                  <a:pt x="354491" y="8919"/>
                  <a:pt x="367151" y="35675"/>
                  <a:pt x="362087" y="63705"/>
                </a:cubicBezTo>
                <a:cubicBezTo>
                  <a:pt x="357023" y="91735"/>
                  <a:pt x="334234" y="110847"/>
                  <a:pt x="311446" y="105750"/>
                </a:cubicBezTo>
                <a:cubicBezTo>
                  <a:pt x="288657" y="101928"/>
                  <a:pt x="274731" y="75172"/>
                  <a:pt x="281061" y="47142"/>
                </a:cubicBezTo>
                <a:moveTo>
                  <a:pt x="164585" y="203856"/>
                </a:moveTo>
                <a:cubicBezTo>
                  <a:pt x="207630" y="172004"/>
                  <a:pt x="207630" y="172004"/>
                  <a:pt x="207630" y="172004"/>
                </a:cubicBezTo>
                <a:cubicBezTo>
                  <a:pt x="192438" y="216597"/>
                  <a:pt x="177246" y="259917"/>
                  <a:pt x="162053" y="304510"/>
                </a:cubicBezTo>
                <a:cubicBezTo>
                  <a:pt x="162053" y="304510"/>
                  <a:pt x="162053" y="304510"/>
                  <a:pt x="162053" y="305784"/>
                </a:cubicBezTo>
                <a:cubicBezTo>
                  <a:pt x="173447" y="309607"/>
                  <a:pt x="186108" y="313429"/>
                  <a:pt x="197502" y="317251"/>
                </a:cubicBezTo>
                <a:cubicBezTo>
                  <a:pt x="191172" y="347830"/>
                  <a:pt x="184842" y="380956"/>
                  <a:pt x="181044" y="400068"/>
                </a:cubicBezTo>
                <a:cubicBezTo>
                  <a:pt x="132934" y="508367"/>
                  <a:pt x="132934" y="508367"/>
                  <a:pt x="132934" y="508367"/>
                </a:cubicBezTo>
                <a:cubicBezTo>
                  <a:pt x="183576" y="532574"/>
                  <a:pt x="183576" y="532574"/>
                  <a:pt x="183576" y="532574"/>
                </a:cubicBezTo>
                <a:cubicBezTo>
                  <a:pt x="201300" y="493077"/>
                  <a:pt x="230419" y="453580"/>
                  <a:pt x="245612" y="391149"/>
                </a:cubicBezTo>
                <a:cubicBezTo>
                  <a:pt x="249410" y="373312"/>
                  <a:pt x="253208" y="356748"/>
                  <a:pt x="257006" y="342733"/>
                </a:cubicBezTo>
                <a:cubicBezTo>
                  <a:pt x="324106" y="346556"/>
                  <a:pt x="324106" y="346556"/>
                  <a:pt x="324106" y="346556"/>
                </a:cubicBezTo>
                <a:cubicBezTo>
                  <a:pt x="320308" y="361845"/>
                  <a:pt x="320308" y="361845"/>
                  <a:pt x="320308" y="361845"/>
                </a:cubicBezTo>
                <a:cubicBezTo>
                  <a:pt x="307648" y="416631"/>
                  <a:pt x="307648" y="416631"/>
                  <a:pt x="307648" y="416631"/>
                </a:cubicBezTo>
                <a:cubicBezTo>
                  <a:pt x="362087" y="431920"/>
                  <a:pt x="362087" y="431920"/>
                  <a:pt x="362087" y="431920"/>
                </a:cubicBezTo>
                <a:cubicBezTo>
                  <a:pt x="367151" y="412809"/>
                  <a:pt x="373482" y="389875"/>
                  <a:pt x="381078" y="365667"/>
                </a:cubicBezTo>
                <a:cubicBezTo>
                  <a:pt x="389940" y="328718"/>
                  <a:pt x="389940" y="328718"/>
                  <a:pt x="389940" y="328718"/>
                </a:cubicBezTo>
                <a:cubicBezTo>
                  <a:pt x="362087" y="286673"/>
                  <a:pt x="362087" y="286673"/>
                  <a:pt x="362087" y="286673"/>
                </a:cubicBezTo>
                <a:cubicBezTo>
                  <a:pt x="362087" y="286673"/>
                  <a:pt x="362087" y="286673"/>
                  <a:pt x="362087" y="286673"/>
                </a:cubicBezTo>
                <a:cubicBezTo>
                  <a:pt x="359555" y="286673"/>
                  <a:pt x="359555" y="286673"/>
                  <a:pt x="359555" y="286673"/>
                </a:cubicBezTo>
                <a:cubicBezTo>
                  <a:pt x="354491" y="286673"/>
                  <a:pt x="354491" y="286673"/>
                  <a:pt x="354491" y="286673"/>
                </a:cubicBezTo>
                <a:cubicBezTo>
                  <a:pt x="345629" y="285399"/>
                  <a:pt x="345629" y="285399"/>
                  <a:pt x="345629" y="285399"/>
                </a:cubicBezTo>
                <a:cubicBezTo>
                  <a:pt x="327904" y="284125"/>
                  <a:pt x="327904" y="284125"/>
                  <a:pt x="327904" y="284125"/>
                </a:cubicBezTo>
                <a:cubicBezTo>
                  <a:pt x="316510" y="282851"/>
                  <a:pt x="305116" y="282851"/>
                  <a:pt x="294987" y="281576"/>
                </a:cubicBezTo>
                <a:cubicBezTo>
                  <a:pt x="305116" y="249724"/>
                  <a:pt x="313978" y="217871"/>
                  <a:pt x="322840" y="186019"/>
                </a:cubicBezTo>
                <a:cubicBezTo>
                  <a:pt x="336767" y="206404"/>
                  <a:pt x="336767" y="206404"/>
                  <a:pt x="336767" y="206404"/>
                </a:cubicBezTo>
                <a:cubicBezTo>
                  <a:pt x="350693" y="226790"/>
                  <a:pt x="350693" y="226790"/>
                  <a:pt x="350693" y="226790"/>
                </a:cubicBezTo>
                <a:cubicBezTo>
                  <a:pt x="354491" y="233161"/>
                  <a:pt x="354491" y="233161"/>
                  <a:pt x="354491" y="233161"/>
                </a:cubicBezTo>
                <a:cubicBezTo>
                  <a:pt x="377280" y="247176"/>
                  <a:pt x="377280" y="247176"/>
                  <a:pt x="377280" y="247176"/>
                </a:cubicBezTo>
                <a:cubicBezTo>
                  <a:pt x="377280" y="247176"/>
                  <a:pt x="377280" y="247176"/>
                  <a:pt x="377280" y="247176"/>
                </a:cubicBezTo>
                <a:cubicBezTo>
                  <a:pt x="378546" y="247176"/>
                  <a:pt x="378546" y="247176"/>
                  <a:pt x="378546" y="247176"/>
                </a:cubicBezTo>
                <a:cubicBezTo>
                  <a:pt x="379812" y="247176"/>
                  <a:pt x="379812" y="247176"/>
                  <a:pt x="379812" y="247176"/>
                </a:cubicBezTo>
                <a:cubicBezTo>
                  <a:pt x="392472" y="247176"/>
                  <a:pt x="392472" y="247176"/>
                  <a:pt x="392472" y="247176"/>
                </a:cubicBezTo>
                <a:cubicBezTo>
                  <a:pt x="493755" y="248450"/>
                  <a:pt x="493755" y="248450"/>
                  <a:pt x="493755" y="248450"/>
                </a:cubicBezTo>
                <a:cubicBezTo>
                  <a:pt x="493755" y="229338"/>
                  <a:pt x="493755" y="208953"/>
                  <a:pt x="492489" y="189841"/>
                </a:cubicBezTo>
                <a:cubicBezTo>
                  <a:pt x="392472" y="193663"/>
                  <a:pt x="392472" y="193663"/>
                  <a:pt x="392472" y="193663"/>
                </a:cubicBezTo>
                <a:cubicBezTo>
                  <a:pt x="389940" y="193663"/>
                  <a:pt x="389940" y="193663"/>
                  <a:pt x="389940" y="193663"/>
                </a:cubicBezTo>
                <a:cubicBezTo>
                  <a:pt x="377280" y="177100"/>
                  <a:pt x="377280" y="177100"/>
                  <a:pt x="377280" y="177100"/>
                </a:cubicBezTo>
                <a:cubicBezTo>
                  <a:pt x="346895" y="136329"/>
                  <a:pt x="346895" y="136329"/>
                  <a:pt x="346895" y="136329"/>
                </a:cubicBezTo>
                <a:cubicBezTo>
                  <a:pt x="341831" y="129958"/>
                  <a:pt x="335500" y="128684"/>
                  <a:pt x="326638" y="126136"/>
                </a:cubicBezTo>
                <a:cubicBezTo>
                  <a:pt x="325372" y="124862"/>
                  <a:pt x="324106" y="124862"/>
                  <a:pt x="322840" y="124862"/>
                </a:cubicBezTo>
                <a:cubicBezTo>
                  <a:pt x="327904" y="142699"/>
                  <a:pt x="327904" y="142699"/>
                  <a:pt x="327904" y="142699"/>
                </a:cubicBezTo>
                <a:cubicBezTo>
                  <a:pt x="312712" y="149070"/>
                  <a:pt x="312712" y="149070"/>
                  <a:pt x="312712" y="149070"/>
                </a:cubicBezTo>
                <a:cubicBezTo>
                  <a:pt x="312712" y="168181"/>
                  <a:pt x="312712" y="168181"/>
                  <a:pt x="312712" y="168181"/>
                </a:cubicBezTo>
                <a:cubicBezTo>
                  <a:pt x="279795" y="220420"/>
                  <a:pt x="279795" y="220420"/>
                  <a:pt x="279795" y="220420"/>
                </a:cubicBezTo>
                <a:cubicBezTo>
                  <a:pt x="303849" y="138877"/>
                  <a:pt x="303849" y="138877"/>
                  <a:pt x="303849" y="138877"/>
                </a:cubicBezTo>
                <a:cubicBezTo>
                  <a:pt x="306382" y="136329"/>
                  <a:pt x="306382" y="136329"/>
                  <a:pt x="306382" y="136329"/>
                </a:cubicBezTo>
                <a:cubicBezTo>
                  <a:pt x="310180" y="117217"/>
                  <a:pt x="310180" y="117217"/>
                  <a:pt x="310180" y="117217"/>
                </a:cubicBezTo>
                <a:cubicBezTo>
                  <a:pt x="300051" y="113395"/>
                  <a:pt x="300051" y="113395"/>
                  <a:pt x="300051" y="113395"/>
                </a:cubicBezTo>
                <a:cubicBezTo>
                  <a:pt x="292455" y="131232"/>
                  <a:pt x="292455" y="131232"/>
                  <a:pt x="292455" y="131232"/>
                </a:cubicBezTo>
                <a:cubicBezTo>
                  <a:pt x="293721" y="135055"/>
                  <a:pt x="293721" y="135055"/>
                  <a:pt x="293721" y="135055"/>
                </a:cubicBezTo>
                <a:cubicBezTo>
                  <a:pt x="264602" y="215323"/>
                  <a:pt x="264602" y="215323"/>
                  <a:pt x="264602" y="215323"/>
                </a:cubicBezTo>
                <a:cubicBezTo>
                  <a:pt x="268400" y="152892"/>
                  <a:pt x="268400" y="152892"/>
                  <a:pt x="268400" y="152892"/>
                </a:cubicBezTo>
                <a:cubicBezTo>
                  <a:pt x="278529" y="138877"/>
                  <a:pt x="278529" y="138877"/>
                  <a:pt x="278529" y="138877"/>
                </a:cubicBezTo>
                <a:cubicBezTo>
                  <a:pt x="270932" y="124862"/>
                  <a:pt x="270932" y="124862"/>
                  <a:pt x="270932" y="124862"/>
                </a:cubicBezTo>
                <a:cubicBezTo>
                  <a:pt x="286125" y="109573"/>
                  <a:pt x="286125" y="109573"/>
                  <a:pt x="286125" y="109573"/>
                </a:cubicBezTo>
                <a:cubicBezTo>
                  <a:pt x="274731" y="107025"/>
                  <a:pt x="263336" y="103202"/>
                  <a:pt x="251942" y="100654"/>
                </a:cubicBezTo>
                <a:cubicBezTo>
                  <a:pt x="236749" y="98106"/>
                  <a:pt x="231685" y="95558"/>
                  <a:pt x="222823" y="101928"/>
                </a:cubicBezTo>
                <a:cubicBezTo>
                  <a:pt x="135466" y="160537"/>
                  <a:pt x="135466" y="160537"/>
                  <a:pt x="135466" y="160537"/>
                </a:cubicBezTo>
                <a:cubicBezTo>
                  <a:pt x="100017" y="210227"/>
                  <a:pt x="96219" y="228064"/>
                  <a:pt x="75962" y="262465"/>
                </a:cubicBezTo>
                <a:cubicBezTo>
                  <a:pt x="92421" y="272658"/>
                  <a:pt x="110145" y="280302"/>
                  <a:pt x="127870" y="289221"/>
                </a:cubicBezTo>
                <a:cubicBezTo>
                  <a:pt x="139264" y="262465"/>
                  <a:pt x="165851" y="215323"/>
                  <a:pt x="164585" y="203856"/>
                </a:cubicBezTo>
                <a:moveTo>
                  <a:pt x="11394" y="388601"/>
                </a:moveTo>
                <a:cubicBezTo>
                  <a:pt x="10128" y="387327"/>
                  <a:pt x="8862" y="386053"/>
                  <a:pt x="8862" y="383505"/>
                </a:cubicBezTo>
                <a:cubicBezTo>
                  <a:pt x="8862" y="383505"/>
                  <a:pt x="10128" y="383505"/>
                  <a:pt x="10128" y="382230"/>
                </a:cubicBezTo>
                <a:cubicBezTo>
                  <a:pt x="3798" y="379682"/>
                  <a:pt x="0" y="372038"/>
                  <a:pt x="2532" y="365667"/>
                </a:cubicBezTo>
                <a:cubicBezTo>
                  <a:pt x="21523" y="303236"/>
                  <a:pt x="21523" y="303236"/>
                  <a:pt x="21523" y="303236"/>
                </a:cubicBezTo>
                <a:cubicBezTo>
                  <a:pt x="24055" y="295592"/>
                  <a:pt x="31651" y="291769"/>
                  <a:pt x="39247" y="294317"/>
                </a:cubicBezTo>
                <a:cubicBezTo>
                  <a:pt x="56972" y="299414"/>
                  <a:pt x="56972" y="299414"/>
                  <a:pt x="56972" y="299414"/>
                </a:cubicBezTo>
                <a:cubicBezTo>
                  <a:pt x="58238" y="296866"/>
                  <a:pt x="58238" y="296866"/>
                  <a:pt x="58238" y="296866"/>
                </a:cubicBezTo>
                <a:cubicBezTo>
                  <a:pt x="60770" y="286673"/>
                  <a:pt x="72164" y="281576"/>
                  <a:pt x="82293" y="285399"/>
                </a:cubicBezTo>
                <a:cubicBezTo>
                  <a:pt x="107613" y="293043"/>
                  <a:pt x="107613" y="293043"/>
                  <a:pt x="107613" y="293043"/>
                </a:cubicBezTo>
                <a:cubicBezTo>
                  <a:pt x="117742" y="295592"/>
                  <a:pt x="122806" y="307058"/>
                  <a:pt x="119008" y="317251"/>
                </a:cubicBezTo>
                <a:cubicBezTo>
                  <a:pt x="119008" y="318525"/>
                  <a:pt x="119008" y="318525"/>
                  <a:pt x="119008" y="318525"/>
                </a:cubicBezTo>
                <a:cubicBezTo>
                  <a:pt x="136732" y="324896"/>
                  <a:pt x="136732" y="324896"/>
                  <a:pt x="136732" y="324896"/>
                </a:cubicBezTo>
                <a:cubicBezTo>
                  <a:pt x="144329" y="327444"/>
                  <a:pt x="148127" y="335089"/>
                  <a:pt x="145595" y="342733"/>
                </a:cubicBezTo>
                <a:cubicBezTo>
                  <a:pt x="126604" y="405164"/>
                  <a:pt x="126604" y="405164"/>
                  <a:pt x="126604" y="405164"/>
                </a:cubicBezTo>
                <a:cubicBezTo>
                  <a:pt x="124072" y="411535"/>
                  <a:pt x="117742" y="415357"/>
                  <a:pt x="110145" y="414083"/>
                </a:cubicBezTo>
                <a:cubicBezTo>
                  <a:pt x="110145" y="415357"/>
                  <a:pt x="110145" y="415357"/>
                  <a:pt x="110145" y="415357"/>
                </a:cubicBezTo>
                <a:cubicBezTo>
                  <a:pt x="110145" y="417905"/>
                  <a:pt x="107613" y="419179"/>
                  <a:pt x="105081" y="417905"/>
                </a:cubicBezTo>
                <a:cubicBezTo>
                  <a:pt x="98751" y="416631"/>
                  <a:pt x="98751" y="416631"/>
                  <a:pt x="98751" y="416631"/>
                </a:cubicBezTo>
                <a:cubicBezTo>
                  <a:pt x="97485" y="415357"/>
                  <a:pt x="96219" y="414083"/>
                  <a:pt x="96219" y="411535"/>
                </a:cubicBezTo>
                <a:cubicBezTo>
                  <a:pt x="97485" y="411535"/>
                  <a:pt x="97485" y="410261"/>
                  <a:pt x="97485" y="410261"/>
                </a:cubicBezTo>
                <a:cubicBezTo>
                  <a:pt x="22789" y="387327"/>
                  <a:pt x="22789" y="387327"/>
                  <a:pt x="22789" y="387327"/>
                </a:cubicBezTo>
                <a:cubicBezTo>
                  <a:pt x="22789" y="387327"/>
                  <a:pt x="22789" y="387327"/>
                  <a:pt x="22789" y="387327"/>
                </a:cubicBezTo>
                <a:cubicBezTo>
                  <a:pt x="21523" y="389875"/>
                  <a:pt x="20257" y="391149"/>
                  <a:pt x="17725" y="389875"/>
                </a:cubicBezTo>
                <a:lnTo>
                  <a:pt x="11394" y="388601"/>
                </a:lnTo>
                <a:moveTo>
                  <a:pt x="67100" y="301962"/>
                </a:moveTo>
                <a:cubicBezTo>
                  <a:pt x="108879" y="315977"/>
                  <a:pt x="108879" y="315977"/>
                  <a:pt x="108879" y="315977"/>
                </a:cubicBezTo>
                <a:cubicBezTo>
                  <a:pt x="110145" y="313429"/>
                  <a:pt x="110145" y="313429"/>
                  <a:pt x="110145" y="313429"/>
                </a:cubicBezTo>
                <a:cubicBezTo>
                  <a:pt x="111411" y="309607"/>
                  <a:pt x="108879" y="304510"/>
                  <a:pt x="103815" y="303236"/>
                </a:cubicBezTo>
                <a:cubicBezTo>
                  <a:pt x="78494" y="294317"/>
                  <a:pt x="78494" y="294317"/>
                  <a:pt x="78494" y="294317"/>
                </a:cubicBezTo>
                <a:cubicBezTo>
                  <a:pt x="74696" y="293043"/>
                  <a:pt x="69632" y="295592"/>
                  <a:pt x="68366" y="300688"/>
                </a:cubicBezTo>
                <a:lnTo>
                  <a:pt x="67100" y="301962"/>
                </a:lnTo>
                <a:moveTo>
                  <a:pt x="558323" y="301962"/>
                </a:moveTo>
                <a:cubicBezTo>
                  <a:pt x="582378" y="319799"/>
                  <a:pt x="582378" y="319799"/>
                  <a:pt x="582378" y="319799"/>
                </a:cubicBezTo>
                <a:cubicBezTo>
                  <a:pt x="434252" y="475240"/>
                  <a:pt x="434252" y="475240"/>
                  <a:pt x="434252" y="475240"/>
                </a:cubicBezTo>
                <a:cubicBezTo>
                  <a:pt x="303849" y="459951"/>
                  <a:pt x="303849" y="459951"/>
                  <a:pt x="303849" y="459951"/>
                </a:cubicBezTo>
                <a:cubicBezTo>
                  <a:pt x="203832" y="566975"/>
                  <a:pt x="203832" y="566975"/>
                  <a:pt x="203832" y="566975"/>
                </a:cubicBezTo>
                <a:cubicBezTo>
                  <a:pt x="96219" y="514737"/>
                  <a:pt x="96219" y="514737"/>
                  <a:pt x="96219" y="514737"/>
                </a:cubicBezTo>
                <a:cubicBezTo>
                  <a:pt x="10128" y="625584"/>
                  <a:pt x="10128" y="625584"/>
                  <a:pt x="10128" y="625584"/>
                </a:cubicBezTo>
                <a:cubicBezTo>
                  <a:pt x="58238" y="662533"/>
                  <a:pt x="58238" y="662533"/>
                  <a:pt x="58238" y="662533"/>
                </a:cubicBezTo>
                <a:cubicBezTo>
                  <a:pt x="113944" y="591183"/>
                  <a:pt x="113944" y="591183"/>
                  <a:pt x="113944" y="591183"/>
                </a:cubicBezTo>
                <a:cubicBezTo>
                  <a:pt x="216493" y="639599"/>
                  <a:pt x="216493" y="639599"/>
                  <a:pt x="216493" y="639599"/>
                </a:cubicBezTo>
                <a:cubicBezTo>
                  <a:pt x="326638" y="523656"/>
                  <a:pt x="326638" y="523656"/>
                  <a:pt x="326638" y="523656"/>
                </a:cubicBezTo>
                <a:cubicBezTo>
                  <a:pt x="458306" y="538945"/>
                  <a:pt x="458306" y="538945"/>
                  <a:pt x="458306" y="538945"/>
                </a:cubicBezTo>
                <a:cubicBezTo>
                  <a:pt x="631754" y="355474"/>
                  <a:pt x="631754" y="355474"/>
                  <a:pt x="631754" y="355474"/>
                </a:cubicBezTo>
                <a:cubicBezTo>
                  <a:pt x="662139" y="377134"/>
                  <a:pt x="662139" y="377134"/>
                  <a:pt x="662139" y="377134"/>
                </a:cubicBezTo>
                <a:cubicBezTo>
                  <a:pt x="672267" y="253546"/>
                  <a:pt x="672267" y="253546"/>
                  <a:pt x="672267" y="253546"/>
                </a:cubicBezTo>
                <a:lnTo>
                  <a:pt x="558323" y="301962"/>
                </a:lnTo>
                <a:close/>
                <a:close/>
                <a:close/>
                <a:close/>
                <a:close/>
              </a:path>
            </a:pathLst>
          </a:custGeom>
          <a:solidFill>
            <a:srgbClr val="1C1C1C"/>
          </a:solidFill>
        </p:spPr>
      </p:sp>
      <p:sp>
        <p:nvSpPr>
          <p:cNvPr id="32" name="Text 30"/>
          <p:cNvSpPr/>
          <p:nvPr/>
        </p:nvSpPr>
        <p:spPr>
          <a:xfrm>
            <a:off x="2286000" y="4158615"/>
            <a:ext cx="701675" cy="69151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3" name="Shape 31"/>
          <p:cNvSpPr/>
          <p:nvPr/>
        </p:nvSpPr>
        <p:spPr>
          <a:xfrm>
            <a:off x="6466840" y="2598420"/>
            <a:ext cx="818515" cy="824865"/>
          </a:xfrm>
          <a:custGeom>
            <a:avLst/>
            <a:gdLst/>
            <a:ahLst/>
            <a:cxnLst/>
            <a:rect l="l" t="t" r="r" b="b"/>
            <a:pathLst>
              <a:path w="818515" h="824865">
                <a:moveTo>
                  <a:pt x="0" y="790294"/>
                </a:moveTo>
                <a:cubicBezTo>
                  <a:pt x="21821" y="364222"/>
                  <a:pt x="361419" y="21991"/>
                  <a:pt x="784210" y="0"/>
                </a:cubicBezTo>
                <a:cubicBezTo>
                  <a:pt x="784210" y="142940"/>
                  <a:pt x="784210" y="142940"/>
                  <a:pt x="784210" y="142940"/>
                </a:cubicBezTo>
                <a:cubicBezTo>
                  <a:pt x="439158" y="164931"/>
                  <a:pt x="163661" y="443939"/>
                  <a:pt x="141840" y="790294"/>
                </a:cubicBezTo>
                <a:close/>
              </a:path>
            </a:pathLst>
          </a:custGeom>
          <a:solidFill>
            <a:srgbClr val="C9C9C9"/>
          </a:solidFill>
        </p:spPr>
      </p:sp>
      <p:sp>
        <p:nvSpPr>
          <p:cNvPr id="34" name="Text 32"/>
          <p:cNvSpPr/>
          <p:nvPr/>
        </p:nvSpPr>
        <p:spPr>
          <a:xfrm>
            <a:off x="6466840" y="2598420"/>
            <a:ext cx="818515" cy="82486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5" name="Shape 33"/>
          <p:cNvSpPr/>
          <p:nvPr/>
        </p:nvSpPr>
        <p:spPr>
          <a:xfrm>
            <a:off x="6466840" y="2598420"/>
            <a:ext cx="1732280" cy="1746250"/>
          </a:xfrm>
          <a:custGeom>
            <a:avLst/>
            <a:gdLst/>
            <a:ahLst/>
            <a:cxnLst/>
            <a:rect l="l" t="t" r="r" b="b"/>
            <a:pathLst>
              <a:path w="1732280" h="1746250">
                <a:moveTo>
                  <a:pt x="874161" y="0"/>
                </a:moveTo>
                <a:cubicBezTo>
                  <a:pt x="1311923" y="23351"/>
                  <a:pt x="1659678" y="388733"/>
                  <a:pt x="1659678" y="835158"/>
                </a:cubicBezTo>
                <a:cubicBezTo>
                  <a:pt x="1659678" y="1298066"/>
                  <a:pt x="1287376" y="1673063"/>
                  <a:pt x="829157" y="1673063"/>
                </a:cubicBezTo>
                <a:cubicBezTo>
                  <a:pt x="385940" y="1673063"/>
                  <a:pt x="23184" y="1321417"/>
                  <a:pt x="0" y="880487"/>
                </a:cubicBezTo>
                <a:cubicBezTo>
                  <a:pt x="141830" y="880487"/>
                  <a:pt x="141830" y="880487"/>
                  <a:pt x="141830" y="880487"/>
                </a:cubicBezTo>
                <a:cubicBezTo>
                  <a:pt x="165013" y="1243121"/>
                  <a:pt x="463673" y="1528833"/>
                  <a:pt x="829157" y="1528833"/>
                </a:cubicBezTo>
                <a:cubicBezTo>
                  <a:pt x="1209642" y="1528833"/>
                  <a:pt x="1517849" y="1218396"/>
                  <a:pt x="1517849" y="835158"/>
                </a:cubicBezTo>
                <a:cubicBezTo>
                  <a:pt x="1517849" y="467029"/>
                  <a:pt x="1232826" y="166207"/>
                  <a:pt x="874161" y="142856"/>
                </a:cubicBezTo>
                <a:close/>
              </a:path>
            </a:pathLst>
          </a:custGeom>
          <a:solidFill>
            <a:srgbClr val="616161"/>
          </a:solidFill>
        </p:spPr>
      </p:sp>
      <p:sp>
        <p:nvSpPr>
          <p:cNvPr id="36" name="Text 34"/>
          <p:cNvSpPr/>
          <p:nvPr/>
        </p:nvSpPr>
        <p:spPr>
          <a:xfrm>
            <a:off x="6466840" y="2598420"/>
            <a:ext cx="1732280" cy="174625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7" name="Shape 35"/>
          <p:cNvSpPr/>
          <p:nvPr/>
        </p:nvSpPr>
        <p:spPr>
          <a:xfrm>
            <a:off x="6985635" y="3097530"/>
            <a:ext cx="694690" cy="755650"/>
          </a:xfrm>
          <a:custGeom>
            <a:avLst/>
            <a:gdLst/>
            <a:ahLst/>
            <a:cxnLst/>
            <a:rect l="l" t="t" r="r" b="b"/>
            <a:pathLst>
              <a:path w="694690" h="755650">
                <a:moveTo>
                  <a:pt x="160700" y="441016"/>
                </a:moveTo>
                <a:cubicBezTo>
                  <a:pt x="144250" y="398954"/>
                  <a:pt x="156904" y="354342"/>
                  <a:pt x="191068" y="340322"/>
                </a:cubicBezTo>
                <a:cubicBezTo>
                  <a:pt x="223967" y="326301"/>
                  <a:pt x="264458" y="349244"/>
                  <a:pt x="282173" y="390031"/>
                </a:cubicBezTo>
                <a:cubicBezTo>
                  <a:pt x="298623" y="432094"/>
                  <a:pt x="285969" y="476705"/>
                  <a:pt x="251805" y="490726"/>
                </a:cubicBezTo>
                <a:cubicBezTo>
                  <a:pt x="218906" y="504747"/>
                  <a:pt x="178415" y="481803"/>
                  <a:pt x="160700" y="441016"/>
                </a:cubicBezTo>
                <a:moveTo>
                  <a:pt x="366952" y="676819"/>
                </a:moveTo>
                <a:cubicBezTo>
                  <a:pt x="385932" y="723980"/>
                  <a:pt x="385932" y="723980"/>
                  <a:pt x="385932" y="723980"/>
                </a:cubicBezTo>
                <a:cubicBezTo>
                  <a:pt x="327726" y="723980"/>
                  <a:pt x="327726" y="723980"/>
                  <a:pt x="327726" y="723980"/>
                </a:cubicBezTo>
                <a:cubicBezTo>
                  <a:pt x="294827" y="723980"/>
                  <a:pt x="294827" y="723980"/>
                  <a:pt x="294827" y="723980"/>
                </a:cubicBezTo>
                <a:cubicBezTo>
                  <a:pt x="142985" y="723980"/>
                  <a:pt x="142985" y="723980"/>
                  <a:pt x="142985" y="723980"/>
                </a:cubicBezTo>
                <a:cubicBezTo>
                  <a:pt x="140454" y="683192"/>
                  <a:pt x="137923" y="643679"/>
                  <a:pt x="136658" y="602892"/>
                </a:cubicBezTo>
                <a:cubicBezTo>
                  <a:pt x="113882" y="609265"/>
                  <a:pt x="113882" y="609265"/>
                  <a:pt x="113882" y="609265"/>
                </a:cubicBezTo>
                <a:cubicBezTo>
                  <a:pt x="78452" y="620736"/>
                  <a:pt x="78452" y="620736"/>
                  <a:pt x="78452" y="620736"/>
                </a:cubicBezTo>
                <a:cubicBezTo>
                  <a:pt x="60737" y="625835"/>
                  <a:pt x="60737" y="625835"/>
                  <a:pt x="60737" y="625835"/>
                </a:cubicBezTo>
                <a:cubicBezTo>
                  <a:pt x="60737" y="625835"/>
                  <a:pt x="60737" y="625835"/>
                  <a:pt x="60737" y="625835"/>
                </a:cubicBezTo>
                <a:cubicBezTo>
                  <a:pt x="60737" y="625835"/>
                  <a:pt x="60737" y="625835"/>
                  <a:pt x="60737" y="625835"/>
                </a:cubicBezTo>
                <a:cubicBezTo>
                  <a:pt x="105024" y="672995"/>
                  <a:pt x="0" y="562104"/>
                  <a:pt x="10123" y="573576"/>
                </a:cubicBezTo>
                <a:cubicBezTo>
                  <a:pt x="10123" y="573576"/>
                  <a:pt x="10123" y="573576"/>
                  <a:pt x="10123" y="573576"/>
                </a:cubicBezTo>
                <a:cubicBezTo>
                  <a:pt x="10123" y="573576"/>
                  <a:pt x="10123" y="573576"/>
                  <a:pt x="10123" y="573576"/>
                </a:cubicBezTo>
                <a:cubicBezTo>
                  <a:pt x="11388" y="572301"/>
                  <a:pt x="11388" y="572301"/>
                  <a:pt x="11388" y="572301"/>
                </a:cubicBezTo>
                <a:cubicBezTo>
                  <a:pt x="11388" y="569752"/>
                  <a:pt x="11388" y="569752"/>
                  <a:pt x="11388" y="569752"/>
                </a:cubicBezTo>
                <a:cubicBezTo>
                  <a:pt x="12654" y="564653"/>
                  <a:pt x="12654" y="564653"/>
                  <a:pt x="12654" y="564653"/>
                </a:cubicBezTo>
                <a:cubicBezTo>
                  <a:pt x="15184" y="555731"/>
                  <a:pt x="15184" y="555731"/>
                  <a:pt x="15184" y="555731"/>
                </a:cubicBezTo>
                <a:cubicBezTo>
                  <a:pt x="58206" y="412974"/>
                  <a:pt x="58206" y="412974"/>
                  <a:pt x="58206" y="412974"/>
                </a:cubicBezTo>
                <a:cubicBezTo>
                  <a:pt x="87309" y="421897"/>
                  <a:pt x="116412" y="430819"/>
                  <a:pt x="145515" y="442291"/>
                </a:cubicBezTo>
                <a:cubicBezTo>
                  <a:pt x="113882" y="527690"/>
                  <a:pt x="113882" y="527690"/>
                  <a:pt x="113882" y="527690"/>
                </a:cubicBezTo>
                <a:cubicBezTo>
                  <a:pt x="113882" y="527690"/>
                  <a:pt x="187272" y="508570"/>
                  <a:pt x="211314" y="509845"/>
                </a:cubicBezTo>
                <a:cubicBezTo>
                  <a:pt x="199925" y="537886"/>
                  <a:pt x="199925" y="537886"/>
                  <a:pt x="199925" y="537886"/>
                </a:cubicBezTo>
                <a:cubicBezTo>
                  <a:pt x="220171" y="553182"/>
                  <a:pt x="220171" y="553182"/>
                  <a:pt x="220171" y="553182"/>
                </a:cubicBezTo>
                <a:cubicBezTo>
                  <a:pt x="213844" y="581223"/>
                  <a:pt x="213844" y="581223"/>
                  <a:pt x="213844" y="581223"/>
                </a:cubicBezTo>
                <a:cubicBezTo>
                  <a:pt x="246743" y="676819"/>
                  <a:pt x="246743" y="676819"/>
                  <a:pt x="246743" y="676819"/>
                </a:cubicBezTo>
                <a:cubicBezTo>
                  <a:pt x="240417" y="542985"/>
                  <a:pt x="240417" y="542985"/>
                  <a:pt x="240417" y="542985"/>
                </a:cubicBezTo>
                <a:cubicBezTo>
                  <a:pt x="236621" y="537886"/>
                  <a:pt x="236621" y="537886"/>
                  <a:pt x="236621" y="537886"/>
                </a:cubicBezTo>
                <a:cubicBezTo>
                  <a:pt x="237886" y="508570"/>
                  <a:pt x="237886" y="508570"/>
                  <a:pt x="237886" y="508570"/>
                </a:cubicBezTo>
                <a:cubicBezTo>
                  <a:pt x="253070" y="507296"/>
                  <a:pt x="253070" y="507296"/>
                  <a:pt x="253070" y="507296"/>
                </a:cubicBezTo>
                <a:cubicBezTo>
                  <a:pt x="260662" y="536612"/>
                  <a:pt x="260662" y="536612"/>
                  <a:pt x="260662" y="536612"/>
                </a:cubicBezTo>
                <a:cubicBezTo>
                  <a:pt x="256866" y="541710"/>
                  <a:pt x="256866" y="541710"/>
                  <a:pt x="256866" y="541710"/>
                </a:cubicBezTo>
                <a:cubicBezTo>
                  <a:pt x="272051" y="671721"/>
                  <a:pt x="272051" y="671721"/>
                  <a:pt x="272051" y="671721"/>
                </a:cubicBezTo>
                <a:cubicBezTo>
                  <a:pt x="288500" y="574850"/>
                  <a:pt x="288500" y="574850"/>
                  <a:pt x="288500" y="574850"/>
                </a:cubicBezTo>
                <a:cubicBezTo>
                  <a:pt x="277112" y="548083"/>
                  <a:pt x="277112" y="548083"/>
                  <a:pt x="277112" y="548083"/>
                </a:cubicBezTo>
                <a:cubicBezTo>
                  <a:pt x="294827" y="528964"/>
                  <a:pt x="294827" y="528964"/>
                  <a:pt x="294827" y="528964"/>
                </a:cubicBezTo>
                <a:cubicBezTo>
                  <a:pt x="277112" y="507296"/>
                  <a:pt x="277112" y="507296"/>
                  <a:pt x="277112" y="507296"/>
                </a:cubicBezTo>
                <a:cubicBezTo>
                  <a:pt x="282173" y="507296"/>
                  <a:pt x="293561" y="508570"/>
                  <a:pt x="294827" y="509845"/>
                </a:cubicBezTo>
                <a:cubicBezTo>
                  <a:pt x="318869" y="511120"/>
                  <a:pt x="331522" y="520042"/>
                  <a:pt x="336583" y="539161"/>
                </a:cubicBezTo>
                <a:cubicBezTo>
                  <a:pt x="346706" y="583772"/>
                  <a:pt x="353033" y="644954"/>
                  <a:pt x="366952" y="676819"/>
                </a:cubicBezTo>
                <a:moveTo>
                  <a:pt x="263193" y="723980"/>
                </a:moveTo>
                <a:cubicBezTo>
                  <a:pt x="263193" y="723980"/>
                  <a:pt x="263193" y="723980"/>
                  <a:pt x="263193" y="723980"/>
                </a:cubicBezTo>
                <a:cubicBezTo>
                  <a:pt x="263193" y="723980"/>
                  <a:pt x="263193" y="723980"/>
                  <a:pt x="263193" y="723980"/>
                </a:cubicBezTo>
                <a:moveTo>
                  <a:pt x="263193" y="723980"/>
                </a:moveTo>
                <a:cubicBezTo>
                  <a:pt x="263193" y="723980"/>
                  <a:pt x="263193" y="723980"/>
                  <a:pt x="263193" y="723980"/>
                </a:cubicBezTo>
                <a:cubicBezTo>
                  <a:pt x="263193" y="723980"/>
                  <a:pt x="263193" y="723980"/>
                  <a:pt x="263193" y="723980"/>
                </a:cubicBezTo>
                <a:moveTo>
                  <a:pt x="454261" y="298259"/>
                </a:moveTo>
                <a:cubicBezTo>
                  <a:pt x="444138" y="290612"/>
                  <a:pt x="428954" y="285513"/>
                  <a:pt x="416301" y="282964"/>
                </a:cubicBezTo>
                <a:cubicBezTo>
                  <a:pt x="403647" y="279140"/>
                  <a:pt x="392259" y="274042"/>
                  <a:pt x="392259" y="260021"/>
                </a:cubicBezTo>
                <a:cubicBezTo>
                  <a:pt x="392259" y="246000"/>
                  <a:pt x="403647" y="238353"/>
                  <a:pt x="415035" y="238353"/>
                </a:cubicBezTo>
                <a:cubicBezTo>
                  <a:pt x="428954" y="238353"/>
                  <a:pt x="437812" y="247275"/>
                  <a:pt x="439077" y="260021"/>
                </a:cubicBezTo>
                <a:cubicBezTo>
                  <a:pt x="465649" y="260021"/>
                  <a:pt x="465649" y="260021"/>
                  <a:pt x="465649" y="260021"/>
                </a:cubicBezTo>
                <a:cubicBezTo>
                  <a:pt x="465649" y="211586"/>
                  <a:pt x="465649" y="211586"/>
                  <a:pt x="465649" y="211586"/>
                </a:cubicBezTo>
                <a:cubicBezTo>
                  <a:pt x="442873" y="211586"/>
                  <a:pt x="442873" y="211586"/>
                  <a:pt x="442873" y="211586"/>
                </a:cubicBezTo>
                <a:cubicBezTo>
                  <a:pt x="442873" y="223057"/>
                  <a:pt x="442873" y="223057"/>
                  <a:pt x="442873" y="223057"/>
                </a:cubicBezTo>
                <a:cubicBezTo>
                  <a:pt x="439077" y="217959"/>
                  <a:pt x="435281" y="214135"/>
                  <a:pt x="428954" y="212860"/>
                </a:cubicBezTo>
                <a:cubicBezTo>
                  <a:pt x="428954" y="184819"/>
                  <a:pt x="428954" y="184819"/>
                  <a:pt x="428954" y="184819"/>
                </a:cubicBezTo>
                <a:cubicBezTo>
                  <a:pt x="403647" y="184819"/>
                  <a:pt x="403647" y="184819"/>
                  <a:pt x="403647" y="184819"/>
                </a:cubicBezTo>
                <a:cubicBezTo>
                  <a:pt x="403647" y="210311"/>
                  <a:pt x="403647" y="210311"/>
                  <a:pt x="403647" y="210311"/>
                </a:cubicBezTo>
                <a:cubicBezTo>
                  <a:pt x="378340" y="214135"/>
                  <a:pt x="359360" y="235803"/>
                  <a:pt x="359360" y="260021"/>
                </a:cubicBezTo>
                <a:cubicBezTo>
                  <a:pt x="359360" y="275316"/>
                  <a:pt x="366952" y="290612"/>
                  <a:pt x="379605" y="299534"/>
                </a:cubicBezTo>
                <a:cubicBezTo>
                  <a:pt x="389728" y="307182"/>
                  <a:pt x="403647" y="311005"/>
                  <a:pt x="415035" y="314829"/>
                </a:cubicBezTo>
                <a:cubicBezTo>
                  <a:pt x="428954" y="318653"/>
                  <a:pt x="442873" y="323752"/>
                  <a:pt x="442873" y="340322"/>
                </a:cubicBezTo>
                <a:cubicBezTo>
                  <a:pt x="442873" y="355617"/>
                  <a:pt x="431485" y="364539"/>
                  <a:pt x="417566" y="364539"/>
                </a:cubicBezTo>
                <a:cubicBezTo>
                  <a:pt x="402382" y="364539"/>
                  <a:pt x="389728" y="351793"/>
                  <a:pt x="390994" y="336498"/>
                </a:cubicBezTo>
                <a:cubicBezTo>
                  <a:pt x="361890" y="336498"/>
                  <a:pt x="361890" y="336498"/>
                  <a:pt x="361890" y="336498"/>
                </a:cubicBezTo>
                <a:cubicBezTo>
                  <a:pt x="361890" y="388757"/>
                  <a:pt x="361890" y="388757"/>
                  <a:pt x="361890" y="388757"/>
                </a:cubicBezTo>
                <a:cubicBezTo>
                  <a:pt x="387197" y="388757"/>
                  <a:pt x="387197" y="388757"/>
                  <a:pt x="387197" y="388757"/>
                </a:cubicBezTo>
                <a:cubicBezTo>
                  <a:pt x="387197" y="378560"/>
                  <a:pt x="387197" y="378560"/>
                  <a:pt x="387197" y="378560"/>
                </a:cubicBezTo>
                <a:cubicBezTo>
                  <a:pt x="390994" y="384933"/>
                  <a:pt x="393524" y="386208"/>
                  <a:pt x="401116" y="388757"/>
                </a:cubicBezTo>
                <a:cubicBezTo>
                  <a:pt x="403647" y="388757"/>
                  <a:pt x="403647" y="388757"/>
                  <a:pt x="403647" y="388757"/>
                </a:cubicBezTo>
                <a:cubicBezTo>
                  <a:pt x="403647" y="418073"/>
                  <a:pt x="403647" y="418073"/>
                  <a:pt x="403647" y="418073"/>
                </a:cubicBezTo>
                <a:cubicBezTo>
                  <a:pt x="428954" y="418073"/>
                  <a:pt x="428954" y="418073"/>
                  <a:pt x="428954" y="418073"/>
                </a:cubicBezTo>
                <a:cubicBezTo>
                  <a:pt x="428954" y="392581"/>
                  <a:pt x="428954" y="392581"/>
                  <a:pt x="428954" y="392581"/>
                </a:cubicBezTo>
                <a:cubicBezTo>
                  <a:pt x="455526" y="388757"/>
                  <a:pt x="475772" y="367088"/>
                  <a:pt x="475772" y="339047"/>
                </a:cubicBezTo>
                <a:cubicBezTo>
                  <a:pt x="475772" y="322477"/>
                  <a:pt x="468180" y="307182"/>
                  <a:pt x="454261" y="298259"/>
                </a:cubicBezTo>
                <a:moveTo>
                  <a:pt x="549162" y="260021"/>
                </a:moveTo>
                <a:cubicBezTo>
                  <a:pt x="549162" y="265119"/>
                  <a:pt x="549162" y="268943"/>
                  <a:pt x="547897" y="274042"/>
                </a:cubicBezTo>
                <a:cubicBezTo>
                  <a:pt x="549162" y="275316"/>
                  <a:pt x="546632" y="328850"/>
                  <a:pt x="494752" y="396404"/>
                </a:cubicBezTo>
                <a:cubicBezTo>
                  <a:pt x="479568" y="416798"/>
                  <a:pt x="485895" y="456311"/>
                  <a:pt x="485895" y="456311"/>
                </a:cubicBezTo>
                <a:cubicBezTo>
                  <a:pt x="464384" y="456311"/>
                  <a:pt x="442873" y="456311"/>
                  <a:pt x="421362" y="456311"/>
                </a:cubicBezTo>
                <a:cubicBezTo>
                  <a:pt x="415035" y="456311"/>
                  <a:pt x="408708" y="456311"/>
                  <a:pt x="402382" y="456311"/>
                </a:cubicBezTo>
                <a:cubicBezTo>
                  <a:pt x="380871" y="456311"/>
                  <a:pt x="359360" y="456311"/>
                  <a:pt x="339114" y="456311"/>
                </a:cubicBezTo>
                <a:cubicBezTo>
                  <a:pt x="339114" y="456311"/>
                  <a:pt x="345441" y="416798"/>
                  <a:pt x="330257" y="396404"/>
                </a:cubicBezTo>
                <a:cubicBezTo>
                  <a:pt x="278377" y="328850"/>
                  <a:pt x="274581" y="275316"/>
                  <a:pt x="275847" y="274042"/>
                </a:cubicBezTo>
                <a:cubicBezTo>
                  <a:pt x="275847" y="268943"/>
                  <a:pt x="274581" y="265119"/>
                  <a:pt x="274581" y="260021"/>
                </a:cubicBezTo>
                <a:cubicBezTo>
                  <a:pt x="274581" y="183544"/>
                  <a:pt x="336583" y="122363"/>
                  <a:pt x="412504" y="122363"/>
                </a:cubicBezTo>
                <a:cubicBezTo>
                  <a:pt x="488426" y="122363"/>
                  <a:pt x="549162" y="183544"/>
                  <a:pt x="549162" y="260021"/>
                </a:cubicBezTo>
                <a:moveTo>
                  <a:pt x="526386" y="260021"/>
                </a:moveTo>
                <a:cubicBezTo>
                  <a:pt x="526386" y="197565"/>
                  <a:pt x="474507" y="145306"/>
                  <a:pt x="412504" y="145306"/>
                </a:cubicBezTo>
                <a:cubicBezTo>
                  <a:pt x="349237" y="145306"/>
                  <a:pt x="298623" y="197565"/>
                  <a:pt x="298623" y="260021"/>
                </a:cubicBezTo>
                <a:cubicBezTo>
                  <a:pt x="298623" y="262570"/>
                  <a:pt x="298623" y="263845"/>
                  <a:pt x="298623" y="266394"/>
                </a:cubicBezTo>
                <a:cubicBezTo>
                  <a:pt x="301154" y="281689"/>
                  <a:pt x="301154" y="281689"/>
                  <a:pt x="301154" y="281689"/>
                </a:cubicBezTo>
                <a:cubicBezTo>
                  <a:pt x="299888" y="281689"/>
                  <a:pt x="299888" y="281689"/>
                  <a:pt x="299888" y="281689"/>
                </a:cubicBezTo>
                <a:cubicBezTo>
                  <a:pt x="302419" y="296985"/>
                  <a:pt x="312542" y="335223"/>
                  <a:pt x="349237" y="381109"/>
                </a:cubicBezTo>
                <a:cubicBezTo>
                  <a:pt x="359360" y="396404"/>
                  <a:pt x="363156" y="415524"/>
                  <a:pt x="363156" y="433368"/>
                </a:cubicBezTo>
                <a:cubicBezTo>
                  <a:pt x="460588" y="433368"/>
                  <a:pt x="460588" y="433368"/>
                  <a:pt x="460588" y="433368"/>
                </a:cubicBezTo>
                <a:cubicBezTo>
                  <a:pt x="460588" y="415524"/>
                  <a:pt x="464384" y="396404"/>
                  <a:pt x="475772" y="381109"/>
                </a:cubicBezTo>
                <a:cubicBezTo>
                  <a:pt x="511202" y="335223"/>
                  <a:pt x="521325" y="296985"/>
                  <a:pt x="523855" y="281689"/>
                </a:cubicBezTo>
                <a:cubicBezTo>
                  <a:pt x="523855" y="281689"/>
                  <a:pt x="523855" y="281689"/>
                  <a:pt x="523855" y="281689"/>
                </a:cubicBezTo>
                <a:cubicBezTo>
                  <a:pt x="525121" y="266394"/>
                  <a:pt x="525121" y="266394"/>
                  <a:pt x="525121" y="266394"/>
                </a:cubicBezTo>
                <a:cubicBezTo>
                  <a:pt x="525121" y="263845"/>
                  <a:pt x="526386" y="262570"/>
                  <a:pt x="526386" y="260021"/>
                </a:cubicBezTo>
                <a:moveTo>
                  <a:pt x="339114" y="480529"/>
                </a:moveTo>
                <a:cubicBezTo>
                  <a:pt x="345441" y="480529"/>
                  <a:pt x="345441" y="480529"/>
                  <a:pt x="345441" y="480529"/>
                </a:cubicBezTo>
                <a:cubicBezTo>
                  <a:pt x="345441" y="490726"/>
                  <a:pt x="345441" y="490726"/>
                  <a:pt x="345441" y="490726"/>
                </a:cubicBezTo>
                <a:cubicBezTo>
                  <a:pt x="339114" y="490726"/>
                  <a:pt x="339114" y="490726"/>
                  <a:pt x="339114" y="490726"/>
                </a:cubicBezTo>
                <a:cubicBezTo>
                  <a:pt x="339114" y="502197"/>
                  <a:pt x="339114" y="502197"/>
                  <a:pt x="339114" y="502197"/>
                </a:cubicBezTo>
                <a:cubicBezTo>
                  <a:pt x="345441" y="502197"/>
                  <a:pt x="345441" y="502197"/>
                  <a:pt x="345441" y="502197"/>
                </a:cubicBezTo>
                <a:cubicBezTo>
                  <a:pt x="345441" y="512394"/>
                  <a:pt x="345441" y="512394"/>
                  <a:pt x="345441" y="512394"/>
                </a:cubicBezTo>
                <a:cubicBezTo>
                  <a:pt x="340379" y="512394"/>
                  <a:pt x="340379" y="512394"/>
                  <a:pt x="340379" y="512394"/>
                </a:cubicBezTo>
                <a:cubicBezTo>
                  <a:pt x="340379" y="526415"/>
                  <a:pt x="354298" y="537886"/>
                  <a:pt x="370748" y="539161"/>
                </a:cubicBezTo>
                <a:cubicBezTo>
                  <a:pt x="374544" y="545534"/>
                  <a:pt x="380871" y="550633"/>
                  <a:pt x="389728" y="550633"/>
                </a:cubicBezTo>
                <a:cubicBezTo>
                  <a:pt x="435281" y="550633"/>
                  <a:pt x="435281" y="550633"/>
                  <a:pt x="435281" y="550633"/>
                </a:cubicBezTo>
                <a:cubicBezTo>
                  <a:pt x="442873" y="550633"/>
                  <a:pt x="450465" y="545534"/>
                  <a:pt x="452996" y="539161"/>
                </a:cubicBezTo>
                <a:cubicBezTo>
                  <a:pt x="469445" y="537886"/>
                  <a:pt x="483364" y="526415"/>
                  <a:pt x="484630" y="512394"/>
                </a:cubicBezTo>
                <a:cubicBezTo>
                  <a:pt x="479568" y="512394"/>
                  <a:pt x="479568" y="512394"/>
                  <a:pt x="479568" y="512394"/>
                </a:cubicBezTo>
                <a:cubicBezTo>
                  <a:pt x="479568" y="502197"/>
                  <a:pt x="479568" y="502197"/>
                  <a:pt x="479568" y="502197"/>
                </a:cubicBezTo>
                <a:cubicBezTo>
                  <a:pt x="484630" y="502197"/>
                  <a:pt x="484630" y="502197"/>
                  <a:pt x="484630" y="502197"/>
                </a:cubicBezTo>
                <a:cubicBezTo>
                  <a:pt x="484630" y="490726"/>
                  <a:pt x="484630" y="490726"/>
                  <a:pt x="484630" y="490726"/>
                </a:cubicBezTo>
                <a:cubicBezTo>
                  <a:pt x="479568" y="490726"/>
                  <a:pt x="479568" y="490726"/>
                  <a:pt x="479568" y="490726"/>
                </a:cubicBezTo>
                <a:cubicBezTo>
                  <a:pt x="479568" y="480529"/>
                  <a:pt x="479568" y="480529"/>
                  <a:pt x="479568" y="480529"/>
                </a:cubicBezTo>
                <a:cubicBezTo>
                  <a:pt x="484630" y="480529"/>
                  <a:pt x="484630" y="480529"/>
                  <a:pt x="484630" y="480529"/>
                </a:cubicBezTo>
                <a:cubicBezTo>
                  <a:pt x="484630" y="469057"/>
                  <a:pt x="484630" y="469057"/>
                  <a:pt x="484630" y="469057"/>
                </a:cubicBezTo>
                <a:cubicBezTo>
                  <a:pt x="339114" y="469057"/>
                  <a:pt x="339114" y="469057"/>
                  <a:pt x="339114" y="469057"/>
                </a:cubicBezTo>
                <a:lnTo>
                  <a:pt x="339114" y="480529"/>
                </a:lnTo>
                <a:moveTo>
                  <a:pt x="420097" y="76477"/>
                </a:moveTo>
                <a:cubicBezTo>
                  <a:pt x="427689" y="76477"/>
                  <a:pt x="434015" y="70104"/>
                  <a:pt x="434015" y="62456"/>
                </a:cubicBezTo>
                <a:cubicBezTo>
                  <a:pt x="434015" y="15295"/>
                  <a:pt x="434015" y="15295"/>
                  <a:pt x="434015" y="15295"/>
                </a:cubicBezTo>
                <a:cubicBezTo>
                  <a:pt x="434015" y="6373"/>
                  <a:pt x="427689" y="0"/>
                  <a:pt x="420097" y="0"/>
                </a:cubicBezTo>
                <a:cubicBezTo>
                  <a:pt x="411239" y="0"/>
                  <a:pt x="404912" y="6373"/>
                  <a:pt x="404912" y="15295"/>
                </a:cubicBezTo>
                <a:cubicBezTo>
                  <a:pt x="404912" y="62456"/>
                  <a:pt x="404912" y="62456"/>
                  <a:pt x="404912" y="62456"/>
                </a:cubicBezTo>
                <a:cubicBezTo>
                  <a:pt x="404912" y="70104"/>
                  <a:pt x="411239" y="76477"/>
                  <a:pt x="420097" y="76477"/>
                </a:cubicBezTo>
                <a:moveTo>
                  <a:pt x="310011" y="91772"/>
                </a:moveTo>
                <a:cubicBezTo>
                  <a:pt x="312542" y="95596"/>
                  <a:pt x="317603" y="99420"/>
                  <a:pt x="322665" y="99420"/>
                </a:cubicBezTo>
                <a:cubicBezTo>
                  <a:pt x="325195" y="99420"/>
                  <a:pt x="327726" y="98145"/>
                  <a:pt x="328991" y="96871"/>
                </a:cubicBezTo>
                <a:cubicBezTo>
                  <a:pt x="336583" y="93047"/>
                  <a:pt x="339114" y="84124"/>
                  <a:pt x="335318" y="76477"/>
                </a:cubicBezTo>
                <a:cubicBezTo>
                  <a:pt x="311276" y="35689"/>
                  <a:pt x="311276" y="35689"/>
                  <a:pt x="311276" y="35689"/>
                </a:cubicBezTo>
                <a:cubicBezTo>
                  <a:pt x="307480" y="29316"/>
                  <a:pt x="298623" y="26767"/>
                  <a:pt x="291031" y="30591"/>
                </a:cubicBezTo>
                <a:cubicBezTo>
                  <a:pt x="284704" y="34415"/>
                  <a:pt x="282173" y="43337"/>
                  <a:pt x="285969" y="50984"/>
                </a:cubicBezTo>
                <a:lnTo>
                  <a:pt x="310011" y="91772"/>
                </a:lnTo>
                <a:moveTo>
                  <a:pt x="201191" y="141482"/>
                </a:moveTo>
                <a:cubicBezTo>
                  <a:pt x="241682" y="165700"/>
                  <a:pt x="241682" y="165700"/>
                  <a:pt x="241682" y="165700"/>
                </a:cubicBezTo>
                <a:cubicBezTo>
                  <a:pt x="244213" y="166974"/>
                  <a:pt x="246743" y="166974"/>
                  <a:pt x="249274" y="166974"/>
                </a:cubicBezTo>
                <a:cubicBezTo>
                  <a:pt x="254336" y="166974"/>
                  <a:pt x="259397" y="164425"/>
                  <a:pt x="261928" y="159327"/>
                </a:cubicBezTo>
                <a:cubicBezTo>
                  <a:pt x="265724" y="152953"/>
                  <a:pt x="263193" y="144031"/>
                  <a:pt x="256866" y="140207"/>
                </a:cubicBezTo>
                <a:cubicBezTo>
                  <a:pt x="216375" y="115990"/>
                  <a:pt x="216375" y="115990"/>
                  <a:pt x="216375" y="115990"/>
                </a:cubicBezTo>
                <a:cubicBezTo>
                  <a:pt x="208783" y="112166"/>
                  <a:pt x="199925" y="114715"/>
                  <a:pt x="196129" y="121088"/>
                </a:cubicBezTo>
                <a:cubicBezTo>
                  <a:pt x="192333" y="128736"/>
                  <a:pt x="194864" y="137658"/>
                  <a:pt x="201191" y="141482"/>
                </a:cubicBezTo>
                <a:moveTo>
                  <a:pt x="173353" y="262570"/>
                </a:moveTo>
                <a:cubicBezTo>
                  <a:pt x="220171" y="262570"/>
                  <a:pt x="220171" y="262570"/>
                  <a:pt x="220171" y="262570"/>
                </a:cubicBezTo>
                <a:cubicBezTo>
                  <a:pt x="227763" y="262570"/>
                  <a:pt x="234090" y="256197"/>
                  <a:pt x="234090" y="248549"/>
                </a:cubicBezTo>
                <a:cubicBezTo>
                  <a:pt x="234090" y="239627"/>
                  <a:pt x="227763" y="233254"/>
                  <a:pt x="220171" y="233254"/>
                </a:cubicBezTo>
                <a:cubicBezTo>
                  <a:pt x="173353" y="233254"/>
                  <a:pt x="173353" y="233254"/>
                  <a:pt x="173353" y="233254"/>
                </a:cubicBezTo>
                <a:cubicBezTo>
                  <a:pt x="164496" y="233254"/>
                  <a:pt x="158169" y="239627"/>
                  <a:pt x="158169" y="248549"/>
                </a:cubicBezTo>
                <a:cubicBezTo>
                  <a:pt x="158169" y="256197"/>
                  <a:pt x="164496" y="262570"/>
                  <a:pt x="173353" y="262570"/>
                </a:cubicBezTo>
                <a:moveTo>
                  <a:pt x="622553" y="369638"/>
                </a:moveTo>
                <a:cubicBezTo>
                  <a:pt x="582062" y="346695"/>
                  <a:pt x="582062" y="346695"/>
                  <a:pt x="582062" y="346695"/>
                </a:cubicBezTo>
                <a:cubicBezTo>
                  <a:pt x="575735" y="342871"/>
                  <a:pt x="566877" y="345420"/>
                  <a:pt x="561816" y="351793"/>
                </a:cubicBezTo>
                <a:cubicBezTo>
                  <a:pt x="558020" y="359441"/>
                  <a:pt x="560551" y="368363"/>
                  <a:pt x="568143" y="372187"/>
                </a:cubicBezTo>
                <a:cubicBezTo>
                  <a:pt x="608634" y="395130"/>
                  <a:pt x="608634" y="395130"/>
                  <a:pt x="608634" y="395130"/>
                </a:cubicBezTo>
                <a:cubicBezTo>
                  <a:pt x="611165" y="396404"/>
                  <a:pt x="613695" y="397679"/>
                  <a:pt x="614961" y="397679"/>
                </a:cubicBezTo>
                <a:cubicBezTo>
                  <a:pt x="620022" y="397679"/>
                  <a:pt x="625084" y="395130"/>
                  <a:pt x="627614" y="390031"/>
                </a:cubicBezTo>
                <a:cubicBezTo>
                  <a:pt x="632676" y="383658"/>
                  <a:pt x="630145" y="374736"/>
                  <a:pt x="622553" y="369638"/>
                </a:cubicBezTo>
                <a:moveTo>
                  <a:pt x="651656" y="248549"/>
                </a:moveTo>
                <a:cubicBezTo>
                  <a:pt x="604838" y="248549"/>
                  <a:pt x="604838" y="248549"/>
                  <a:pt x="604838" y="248549"/>
                </a:cubicBezTo>
                <a:cubicBezTo>
                  <a:pt x="595980" y="248549"/>
                  <a:pt x="589654" y="254922"/>
                  <a:pt x="589654" y="263845"/>
                </a:cubicBezTo>
                <a:cubicBezTo>
                  <a:pt x="589654" y="271492"/>
                  <a:pt x="595980" y="277866"/>
                  <a:pt x="604838" y="277866"/>
                </a:cubicBezTo>
                <a:cubicBezTo>
                  <a:pt x="651656" y="277866"/>
                  <a:pt x="651656" y="277866"/>
                  <a:pt x="651656" y="277866"/>
                </a:cubicBezTo>
                <a:cubicBezTo>
                  <a:pt x="659248" y="277866"/>
                  <a:pt x="665575" y="271492"/>
                  <a:pt x="665575" y="263845"/>
                </a:cubicBezTo>
                <a:cubicBezTo>
                  <a:pt x="665575" y="254922"/>
                  <a:pt x="659248" y="248549"/>
                  <a:pt x="651656" y="248549"/>
                </a:cubicBezTo>
                <a:moveTo>
                  <a:pt x="582062" y="179720"/>
                </a:moveTo>
                <a:cubicBezTo>
                  <a:pt x="584592" y="179720"/>
                  <a:pt x="587123" y="179720"/>
                  <a:pt x="589654" y="178446"/>
                </a:cubicBezTo>
                <a:cubicBezTo>
                  <a:pt x="630145" y="154228"/>
                  <a:pt x="630145" y="154228"/>
                  <a:pt x="630145" y="154228"/>
                </a:cubicBezTo>
                <a:cubicBezTo>
                  <a:pt x="637737" y="150404"/>
                  <a:pt x="640268" y="141482"/>
                  <a:pt x="635206" y="133834"/>
                </a:cubicBezTo>
                <a:cubicBezTo>
                  <a:pt x="631410" y="127461"/>
                  <a:pt x="622553" y="124912"/>
                  <a:pt x="616226" y="128736"/>
                </a:cubicBezTo>
                <a:cubicBezTo>
                  <a:pt x="575735" y="152953"/>
                  <a:pt x="575735" y="152953"/>
                  <a:pt x="575735" y="152953"/>
                </a:cubicBezTo>
                <a:cubicBezTo>
                  <a:pt x="568143" y="156777"/>
                  <a:pt x="565612" y="165700"/>
                  <a:pt x="569408" y="173347"/>
                </a:cubicBezTo>
                <a:cubicBezTo>
                  <a:pt x="571939" y="177171"/>
                  <a:pt x="577000" y="179720"/>
                  <a:pt x="582062" y="179720"/>
                </a:cubicBezTo>
                <a:moveTo>
                  <a:pt x="545366" y="38238"/>
                </a:moveTo>
                <a:cubicBezTo>
                  <a:pt x="539040" y="34415"/>
                  <a:pt x="530182" y="36964"/>
                  <a:pt x="525121" y="43337"/>
                </a:cubicBezTo>
                <a:cubicBezTo>
                  <a:pt x="502344" y="84124"/>
                  <a:pt x="502344" y="84124"/>
                  <a:pt x="502344" y="84124"/>
                </a:cubicBezTo>
                <a:cubicBezTo>
                  <a:pt x="498548" y="91772"/>
                  <a:pt x="501079" y="100694"/>
                  <a:pt x="507406" y="104518"/>
                </a:cubicBezTo>
                <a:cubicBezTo>
                  <a:pt x="509937" y="105793"/>
                  <a:pt x="512467" y="105793"/>
                  <a:pt x="514998" y="105793"/>
                </a:cubicBezTo>
                <a:cubicBezTo>
                  <a:pt x="520059" y="105793"/>
                  <a:pt x="525121" y="103244"/>
                  <a:pt x="527651" y="99420"/>
                </a:cubicBezTo>
                <a:cubicBezTo>
                  <a:pt x="550428" y="58632"/>
                  <a:pt x="550428" y="58632"/>
                  <a:pt x="550428" y="58632"/>
                </a:cubicBezTo>
                <a:cubicBezTo>
                  <a:pt x="554224" y="50984"/>
                  <a:pt x="552958" y="42062"/>
                  <a:pt x="545366" y="38238"/>
                </a:cubicBezTo>
                <a:close/>
                <a:close/>
                <a:close/>
                <a:close/>
                <a:close/>
                <a:close/>
                <a:close/>
                <a:close/>
                <a:close/>
                <a:close/>
                <a:close/>
                <a:close/>
                <a:close/>
                <a:close/>
                <a:close/>
                <a:close/>
              </a:path>
            </a:pathLst>
          </a:custGeom>
          <a:solidFill>
            <a:srgbClr val="1C1C1C"/>
          </a:solidFill>
        </p:spPr>
      </p:sp>
      <p:sp>
        <p:nvSpPr>
          <p:cNvPr id="38" name="Text 36"/>
          <p:cNvSpPr/>
          <p:nvPr/>
        </p:nvSpPr>
        <p:spPr>
          <a:xfrm>
            <a:off x="6985635" y="3097530"/>
            <a:ext cx="694690" cy="755650"/>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9" name="Shape 37"/>
          <p:cNvSpPr/>
          <p:nvPr/>
        </p:nvSpPr>
        <p:spPr>
          <a:xfrm>
            <a:off x="1517015" y="4828540"/>
            <a:ext cx="9619615" cy="1633855"/>
          </a:xfrm>
          <a:custGeom>
            <a:avLst/>
            <a:gdLst/>
            <a:ahLst/>
            <a:cxnLst/>
            <a:rect l="l" t="t" r="r" b="b"/>
            <a:pathLst>
              <a:path w="9619615" h="1633855">
                <a:moveTo>
                  <a:pt x="0" y="1352537"/>
                </a:moveTo>
                <a:lnTo>
                  <a:pt x="2038383" y="1352537"/>
                </a:lnTo>
                <a:lnTo>
                  <a:pt x="2038383" y="1114533"/>
                </a:lnTo>
                <a:lnTo>
                  <a:pt x="2038383" y="901691"/>
                </a:lnTo>
                <a:lnTo>
                  <a:pt x="2251799" y="901691"/>
                </a:lnTo>
                <a:lnTo>
                  <a:pt x="4322454" y="901691"/>
                </a:lnTo>
                <a:lnTo>
                  <a:pt x="4322454" y="665784"/>
                </a:lnTo>
                <a:lnTo>
                  <a:pt x="4322454" y="450846"/>
                </a:lnTo>
                <a:lnTo>
                  <a:pt x="4536911" y="450846"/>
                </a:lnTo>
                <a:lnTo>
                  <a:pt x="6720000" y="450846"/>
                </a:lnTo>
                <a:lnTo>
                  <a:pt x="6720000" y="214938"/>
                </a:lnTo>
                <a:lnTo>
                  <a:pt x="6720000" y="0"/>
                </a:lnTo>
                <a:lnTo>
                  <a:pt x="6932375" y="0"/>
                </a:lnTo>
                <a:lnTo>
                  <a:pt x="9216446" y="0"/>
                </a:lnTo>
                <a:lnTo>
                  <a:pt x="9216446" y="214938"/>
                </a:lnTo>
                <a:lnTo>
                  <a:pt x="6932375" y="214938"/>
                </a:lnTo>
                <a:lnTo>
                  <a:pt x="6932375" y="665784"/>
                </a:lnTo>
                <a:lnTo>
                  <a:pt x="6818900" y="665784"/>
                </a:lnTo>
                <a:lnTo>
                  <a:pt x="6720000" y="665784"/>
                </a:lnTo>
                <a:lnTo>
                  <a:pt x="4536911" y="665784"/>
                </a:lnTo>
                <a:lnTo>
                  <a:pt x="4536911" y="1114533"/>
                </a:lnTo>
                <a:lnTo>
                  <a:pt x="4536911" y="1114533"/>
                </a:lnTo>
                <a:lnTo>
                  <a:pt x="4322454" y="1114533"/>
                </a:lnTo>
                <a:lnTo>
                  <a:pt x="2251799" y="1114533"/>
                </a:lnTo>
                <a:lnTo>
                  <a:pt x="2251799" y="1352537"/>
                </a:lnTo>
                <a:lnTo>
                  <a:pt x="2251799" y="1565378"/>
                </a:lnTo>
                <a:lnTo>
                  <a:pt x="2038383" y="1565378"/>
                </a:lnTo>
                <a:lnTo>
                  <a:pt x="0" y="1565378"/>
                </a:lnTo>
                <a:lnTo>
                  <a:pt x="0" y="1352537"/>
                </a:lnTo>
                <a:close/>
              </a:path>
            </a:pathLst>
          </a:custGeom>
          <a:solidFill>
            <a:srgbClr val="1C1C1C"/>
          </a:solidFill>
        </p:spPr>
      </p:sp>
      <p:sp>
        <p:nvSpPr>
          <p:cNvPr id="40" name="Text 38"/>
          <p:cNvSpPr/>
          <p:nvPr/>
        </p:nvSpPr>
        <p:spPr>
          <a:xfrm>
            <a:off x="1517015" y="4828540"/>
            <a:ext cx="9619615" cy="16338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1" name="Text 39"/>
          <p:cNvSpPr/>
          <p:nvPr/>
        </p:nvSpPr>
        <p:spPr>
          <a:xfrm>
            <a:off x="873760" y="1180465"/>
            <a:ext cx="7325360" cy="645021"/>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光电探测器</a:t>
            </a:r>
            <a:endParaRPr lang="en-US" sz="1725" dirty="0"/>
          </a:p>
        </p:txBody>
      </p:sp>
      <p:sp>
        <p:nvSpPr>
          <p:cNvPr id="42" name="Text 40"/>
          <p:cNvSpPr/>
          <p:nvPr/>
        </p:nvSpPr>
        <p:spPr>
          <a:xfrm>
            <a:off x="873760" y="1767205"/>
            <a:ext cx="5593080" cy="146238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光电探测器是光纤通信中常用的光检测器之一，它能够将光信号转换为电信号，具有高灵敏度和快速响应的特点，适用于光纤通信系统中的信号检测和接收。</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光纤</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914538" y="1954213"/>
            <a:ext cx="704850" cy="730250"/>
          </a:xfrm>
          <a:custGeom>
            <a:avLst/>
            <a:gdLst/>
            <a:ahLst/>
            <a:cxnLst/>
            <a:rect l="l" t="t" r="r" b="b"/>
            <a:pathLst>
              <a:path w="704850" h="730250">
                <a:moveTo>
                  <a:pt x="0" y="0"/>
                </a:moveTo>
                <a:lnTo>
                  <a:pt x="704850" y="0"/>
                </a:lnTo>
                <a:lnTo>
                  <a:pt x="704850" y="730250"/>
                </a:lnTo>
                <a:lnTo>
                  <a:pt x="0" y="730250"/>
                </a:lnTo>
                <a:close/>
              </a:path>
            </a:pathLst>
          </a:custGeom>
          <a:solidFill>
            <a:srgbClr val="1C1C1C"/>
          </a:solidFill>
        </p:spPr>
      </p:sp>
      <p:sp>
        <p:nvSpPr>
          <p:cNvPr id="14" name="Text 12"/>
          <p:cNvSpPr/>
          <p:nvPr/>
        </p:nvSpPr>
        <p:spPr>
          <a:xfrm>
            <a:off x="1914538" y="1954213"/>
            <a:ext cx="704850" cy="73025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1779601" y="1814513"/>
            <a:ext cx="974725" cy="1009650"/>
          </a:xfrm>
          <a:custGeom>
            <a:avLst/>
            <a:gdLst/>
            <a:ahLst/>
            <a:cxnLst/>
            <a:rect l="l" t="t" r="r" b="b"/>
            <a:pathLst>
              <a:path w="974725" h="1009650">
                <a:moveTo>
                  <a:pt x="916351" y="571856"/>
                </a:moveTo>
                <a:lnTo>
                  <a:pt x="933873" y="571856"/>
                </a:lnTo>
                <a:lnTo>
                  <a:pt x="933873" y="967334"/>
                </a:lnTo>
                <a:lnTo>
                  <a:pt x="555038" y="967334"/>
                </a:lnTo>
                <a:lnTo>
                  <a:pt x="555038" y="949183"/>
                </a:lnTo>
                <a:lnTo>
                  <a:pt x="916351" y="949183"/>
                </a:lnTo>
                <a:moveTo>
                  <a:pt x="0" y="571856"/>
                </a:moveTo>
                <a:lnTo>
                  <a:pt x="17521" y="571856"/>
                </a:lnTo>
                <a:lnTo>
                  <a:pt x="17521" y="949183"/>
                </a:lnTo>
                <a:lnTo>
                  <a:pt x="378835" y="949183"/>
                </a:lnTo>
                <a:lnTo>
                  <a:pt x="378835" y="967334"/>
                </a:lnTo>
                <a:lnTo>
                  <a:pt x="0" y="967334"/>
                </a:lnTo>
                <a:moveTo>
                  <a:pt x="555038" y="0"/>
                </a:moveTo>
                <a:lnTo>
                  <a:pt x="933873" y="0"/>
                </a:lnTo>
                <a:lnTo>
                  <a:pt x="933873" y="395476"/>
                </a:lnTo>
                <a:lnTo>
                  <a:pt x="916351" y="395476"/>
                </a:lnTo>
                <a:lnTo>
                  <a:pt x="916351" y="18150"/>
                </a:lnTo>
                <a:lnTo>
                  <a:pt x="555038" y="18150"/>
                </a:lnTo>
                <a:moveTo>
                  <a:pt x="0" y="0"/>
                </a:moveTo>
                <a:lnTo>
                  <a:pt x="378835" y="0"/>
                </a:lnTo>
                <a:lnTo>
                  <a:pt x="378835" y="18150"/>
                </a:lnTo>
                <a:lnTo>
                  <a:pt x="17521" y="18150"/>
                </a:lnTo>
                <a:lnTo>
                  <a:pt x="17521" y="395476"/>
                </a:lnTo>
                <a:lnTo>
                  <a:pt x="0" y="395476"/>
                </a:lnTo>
                <a:close/>
                <a:close/>
                <a:close/>
                <a:close/>
              </a:path>
            </a:pathLst>
          </a:custGeom>
          <a:solidFill>
            <a:srgbClr val="1C1C1C"/>
          </a:solidFill>
        </p:spPr>
      </p:sp>
      <p:sp>
        <p:nvSpPr>
          <p:cNvPr id="16" name="Text 14"/>
          <p:cNvSpPr/>
          <p:nvPr/>
        </p:nvSpPr>
        <p:spPr>
          <a:xfrm>
            <a:off x="1779601" y="1814513"/>
            <a:ext cx="974725" cy="100965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a:off x="2062176" y="2124076"/>
            <a:ext cx="398463" cy="396875"/>
          </a:xfrm>
          <a:custGeom>
            <a:avLst/>
            <a:gdLst/>
            <a:ahLst/>
            <a:cxnLst/>
            <a:rect l="l" t="t" r="r" b="b"/>
            <a:pathLst>
              <a:path w="398463" h="396875">
                <a:moveTo>
                  <a:pt x="220266" y="69135"/>
                </a:moveTo>
                <a:lnTo>
                  <a:pt x="229210" y="79449"/>
                </a:lnTo>
                <a:lnTo>
                  <a:pt x="196052" y="107840"/>
                </a:lnTo>
                <a:lnTo>
                  <a:pt x="196380" y="108655"/>
                </a:lnTo>
                <a:lnTo>
                  <a:pt x="196598" y="109469"/>
                </a:lnTo>
                <a:lnTo>
                  <a:pt x="196816" y="110338"/>
                </a:lnTo>
                <a:lnTo>
                  <a:pt x="197089" y="111206"/>
                </a:lnTo>
                <a:lnTo>
                  <a:pt x="197198" y="112075"/>
                </a:lnTo>
                <a:lnTo>
                  <a:pt x="197307" y="112943"/>
                </a:lnTo>
                <a:lnTo>
                  <a:pt x="197416" y="113866"/>
                </a:lnTo>
                <a:lnTo>
                  <a:pt x="197416" y="114789"/>
                </a:lnTo>
                <a:lnTo>
                  <a:pt x="197416" y="115766"/>
                </a:lnTo>
                <a:lnTo>
                  <a:pt x="197307" y="116689"/>
                </a:lnTo>
                <a:lnTo>
                  <a:pt x="197198" y="117666"/>
                </a:lnTo>
                <a:lnTo>
                  <a:pt x="197034" y="118589"/>
                </a:lnTo>
                <a:lnTo>
                  <a:pt x="196816" y="119512"/>
                </a:lnTo>
                <a:lnTo>
                  <a:pt x="196598" y="120381"/>
                </a:lnTo>
                <a:lnTo>
                  <a:pt x="196271" y="121303"/>
                </a:lnTo>
                <a:lnTo>
                  <a:pt x="195998" y="122118"/>
                </a:lnTo>
                <a:lnTo>
                  <a:pt x="195616" y="122986"/>
                </a:lnTo>
                <a:lnTo>
                  <a:pt x="195234" y="123801"/>
                </a:lnTo>
                <a:lnTo>
                  <a:pt x="194743" y="124615"/>
                </a:lnTo>
                <a:lnTo>
                  <a:pt x="194307" y="125375"/>
                </a:lnTo>
                <a:lnTo>
                  <a:pt x="193816" y="126135"/>
                </a:lnTo>
                <a:lnTo>
                  <a:pt x="193216" y="126895"/>
                </a:lnTo>
                <a:lnTo>
                  <a:pt x="192671" y="127546"/>
                </a:lnTo>
                <a:lnTo>
                  <a:pt x="192071" y="128252"/>
                </a:lnTo>
                <a:lnTo>
                  <a:pt x="191417" y="128903"/>
                </a:lnTo>
                <a:lnTo>
                  <a:pt x="190762" y="129501"/>
                </a:lnTo>
                <a:lnTo>
                  <a:pt x="190108" y="130098"/>
                </a:lnTo>
                <a:lnTo>
                  <a:pt x="189344" y="130641"/>
                </a:lnTo>
                <a:lnTo>
                  <a:pt x="188635" y="131129"/>
                </a:lnTo>
                <a:lnTo>
                  <a:pt x="187817" y="131618"/>
                </a:lnTo>
                <a:lnTo>
                  <a:pt x="187054" y="132106"/>
                </a:lnTo>
                <a:lnTo>
                  <a:pt x="186290" y="132541"/>
                </a:lnTo>
                <a:lnTo>
                  <a:pt x="185418" y="132921"/>
                </a:lnTo>
                <a:lnTo>
                  <a:pt x="184600" y="133246"/>
                </a:lnTo>
                <a:lnTo>
                  <a:pt x="183673" y="133572"/>
                </a:lnTo>
                <a:lnTo>
                  <a:pt x="182800" y="133843"/>
                </a:lnTo>
                <a:lnTo>
                  <a:pt x="181873" y="134061"/>
                </a:lnTo>
                <a:lnTo>
                  <a:pt x="181000" y="134223"/>
                </a:lnTo>
                <a:lnTo>
                  <a:pt x="180019" y="134386"/>
                </a:lnTo>
                <a:lnTo>
                  <a:pt x="179037" y="134495"/>
                </a:lnTo>
                <a:lnTo>
                  <a:pt x="166275" y="180420"/>
                </a:lnTo>
                <a:lnTo>
                  <a:pt x="167530" y="181072"/>
                </a:lnTo>
                <a:lnTo>
                  <a:pt x="168675" y="181832"/>
                </a:lnTo>
                <a:lnTo>
                  <a:pt x="169766" y="182592"/>
                </a:lnTo>
                <a:lnTo>
                  <a:pt x="170802" y="183515"/>
                </a:lnTo>
                <a:lnTo>
                  <a:pt x="171784" y="184438"/>
                </a:lnTo>
                <a:lnTo>
                  <a:pt x="172711" y="185415"/>
                </a:lnTo>
                <a:lnTo>
                  <a:pt x="173529" y="186446"/>
                </a:lnTo>
                <a:lnTo>
                  <a:pt x="174347" y="187586"/>
                </a:lnTo>
                <a:lnTo>
                  <a:pt x="175056" y="188781"/>
                </a:lnTo>
                <a:lnTo>
                  <a:pt x="175656" y="189975"/>
                </a:lnTo>
                <a:lnTo>
                  <a:pt x="176201" y="191278"/>
                </a:lnTo>
                <a:lnTo>
                  <a:pt x="176637" y="192581"/>
                </a:lnTo>
                <a:lnTo>
                  <a:pt x="176965" y="193938"/>
                </a:lnTo>
                <a:lnTo>
                  <a:pt x="177237" y="195295"/>
                </a:lnTo>
                <a:lnTo>
                  <a:pt x="177401" y="196706"/>
                </a:lnTo>
                <a:lnTo>
                  <a:pt x="177455" y="198172"/>
                </a:lnTo>
                <a:lnTo>
                  <a:pt x="177455" y="199258"/>
                </a:lnTo>
                <a:lnTo>
                  <a:pt x="177401" y="200235"/>
                </a:lnTo>
                <a:lnTo>
                  <a:pt x="177183" y="201212"/>
                </a:lnTo>
                <a:lnTo>
                  <a:pt x="177019" y="202189"/>
                </a:lnTo>
                <a:lnTo>
                  <a:pt x="176801" y="203166"/>
                </a:lnTo>
                <a:lnTo>
                  <a:pt x="176528" y="204089"/>
                </a:lnTo>
                <a:lnTo>
                  <a:pt x="176256" y="205012"/>
                </a:lnTo>
                <a:lnTo>
                  <a:pt x="175874" y="205881"/>
                </a:lnTo>
                <a:lnTo>
                  <a:pt x="175438" y="206803"/>
                </a:lnTo>
                <a:lnTo>
                  <a:pt x="175056" y="207618"/>
                </a:lnTo>
                <a:lnTo>
                  <a:pt x="174565" y="208486"/>
                </a:lnTo>
                <a:lnTo>
                  <a:pt x="174074" y="209300"/>
                </a:lnTo>
                <a:lnTo>
                  <a:pt x="173474" y="210061"/>
                </a:lnTo>
                <a:lnTo>
                  <a:pt x="172874" y="210821"/>
                </a:lnTo>
                <a:lnTo>
                  <a:pt x="172274" y="211581"/>
                </a:lnTo>
                <a:lnTo>
                  <a:pt x="171565" y="212232"/>
                </a:lnTo>
                <a:lnTo>
                  <a:pt x="170911" y="212883"/>
                </a:lnTo>
                <a:lnTo>
                  <a:pt x="170148" y="213535"/>
                </a:lnTo>
                <a:lnTo>
                  <a:pt x="169439" y="214132"/>
                </a:lnTo>
                <a:lnTo>
                  <a:pt x="168675" y="214621"/>
                </a:lnTo>
                <a:lnTo>
                  <a:pt x="167857" y="215218"/>
                </a:lnTo>
                <a:lnTo>
                  <a:pt x="167039" y="215652"/>
                </a:lnTo>
                <a:lnTo>
                  <a:pt x="166112" y="216086"/>
                </a:lnTo>
                <a:lnTo>
                  <a:pt x="165294" y="216466"/>
                </a:lnTo>
                <a:lnTo>
                  <a:pt x="164367" y="216846"/>
                </a:lnTo>
                <a:lnTo>
                  <a:pt x="163440" y="217172"/>
                </a:lnTo>
                <a:lnTo>
                  <a:pt x="162458" y="217444"/>
                </a:lnTo>
                <a:lnTo>
                  <a:pt x="161531" y="217661"/>
                </a:lnTo>
                <a:lnTo>
                  <a:pt x="160549" y="217823"/>
                </a:lnTo>
                <a:lnTo>
                  <a:pt x="159567" y="217932"/>
                </a:lnTo>
                <a:lnTo>
                  <a:pt x="158531" y="218041"/>
                </a:lnTo>
                <a:lnTo>
                  <a:pt x="157495" y="218041"/>
                </a:lnTo>
                <a:lnTo>
                  <a:pt x="156459" y="218041"/>
                </a:lnTo>
                <a:lnTo>
                  <a:pt x="155423" y="217932"/>
                </a:lnTo>
                <a:lnTo>
                  <a:pt x="154496" y="217823"/>
                </a:lnTo>
                <a:lnTo>
                  <a:pt x="153459" y="217661"/>
                </a:lnTo>
                <a:lnTo>
                  <a:pt x="152532" y="217444"/>
                </a:lnTo>
                <a:lnTo>
                  <a:pt x="151551" y="217172"/>
                </a:lnTo>
                <a:lnTo>
                  <a:pt x="150678" y="216846"/>
                </a:lnTo>
                <a:lnTo>
                  <a:pt x="149751" y="216466"/>
                </a:lnTo>
                <a:lnTo>
                  <a:pt x="148878" y="216086"/>
                </a:lnTo>
                <a:lnTo>
                  <a:pt x="148006" y="215652"/>
                </a:lnTo>
                <a:lnTo>
                  <a:pt x="147188" y="215218"/>
                </a:lnTo>
                <a:lnTo>
                  <a:pt x="146315" y="214621"/>
                </a:lnTo>
                <a:lnTo>
                  <a:pt x="145552" y="214132"/>
                </a:lnTo>
                <a:lnTo>
                  <a:pt x="144788" y="213535"/>
                </a:lnTo>
                <a:lnTo>
                  <a:pt x="144079" y="212883"/>
                </a:lnTo>
                <a:lnTo>
                  <a:pt x="143370" y="212232"/>
                </a:lnTo>
                <a:lnTo>
                  <a:pt x="142716" y="211581"/>
                </a:lnTo>
                <a:lnTo>
                  <a:pt x="142116" y="210821"/>
                </a:lnTo>
                <a:lnTo>
                  <a:pt x="141461" y="210061"/>
                </a:lnTo>
                <a:lnTo>
                  <a:pt x="140971" y="209300"/>
                </a:lnTo>
                <a:lnTo>
                  <a:pt x="140425" y="208486"/>
                </a:lnTo>
                <a:lnTo>
                  <a:pt x="139989" y="207618"/>
                </a:lnTo>
                <a:lnTo>
                  <a:pt x="139498" y="206803"/>
                </a:lnTo>
                <a:lnTo>
                  <a:pt x="139116" y="205881"/>
                </a:lnTo>
                <a:lnTo>
                  <a:pt x="138789" y="205012"/>
                </a:lnTo>
                <a:lnTo>
                  <a:pt x="138462" y="204089"/>
                </a:lnTo>
                <a:lnTo>
                  <a:pt x="138189" y="203166"/>
                </a:lnTo>
                <a:lnTo>
                  <a:pt x="137916" y="202189"/>
                </a:lnTo>
                <a:lnTo>
                  <a:pt x="137753" y="201212"/>
                </a:lnTo>
                <a:lnTo>
                  <a:pt x="137644" y="200235"/>
                </a:lnTo>
                <a:lnTo>
                  <a:pt x="137535" y="199258"/>
                </a:lnTo>
                <a:lnTo>
                  <a:pt x="137535" y="198172"/>
                </a:lnTo>
                <a:lnTo>
                  <a:pt x="137535" y="197466"/>
                </a:lnTo>
                <a:lnTo>
                  <a:pt x="137589" y="196706"/>
                </a:lnTo>
                <a:lnTo>
                  <a:pt x="137807" y="195240"/>
                </a:lnTo>
                <a:lnTo>
                  <a:pt x="138135" y="193829"/>
                </a:lnTo>
                <a:lnTo>
                  <a:pt x="138517" y="192472"/>
                </a:lnTo>
                <a:lnTo>
                  <a:pt x="109176" y="175426"/>
                </a:lnTo>
                <a:lnTo>
                  <a:pt x="108085" y="176132"/>
                </a:lnTo>
                <a:lnTo>
                  <a:pt x="106885" y="176675"/>
                </a:lnTo>
                <a:lnTo>
                  <a:pt x="105631" y="177109"/>
                </a:lnTo>
                <a:lnTo>
                  <a:pt x="104377" y="177543"/>
                </a:lnTo>
                <a:lnTo>
                  <a:pt x="103068" y="177923"/>
                </a:lnTo>
                <a:lnTo>
                  <a:pt x="101759" y="178141"/>
                </a:lnTo>
                <a:lnTo>
                  <a:pt x="100341" y="178304"/>
                </a:lnTo>
                <a:lnTo>
                  <a:pt x="99032" y="178358"/>
                </a:lnTo>
                <a:lnTo>
                  <a:pt x="98160" y="178304"/>
                </a:lnTo>
                <a:lnTo>
                  <a:pt x="97396" y="178249"/>
                </a:lnTo>
                <a:lnTo>
                  <a:pt x="95815" y="178032"/>
                </a:lnTo>
                <a:lnTo>
                  <a:pt x="73455" y="214946"/>
                </a:lnTo>
                <a:lnTo>
                  <a:pt x="61784" y="207998"/>
                </a:lnTo>
                <a:lnTo>
                  <a:pt x="83871" y="171355"/>
                </a:lnTo>
                <a:lnTo>
                  <a:pt x="83380" y="170703"/>
                </a:lnTo>
                <a:lnTo>
                  <a:pt x="82780" y="169943"/>
                </a:lnTo>
                <a:lnTo>
                  <a:pt x="82344" y="169292"/>
                </a:lnTo>
                <a:lnTo>
                  <a:pt x="81853" y="168532"/>
                </a:lnTo>
                <a:lnTo>
                  <a:pt x="81471" y="167772"/>
                </a:lnTo>
                <a:lnTo>
                  <a:pt x="81090" y="167012"/>
                </a:lnTo>
                <a:lnTo>
                  <a:pt x="80653" y="166252"/>
                </a:lnTo>
                <a:lnTo>
                  <a:pt x="80326" y="165438"/>
                </a:lnTo>
                <a:lnTo>
                  <a:pt x="80054" y="164623"/>
                </a:lnTo>
                <a:lnTo>
                  <a:pt x="79781" y="163809"/>
                </a:lnTo>
                <a:lnTo>
                  <a:pt x="79563" y="162941"/>
                </a:lnTo>
                <a:lnTo>
                  <a:pt x="79399" y="162072"/>
                </a:lnTo>
                <a:lnTo>
                  <a:pt x="79181" y="161149"/>
                </a:lnTo>
                <a:lnTo>
                  <a:pt x="79072" y="160335"/>
                </a:lnTo>
                <a:lnTo>
                  <a:pt x="79017" y="159358"/>
                </a:lnTo>
                <a:lnTo>
                  <a:pt x="79017" y="158489"/>
                </a:lnTo>
                <a:lnTo>
                  <a:pt x="79017" y="157458"/>
                </a:lnTo>
                <a:lnTo>
                  <a:pt x="79126" y="156426"/>
                </a:lnTo>
                <a:lnTo>
                  <a:pt x="79290" y="155449"/>
                </a:lnTo>
                <a:lnTo>
                  <a:pt x="79453" y="154418"/>
                </a:lnTo>
                <a:lnTo>
                  <a:pt x="79672" y="153495"/>
                </a:lnTo>
                <a:lnTo>
                  <a:pt x="79944" y="152518"/>
                </a:lnTo>
                <a:lnTo>
                  <a:pt x="80217" y="151649"/>
                </a:lnTo>
                <a:lnTo>
                  <a:pt x="80599" y="150726"/>
                </a:lnTo>
                <a:lnTo>
                  <a:pt x="80981" y="149858"/>
                </a:lnTo>
                <a:lnTo>
                  <a:pt x="81471" y="148989"/>
                </a:lnTo>
                <a:lnTo>
                  <a:pt x="81908" y="148175"/>
                </a:lnTo>
                <a:lnTo>
                  <a:pt x="82399" y="147361"/>
                </a:lnTo>
                <a:lnTo>
                  <a:pt x="82998" y="146600"/>
                </a:lnTo>
                <a:lnTo>
                  <a:pt x="83598" y="145786"/>
                </a:lnTo>
                <a:lnTo>
                  <a:pt x="84198" y="145081"/>
                </a:lnTo>
                <a:lnTo>
                  <a:pt x="84907" y="144429"/>
                </a:lnTo>
                <a:lnTo>
                  <a:pt x="85562" y="143723"/>
                </a:lnTo>
                <a:lnTo>
                  <a:pt x="86271" y="143126"/>
                </a:lnTo>
                <a:lnTo>
                  <a:pt x="87034" y="142583"/>
                </a:lnTo>
                <a:lnTo>
                  <a:pt x="87798" y="141986"/>
                </a:lnTo>
                <a:lnTo>
                  <a:pt x="88670" y="141498"/>
                </a:lnTo>
                <a:lnTo>
                  <a:pt x="89488" y="141009"/>
                </a:lnTo>
                <a:lnTo>
                  <a:pt x="90361" y="140575"/>
                </a:lnTo>
                <a:lnTo>
                  <a:pt x="91233" y="140141"/>
                </a:lnTo>
                <a:lnTo>
                  <a:pt x="92160" y="139815"/>
                </a:lnTo>
                <a:lnTo>
                  <a:pt x="93033" y="139489"/>
                </a:lnTo>
                <a:lnTo>
                  <a:pt x="94015" y="139218"/>
                </a:lnTo>
                <a:lnTo>
                  <a:pt x="94942" y="139001"/>
                </a:lnTo>
                <a:lnTo>
                  <a:pt x="95978" y="138838"/>
                </a:lnTo>
                <a:lnTo>
                  <a:pt x="96905" y="138675"/>
                </a:lnTo>
                <a:lnTo>
                  <a:pt x="97941" y="138621"/>
                </a:lnTo>
                <a:lnTo>
                  <a:pt x="99032" y="138566"/>
                </a:lnTo>
                <a:lnTo>
                  <a:pt x="100014" y="138621"/>
                </a:lnTo>
                <a:lnTo>
                  <a:pt x="101050" y="138675"/>
                </a:lnTo>
                <a:lnTo>
                  <a:pt x="102032" y="138838"/>
                </a:lnTo>
                <a:lnTo>
                  <a:pt x="103013" y="139001"/>
                </a:lnTo>
                <a:lnTo>
                  <a:pt x="103940" y="139218"/>
                </a:lnTo>
                <a:lnTo>
                  <a:pt x="104922" y="139489"/>
                </a:lnTo>
                <a:lnTo>
                  <a:pt x="105849" y="139815"/>
                </a:lnTo>
                <a:lnTo>
                  <a:pt x="106776" y="140141"/>
                </a:lnTo>
                <a:lnTo>
                  <a:pt x="107594" y="140575"/>
                </a:lnTo>
                <a:lnTo>
                  <a:pt x="108521" y="141009"/>
                </a:lnTo>
                <a:lnTo>
                  <a:pt x="109285" y="141498"/>
                </a:lnTo>
                <a:lnTo>
                  <a:pt x="110158" y="141986"/>
                </a:lnTo>
                <a:lnTo>
                  <a:pt x="110921" y="142583"/>
                </a:lnTo>
                <a:lnTo>
                  <a:pt x="111685" y="143126"/>
                </a:lnTo>
                <a:lnTo>
                  <a:pt x="112394" y="143723"/>
                </a:lnTo>
                <a:lnTo>
                  <a:pt x="113048" y="144429"/>
                </a:lnTo>
                <a:lnTo>
                  <a:pt x="113757" y="145081"/>
                </a:lnTo>
                <a:lnTo>
                  <a:pt x="114357" y="145786"/>
                </a:lnTo>
                <a:lnTo>
                  <a:pt x="115011" y="146600"/>
                </a:lnTo>
                <a:lnTo>
                  <a:pt x="115557" y="147361"/>
                </a:lnTo>
                <a:lnTo>
                  <a:pt x="116047" y="148175"/>
                </a:lnTo>
                <a:lnTo>
                  <a:pt x="116484" y="148989"/>
                </a:lnTo>
                <a:lnTo>
                  <a:pt x="116975" y="149858"/>
                </a:lnTo>
                <a:lnTo>
                  <a:pt x="117356" y="150726"/>
                </a:lnTo>
                <a:lnTo>
                  <a:pt x="117738" y="151649"/>
                </a:lnTo>
                <a:lnTo>
                  <a:pt x="118011" y="152518"/>
                </a:lnTo>
                <a:lnTo>
                  <a:pt x="118284" y="153495"/>
                </a:lnTo>
                <a:lnTo>
                  <a:pt x="118556" y="154418"/>
                </a:lnTo>
                <a:lnTo>
                  <a:pt x="118720" y="155449"/>
                </a:lnTo>
                <a:lnTo>
                  <a:pt x="118829" y="156426"/>
                </a:lnTo>
                <a:lnTo>
                  <a:pt x="118938" y="157458"/>
                </a:lnTo>
                <a:lnTo>
                  <a:pt x="118938" y="158489"/>
                </a:lnTo>
                <a:lnTo>
                  <a:pt x="118938" y="159249"/>
                </a:lnTo>
                <a:lnTo>
                  <a:pt x="118883" y="160118"/>
                </a:lnTo>
                <a:lnTo>
                  <a:pt x="118774" y="160878"/>
                </a:lnTo>
                <a:lnTo>
                  <a:pt x="118665" y="161638"/>
                </a:lnTo>
                <a:lnTo>
                  <a:pt x="118284" y="163212"/>
                </a:lnTo>
                <a:lnTo>
                  <a:pt x="117847" y="164678"/>
                </a:lnTo>
                <a:lnTo>
                  <a:pt x="146752" y="181506"/>
                </a:lnTo>
                <a:lnTo>
                  <a:pt x="148115" y="180692"/>
                </a:lnTo>
                <a:lnTo>
                  <a:pt x="149533" y="180040"/>
                </a:lnTo>
                <a:lnTo>
                  <a:pt x="151005" y="179443"/>
                </a:lnTo>
                <a:lnTo>
                  <a:pt x="152532" y="179009"/>
                </a:lnTo>
                <a:lnTo>
                  <a:pt x="165839" y="130912"/>
                </a:lnTo>
                <a:lnTo>
                  <a:pt x="164967" y="130206"/>
                </a:lnTo>
                <a:lnTo>
                  <a:pt x="164039" y="129446"/>
                </a:lnTo>
                <a:lnTo>
                  <a:pt x="163221" y="128686"/>
                </a:lnTo>
                <a:lnTo>
                  <a:pt x="162403" y="127763"/>
                </a:lnTo>
                <a:lnTo>
                  <a:pt x="161694" y="126949"/>
                </a:lnTo>
                <a:lnTo>
                  <a:pt x="160985" y="125972"/>
                </a:lnTo>
                <a:lnTo>
                  <a:pt x="160386" y="124995"/>
                </a:lnTo>
                <a:lnTo>
                  <a:pt x="159785" y="123963"/>
                </a:lnTo>
                <a:lnTo>
                  <a:pt x="159240" y="122986"/>
                </a:lnTo>
                <a:lnTo>
                  <a:pt x="158804" y="121846"/>
                </a:lnTo>
                <a:lnTo>
                  <a:pt x="158422" y="120706"/>
                </a:lnTo>
                <a:lnTo>
                  <a:pt x="158095" y="119621"/>
                </a:lnTo>
                <a:lnTo>
                  <a:pt x="157877" y="118426"/>
                </a:lnTo>
                <a:lnTo>
                  <a:pt x="157604" y="117232"/>
                </a:lnTo>
                <a:lnTo>
                  <a:pt x="157495" y="116038"/>
                </a:lnTo>
                <a:lnTo>
                  <a:pt x="157495" y="114789"/>
                </a:lnTo>
                <a:lnTo>
                  <a:pt x="157495" y="113758"/>
                </a:lnTo>
                <a:lnTo>
                  <a:pt x="157550" y="112780"/>
                </a:lnTo>
                <a:lnTo>
                  <a:pt x="157768" y="111749"/>
                </a:lnTo>
                <a:lnTo>
                  <a:pt x="157931" y="110826"/>
                </a:lnTo>
                <a:lnTo>
                  <a:pt x="158149" y="109795"/>
                </a:lnTo>
                <a:lnTo>
                  <a:pt x="158422" y="108926"/>
                </a:lnTo>
                <a:lnTo>
                  <a:pt x="158695" y="107949"/>
                </a:lnTo>
                <a:lnTo>
                  <a:pt x="159022" y="107081"/>
                </a:lnTo>
                <a:lnTo>
                  <a:pt x="159458" y="106158"/>
                </a:lnTo>
                <a:lnTo>
                  <a:pt x="159895" y="105343"/>
                </a:lnTo>
                <a:lnTo>
                  <a:pt x="160386" y="104475"/>
                </a:lnTo>
                <a:lnTo>
                  <a:pt x="160876" y="103715"/>
                </a:lnTo>
                <a:lnTo>
                  <a:pt x="161476" y="102900"/>
                </a:lnTo>
                <a:lnTo>
                  <a:pt x="162076" y="102141"/>
                </a:lnTo>
                <a:lnTo>
                  <a:pt x="162676" y="101435"/>
                </a:lnTo>
                <a:lnTo>
                  <a:pt x="163330" y="100729"/>
                </a:lnTo>
                <a:lnTo>
                  <a:pt x="164039" y="100078"/>
                </a:lnTo>
                <a:lnTo>
                  <a:pt x="164748" y="99426"/>
                </a:lnTo>
                <a:lnTo>
                  <a:pt x="165512" y="98883"/>
                </a:lnTo>
                <a:lnTo>
                  <a:pt x="166275" y="98340"/>
                </a:lnTo>
                <a:lnTo>
                  <a:pt x="167093" y="97798"/>
                </a:lnTo>
                <a:lnTo>
                  <a:pt x="167912" y="97309"/>
                </a:lnTo>
                <a:lnTo>
                  <a:pt x="168839" y="96875"/>
                </a:lnTo>
                <a:lnTo>
                  <a:pt x="169657" y="96495"/>
                </a:lnTo>
                <a:lnTo>
                  <a:pt x="170584" y="96115"/>
                </a:lnTo>
                <a:lnTo>
                  <a:pt x="171511" y="95789"/>
                </a:lnTo>
                <a:lnTo>
                  <a:pt x="172493" y="95572"/>
                </a:lnTo>
                <a:lnTo>
                  <a:pt x="173420" y="95355"/>
                </a:lnTo>
                <a:lnTo>
                  <a:pt x="174401" y="95138"/>
                </a:lnTo>
                <a:lnTo>
                  <a:pt x="175383" y="95029"/>
                </a:lnTo>
                <a:lnTo>
                  <a:pt x="176419" y="94975"/>
                </a:lnTo>
                <a:lnTo>
                  <a:pt x="177455" y="94921"/>
                </a:lnTo>
                <a:lnTo>
                  <a:pt x="178764" y="94975"/>
                </a:lnTo>
                <a:lnTo>
                  <a:pt x="180073" y="95138"/>
                </a:lnTo>
                <a:lnTo>
                  <a:pt x="181327" y="95301"/>
                </a:lnTo>
                <a:lnTo>
                  <a:pt x="182527" y="95626"/>
                </a:lnTo>
                <a:lnTo>
                  <a:pt x="183727" y="95952"/>
                </a:lnTo>
                <a:lnTo>
                  <a:pt x="184927" y="96441"/>
                </a:lnTo>
                <a:lnTo>
                  <a:pt x="186018" y="96929"/>
                </a:lnTo>
                <a:lnTo>
                  <a:pt x="187108" y="97526"/>
                </a:lnTo>
                <a:lnTo>
                  <a:pt x="220266" y="69135"/>
                </a:lnTo>
                <a:moveTo>
                  <a:pt x="146007" y="28745"/>
                </a:moveTo>
                <a:lnTo>
                  <a:pt x="143120" y="28853"/>
                </a:lnTo>
                <a:lnTo>
                  <a:pt x="140288" y="29070"/>
                </a:lnTo>
                <a:lnTo>
                  <a:pt x="137402" y="29341"/>
                </a:lnTo>
                <a:lnTo>
                  <a:pt x="134516" y="29612"/>
                </a:lnTo>
                <a:lnTo>
                  <a:pt x="131684" y="29992"/>
                </a:lnTo>
                <a:lnTo>
                  <a:pt x="128797" y="30426"/>
                </a:lnTo>
                <a:lnTo>
                  <a:pt x="125965" y="30968"/>
                </a:lnTo>
                <a:lnTo>
                  <a:pt x="123133" y="31511"/>
                </a:lnTo>
                <a:lnTo>
                  <a:pt x="120302" y="32161"/>
                </a:lnTo>
                <a:lnTo>
                  <a:pt x="117524" y="32921"/>
                </a:lnTo>
                <a:lnTo>
                  <a:pt x="114692" y="33680"/>
                </a:lnTo>
                <a:lnTo>
                  <a:pt x="111969" y="34548"/>
                </a:lnTo>
                <a:lnTo>
                  <a:pt x="109192" y="35470"/>
                </a:lnTo>
                <a:lnTo>
                  <a:pt x="106469" y="36446"/>
                </a:lnTo>
                <a:lnTo>
                  <a:pt x="103691" y="37476"/>
                </a:lnTo>
                <a:lnTo>
                  <a:pt x="101023" y="38615"/>
                </a:lnTo>
                <a:lnTo>
                  <a:pt x="98354" y="39863"/>
                </a:lnTo>
                <a:lnTo>
                  <a:pt x="95740" y="41056"/>
                </a:lnTo>
                <a:lnTo>
                  <a:pt x="93072" y="42412"/>
                </a:lnTo>
                <a:lnTo>
                  <a:pt x="90458" y="43822"/>
                </a:lnTo>
                <a:lnTo>
                  <a:pt x="87898" y="45341"/>
                </a:lnTo>
                <a:lnTo>
                  <a:pt x="85338" y="46859"/>
                </a:lnTo>
                <a:lnTo>
                  <a:pt x="82833" y="48486"/>
                </a:lnTo>
                <a:lnTo>
                  <a:pt x="80383" y="50113"/>
                </a:lnTo>
                <a:lnTo>
                  <a:pt x="77932" y="51849"/>
                </a:lnTo>
                <a:lnTo>
                  <a:pt x="75481" y="53638"/>
                </a:lnTo>
                <a:lnTo>
                  <a:pt x="73139" y="55591"/>
                </a:lnTo>
                <a:lnTo>
                  <a:pt x="70798" y="57543"/>
                </a:lnTo>
                <a:lnTo>
                  <a:pt x="68456" y="59550"/>
                </a:lnTo>
                <a:lnTo>
                  <a:pt x="66223" y="61611"/>
                </a:lnTo>
                <a:lnTo>
                  <a:pt x="63990" y="63780"/>
                </a:lnTo>
                <a:lnTo>
                  <a:pt x="61866" y="65950"/>
                </a:lnTo>
                <a:lnTo>
                  <a:pt x="59742" y="68228"/>
                </a:lnTo>
                <a:lnTo>
                  <a:pt x="57727" y="70506"/>
                </a:lnTo>
                <a:lnTo>
                  <a:pt x="55767" y="72838"/>
                </a:lnTo>
                <a:lnTo>
                  <a:pt x="53861" y="75224"/>
                </a:lnTo>
                <a:lnTo>
                  <a:pt x="52063" y="77610"/>
                </a:lnTo>
                <a:lnTo>
                  <a:pt x="50321" y="80051"/>
                </a:lnTo>
                <a:lnTo>
                  <a:pt x="48633" y="82546"/>
                </a:lnTo>
                <a:lnTo>
                  <a:pt x="46999" y="85040"/>
                </a:lnTo>
                <a:lnTo>
                  <a:pt x="45419" y="87589"/>
                </a:lnTo>
                <a:lnTo>
                  <a:pt x="44003" y="90139"/>
                </a:lnTo>
                <a:lnTo>
                  <a:pt x="42588" y="92742"/>
                </a:lnTo>
                <a:lnTo>
                  <a:pt x="41226" y="95345"/>
                </a:lnTo>
                <a:lnTo>
                  <a:pt x="39974" y="97949"/>
                </a:lnTo>
                <a:lnTo>
                  <a:pt x="38775" y="100606"/>
                </a:lnTo>
                <a:lnTo>
                  <a:pt x="37632" y="103263"/>
                </a:lnTo>
                <a:lnTo>
                  <a:pt x="36542" y="106030"/>
                </a:lnTo>
                <a:lnTo>
                  <a:pt x="35562" y="108795"/>
                </a:lnTo>
                <a:lnTo>
                  <a:pt x="34636" y="111507"/>
                </a:lnTo>
                <a:lnTo>
                  <a:pt x="33820" y="114273"/>
                </a:lnTo>
                <a:lnTo>
                  <a:pt x="33003" y="117039"/>
                </a:lnTo>
                <a:lnTo>
                  <a:pt x="32295" y="119859"/>
                </a:lnTo>
                <a:lnTo>
                  <a:pt x="31641" y="122625"/>
                </a:lnTo>
                <a:lnTo>
                  <a:pt x="31042" y="125445"/>
                </a:lnTo>
                <a:lnTo>
                  <a:pt x="30552" y="128320"/>
                </a:lnTo>
                <a:lnTo>
                  <a:pt x="30116" y="131140"/>
                </a:lnTo>
                <a:lnTo>
                  <a:pt x="29735" y="134015"/>
                </a:lnTo>
                <a:lnTo>
                  <a:pt x="29354" y="136835"/>
                </a:lnTo>
                <a:lnTo>
                  <a:pt x="29136" y="139709"/>
                </a:lnTo>
                <a:lnTo>
                  <a:pt x="28972" y="142584"/>
                </a:lnTo>
                <a:lnTo>
                  <a:pt x="28864" y="145404"/>
                </a:lnTo>
                <a:lnTo>
                  <a:pt x="28864" y="148333"/>
                </a:lnTo>
                <a:lnTo>
                  <a:pt x="28864" y="151207"/>
                </a:lnTo>
                <a:lnTo>
                  <a:pt x="28972" y="154027"/>
                </a:lnTo>
                <a:lnTo>
                  <a:pt x="29136" y="156902"/>
                </a:lnTo>
                <a:lnTo>
                  <a:pt x="29354" y="159722"/>
                </a:lnTo>
                <a:lnTo>
                  <a:pt x="29735" y="162597"/>
                </a:lnTo>
                <a:lnTo>
                  <a:pt x="30116" y="165471"/>
                </a:lnTo>
                <a:lnTo>
                  <a:pt x="30552" y="168291"/>
                </a:lnTo>
                <a:lnTo>
                  <a:pt x="31042" y="171166"/>
                </a:lnTo>
                <a:lnTo>
                  <a:pt x="31641" y="173932"/>
                </a:lnTo>
                <a:lnTo>
                  <a:pt x="32295" y="176752"/>
                </a:lnTo>
                <a:lnTo>
                  <a:pt x="33003" y="179572"/>
                </a:lnTo>
                <a:lnTo>
                  <a:pt x="33820" y="182338"/>
                </a:lnTo>
                <a:lnTo>
                  <a:pt x="34636" y="185104"/>
                </a:lnTo>
                <a:lnTo>
                  <a:pt x="35562" y="187816"/>
                </a:lnTo>
                <a:lnTo>
                  <a:pt x="36542" y="190582"/>
                </a:lnTo>
                <a:lnTo>
                  <a:pt x="37632" y="193294"/>
                </a:lnTo>
                <a:lnTo>
                  <a:pt x="38775" y="196005"/>
                </a:lnTo>
                <a:lnTo>
                  <a:pt x="39974" y="198609"/>
                </a:lnTo>
                <a:lnTo>
                  <a:pt x="41226" y="201266"/>
                </a:lnTo>
                <a:lnTo>
                  <a:pt x="42588" y="203869"/>
                </a:lnTo>
                <a:lnTo>
                  <a:pt x="44003" y="206473"/>
                </a:lnTo>
                <a:lnTo>
                  <a:pt x="45419" y="209022"/>
                </a:lnTo>
                <a:lnTo>
                  <a:pt x="46999" y="211571"/>
                </a:lnTo>
                <a:lnTo>
                  <a:pt x="48633" y="214066"/>
                </a:lnTo>
                <a:lnTo>
                  <a:pt x="50321" y="216506"/>
                </a:lnTo>
                <a:lnTo>
                  <a:pt x="52063" y="219001"/>
                </a:lnTo>
                <a:lnTo>
                  <a:pt x="53861" y="221387"/>
                </a:lnTo>
                <a:lnTo>
                  <a:pt x="55767" y="223719"/>
                </a:lnTo>
                <a:lnTo>
                  <a:pt x="57727" y="226106"/>
                </a:lnTo>
                <a:lnTo>
                  <a:pt x="59742" y="228384"/>
                </a:lnTo>
                <a:lnTo>
                  <a:pt x="61866" y="230607"/>
                </a:lnTo>
                <a:lnTo>
                  <a:pt x="63990" y="232831"/>
                </a:lnTo>
                <a:lnTo>
                  <a:pt x="66223" y="235000"/>
                </a:lnTo>
                <a:lnTo>
                  <a:pt x="68456" y="237061"/>
                </a:lnTo>
                <a:lnTo>
                  <a:pt x="70798" y="239068"/>
                </a:lnTo>
                <a:lnTo>
                  <a:pt x="73139" y="241020"/>
                </a:lnTo>
                <a:lnTo>
                  <a:pt x="75481" y="242919"/>
                </a:lnTo>
                <a:lnTo>
                  <a:pt x="77932" y="244708"/>
                </a:lnTo>
                <a:lnTo>
                  <a:pt x="80383" y="246444"/>
                </a:lnTo>
                <a:lnTo>
                  <a:pt x="82833" y="248125"/>
                </a:lnTo>
                <a:lnTo>
                  <a:pt x="85338" y="249752"/>
                </a:lnTo>
                <a:lnTo>
                  <a:pt x="87898" y="251271"/>
                </a:lnTo>
                <a:lnTo>
                  <a:pt x="90458" y="252789"/>
                </a:lnTo>
                <a:lnTo>
                  <a:pt x="93072" y="254200"/>
                </a:lnTo>
                <a:lnTo>
                  <a:pt x="95686" y="255501"/>
                </a:lnTo>
                <a:lnTo>
                  <a:pt x="98354" y="256749"/>
                </a:lnTo>
                <a:lnTo>
                  <a:pt x="101023" y="257996"/>
                </a:lnTo>
                <a:lnTo>
                  <a:pt x="103691" y="259081"/>
                </a:lnTo>
                <a:lnTo>
                  <a:pt x="106469" y="260165"/>
                </a:lnTo>
                <a:lnTo>
                  <a:pt x="109192" y="261142"/>
                </a:lnTo>
                <a:lnTo>
                  <a:pt x="111969" y="262064"/>
                </a:lnTo>
                <a:lnTo>
                  <a:pt x="114692" y="262931"/>
                </a:lnTo>
                <a:lnTo>
                  <a:pt x="117524" y="263691"/>
                </a:lnTo>
                <a:lnTo>
                  <a:pt x="120302" y="264396"/>
                </a:lnTo>
                <a:lnTo>
                  <a:pt x="123133" y="265101"/>
                </a:lnTo>
                <a:lnTo>
                  <a:pt x="125965" y="265643"/>
                </a:lnTo>
                <a:lnTo>
                  <a:pt x="128797" y="266131"/>
                </a:lnTo>
                <a:lnTo>
                  <a:pt x="131684" y="266619"/>
                </a:lnTo>
                <a:lnTo>
                  <a:pt x="134516" y="266999"/>
                </a:lnTo>
                <a:lnTo>
                  <a:pt x="137402" y="267270"/>
                </a:lnTo>
                <a:lnTo>
                  <a:pt x="140288" y="267541"/>
                </a:lnTo>
                <a:lnTo>
                  <a:pt x="143120" y="267704"/>
                </a:lnTo>
                <a:lnTo>
                  <a:pt x="146007" y="267813"/>
                </a:lnTo>
                <a:lnTo>
                  <a:pt x="148838" y="267813"/>
                </a:lnTo>
                <a:lnTo>
                  <a:pt x="151779" y="267813"/>
                </a:lnTo>
                <a:lnTo>
                  <a:pt x="154666" y="267704"/>
                </a:lnTo>
                <a:lnTo>
                  <a:pt x="157498" y="267541"/>
                </a:lnTo>
                <a:lnTo>
                  <a:pt x="160384" y="267270"/>
                </a:lnTo>
                <a:lnTo>
                  <a:pt x="163270" y="266999"/>
                </a:lnTo>
                <a:lnTo>
                  <a:pt x="166102" y="266619"/>
                </a:lnTo>
                <a:lnTo>
                  <a:pt x="168989" y="266131"/>
                </a:lnTo>
                <a:lnTo>
                  <a:pt x="171821" y="265643"/>
                </a:lnTo>
                <a:lnTo>
                  <a:pt x="174653" y="265101"/>
                </a:lnTo>
                <a:lnTo>
                  <a:pt x="177484" y="264396"/>
                </a:lnTo>
                <a:lnTo>
                  <a:pt x="180262" y="263691"/>
                </a:lnTo>
                <a:lnTo>
                  <a:pt x="183094" y="262931"/>
                </a:lnTo>
                <a:lnTo>
                  <a:pt x="185817" y="262064"/>
                </a:lnTo>
                <a:lnTo>
                  <a:pt x="188594" y="261142"/>
                </a:lnTo>
                <a:lnTo>
                  <a:pt x="191317" y="260165"/>
                </a:lnTo>
                <a:lnTo>
                  <a:pt x="194040" y="259081"/>
                </a:lnTo>
                <a:lnTo>
                  <a:pt x="196763" y="257996"/>
                </a:lnTo>
                <a:lnTo>
                  <a:pt x="199432" y="256749"/>
                </a:lnTo>
                <a:lnTo>
                  <a:pt x="202046" y="255501"/>
                </a:lnTo>
                <a:lnTo>
                  <a:pt x="204714" y="254200"/>
                </a:lnTo>
                <a:lnTo>
                  <a:pt x="207274" y="252789"/>
                </a:lnTo>
                <a:lnTo>
                  <a:pt x="209888" y="251271"/>
                </a:lnTo>
                <a:lnTo>
                  <a:pt x="212393" y="249752"/>
                </a:lnTo>
                <a:lnTo>
                  <a:pt x="214953" y="248125"/>
                </a:lnTo>
                <a:lnTo>
                  <a:pt x="217403" y="246444"/>
                </a:lnTo>
                <a:lnTo>
                  <a:pt x="219854" y="244708"/>
                </a:lnTo>
                <a:lnTo>
                  <a:pt x="222305" y="242919"/>
                </a:lnTo>
                <a:lnTo>
                  <a:pt x="224647" y="241020"/>
                </a:lnTo>
                <a:lnTo>
                  <a:pt x="226988" y="239068"/>
                </a:lnTo>
                <a:lnTo>
                  <a:pt x="229330" y="237061"/>
                </a:lnTo>
                <a:lnTo>
                  <a:pt x="231563" y="235000"/>
                </a:lnTo>
                <a:lnTo>
                  <a:pt x="233741" y="232831"/>
                </a:lnTo>
                <a:lnTo>
                  <a:pt x="235920" y="230607"/>
                </a:lnTo>
                <a:lnTo>
                  <a:pt x="238044" y="228384"/>
                </a:lnTo>
                <a:lnTo>
                  <a:pt x="240059" y="226106"/>
                </a:lnTo>
                <a:lnTo>
                  <a:pt x="242019" y="223719"/>
                </a:lnTo>
                <a:lnTo>
                  <a:pt x="243925" y="221387"/>
                </a:lnTo>
                <a:lnTo>
                  <a:pt x="245723" y="219001"/>
                </a:lnTo>
                <a:lnTo>
                  <a:pt x="247465" y="216506"/>
                </a:lnTo>
                <a:lnTo>
                  <a:pt x="249153" y="214066"/>
                </a:lnTo>
                <a:lnTo>
                  <a:pt x="250787" y="211571"/>
                </a:lnTo>
                <a:lnTo>
                  <a:pt x="252312" y="209022"/>
                </a:lnTo>
                <a:lnTo>
                  <a:pt x="253783" y="206473"/>
                </a:lnTo>
                <a:lnTo>
                  <a:pt x="255198" y="203869"/>
                </a:lnTo>
                <a:lnTo>
                  <a:pt x="256560" y="201266"/>
                </a:lnTo>
                <a:lnTo>
                  <a:pt x="257812" y="198609"/>
                </a:lnTo>
                <a:lnTo>
                  <a:pt x="259011" y="196005"/>
                </a:lnTo>
                <a:lnTo>
                  <a:pt x="260154" y="193294"/>
                </a:lnTo>
                <a:lnTo>
                  <a:pt x="261244" y="190582"/>
                </a:lnTo>
                <a:lnTo>
                  <a:pt x="262169" y="187816"/>
                </a:lnTo>
                <a:lnTo>
                  <a:pt x="263150" y="185104"/>
                </a:lnTo>
                <a:lnTo>
                  <a:pt x="263966" y="182338"/>
                </a:lnTo>
                <a:lnTo>
                  <a:pt x="264783" y="179572"/>
                </a:lnTo>
                <a:lnTo>
                  <a:pt x="265491" y="176752"/>
                </a:lnTo>
                <a:lnTo>
                  <a:pt x="266145" y="173932"/>
                </a:lnTo>
                <a:lnTo>
                  <a:pt x="266744" y="171166"/>
                </a:lnTo>
                <a:lnTo>
                  <a:pt x="267234" y="168291"/>
                </a:lnTo>
                <a:lnTo>
                  <a:pt x="267670" y="165471"/>
                </a:lnTo>
                <a:lnTo>
                  <a:pt x="268051" y="162597"/>
                </a:lnTo>
                <a:lnTo>
                  <a:pt x="268378" y="159722"/>
                </a:lnTo>
                <a:lnTo>
                  <a:pt x="268650" y="156902"/>
                </a:lnTo>
                <a:lnTo>
                  <a:pt x="268814" y="154027"/>
                </a:lnTo>
                <a:lnTo>
                  <a:pt x="268922" y="151207"/>
                </a:lnTo>
                <a:lnTo>
                  <a:pt x="268922" y="148333"/>
                </a:lnTo>
                <a:lnTo>
                  <a:pt x="268922" y="145404"/>
                </a:lnTo>
                <a:lnTo>
                  <a:pt x="268814" y="142584"/>
                </a:lnTo>
                <a:lnTo>
                  <a:pt x="268650" y="139709"/>
                </a:lnTo>
                <a:lnTo>
                  <a:pt x="268378" y="136835"/>
                </a:lnTo>
                <a:lnTo>
                  <a:pt x="268051" y="134015"/>
                </a:lnTo>
                <a:lnTo>
                  <a:pt x="267670" y="131140"/>
                </a:lnTo>
                <a:lnTo>
                  <a:pt x="267234" y="128320"/>
                </a:lnTo>
                <a:lnTo>
                  <a:pt x="266744" y="125445"/>
                </a:lnTo>
                <a:lnTo>
                  <a:pt x="266145" y="122625"/>
                </a:lnTo>
                <a:lnTo>
                  <a:pt x="265491" y="119859"/>
                </a:lnTo>
                <a:lnTo>
                  <a:pt x="264783" y="117039"/>
                </a:lnTo>
                <a:lnTo>
                  <a:pt x="263966" y="114273"/>
                </a:lnTo>
                <a:lnTo>
                  <a:pt x="263150" y="111507"/>
                </a:lnTo>
                <a:lnTo>
                  <a:pt x="262169" y="108795"/>
                </a:lnTo>
                <a:lnTo>
                  <a:pt x="261244" y="106030"/>
                </a:lnTo>
                <a:lnTo>
                  <a:pt x="260154" y="103263"/>
                </a:lnTo>
                <a:lnTo>
                  <a:pt x="259011" y="100606"/>
                </a:lnTo>
                <a:lnTo>
                  <a:pt x="257812" y="97949"/>
                </a:lnTo>
                <a:lnTo>
                  <a:pt x="256560" y="95345"/>
                </a:lnTo>
                <a:lnTo>
                  <a:pt x="255198" y="92742"/>
                </a:lnTo>
                <a:lnTo>
                  <a:pt x="253783" y="90139"/>
                </a:lnTo>
                <a:lnTo>
                  <a:pt x="252312" y="87589"/>
                </a:lnTo>
                <a:lnTo>
                  <a:pt x="250787" y="85040"/>
                </a:lnTo>
                <a:lnTo>
                  <a:pt x="249153" y="82546"/>
                </a:lnTo>
                <a:lnTo>
                  <a:pt x="247465" y="80051"/>
                </a:lnTo>
                <a:lnTo>
                  <a:pt x="245723" y="77610"/>
                </a:lnTo>
                <a:lnTo>
                  <a:pt x="243925" y="75224"/>
                </a:lnTo>
                <a:lnTo>
                  <a:pt x="242019" y="72838"/>
                </a:lnTo>
                <a:lnTo>
                  <a:pt x="240059" y="70506"/>
                </a:lnTo>
                <a:lnTo>
                  <a:pt x="238044" y="68228"/>
                </a:lnTo>
                <a:lnTo>
                  <a:pt x="235920" y="65950"/>
                </a:lnTo>
                <a:lnTo>
                  <a:pt x="233741" y="63780"/>
                </a:lnTo>
                <a:lnTo>
                  <a:pt x="231563" y="61611"/>
                </a:lnTo>
                <a:lnTo>
                  <a:pt x="229330" y="59550"/>
                </a:lnTo>
                <a:lnTo>
                  <a:pt x="226988" y="57543"/>
                </a:lnTo>
                <a:lnTo>
                  <a:pt x="224647" y="55591"/>
                </a:lnTo>
                <a:lnTo>
                  <a:pt x="222305" y="53638"/>
                </a:lnTo>
                <a:lnTo>
                  <a:pt x="219854" y="51849"/>
                </a:lnTo>
                <a:lnTo>
                  <a:pt x="217403" y="50113"/>
                </a:lnTo>
                <a:lnTo>
                  <a:pt x="214953" y="48486"/>
                </a:lnTo>
                <a:lnTo>
                  <a:pt x="212393" y="46859"/>
                </a:lnTo>
                <a:lnTo>
                  <a:pt x="209888" y="45341"/>
                </a:lnTo>
                <a:lnTo>
                  <a:pt x="207274" y="43822"/>
                </a:lnTo>
                <a:lnTo>
                  <a:pt x="204714" y="42412"/>
                </a:lnTo>
                <a:lnTo>
                  <a:pt x="202046" y="41056"/>
                </a:lnTo>
                <a:lnTo>
                  <a:pt x="199432" y="39863"/>
                </a:lnTo>
                <a:lnTo>
                  <a:pt x="196763" y="38615"/>
                </a:lnTo>
                <a:lnTo>
                  <a:pt x="194040" y="37476"/>
                </a:lnTo>
                <a:lnTo>
                  <a:pt x="191317" y="36446"/>
                </a:lnTo>
                <a:lnTo>
                  <a:pt x="188594" y="35470"/>
                </a:lnTo>
                <a:lnTo>
                  <a:pt x="185817" y="34548"/>
                </a:lnTo>
                <a:lnTo>
                  <a:pt x="183094" y="33680"/>
                </a:lnTo>
                <a:lnTo>
                  <a:pt x="180262" y="32921"/>
                </a:lnTo>
                <a:lnTo>
                  <a:pt x="177484" y="32161"/>
                </a:lnTo>
                <a:lnTo>
                  <a:pt x="174653" y="31511"/>
                </a:lnTo>
                <a:lnTo>
                  <a:pt x="171821" y="30968"/>
                </a:lnTo>
                <a:lnTo>
                  <a:pt x="168989" y="30426"/>
                </a:lnTo>
                <a:lnTo>
                  <a:pt x="166102" y="29992"/>
                </a:lnTo>
                <a:lnTo>
                  <a:pt x="163270" y="29612"/>
                </a:lnTo>
                <a:lnTo>
                  <a:pt x="160384" y="29341"/>
                </a:lnTo>
                <a:lnTo>
                  <a:pt x="157498" y="29070"/>
                </a:lnTo>
                <a:lnTo>
                  <a:pt x="154666" y="28853"/>
                </a:lnTo>
                <a:lnTo>
                  <a:pt x="151779" y="28745"/>
                </a:lnTo>
                <a:lnTo>
                  <a:pt x="148838" y="28745"/>
                </a:lnTo>
                <a:lnTo>
                  <a:pt x="146007" y="28745"/>
                </a:lnTo>
                <a:moveTo>
                  <a:pt x="148838" y="0"/>
                </a:moveTo>
                <a:lnTo>
                  <a:pt x="152433" y="54"/>
                </a:lnTo>
                <a:lnTo>
                  <a:pt x="156082" y="217"/>
                </a:lnTo>
                <a:lnTo>
                  <a:pt x="159567" y="380"/>
                </a:lnTo>
                <a:lnTo>
                  <a:pt x="163107" y="759"/>
                </a:lnTo>
                <a:lnTo>
                  <a:pt x="166756" y="1085"/>
                </a:lnTo>
                <a:lnTo>
                  <a:pt x="170241" y="1573"/>
                </a:lnTo>
                <a:lnTo>
                  <a:pt x="173781" y="2115"/>
                </a:lnTo>
                <a:lnTo>
                  <a:pt x="177321" y="2766"/>
                </a:lnTo>
                <a:lnTo>
                  <a:pt x="180807" y="3471"/>
                </a:lnTo>
                <a:lnTo>
                  <a:pt x="184292" y="4285"/>
                </a:lnTo>
                <a:lnTo>
                  <a:pt x="187777" y="5152"/>
                </a:lnTo>
                <a:lnTo>
                  <a:pt x="191263" y="6183"/>
                </a:lnTo>
                <a:lnTo>
                  <a:pt x="194694" y="7213"/>
                </a:lnTo>
                <a:lnTo>
                  <a:pt x="198125" y="8352"/>
                </a:lnTo>
                <a:lnTo>
                  <a:pt x="201556" y="9600"/>
                </a:lnTo>
                <a:lnTo>
                  <a:pt x="204932" y="10901"/>
                </a:lnTo>
                <a:lnTo>
                  <a:pt x="208254" y="12311"/>
                </a:lnTo>
                <a:lnTo>
                  <a:pt x="211576" y="13776"/>
                </a:lnTo>
                <a:lnTo>
                  <a:pt x="214898" y="15349"/>
                </a:lnTo>
                <a:lnTo>
                  <a:pt x="218111" y="17030"/>
                </a:lnTo>
                <a:lnTo>
                  <a:pt x="221324" y="18765"/>
                </a:lnTo>
                <a:lnTo>
                  <a:pt x="224538" y="20555"/>
                </a:lnTo>
                <a:lnTo>
                  <a:pt x="227696" y="22453"/>
                </a:lnTo>
                <a:lnTo>
                  <a:pt x="230855" y="24460"/>
                </a:lnTo>
                <a:lnTo>
                  <a:pt x="233850" y="26521"/>
                </a:lnTo>
                <a:lnTo>
                  <a:pt x="236900" y="28690"/>
                </a:lnTo>
                <a:lnTo>
                  <a:pt x="239950" y="30968"/>
                </a:lnTo>
                <a:lnTo>
                  <a:pt x="242836" y="33300"/>
                </a:lnTo>
                <a:lnTo>
                  <a:pt x="245777" y="35687"/>
                </a:lnTo>
                <a:lnTo>
                  <a:pt x="248554" y="38236"/>
                </a:lnTo>
                <a:lnTo>
                  <a:pt x="251386" y="40785"/>
                </a:lnTo>
                <a:lnTo>
                  <a:pt x="254164" y="43497"/>
                </a:lnTo>
                <a:lnTo>
                  <a:pt x="256397" y="45720"/>
                </a:lnTo>
                <a:lnTo>
                  <a:pt x="258575" y="47998"/>
                </a:lnTo>
                <a:lnTo>
                  <a:pt x="260644" y="50384"/>
                </a:lnTo>
                <a:lnTo>
                  <a:pt x="262714" y="52716"/>
                </a:lnTo>
                <a:lnTo>
                  <a:pt x="264729" y="55103"/>
                </a:lnTo>
                <a:lnTo>
                  <a:pt x="266690" y="57598"/>
                </a:lnTo>
                <a:lnTo>
                  <a:pt x="268541" y="60038"/>
                </a:lnTo>
                <a:lnTo>
                  <a:pt x="270393" y="62479"/>
                </a:lnTo>
                <a:lnTo>
                  <a:pt x="272136" y="65082"/>
                </a:lnTo>
                <a:lnTo>
                  <a:pt x="273824" y="67577"/>
                </a:lnTo>
                <a:lnTo>
                  <a:pt x="275458" y="70180"/>
                </a:lnTo>
                <a:lnTo>
                  <a:pt x="277037" y="72783"/>
                </a:lnTo>
                <a:lnTo>
                  <a:pt x="278562" y="75441"/>
                </a:lnTo>
                <a:lnTo>
                  <a:pt x="280032" y="78044"/>
                </a:lnTo>
                <a:lnTo>
                  <a:pt x="281448" y="80756"/>
                </a:lnTo>
                <a:lnTo>
                  <a:pt x="282810" y="83414"/>
                </a:lnTo>
                <a:lnTo>
                  <a:pt x="284062" y="86179"/>
                </a:lnTo>
                <a:lnTo>
                  <a:pt x="285315" y="88891"/>
                </a:lnTo>
                <a:lnTo>
                  <a:pt x="286513" y="91657"/>
                </a:lnTo>
                <a:lnTo>
                  <a:pt x="287602" y="94423"/>
                </a:lnTo>
                <a:lnTo>
                  <a:pt x="288691" y="97243"/>
                </a:lnTo>
                <a:lnTo>
                  <a:pt x="289726" y="100064"/>
                </a:lnTo>
                <a:lnTo>
                  <a:pt x="290597" y="102830"/>
                </a:lnTo>
                <a:lnTo>
                  <a:pt x="291523" y="105704"/>
                </a:lnTo>
                <a:lnTo>
                  <a:pt x="292340" y="108524"/>
                </a:lnTo>
                <a:lnTo>
                  <a:pt x="293048" y="111399"/>
                </a:lnTo>
                <a:lnTo>
                  <a:pt x="293811" y="114327"/>
                </a:lnTo>
                <a:lnTo>
                  <a:pt x="294464" y="117148"/>
                </a:lnTo>
                <a:lnTo>
                  <a:pt x="295063" y="120076"/>
                </a:lnTo>
                <a:lnTo>
                  <a:pt x="295553" y="123005"/>
                </a:lnTo>
                <a:lnTo>
                  <a:pt x="296043" y="125880"/>
                </a:lnTo>
                <a:lnTo>
                  <a:pt x="296425" y="128862"/>
                </a:lnTo>
                <a:lnTo>
                  <a:pt x="296860" y="131791"/>
                </a:lnTo>
                <a:lnTo>
                  <a:pt x="297133" y="134720"/>
                </a:lnTo>
                <a:lnTo>
                  <a:pt x="297350" y="137648"/>
                </a:lnTo>
                <a:lnTo>
                  <a:pt x="297514" y="140631"/>
                </a:lnTo>
                <a:lnTo>
                  <a:pt x="297677" y="143506"/>
                </a:lnTo>
                <a:lnTo>
                  <a:pt x="297731" y="146489"/>
                </a:lnTo>
                <a:lnTo>
                  <a:pt x="297731" y="149472"/>
                </a:lnTo>
                <a:lnTo>
                  <a:pt x="297677" y="152346"/>
                </a:lnTo>
                <a:lnTo>
                  <a:pt x="297568" y="155329"/>
                </a:lnTo>
                <a:lnTo>
                  <a:pt x="297405" y="158312"/>
                </a:lnTo>
                <a:lnTo>
                  <a:pt x="297187" y="161186"/>
                </a:lnTo>
                <a:lnTo>
                  <a:pt x="296915" y="164169"/>
                </a:lnTo>
                <a:lnTo>
                  <a:pt x="296533" y="167044"/>
                </a:lnTo>
                <a:lnTo>
                  <a:pt x="296098" y="169972"/>
                </a:lnTo>
                <a:lnTo>
                  <a:pt x="295662" y="172955"/>
                </a:lnTo>
                <a:lnTo>
                  <a:pt x="295172" y="175830"/>
                </a:lnTo>
                <a:lnTo>
                  <a:pt x="294573" y="178704"/>
                </a:lnTo>
                <a:lnTo>
                  <a:pt x="293919" y="181633"/>
                </a:lnTo>
                <a:lnTo>
                  <a:pt x="293266" y="184507"/>
                </a:lnTo>
                <a:lnTo>
                  <a:pt x="292503" y="187382"/>
                </a:lnTo>
                <a:lnTo>
                  <a:pt x="291687" y="190256"/>
                </a:lnTo>
                <a:lnTo>
                  <a:pt x="290815" y="193077"/>
                </a:lnTo>
                <a:lnTo>
                  <a:pt x="289889" y="195897"/>
                </a:lnTo>
                <a:lnTo>
                  <a:pt x="288855" y="198717"/>
                </a:lnTo>
                <a:lnTo>
                  <a:pt x="287874" y="201537"/>
                </a:lnTo>
                <a:lnTo>
                  <a:pt x="286731" y="204249"/>
                </a:lnTo>
                <a:lnTo>
                  <a:pt x="285533" y="207069"/>
                </a:lnTo>
                <a:lnTo>
                  <a:pt x="284389" y="209835"/>
                </a:lnTo>
                <a:lnTo>
                  <a:pt x="283082" y="212547"/>
                </a:lnTo>
                <a:lnTo>
                  <a:pt x="281720" y="215259"/>
                </a:lnTo>
                <a:lnTo>
                  <a:pt x="280304" y="217916"/>
                </a:lnTo>
                <a:lnTo>
                  <a:pt x="278834" y="220574"/>
                </a:lnTo>
                <a:lnTo>
                  <a:pt x="368584" y="309899"/>
                </a:lnTo>
                <a:lnTo>
                  <a:pt x="370054" y="311417"/>
                </a:lnTo>
                <a:lnTo>
                  <a:pt x="371361" y="312990"/>
                </a:lnTo>
                <a:lnTo>
                  <a:pt x="372668" y="314563"/>
                </a:lnTo>
                <a:lnTo>
                  <a:pt x="373921" y="316190"/>
                </a:lnTo>
                <a:lnTo>
                  <a:pt x="374956" y="317871"/>
                </a:lnTo>
                <a:lnTo>
                  <a:pt x="376045" y="319553"/>
                </a:lnTo>
                <a:lnTo>
                  <a:pt x="377025" y="321288"/>
                </a:lnTo>
                <a:lnTo>
                  <a:pt x="377842" y="323024"/>
                </a:lnTo>
                <a:lnTo>
                  <a:pt x="378659" y="324759"/>
                </a:lnTo>
                <a:lnTo>
                  <a:pt x="379312" y="326549"/>
                </a:lnTo>
                <a:lnTo>
                  <a:pt x="379911" y="328339"/>
                </a:lnTo>
                <a:lnTo>
                  <a:pt x="380456" y="330129"/>
                </a:lnTo>
                <a:lnTo>
                  <a:pt x="380892" y="331918"/>
                </a:lnTo>
                <a:lnTo>
                  <a:pt x="381218" y="333708"/>
                </a:lnTo>
                <a:lnTo>
                  <a:pt x="381491" y="335552"/>
                </a:lnTo>
                <a:lnTo>
                  <a:pt x="381654" y="337342"/>
                </a:lnTo>
                <a:lnTo>
                  <a:pt x="381763" y="339132"/>
                </a:lnTo>
                <a:lnTo>
                  <a:pt x="381763" y="340921"/>
                </a:lnTo>
                <a:lnTo>
                  <a:pt x="381708" y="342711"/>
                </a:lnTo>
                <a:lnTo>
                  <a:pt x="381545" y="344446"/>
                </a:lnTo>
                <a:lnTo>
                  <a:pt x="381327" y="346182"/>
                </a:lnTo>
                <a:lnTo>
                  <a:pt x="381000" y="347918"/>
                </a:lnTo>
                <a:lnTo>
                  <a:pt x="380565" y="349599"/>
                </a:lnTo>
                <a:lnTo>
                  <a:pt x="380020" y="351226"/>
                </a:lnTo>
                <a:lnTo>
                  <a:pt x="379421" y="352853"/>
                </a:lnTo>
                <a:lnTo>
                  <a:pt x="378768" y="354426"/>
                </a:lnTo>
                <a:lnTo>
                  <a:pt x="377951" y="355999"/>
                </a:lnTo>
                <a:lnTo>
                  <a:pt x="377079" y="357517"/>
                </a:lnTo>
                <a:lnTo>
                  <a:pt x="376099" y="358981"/>
                </a:lnTo>
                <a:lnTo>
                  <a:pt x="375119" y="360392"/>
                </a:lnTo>
                <a:lnTo>
                  <a:pt x="373921" y="361693"/>
                </a:lnTo>
                <a:lnTo>
                  <a:pt x="372668" y="362995"/>
                </a:lnTo>
                <a:lnTo>
                  <a:pt x="364499" y="371184"/>
                </a:lnTo>
                <a:lnTo>
                  <a:pt x="363192" y="372377"/>
                </a:lnTo>
                <a:lnTo>
                  <a:pt x="361831" y="373571"/>
                </a:lnTo>
                <a:lnTo>
                  <a:pt x="360415" y="374601"/>
                </a:lnTo>
                <a:lnTo>
                  <a:pt x="358944" y="375523"/>
                </a:lnTo>
                <a:lnTo>
                  <a:pt x="357474" y="376445"/>
                </a:lnTo>
                <a:lnTo>
                  <a:pt x="355895" y="377204"/>
                </a:lnTo>
                <a:lnTo>
                  <a:pt x="354315" y="377909"/>
                </a:lnTo>
                <a:lnTo>
                  <a:pt x="352681" y="378506"/>
                </a:lnTo>
                <a:lnTo>
                  <a:pt x="350993" y="378994"/>
                </a:lnTo>
                <a:lnTo>
                  <a:pt x="349305" y="379428"/>
                </a:lnTo>
                <a:lnTo>
                  <a:pt x="347562" y="379808"/>
                </a:lnTo>
                <a:lnTo>
                  <a:pt x="345820" y="380025"/>
                </a:lnTo>
                <a:lnTo>
                  <a:pt x="344077" y="380187"/>
                </a:lnTo>
                <a:lnTo>
                  <a:pt x="342280" y="380242"/>
                </a:lnTo>
                <a:lnTo>
                  <a:pt x="340482" y="380242"/>
                </a:lnTo>
                <a:lnTo>
                  <a:pt x="338685" y="380187"/>
                </a:lnTo>
                <a:lnTo>
                  <a:pt x="336888" y="379970"/>
                </a:lnTo>
                <a:lnTo>
                  <a:pt x="335036" y="379753"/>
                </a:lnTo>
                <a:lnTo>
                  <a:pt x="333239" y="379320"/>
                </a:lnTo>
                <a:lnTo>
                  <a:pt x="331442" y="378886"/>
                </a:lnTo>
                <a:lnTo>
                  <a:pt x="329645" y="378398"/>
                </a:lnTo>
                <a:lnTo>
                  <a:pt x="327848" y="377747"/>
                </a:lnTo>
                <a:lnTo>
                  <a:pt x="326051" y="377096"/>
                </a:lnTo>
                <a:lnTo>
                  <a:pt x="324308" y="376337"/>
                </a:lnTo>
                <a:lnTo>
                  <a:pt x="322565" y="375469"/>
                </a:lnTo>
                <a:lnTo>
                  <a:pt x="320822" y="374547"/>
                </a:lnTo>
                <a:lnTo>
                  <a:pt x="319134" y="373462"/>
                </a:lnTo>
                <a:lnTo>
                  <a:pt x="317446" y="372377"/>
                </a:lnTo>
                <a:lnTo>
                  <a:pt x="315812" y="371184"/>
                </a:lnTo>
                <a:lnTo>
                  <a:pt x="314233" y="369883"/>
                </a:lnTo>
                <a:lnTo>
                  <a:pt x="312654" y="368527"/>
                </a:lnTo>
                <a:lnTo>
                  <a:pt x="311183" y="367063"/>
                </a:lnTo>
                <a:lnTo>
                  <a:pt x="221433" y="277738"/>
                </a:lnTo>
                <a:lnTo>
                  <a:pt x="218819" y="279202"/>
                </a:lnTo>
                <a:lnTo>
                  <a:pt x="216096" y="280612"/>
                </a:lnTo>
                <a:lnTo>
                  <a:pt x="213373" y="281913"/>
                </a:lnTo>
                <a:lnTo>
                  <a:pt x="210650" y="283215"/>
                </a:lnTo>
                <a:lnTo>
                  <a:pt x="207927" y="284408"/>
                </a:lnTo>
                <a:lnTo>
                  <a:pt x="205096" y="285547"/>
                </a:lnTo>
                <a:lnTo>
                  <a:pt x="202372" y="286686"/>
                </a:lnTo>
                <a:lnTo>
                  <a:pt x="199541" y="287717"/>
                </a:lnTo>
                <a:lnTo>
                  <a:pt x="196654" y="288693"/>
                </a:lnTo>
                <a:lnTo>
                  <a:pt x="193877" y="289669"/>
                </a:lnTo>
                <a:lnTo>
                  <a:pt x="190990" y="290483"/>
                </a:lnTo>
                <a:lnTo>
                  <a:pt x="188159" y="291350"/>
                </a:lnTo>
                <a:lnTo>
                  <a:pt x="185272" y="292055"/>
                </a:lnTo>
                <a:lnTo>
                  <a:pt x="182331" y="292706"/>
                </a:lnTo>
                <a:lnTo>
                  <a:pt x="179445" y="293411"/>
                </a:lnTo>
                <a:lnTo>
                  <a:pt x="176504" y="293954"/>
                </a:lnTo>
                <a:lnTo>
                  <a:pt x="173563" y="294442"/>
                </a:lnTo>
                <a:lnTo>
                  <a:pt x="170677" y="294984"/>
                </a:lnTo>
                <a:lnTo>
                  <a:pt x="167736" y="295364"/>
                </a:lnTo>
                <a:lnTo>
                  <a:pt x="164795" y="295689"/>
                </a:lnTo>
                <a:lnTo>
                  <a:pt x="161854" y="295960"/>
                </a:lnTo>
                <a:lnTo>
                  <a:pt x="158914" y="296177"/>
                </a:lnTo>
                <a:lnTo>
                  <a:pt x="155918" y="296340"/>
                </a:lnTo>
                <a:lnTo>
                  <a:pt x="152978" y="296503"/>
                </a:lnTo>
                <a:lnTo>
                  <a:pt x="150037" y="296557"/>
                </a:lnTo>
                <a:lnTo>
                  <a:pt x="147041" y="296557"/>
                </a:lnTo>
                <a:lnTo>
                  <a:pt x="144100" y="296503"/>
                </a:lnTo>
                <a:lnTo>
                  <a:pt x="141160" y="296340"/>
                </a:lnTo>
                <a:lnTo>
                  <a:pt x="138164" y="296123"/>
                </a:lnTo>
                <a:lnTo>
                  <a:pt x="135224" y="295906"/>
                </a:lnTo>
                <a:lnTo>
                  <a:pt x="132283" y="295635"/>
                </a:lnTo>
                <a:lnTo>
                  <a:pt x="129396" y="295255"/>
                </a:lnTo>
                <a:lnTo>
                  <a:pt x="126401" y="294876"/>
                </a:lnTo>
                <a:lnTo>
                  <a:pt x="123460" y="294388"/>
                </a:lnTo>
                <a:lnTo>
                  <a:pt x="120574" y="293845"/>
                </a:lnTo>
                <a:lnTo>
                  <a:pt x="117633" y="293303"/>
                </a:lnTo>
                <a:lnTo>
                  <a:pt x="114747" y="292598"/>
                </a:lnTo>
                <a:lnTo>
                  <a:pt x="111860" y="291893"/>
                </a:lnTo>
                <a:lnTo>
                  <a:pt x="108974" y="291188"/>
                </a:lnTo>
                <a:lnTo>
                  <a:pt x="106088" y="290320"/>
                </a:lnTo>
                <a:lnTo>
                  <a:pt x="103256" y="289452"/>
                </a:lnTo>
                <a:lnTo>
                  <a:pt x="100424" y="288530"/>
                </a:lnTo>
                <a:lnTo>
                  <a:pt x="97646" y="287500"/>
                </a:lnTo>
                <a:lnTo>
                  <a:pt x="94814" y="286469"/>
                </a:lnTo>
                <a:lnTo>
                  <a:pt x="92037" y="285330"/>
                </a:lnTo>
                <a:lnTo>
                  <a:pt x="89260" y="284191"/>
                </a:lnTo>
                <a:lnTo>
                  <a:pt x="86482" y="282944"/>
                </a:lnTo>
                <a:lnTo>
                  <a:pt x="83759" y="281642"/>
                </a:lnTo>
                <a:lnTo>
                  <a:pt x="81036" y="280286"/>
                </a:lnTo>
                <a:lnTo>
                  <a:pt x="78368" y="278931"/>
                </a:lnTo>
                <a:lnTo>
                  <a:pt x="75699" y="277466"/>
                </a:lnTo>
                <a:lnTo>
                  <a:pt x="73085" y="275948"/>
                </a:lnTo>
                <a:lnTo>
                  <a:pt x="70417" y="274375"/>
                </a:lnTo>
                <a:lnTo>
                  <a:pt x="67857" y="272694"/>
                </a:lnTo>
                <a:lnTo>
                  <a:pt x="65352" y="271012"/>
                </a:lnTo>
                <a:lnTo>
                  <a:pt x="62738" y="269277"/>
                </a:lnTo>
                <a:lnTo>
                  <a:pt x="60287" y="267433"/>
                </a:lnTo>
                <a:lnTo>
                  <a:pt x="57782" y="265589"/>
                </a:lnTo>
                <a:lnTo>
                  <a:pt x="55331" y="263636"/>
                </a:lnTo>
                <a:lnTo>
                  <a:pt x="52935" y="261684"/>
                </a:lnTo>
                <a:lnTo>
                  <a:pt x="50539" y="259623"/>
                </a:lnTo>
                <a:lnTo>
                  <a:pt x="48197" y="257562"/>
                </a:lnTo>
                <a:lnTo>
                  <a:pt x="45910" y="255338"/>
                </a:lnTo>
                <a:lnTo>
                  <a:pt x="43622" y="253115"/>
                </a:lnTo>
                <a:lnTo>
                  <a:pt x="40954" y="250403"/>
                </a:lnTo>
                <a:lnTo>
                  <a:pt x="38340" y="247637"/>
                </a:lnTo>
                <a:lnTo>
                  <a:pt x="35834" y="244763"/>
                </a:lnTo>
                <a:lnTo>
                  <a:pt x="33438" y="241888"/>
                </a:lnTo>
                <a:lnTo>
                  <a:pt x="31042" y="238959"/>
                </a:lnTo>
                <a:lnTo>
                  <a:pt x="28809" y="235922"/>
                </a:lnTo>
                <a:lnTo>
                  <a:pt x="26631" y="232939"/>
                </a:lnTo>
                <a:lnTo>
                  <a:pt x="24561" y="229902"/>
                </a:lnTo>
                <a:lnTo>
                  <a:pt x="22546" y="226757"/>
                </a:lnTo>
                <a:lnTo>
                  <a:pt x="20586" y="223611"/>
                </a:lnTo>
                <a:lnTo>
                  <a:pt x="18789" y="220465"/>
                </a:lnTo>
                <a:lnTo>
                  <a:pt x="17046" y="217265"/>
                </a:lnTo>
                <a:lnTo>
                  <a:pt x="15412" y="214011"/>
                </a:lnTo>
                <a:lnTo>
                  <a:pt x="13833" y="210703"/>
                </a:lnTo>
                <a:lnTo>
                  <a:pt x="12308" y="207395"/>
                </a:lnTo>
                <a:lnTo>
                  <a:pt x="10892" y="204086"/>
                </a:lnTo>
                <a:lnTo>
                  <a:pt x="9585" y="200724"/>
                </a:lnTo>
                <a:lnTo>
                  <a:pt x="8387" y="197361"/>
                </a:lnTo>
                <a:lnTo>
                  <a:pt x="7243" y="193944"/>
                </a:lnTo>
                <a:lnTo>
                  <a:pt x="6154" y="190528"/>
                </a:lnTo>
                <a:lnTo>
                  <a:pt x="5174" y="187057"/>
                </a:lnTo>
                <a:lnTo>
                  <a:pt x="4248" y="183585"/>
                </a:lnTo>
                <a:lnTo>
                  <a:pt x="3485" y="180114"/>
                </a:lnTo>
                <a:lnTo>
                  <a:pt x="2723" y="176643"/>
                </a:lnTo>
                <a:lnTo>
                  <a:pt x="2124" y="173118"/>
                </a:lnTo>
                <a:lnTo>
                  <a:pt x="1579" y="169593"/>
                </a:lnTo>
                <a:lnTo>
                  <a:pt x="1035" y="166068"/>
                </a:lnTo>
                <a:lnTo>
                  <a:pt x="708" y="162542"/>
                </a:lnTo>
                <a:lnTo>
                  <a:pt x="381" y="158963"/>
                </a:lnTo>
                <a:lnTo>
                  <a:pt x="163" y="155437"/>
                </a:lnTo>
                <a:lnTo>
                  <a:pt x="55" y="151858"/>
                </a:lnTo>
                <a:lnTo>
                  <a:pt x="0" y="148333"/>
                </a:lnTo>
                <a:lnTo>
                  <a:pt x="55" y="144753"/>
                </a:lnTo>
                <a:lnTo>
                  <a:pt x="163" y="141174"/>
                </a:lnTo>
                <a:lnTo>
                  <a:pt x="381" y="137648"/>
                </a:lnTo>
                <a:lnTo>
                  <a:pt x="708" y="134069"/>
                </a:lnTo>
                <a:lnTo>
                  <a:pt x="1035" y="130544"/>
                </a:lnTo>
                <a:lnTo>
                  <a:pt x="1579" y="127019"/>
                </a:lnTo>
                <a:lnTo>
                  <a:pt x="2124" y="123493"/>
                </a:lnTo>
                <a:lnTo>
                  <a:pt x="2723" y="119968"/>
                </a:lnTo>
                <a:lnTo>
                  <a:pt x="3485" y="116497"/>
                </a:lnTo>
                <a:lnTo>
                  <a:pt x="4248" y="113026"/>
                </a:lnTo>
                <a:lnTo>
                  <a:pt x="5174" y="109555"/>
                </a:lnTo>
                <a:lnTo>
                  <a:pt x="6154" y="106084"/>
                </a:lnTo>
                <a:lnTo>
                  <a:pt x="7243" y="102667"/>
                </a:lnTo>
                <a:lnTo>
                  <a:pt x="8387" y="99250"/>
                </a:lnTo>
                <a:lnTo>
                  <a:pt x="9585" y="95833"/>
                </a:lnTo>
                <a:lnTo>
                  <a:pt x="10892" y="92471"/>
                </a:lnTo>
                <a:lnTo>
                  <a:pt x="12308" y="89217"/>
                </a:lnTo>
                <a:lnTo>
                  <a:pt x="13833" y="85908"/>
                </a:lnTo>
                <a:lnTo>
                  <a:pt x="15412" y="82600"/>
                </a:lnTo>
                <a:lnTo>
                  <a:pt x="17046" y="79346"/>
                </a:lnTo>
                <a:lnTo>
                  <a:pt x="18789" y="76146"/>
                </a:lnTo>
                <a:lnTo>
                  <a:pt x="20586" y="72946"/>
                </a:lnTo>
                <a:lnTo>
                  <a:pt x="22546" y="69855"/>
                </a:lnTo>
                <a:lnTo>
                  <a:pt x="24561" y="66709"/>
                </a:lnTo>
                <a:lnTo>
                  <a:pt x="26631" y="63672"/>
                </a:lnTo>
                <a:lnTo>
                  <a:pt x="28809" y="60635"/>
                </a:lnTo>
                <a:lnTo>
                  <a:pt x="31042" y="57652"/>
                </a:lnTo>
                <a:lnTo>
                  <a:pt x="33438" y="54723"/>
                </a:lnTo>
                <a:lnTo>
                  <a:pt x="35834" y="51794"/>
                </a:lnTo>
                <a:lnTo>
                  <a:pt x="38340" y="48974"/>
                </a:lnTo>
                <a:lnTo>
                  <a:pt x="40954" y="46208"/>
                </a:lnTo>
                <a:lnTo>
                  <a:pt x="43622" y="43497"/>
                </a:lnTo>
                <a:lnTo>
                  <a:pt x="46400" y="40785"/>
                </a:lnTo>
                <a:lnTo>
                  <a:pt x="49123" y="38236"/>
                </a:lnTo>
                <a:lnTo>
                  <a:pt x="52009" y="35687"/>
                </a:lnTo>
                <a:lnTo>
                  <a:pt x="54950" y="33300"/>
                </a:lnTo>
                <a:lnTo>
                  <a:pt x="57836" y="30968"/>
                </a:lnTo>
                <a:lnTo>
                  <a:pt x="60886" y="28690"/>
                </a:lnTo>
                <a:lnTo>
                  <a:pt x="63936" y="26521"/>
                </a:lnTo>
                <a:lnTo>
                  <a:pt x="66931" y="24460"/>
                </a:lnTo>
                <a:lnTo>
                  <a:pt x="70090" y="22453"/>
                </a:lnTo>
                <a:lnTo>
                  <a:pt x="73248" y="20555"/>
                </a:lnTo>
                <a:lnTo>
                  <a:pt x="76462" y="18765"/>
                </a:lnTo>
                <a:lnTo>
                  <a:pt x="79675" y="17030"/>
                </a:lnTo>
                <a:lnTo>
                  <a:pt x="82888" y="15349"/>
                </a:lnTo>
                <a:lnTo>
                  <a:pt x="86210" y="13776"/>
                </a:lnTo>
                <a:lnTo>
                  <a:pt x="89532" y="12311"/>
                </a:lnTo>
                <a:lnTo>
                  <a:pt x="92854" y="10901"/>
                </a:lnTo>
                <a:lnTo>
                  <a:pt x="96230" y="9600"/>
                </a:lnTo>
                <a:lnTo>
                  <a:pt x="99661" y="8352"/>
                </a:lnTo>
                <a:lnTo>
                  <a:pt x="103092" y="7213"/>
                </a:lnTo>
                <a:lnTo>
                  <a:pt x="106523" y="6183"/>
                </a:lnTo>
                <a:lnTo>
                  <a:pt x="110009" y="5152"/>
                </a:lnTo>
                <a:lnTo>
                  <a:pt x="113494" y="4285"/>
                </a:lnTo>
                <a:lnTo>
                  <a:pt x="116979" y="3471"/>
                </a:lnTo>
                <a:lnTo>
                  <a:pt x="120465" y="2766"/>
                </a:lnTo>
                <a:lnTo>
                  <a:pt x="123951" y="2115"/>
                </a:lnTo>
                <a:lnTo>
                  <a:pt x="127490" y="1573"/>
                </a:lnTo>
                <a:lnTo>
                  <a:pt x="131030" y="1085"/>
                </a:lnTo>
                <a:lnTo>
                  <a:pt x="134570" y="759"/>
                </a:lnTo>
                <a:lnTo>
                  <a:pt x="138164" y="380"/>
                </a:lnTo>
                <a:lnTo>
                  <a:pt x="141704" y="217"/>
                </a:lnTo>
                <a:lnTo>
                  <a:pt x="145299" y="54"/>
                </a:lnTo>
                <a:lnTo>
                  <a:pt x="148838" y="0"/>
                </a:lnTo>
                <a:close/>
                <a:close/>
                <a:close/>
              </a:path>
            </a:pathLst>
          </a:custGeom>
          <a:solidFill>
            <a:srgbClr val="FFFFFF"/>
          </a:solidFill>
        </p:spPr>
      </p:sp>
      <p:sp>
        <p:nvSpPr>
          <p:cNvPr id="18" name="Text 16"/>
          <p:cNvSpPr/>
          <p:nvPr/>
        </p:nvSpPr>
        <p:spPr>
          <a:xfrm>
            <a:off x="2062176" y="2124076"/>
            <a:ext cx="398463" cy="39687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1914538" y="4084764"/>
            <a:ext cx="704850" cy="730250"/>
          </a:xfrm>
          <a:custGeom>
            <a:avLst/>
            <a:gdLst/>
            <a:ahLst/>
            <a:cxnLst/>
            <a:rect l="l" t="t" r="r" b="b"/>
            <a:pathLst>
              <a:path w="704850" h="730250">
                <a:moveTo>
                  <a:pt x="0" y="0"/>
                </a:moveTo>
                <a:lnTo>
                  <a:pt x="704850" y="0"/>
                </a:lnTo>
                <a:lnTo>
                  <a:pt x="704850" y="730250"/>
                </a:lnTo>
                <a:lnTo>
                  <a:pt x="0" y="730250"/>
                </a:lnTo>
                <a:close/>
              </a:path>
            </a:pathLst>
          </a:custGeom>
          <a:solidFill>
            <a:srgbClr val="616161"/>
          </a:solidFill>
        </p:spPr>
      </p:sp>
      <p:sp>
        <p:nvSpPr>
          <p:cNvPr id="20" name="Text 18"/>
          <p:cNvSpPr/>
          <p:nvPr/>
        </p:nvSpPr>
        <p:spPr>
          <a:xfrm>
            <a:off x="1914538" y="4084764"/>
            <a:ext cx="704850" cy="73025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1779601" y="3945064"/>
            <a:ext cx="974725" cy="1009650"/>
          </a:xfrm>
          <a:custGeom>
            <a:avLst/>
            <a:gdLst/>
            <a:ahLst/>
            <a:cxnLst/>
            <a:rect l="l" t="t" r="r" b="b"/>
            <a:pathLst>
              <a:path w="974725" h="1009650">
                <a:moveTo>
                  <a:pt x="916351" y="571856"/>
                </a:moveTo>
                <a:lnTo>
                  <a:pt x="933873" y="571856"/>
                </a:lnTo>
                <a:lnTo>
                  <a:pt x="933873" y="967334"/>
                </a:lnTo>
                <a:lnTo>
                  <a:pt x="555038" y="967334"/>
                </a:lnTo>
                <a:lnTo>
                  <a:pt x="555038" y="949183"/>
                </a:lnTo>
                <a:lnTo>
                  <a:pt x="916351" y="949183"/>
                </a:lnTo>
                <a:moveTo>
                  <a:pt x="0" y="571856"/>
                </a:moveTo>
                <a:lnTo>
                  <a:pt x="17521" y="571856"/>
                </a:lnTo>
                <a:lnTo>
                  <a:pt x="17521" y="949183"/>
                </a:lnTo>
                <a:lnTo>
                  <a:pt x="378835" y="949183"/>
                </a:lnTo>
                <a:lnTo>
                  <a:pt x="378835" y="967334"/>
                </a:lnTo>
                <a:lnTo>
                  <a:pt x="0" y="967334"/>
                </a:lnTo>
                <a:moveTo>
                  <a:pt x="555038" y="0"/>
                </a:moveTo>
                <a:lnTo>
                  <a:pt x="933873" y="0"/>
                </a:lnTo>
                <a:lnTo>
                  <a:pt x="933873" y="395476"/>
                </a:lnTo>
                <a:lnTo>
                  <a:pt x="916351" y="395476"/>
                </a:lnTo>
                <a:lnTo>
                  <a:pt x="916351" y="18150"/>
                </a:lnTo>
                <a:lnTo>
                  <a:pt x="555038" y="18150"/>
                </a:lnTo>
                <a:moveTo>
                  <a:pt x="0" y="0"/>
                </a:moveTo>
                <a:lnTo>
                  <a:pt x="378835" y="0"/>
                </a:lnTo>
                <a:lnTo>
                  <a:pt x="378835" y="18150"/>
                </a:lnTo>
                <a:lnTo>
                  <a:pt x="17521" y="18150"/>
                </a:lnTo>
                <a:lnTo>
                  <a:pt x="17521" y="395476"/>
                </a:lnTo>
                <a:lnTo>
                  <a:pt x="0" y="395476"/>
                </a:lnTo>
                <a:close/>
                <a:close/>
                <a:close/>
                <a:close/>
              </a:path>
            </a:pathLst>
          </a:custGeom>
          <a:solidFill>
            <a:srgbClr val="616161"/>
          </a:solidFill>
        </p:spPr>
      </p:sp>
      <p:sp>
        <p:nvSpPr>
          <p:cNvPr id="22" name="Text 20"/>
          <p:cNvSpPr/>
          <p:nvPr/>
        </p:nvSpPr>
        <p:spPr>
          <a:xfrm>
            <a:off x="1779601" y="3945064"/>
            <a:ext cx="974725" cy="100965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a:off x="2079639" y="4253039"/>
            <a:ext cx="396875" cy="393700"/>
          </a:xfrm>
          <a:custGeom>
            <a:avLst/>
            <a:gdLst/>
            <a:ahLst/>
            <a:cxnLst/>
            <a:rect l="l" t="t" r="r" b="b"/>
            <a:pathLst>
              <a:path w="396875" h="393700">
                <a:moveTo>
                  <a:pt x="121089" y="277457"/>
                </a:moveTo>
                <a:lnTo>
                  <a:pt x="125915" y="287885"/>
                </a:lnTo>
                <a:lnTo>
                  <a:pt x="126422" y="288325"/>
                </a:lnTo>
                <a:lnTo>
                  <a:pt x="126803" y="288953"/>
                </a:lnTo>
                <a:lnTo>
                  <a:pt x="127375" y="289770"/>
                </a:lnTo>
                <a:lnTo>
                  <a:pt x="127756" y="290586"/>
                </a:lnTo>
                <a:lnTo>
                  <a:pt x="127883" y="291089"/>
                </a:lnTo>
                <a:lnTo>
                  <a:pt x="128010" y="291591"/>
                </a:lnTo>
                <a:lnTo>
                  <a:pt x="128010" y="292094"/>
                </a:lnTo>
                <a:lnTo>
                  <a:pt x="128010" y="292596"/>
                </a:lnTo>
                <a:lnTo>
                  <a:pt x="127883" y="293099"/>
                </a:lnTo>
                <a:lnTo>
                  <a:pt x="127692" y="293602"/>
                </a:lnTo>
                <a:lnTo>
                  <a:pt x="127502" y="293853"/>
                </a:lnTo>
                <a:lnTo>
                  <a:pt x="127184" y="294167"/>
                </a:lnTo>
                <a:lnTo>
                  <a:pt x="126803" y="294292"/>
                </a:lnTo>
                <a:lnTo>
                  <a:pt x="126359" y="294355"/>
                </a:lnTo>
                <a:lnTo>
                  <a:pt x="125787" y="294418"/>
                </a:lnTo>
                <a:lnTo>
                  <a:pt x="125280" y="294355"/>
                </a:lnTo>
                <a:lnTo>
                  <a:pt x="124708" y="294292"/>
                </a:lnTo>
                <a:lnTo>
                  <a:pt x="124137" y="294104"/>
                </a:lnTo>
                <a:lnTo>
                  <a:pt x="123502" y="293853"/>
                </a:lnTo>
                <a:lnTo>
                  <a:pt x="122930" y="293602"/>
                </a:lnTo>
                <a:lnTo>
                  <a:pt x="122295" y="293287"/>
                </a:lnTo>
                <a:lnTo>
                  <a:pt x="121724" y="292911"/>
                </a:lnTo>
                <a:lnTo>
                  <a:pt x="121153" y="292471"/>
                </a:lnTo>
                <a:lnTo>
                  <a:pt x="120708" y="292031"/>
                </a:lnTo>
                <a:lnTo>
                  <a:pt x="120264" y="291466"/>
                </a:lnTo>
                <a:lnTo>
                  <a:pt x="119946" y="290963"/>
                </a:lnTo>
                <a:lnTo>
                  <a:pt x="119121" y="289518"/>
                </a:lnTo>
                <a:lnTo>
                  <a:pt x="118613" y="288450"/>
                </a:lnTo>
                <a:lnTo>
                  <a:pt x="118232" y="287634"/>
                </a:lnTo>
                <a:lnTo>
                  <a:pt x="118105" y="286943"/>
                </a:lnTo>
                <a:lnTo>
                  <a:pt x="118105" y="286252"/>
                </a:lnTo>
                <a:lnTo>
                  <a:pt x="118232" y="285561"/>
                </a:lnTo>
                <a:lnTo>
                  <a:pt x="118677" y="283550"/>
                </a:lnTo>
                <a:lnTo>
                  <a:pt x="118803" y="282922"/>
                </a:lnTo>
                <a:lnTo>
                  <a:pt x="118803" y="282608"/>
                </a:lnTo>
                <a:lnTo>
                  <a:pt x="118677" y="282420"/>
                </a:lnTo>
                <a:lnTo>
                  <a:pt x="118550" y="282357"/>
                </a:lnTo>
                <a:lnTo>
                  <a:pt x="118169" y="282357"/>
                </a:lnTo>
                <a:lnTo>
                  <a:pt x="118042" y="282294"/>
                </a:lnTo>
                <a:lnTo>
                  <a:pt x="117978" y="282231"/>
                </a:lnTo>
                <a:lnTo>
                  <a:pt x="117470" y="280975"/>
                </a:lnTo>
                <a:lnTo>
                  <a:pt x="117216" y="280346"/>
                </a:lnTo>
                <a:lnTo>
                  <a:pt x="117153" y="280032"/>
                </a:lnTo>
                <a:lnTo>
                  <a:pt x="117153" y="279781"/>
                </a:lnTo>
                <a:lnTo>
                  <a:pt x="118042" y="279153"/>
                </a:lnTo>
                <a:lnTo>
                  <a:pt x="118867" y="278650"/>
                </a:lnTo>
                <a:lnTo>
                  <a:pt x="119438" y="278273"/>
                </a:lnTo>
                <a:lnTo>
                  <a:pt x="119946" y="278085"/>
                </a:lnTo>
                <a:lnTo>
                  <a:pt x="120645" y="277771"/>
                </a:lnTo>
                <a:lnTo>
                  <a:pt x="120835" y="277771"/>
                </a:lnTo>
                <a:lnTo>
                  <a:pt x="121089" y="277457"/>
                </a:lnTo>
                <a:moveTo>
                  <a:pt x="247226" y="275938"/>
                </a:moveTo>
                <a:lnTo>
                  <a:pt x="248997" y="275938"/>
                </a:lnTo>
                <a:lnTo>
                  <a:pt x="250642" y="275938"/>
                </a:lnTo>
                <a:lnTo>
                  <a:pt x="252287" y="276063"/>
                </a:lnTo>
                <a:lnTo>
                  <a:pt x="253046" y="276189"/>
                </a:lnTo>
                <a:lnTo>
                  <a:pt x="253679" y="276378"/>
                </a:lnTo>
                <a:lnTo>
                  <a:pt x="254311" y="276566"/>
                </a:lnTo>
                <a:lnTo>
                  <a:pt x="254817" y="276817"/>
                </a:lnTo>
                <a:lnTo>
                  <a:pt x="255323" y="277131"/>
                </a:lnTo>
                <a:lnTo>
                  <a:pt x="255640" y="277446"/>
                </a:lnTo>
                <a:lnTo>
                  <a:pt x="255893" y="277760"/>
                </a:lnTo>
                <a:lnTo>
                  <a:pt x="256019" y="278262"/>
                </a:lnTo>
                <a:lnTo>
                  <a:pt x="256019" y="278702"/>
                </a:lnTo>
                <a:lnTo>
                  <a:pt x="255893" y="279330"/>
                </a:lnTo>
                <a:lnTo>
                  <a:pt x="255640" y="279895"/>
                </a:lnTo>
                <a:lnTo>
                  <a:pt x="255197" y="280649"/>
                </a:lnTo>
                <a:lnTo>
                  <a:pt x="254564" y="281403"/>
                </a:lnTo>
                <a:lnTo>
                  <a:pt x="253805" y="282220"/>
                </a:lnTo>
                <a:lnTo>
                  <a:pt x="252730" y="283225"/>
                </a:lnTo>
                <a:lnTo>
                  <a:pt x="251717" y="284042"/>
                </a:lnTo>
                <a:lnTo>
                  <a:pt x="250705" y="284858"/>
                </a:lnTo>
                <a:lnTo>
                  <a:pt x="249756" y="285549"/>
                </a:lnTo>
                <a:lnTo>
                  <a:pt x="248681" y="286115"/>
                </a:lnTo>
                <a:lnTo>
                  <a:pt x="247669" y="286680"/>
                </a:lnTo>
                <a:lnTo>
                  <a:pt x="246594" y="287120"/>
                </a:lnTo>
                <a:lnTo>
                  <a:pt x="245581" y="287434"/>
                </a:lnTo>
                <a:lnTo>
                  <a:pt x="244569" y="287811"/>
                </a:lnTo>
                <a:lnTo>
                  <a:pt x="243494" y="288125"/>
                </a:lnTo>
                <a:lnTo>
                  <a:pt x="242482" y="288313"/>
                </a:lnTo>
                <a:lnTo>
                  <a:pt x="241469" y="288502"/>
                </a:lnTo>
                <a:lnTo>
                  <a:pt x="239382" y="288816"/>
                </a:lnTo>
                <a:lnTo>
                  <a:pt x="237294" y="289004"/>
                </a:lnTo>
                <a:lnTo>
                  <a:pt x="236345" y="289130"/>
                </a:lnTo>
                <a:lnTo>
                  <a:pt x="235903" y="289256"/>
                </a:lnTo>
                <a:lnTo>
                  <a:pt x="235713" y="289381"/>
                </a:lnTo>
                <a:lnTo>
                  <a:pt x="235586" y="289444"/>
                </a:lnTo>
                <a:lnTo>
                  <a:pt x="235523" y="289570"/>
                </a:lnTo>
                <a:lnTo>
                  <a:pt x="235523" y="289758"/>
                </a:lnTo>
                <a:lnTo>
                  <a:pt x="235586" y="290010"/>
                </a:lnTo>
                <a:lnTo>
                  <a:pt x="235713" y="290198"/>
                </a:lnTo>
                <a:lnTo>
                  <a:pt x="235713" y="290449"/>
                </a:lnTo>
                <a:lnTo>
                  <a:pt x="235713" y="290512"/>
                </a:lnTo>
                <a:lnTo>
                  <a:pt x="235523" y="290638"/>
                </a:lnTo>
                <a:lnTo>
                  <a:pt x="234005" y="291957"/>
                </a:lnTo>
                <a:lnTo>
                  <a:pt x="233056" y="292522"/>
                </a:lnTo>
                <a:lnTo>
                  <a:pt x="232740" y="292711"/>
                </a:lnTo>
                <a:lnTo>
                  <a:pt x="232423" y="292899"/>
                </a:lnTo>
                <a:lnTo>
                  <a:pt x="231032" y="291831"/>
                </a:lnTo>
                <a:lnTo>
                  <a:pt x="229956" y="290889"/>
                </a:lnTo>
                <a:lnTo>
                  <a:pt x="229071" y="290135"/>
                </a:lnTo>
                <a:lnTo>
                  <a:pt x="228564" y="289444"/>
                </a:lnTo>
                <a:lnTo>
                  <a:pt x="228185" y="289004"/>
                </a:lnTo>
                <a:lnTo>
                  <a:pt x="227932" y="288690"/>
                </a:lnTo>
                <a:lnTo>
                  <a:pt x="227805" y="288376"/>
                </a:lnTo>
                <a:lnTo>
                  <a:pt x="227236" y="288125"/>
                </a:lnTo>
                <a:lnTo>
                  <a:pt x="240584" y="276566"/>
                </a:lnTo>
                <a:lnTo>
                  <a:pt x="241533" y="276440"/>
                </a:lnTo>
                <a:lnTo>
                  <a:pt x="243937" y="276189"/>
                </a:lnTo>
                <a:lnTo>
                  <a:pt x="245518" y="276063"/>
                </a:lnTo>
                <a:lnTo>
                  <a:pt x="247226" y="275938"/>
                </a:lnTo>
                <a:moveTo>
                  <a:pt x="93672" y="244800"/>
                </a:moveTo>
                <a:lnTo>
                  <a:pt x="110456" y="244800"/>
                </a:lnTo>
                <a:lnTo>
                  <a:pt x="110456" y="248429"/>
                </a:lnTo>
                <a:lnTo>
                  <a:pt x="110520" y="248493"/>
                </a:lnTo>
                <a:lnTo>
                  <a:pt x="110836" y="248811"/>
                </a:lnTo>
                <a:lnTo>
                  <a:pt x="111090" y="248875"/>
                </a:lnTo>
                <a:lnTo>
                  <a:pt x="111406" y="249002"/>
                </a:lnTo>
                <a:lnTo>
                  <a:pt x="111976" y="249066"/>
                </a:lnTo>
                <a:lnTo>
                  <a:pt x="112483" y="249066"/>
                </a:lnTo>
                <a:lnTo>
                  <a:pt x="113117" y="249066"/>
                </a:lnTo>
                <a:lnTo>
                  <a:pt x="113623" y="249002"/>
                </a:lnTo>
                <a:lnTo>
                  <a:pt x="114003" y="248875"/>
                </a:lnTo>
                <a:lnTo>
                  <a:pt x="114257" y="248811"/>
                </a:lnTo>
                <a:lnTo>
                  <a:pt x="114573" y="248493"/>
                </a:lnTo>
                <a:lnTo>
                  <a:pt x="114637" y="248429"/>
                </a:lnTo>
                <a:lnTo>
                  <a:pt x="114637" y="244800"/>
                </a:lnTo>
                <a:lnTo>
                  <a:pt x="130534" y="244800"/>
                </a:lnTo>
                <a:lnTo>
                  <a:pt x="130534" y="262183"/>
                </a:lnTo>
                <a:lnTo>
                  <a:pt x="130471" y="262947"/>
                </a:lnTo>
                <a:lnTo>
                  <a:pt x="130281" y="263583"/>
                </a:lnTo>
                <a:lnTo>
                  <a:pt x="129901" y="264220"/>
                </a:lnTo>
                <a:lnTo>
                  <a:pt x="129521" y="264729"/>
                </a:lnTo>
                <a:lnTo>
                  <a:pt x="128951" y="265239"/>
                </a:lnTo>
                <a:lnTo>
                  <a:pt x="128318" y="265557"/>
                </a:lnTo>
                <a:lnTo>
                  <a:pt x="127621" y="265748"/>
                </a:lnTo>
                <a:lnTo>
                  <a:pt x="126861" y="265812"/>
                </a:lnTo>
                <a:lnTo>
                  <a:pt x="97345" y="265812"/>
                </a:lnTo>
                <a:lnTo>
                  <a:pt x="96585" y="265748"/>
                </a:lnTo>
                <a:lnTo>
                  <a:pt x="95889" y="265557"/>
                </a:lnTo>
                <a:lnTo>
                  <a:pt x="95255" y="265239"/>
                </a:lnTo>
                <a:lnTo>
                  <a:pt x="94748" y="264729"/>
                </a:lnTo>
                <a:lnTo>
                  <a:pt x="94242" y="264220"/>
                </a:lnTo>
                <a:lnTo>
                  <a:pt x="93925" y="263583"/>
                </a:lnTo>
                <a:lnTo>
                  <a:pt x="93735" y="262947"/>
                </a:lnTo>
                <a:lnTo>
                  <a:pt x="93672" y="262183"/>
                </a:lnTo>
                <a:lnTo>
                  <a:pt x="93672" y="244800"/>
                </a:lnTo>
                <a:moveTo>
                  <a:pt x="97345" y="235433"/>
                </a:moveTo>
                <a:lnTo>
                  <a:pt x="126861" y="235433"/>
                </a:lnTo>
                <a:lnTo>
                  <a:pt x="127621" y="235496"/>
                </a:lnTo>
                <a:lnTo>
                  <a:pt x="128318" y="235684"/>
                </a:lnTo>
                <a:lnTo>
                  <a:pt x="128951" y="236061"/>
                </a:lnTo>
                <a:lnTo>
                  <a:pt x="129521" y="236501"/>
                </a:lnTo>
                <a:lnTo>
                  <a:pt x="129901" y="237066"/>
                </a:lnTo>
                <a:lnTo>
                  <a:pt x="130281" y="237631"/>
                </a:lnTo>
                <a:lnTo>
                  <a:pt x="130471" y="238321"/>
                </a:lnTo>
                <a:lnTo>
                  <a:pt x="130534" y="239012"/>
                </a:lnTo>
                <a:lnTo>
                  <a:pt x="130534" y="243281"/>
                </a:lnTo>
                <a:lnTo>
                  <a:pt x="93672" y="243281"/>
                </a:lnTo>
                <a:lnTo>
                  <a:pt x="93672" y="239012"/>
                </a:lnTo>
                <a:lnTo>
                  <a:pt x="93735" y="238321"/>
                </a:lnTo>
                <a:lnTo>
                  <a:pt x="93925" y="237631"/>
                </a:lnTo>
                <a:lnTo>
                  <a:pt x="94242" y="237066"/>
                </a:lnTo>
                <a:lnTo>
                  <a:pt x="94748" y="236501"/>
                </a:lnTo>
                <a:lnTo>
                  <a:pt x="95255" y="236061"/>
                </a:lnTo>
                <a:lnTo>
                  <a:pt x="95889" y="235684"/>
                </a:lnTo>
                <a:lnTo>
                  <a:pt x="96585" y="235496"/>
                </a:lnTo>
                <a:lnTo>
                  <a:pt x="97345" y="235433"/>
                </a:lnTo>
                <a:moveTo>
                  <a:pt x="115379" y="220244"/>
                </a:moveTo>
                <a:lnTo>
                  <a:pt x="116187" y="220308"/>
                </a:lnTo>
                <a:lnTo>
                  <a:pt x="116435" y="220308"/>
                </a:lnTo>
                <a:lnTo>
                  <a:pt x="116808" y="220435"/>
                </a:lnTo>
                <a:lnTo>
                  <a:pt x="117304" y="220753"/>
                </a:lnTo>
                <a:lnTo>
                  <a:pt x="117739" y="221071"/>
                </a:lnTo>
                <a:lnTo>
                  <a:pt x="118236" y="221580"/>
                </a:lnTo>
                <a:lnTo>
                  <a:pt x="118733" y="222153"/>
                </a:lnTo>
                <a:lnTo>
                  <a:pt x="119230" y="222853"/>
                </a:lnTo>
                <a:lnTo>
                  <a:pt x="120223" y="224380"/>
                </a:lnTo>
                <a:lnTo>
                  <a:pt x="121093" y="226098"/>
                </a:lnTo>
                <a:lnTo>
                  <a:pt x="121838" y="227689"/>
                </a:lnTo>
                <a:lnTo>
                  <a:pt x="122335" y="229216"/>
                </a:lnTo>
                <a:lnTo>
                  <a:pt x="122583" y="229916"/>
                </a:lnTo>
                <a:lnTo>
                  <a:pt x="122707" y="230553"/>
                </a:lnTo>
                <a:lnTo>
                  <a:pt x="122707" y="230934"/>
                </a:lnTo>
                <a:lnTo>
                  <a:pt x="122707" y="231253"/>
                </a:lnTo>
                <a:lnTo>
                  <a:pt x="122583" y="231444"/>
                </a:lnTo>
                <a:lnTo>
                  <a:pt x="122335" y="231571"/>
                </a:lnTo>
                <a:lnTo>
                  <a:pt x="122149" y="231571"/>
                </a:lnTo>
                <a:lnTo>
                  <a:pt x="121900" y="231380"/>
                </a:lnTo>
                <a:lnTo>
                  <a:pt x="121652" y="231189"/>
                </a:lnTo>
                <a:lnTo>
                  <a:pt x="121279" y="230998"/>
                </a:lnTo>
                <a:lnTo>
                  <a:pt x="120720" y="230298"/>
                </a:lnTo>
                <a:lnTo>
                  <a:pt x="120161" y="229598"/>
                </a:lnTo>
                <a:lnTo>
                  <a:pt x="119789" y="228835"/>
                </a:lnTo>
                <a:lnTo>
                  <a:pt x="119664" y="228580"/>
                </a:lnTo>
                <a:lnTo>
                  <a:pt x="119664" y="228262"/>
                </a:lnTo>
                <a:lnTo>
                  <a:pt x="119602" y="227816"/>
                </a:lnTo>
                <a:lnTo>
                  <a:pt x="119416" y="227498"/>
                </a:lnTo>
                <a:lnTo>
                  <a:pt x="119106" y="227307"/>
                </a:lnTo>
                <a:lnTo>
                  <a:pt x="118795" y="227244"/>
                </a:lnTo>
                <a:lnTo>
                  <a:pt x="118671" y="227307"/>
                </a:lnTo>
                <a:lnTo>
                  <a:pt x="118546" y="227371"/>
                </a:lnTo>
                <a:lnTo>
                  <a:pt x="118422" y="227498"/>
                </a:lnTo>
                <a:lnTo>
                  <a:pt x="118236" y="227626"/>
                </a:lnTo>
                <a:lnTo>
                  <a:pt x="118112" y="227816"/>
                </a:lnTo>
                <a:lnTo>
                  <a:pt x="118050" y="228071"/>
                </a:lnTo>
                <a:lnTo>
                  <a:pt x="117988" y="228453"/>
                </a:lnTo>
                <a:lnTo>
                  <a:pt x="117988" y="228771"/>
                </a:lnTo>
                <a:lnTo>
                  <a:pt x="117926" y="229535"/>
                </a:lnTo>
                <a:lnTo>
                  <a:pt x="117801" y="230171"/>
                </a:lnTo>
                <a:lnTo>
                  <a:pt x="117677" y="230489"/>
                </a:lnTo>
                <a:lnTo>
                  <a:pt x="117553" y="230744"/>
                </a:lnTo>
                <a:lnTo>
                  <a:pt x="117367" y="230934"/>
                </a:lnTo>
                <a:lnTo>
                  <a:pt x="117056" y="231125"/>
                </a:lnTo>
                <a:lnTo>
                  <a:pt x="116808" y="231316"/>
                </a:lnTo>
                <a:lnTo>
                  <a:pt x="116559" y="231571"/>
                </a:lnTo>
                <a:lnTo>
                  <a:pt x="116187" y="231698"/>
                </a:lnTo>
                <a:lnTo>
                  <a:pt x="115752" y="231762"/>
                </a:lnTo>
                <a:lnTo>
                  <a:pt x="114820" y="231889"/>
                </a:lnTo>
                <a:lnTo>
                  <a:pt x="113765" y="231889"/>
                </a:lnTo>
                <a:lnTo>
                  <a:pt x="113268" y="231825"/>
                </a:lnTo>
                <a:lnTo>
                  <a:pt x="112771" y="231698"/>
                </a:lnTo>
                <a:lnTo>
                  <a:pt x="112398" y="231571"/>
                </a:lnTo>
                <a:lnTo>
                  <a:pt x="111964" y="231316"/>
                </a:lnTo>
                <a:lnTo>
                  <a:pt x="111529" y="231062"/>
                </a:lnTo>
                <a:lnTo>
                  <a:pt x="111218" y="230807"/>
                </a:lnTo>
                <a:lnTo>
                  <a:pt x="110535" y="230107"/>
                </a:lnTo>
                <a:lnTo>
                  <a:pt x="109976" y="229344"/>
                </a:lnTo>
                <a:lnTo>
                  <a:pt x="109417" y="228453"/>
                </a:lnTo>
                <a:lnTo>
                  <a:pt x="108983" y="227562"/>
                </a:lnTo>
                <a:lnTo>
                  <a:pt x="108548" y="226607"/>
                </a:lnTo>
                <a:lnTo>
                  <a:pt x="108237" y="225653"/>
                </a:lnTo>
                <a:lnTo>
                  <a:pt x="107989" y="224698"/>
                </a:lnTo>
                <a:lnTo>
                  <a:pt x="107554" y="223108"/>
                </a:lnTo>
                <a:lnTo>
                  <a:pt x="107368" y="222026"/>
                </a:lnTo>
                <a:lnTo>
                  <a:pt x="107306" y="221517"/>
                </a:lnTo>
                <a:lnTo>
                  <a:pt x="107306" y="221453"/>
                </a:lnTo>
                <a:lnTo>
                  <a:pt x="107368" y="221389"/>
                </a:lnTo>
                <a:lnTo>
                  <a:pt x="107554" y="221326"/>
                </a:lnTo>
                <a:lnTo>
                  <a:pt x="108051" y="221199"/>
                </a:lnTo>
                <a:lnTo>
                  <a:pt x="108672" y="221007"/>
                </a:lnTo>
                <a:lnTo>
                  <a:pt x="109666" y="220817"/>
                </a:lnTo>
                <a:lnTo>
                  <a:pt x="111156" y="220562"/>
                </a:lnTo>
                <a:lnTo>
                  <a:pt x="113765" y="220308"/>
                </a:lnTo>
                <a:lnTo>
                  <a:pt x="115379" y="220244"/>
                </a:lnTo>
                <a:moveTo>
                  <a:pt x="228005" y="198979"/>
                </a:moveTo>
                <a:lnTo>
                  <a:pt x="228886" y="198979"/>
                </a:lnTo>
                <a:lnTo>
                  <a:pt x="229703" y="199043"/>
                </a:lnTo>
                <a:lnTo>
                  <a:pt x="230395" y="199171"/>
                </a:lnTo>
                <a:lnTo>
                  <a:pt x="230835" y="199298"/>
                </a:lnTo>
                <a:lnTo>
                  <a:pt x="231150" y="199490"/>
                </a:lnTo>
                <a:lnTo>
                  <a:pt x="231276" y="199681"/>
                </a:lnTo>
                <a:lnTo>
                  <a:pt x="231276" y="199936"/>
                </a:lnTo>
                <a:lnTo>
                  <a:pt x="231150" y="200192"/>
                </a:lnTo>
                <a:lnTo>
                  <a:pt x="230961" y="200447"/>
                </a:lnTo>
                <a:lnTo>
                  <a:pt x="230647" y="200702"/>
                </a:lnTo>
                <a:lnTo>
                  <a:pt x="230207" y="200958"/>
                </a:lnTo>
                <a:lnTo>
                  <a:pt x="229326" y="201405"/>
                </a:lnTo>
                <a:lnTo>
                  <a:pt x="228320" y="201724"/>
                </a:lnTo>
                <a:lnTo>
                  <a:pt x="227817" y="201788"/>
                </a:lnTo>
                <a:lnTo>
                  <a:pt x="227377" y="201851"/>
                </a:lnTo>
                <a:lnTo>
                  <a:pt x="226999" y="201851"/>
                </a:lnTo>
                <a:lnTo>
                  <a:pt x="226685" y="201788"/>
                </a:lnTo>
                <a:lnTo>
                  <a:pt x="226433" y="201724"/>
                </a:lnTo>
                <a:lnTo>
                  <a:pt x="226244" y="201660"/>
                </a:lnTo>
                <a:lnTo>
                  <a:pt x="225930" y="201660"/>
                </a:lnTo>
                <a:lnTo>
                  <a:pt x="225741" y="201724"/>
                </a:lnTo>
                <a:lnTo>
                  <a:pt x="225616" y="201851"/>
                </a:lnTo>
                <a:lnTo>
                  <a:pt x="225427" y="201979"/>
                </a:lnTo>
                <a:lnTo>
                  <a:pt x="225364" y="202107"/>
                </a:lnTo>
                <a:lnTo>
                  <a:pt x="225301" y="202298"/>
                </a:lnTo>
                <a:lnTo>
                  <a:pt x="225238" y="202490"/>
                </a:lnTo>
                <a:lnTo>
                  <a:pt x="225301" y="202681"/>
                </a:lnTo>
                <a:lnTo>
                  <a:pt x="225301" y="202873"/>
                </a:lnTo>
                <a:lnTo>
                  <a:pt x="225427" y="203064"/>
                </a:lnTo>
                <a:lnTo>
                  <a:pt x="225616" y="203319"/>
                </a:lnTo>
                <a:lnTo>
                  <a:pt x="225804" y="203511"/>
                </a:lnTo>
                <a:lnTo>
                  <a:pt x="226182" y="203702"/>
                </a:lnTo>
                <a:lnTo>
                  <a:pt x="226496" y="203894"/>
                </a:lnTo>
                <a:lnTo>
                  <a:pt x="227251" y="204213"/>
                </a:lnTo>
                <a:lnTo>
                  <a:pt x="227565" y="204468"/>
                </a:lnTo>
                <a:lnTo>
                  <a:pt x="227817" y="204724"/>
                </a:lnTo>
                <a:lnTo>
                  <a:pt x="228005" y="204915"/>
                </a:lnTo>
                <a:lnTo>
                  <a:pt x="228257" y="205234"/>
                </a:lnTo>
                <a:lnTo>
                  <a:pt x="228446" y="205554"/>
                </a:lnTo>
                <a:lnTo>
                  <a:pt x="228508" y="205936"/>
                </a:lnTo>
                <a:lnTo>
                  <a:pt x="228634" y="206256"/>
                </a:lnTo>
                <a:lnTo>
                  <a:pt x="228634" y="206766"/>
                </a:lnTo>
                <a:lnTo>
                  <a:pt x="228634" y="207149"/>
                </a:lnTo>
                <a:lnTo>
                  <a:pt x="228571" y="207724"/>
                </a:lnTo>
                <a:lnTo>
                  <a:pt x="228446" y="208171"/>
                </a:lnTo>
                <a:lnTo>
                  <a:pt x="228257" y="208809"/>
                </a:lnTo>
                <a:lnTo>
                  <a:pt x="227691" y="210085"/>
                </a:lnTo>
                <a:lnTo>
                  <a:pt x="227439" y="210596"/>
                </a:lnTo>
                <a:lnTo>
                  <a:pt x="227125" y="211107"/>
                </a:lnTo>
                <a:lnTo>
                  <a:pt x="226748" y="211553"/>
                </a:lnTo>
                <a:lnTo>
                  <a:pt x="226370" y="211873"/>
                </a:lnTo>
                <a:lnTo>
                  <a:pt x="225930" y="212319"/>
                </a:lnTo>
                <a:lnTo>
                  <a:pt x="225490" y="212575"/>
                </a:lnTo>
                <a:lnTo>
                  <a:pt x="224987" y="212830"/>
                </a:lnTo>
                <a:lnTo>
                  <a:pt x="224484" y="213149"/>
                </a:lnTo>
                <a:lnTo>
                  <a:pt x="223414" y="213468"/>
                </a:lnTo>
                <a:lnTo>
                  <a:pt x="222282" y="213724"/>
                </a:lnTo>
                <a:lnTo>
                  <a:pt x="221150" y="213851"/>
                </a:lnTo>
                <a:lnTo>
                  <a:pt x="220018" y="213915"/>
                </a:lnTo>
                <a:lnTo>
                  <a:pt x="218886" y="213915"/>
                </a:lnTo>
                <a:lnTo>
                  <a:pt x="217817" y="213851"/>
                </a:lnTo>
                <a:lnTo>
                  <a:pt x="215994" y="213596"/>
                </a:lnTo>
                <a:lnTo>
                  <a:pt x="214736" y="213405"/>
                </a:lnTo>
                <a:lnTo>
                  <a:pt x="214295" y="213277"/>
                </a:lnTo>
                <a:lnTo>
                  <a:pt x="214295" y="213341"/>
                </a:lnTo>
                <a:lnTo>
                  <a:pt x="214233" y="213277"/>
                </a:lnTo>
                <a:lnTo>
                  <a:pt x="214107" y="213213"/>
                </a:lnTo>
                <a:lnTo>
                  <a:pt x="214107" y="212830"/>
                </a:lnTo>
                <a:lnTo>
                  <a:pt x="214233" y="212383"/>
                </a:lnTo>
                <a:lnTo>
                  <a:pt x="214358" y="211490"/>
                </a:lnTo>
                <a:lnTo>
                  <a:pt x="214610" y="210277"/>
                </a:lnTo>
                <a:lnTo>
                  <a:pt x="214987" y="208490"/>
                </a:lnTo>
                <a:lnTo>
                  <a:pt x="215553" y="206766"/>
                </a:lnTo>
                <a:lnTo>
                  <a:pt x="215931" y="205298"/>
                </a:lnTo>
                <a:lnTo>
                  <a:pt x="216559" y="203447"/>
                </a:lnTo>
                <a:lnTo>
                  <a:pt x="216937" y="202553"/>
                </a:lnTo>
                <a:lnTo>
                  <a:pt x="217063" y="202298"/>
                </a:lnTo>
                <a:lnTo>
                  <a:pt x="217377" y="201851"/>
                </a:lnTo>
                <a:lnTo>
                  <a:pt x="217880" y="201405"/>
                </a:lnTo>
                <a:lnTo>
                  <a:pt x="218446" y="200958"/>
                </a:lnTo>
                <a:lnTo>
                  <a:pt x="219201" y="200639"/>
                </a:lnTo>
                <a:lnTo>
                  <a:pt x="220081" y="200320"/>
                </a:lnTo>
                <a:lnTo>
                  <a:pt x="220962" y="199936"/>
                </a:lnTo>
                <a:lnTo>
                  <a:pt x="221968" y="199745"/>
                </a:lnTo>
                <a:lnTo>
                  <a:pt x="222974" y="199490"/>
                </a:lnTo>
                <a:lnTo>
                  <a:pt x="225113" y="199171"/>
                </a:lnTo>
                <a:lnTo>
                  <a:pt x="227125" y="199043"/>
                </a:lnTo>
                <a:lnTo>
                  <a:pt x="228005" y="198979"/>
                </a:lnTo>
                <a:moveTo>
                  <a:pt x="183809" y="153918"/>
                </a:moveTo>
                <a:lnTo>
                  <a:pt x="184755" y="153981"/>
                </a:lnTo>
                <a:lnTo>
                  <a:pt x="185639" y="154171"/>
                </a:lnTo>
                <a:lnTo>
                  <a:pt x="186523" y="154487"/>
                </a:lnTo>
                <a:lnTo>
                  <a:pt x="187343" y="154993"/>
                </a:lnTo>
                <a:lnTo>
                  <a:pt x="188101" y="155562"/>
                </a:lnTo>
                <a:lnTo>
                  <a:pt x="188858" y="156321"/>
                </a:lnTo>
                <a:lnTo>
                  <a:pt x="189616" y="157144"/>
                </a:lnTo>
                <a:lnTo>
                  <a:pt x="190247" y="158093"/>
                </a:lnTo>
                <a:lnTo>
                  <a:pt x="190878" y="159168"/>
                </a:lnTo>
                <a:lnTo>
                  <a:pt x="191509" y="160307"/>
                </a:lnTo>
                <a:lnTo>
                  <a:pt x="192078" y="161509"/>
                </a:lnTo>
                <a:lnTo>
                  <a:pt x="192709" y="162837"/>
                </a:lnTo>
                <a:lnTo>
                  <a:pt x="193150" y="164229"/>
                </a:lnTo>
                <a:lnTo>
                  <a:pt x="193656" y="165684"/>
                </a:lnTo>
                <a:lnTo>
                  <a:pt x="194160" y="167202"/>
                </a:lnTo>
                <a:lnTo>
                  <a:pt x="194981" y="170365"/>
                </a:lnTo>
                <a:lnTo>
                  <a:pt x="195675" y="173718"/>
                </a:lnTo>
                <a:lnTo>
                  <a:pt x="196370" y="177197"/>
                </a:lnTo>
                <a:lnTo>
                  <a:pt x="196875" y="180802"/>
                </a:lnTo>
                <a:lnTo>
                  <a:pt x="197380" y="184282"/>
                </a:lnTo>
                <a:lnTo>
                  <a:pt x="197695" y="187824"/>
                </a:lnTo>
                <a:lnTo>
                  <a:pt x="198074" y="191177"/>
                </a:lnTo>
                <a:lnTo>
                  <a:pt x="198326" y="194466"/>
                </a:lnTo>
                <a:lnTo>
                  <a:pt x="198200" y="189216"/>
                </a:lnTo>
                <a:lnTo>
                  <a:pt x="213476" y="198452"/>
                </a:lnTo>
                <a:lnTo>
                  <a:pt x="210446" y="213760"/>
                </a:lnTo>
                <a:lnTo>
                  <a:pt x="198642" y="208826"/>
                </a:lnTo>
                <a:lnTo>
                  <a:pt x="198074" y="204904"/>
                </a:lnTo>
                <a:lnTo>
                  <a:pt x="197127" y="198072"/>
                </a:lnTo>
                <a:lnTo>
                  <a:pt x="195802" y="219074"/>
                </a:lnTo>
                <a:lnTo>
                  <a:pt x="195738" y="220023"/>
                </a:lnTo>
                <a:lnTo>
                  <a:pt x="195675" y="221035"/>
                </a:lnTo>
                <a:lnTo>
                  <a:pt x="195738" y="222047"/>
                </a:lnTo>
                <a:lnTo>
                  <a:pt x="195991" y="223249"/>
                </a:lnTo>
                <a:lnTo>
                  <a:pt x="196307" y="224514"/>
                </a:lnTo>
                <a:lnTo>
                  <a:pt x="196748" y="226032"/>
                </a:lnTo>
                <a:lnTo>
                  <a:pt x="197506" y="227740"/>
                </a:lnTo>
                <a:lnTo>
                  <a:pt x="198453" y="229701"/>
                </a:lnTo>
                <a:lnTo>
                  <a:pt x="195802" y="229701"/>
                </a:lnTo>
                <a:lnTo>
                  <a:pt x="197569" y="230650"/>
                </a:lnTo>
                <a:lnTo>
                  <a:pt x="199778" y="231725"/>
                </a:lnTo>
                <a:lnTo>
                  <a:pt x="204702" y="234003"/>
                </a:lnTo>
                <a:lnTo>
                  <a:pt x="208868" y="235900"/>
                </a:lnTo>
                <a:lnTo>
                  <a:pt x="210572" y="236596"/>
                </a:lnTo>
                <a:lnTo>
                  <a:pt x="238850" y="274362"/>
                </a:lnTo>
                <a:lnTo>
                  <a:pt x="222944" y="286824"/>
                </a:lnTo>
                <a:lnTo>
                  <a:pt x="192519" y="251399"/>
                </a:lnTo>
                <a:lnTo>
                  <a:pt x="171816" y="249058"/>
                </a:lnTo>
                <a:lnTo>
                  <a:pt x="171816" y="249375"/>
                </a:lnTo>
                <a:lnTo>
                  <a:pt x="171816" y="249944"/>
                </a:lnTo>
                <a:lnTo>
                  <a:pt x="171689" y="251272"/>
                </a:lnTo>
                <a:lnTo>
                  <a:pt x="171374" y="253170"/>
                </a:lnTo>
                <a:lnTo>
                  <a:pt x="170869" y="255321"/>
                </a:lnTo>
                <a:lnTo>
                  <a:pt x="169606" y="260445"/>
                </a:lnTo>
                <a:lnTo>
                  <a:pt x="168091" y="266201"/>
                </a:lnTo>
                <a:lnTo>
                  <a:pt x="166513" y="271705"/>
                </a:lnTo>
                <a:lnTo>
                  <a:pt x="165188" y="276449"/>
                </a:lnTo>
                <a:lnTo>
                  <a:pt x="163862" y="281067"/>
                </a:lnTo>
                <a:lnTo>
                  <a:pt x="127631" y="284736"/>
                </a:lnTo>
                <a:lnTo>
                  <a:pt x="122581" y="276070"/>
                </a:lnTo>
                <a:lnTo>
                  <a:pt x="143790" y="272084"/>
                </a:lnTo>
                <a:lnTo>
                  <a:pt x="143727" y="237545"/>
                </a:lnTo>
                <a:lnTo>
                  <a:pt x="138677" y="236407"/>
                </a:lnTo>
                <a:lnTo>
                  <a:pt x="138361" y="234699"/>
                </a:lnTo>
                <a:lnTo>
                  <a:pt x="138046" y="233117"/>
                </a:lnTo>
                <a:lnTo>
                  <a:pt x="137793" y="231725"/>
                </a:lnTo>
                <a:lnTo>
                  <a:pt x="137541" y="230460"/>
                </a:lnTo>
                <a:lnTo>
                  <a:pt x="137352" y="227867"/>
                </a:lnTo>
                <a:lnTo>
                  <a:pt x="137225" y="225400"/>
                </a:lnTo>
                <a:lnTo>
                  <a:pt x="137099" y="219074"/>
                </a:lnTo>
                <a:lnTo>
                  <a:pt x="136910" y="214772"/>
                </a:lnTo>
                <a:lnTo>
                  <a:pt x="136468" y="209332"/>
                </a:lnTo>
                <a:lnTo>
                  <a:pt x="135900" y="187445"/>
                </a:lnTo>
                <a:lnTo>
                  <a:pt x="134195" y="188457"/>
                </a:lnTo>
                <a:lnTo>
                  <a:pt x="130219" y="190987"/>
                </a:lnTo>
                <a:lnTo>
                  <a:pt x="127694" y="192695"/>
                </a:lnTo>
                <a:lnTo>
                  <a:pt x="125106" y="194466"/>
                </a:lnTo>
                <a:lnTo>
                  <a:pt x="122581" y="196301"/>
                </a:lnTo>
                <a:lnTo>
                  <a:pt x="120372" y="198072"/>
                </a:lnTo>
                <a:lnTo>
                  <a:pt x="119993" y="199337"/>
                </a:lnTo>
                <a:lnTo>
                  <a:pt x="119741" y="200666"/>
                </a:lnTo>
                <a:lnTo>
                  <a:pt x="119614" y="201994"/>
                </a:lnTo>
                <a:lnTo>
                  <a:pt x="119488" y="203449"/>
                </a:lnTo>
                <a:lnTo>
                  <a:pt x="119488" y="204841"/>
                </a:lnTo>
                <a:lnTo>
                  <a:pt x="119551" y="206169"/>
                </a:lnTo>
                <a:lnTo>
                  <a:pt x="119614" y="207561"/>
                </a:lnTo>
                <a:lnTo>
                  <a:pt x="119741" y="208952"/>
                </a:lnTo>
                <a:lnTo>
                  <a:pt x="120056" y="211420"/>
                </a:lnTo>
                <a:lnTo>
                  <a:pt x="120309" y="213570"/>
                </a:lnTo>
                <a:lnTo>
                  <a:pt x="120561" y="215341"/>
                </a:lnTo>
                <a:lnTo>
                  <a:pt x="120561" y="215974"/>
                </a:lnTo>
                <a:lnTo>
                  <a:pt x="120372" y="216480"/>
                </a:lnTo>
                <a:lnTo>
                  <a:pt x="115764" y="216164"/>
                </a:lnTo>
                <a:lnTo>
                  <a:pt x="113807" y="216037"/>
                </a:lnTo>
                <a:lnTo>
                  <a:pt x="112861" y="216037"/>
                </a:lnTo>
                <a:lnTo>
                  <a:pt x="112040" y="216101"/>
                </a:lnTo>
                <a:lnTo>
                  <a:pt x="111156" y="216164"/>
                </a:lnTo>
                <a:lnTo>
                  <a:pt x="110273" y="216354"/>
                </a:lnTo>
                <a:lnTo>
                  <a:pt x="109389" y="216543"/>
                </a:lnTo>
                <a:lnTo>
                  <a:pt x="108505" y="216860"/>
                </a:lnTo>
                <a:lnTo>
                  <a:pt x="107685" y="217176"/>
                </a:lnTo>
                <a:lnTo>
                  <a:pt x="106738" y="217619"/>
                </a:lnTo>
                <a:lnTo>
                  <a:pt x="105728" y="218125"/>
                </a:lnTo>
                <a:lnTo>
                  <a:pt x="104718" y="218821"/>
                </a:lnTo>
                <a:lnTo>
                  <a:pt x="104529" y="217998"/>
                </a:lnTo>
                <a:lnTo>
                  <a:pt x="104213" y="217050"/>
                </a:lnTo>
                <a:lnTo>
                  <a:pt x="104024" y="216101"/>
                </a:lnTo>
                <a:lnTo>
                  <a:pt x="103897" y="215025"/>
                </a:lnTo>
                <a:lnTo>
                  <a:pt x="103645" y="212621"/>
                </a:lnTo>
                <a:lnTo>
                  <a:pt x="103519" y="209901"/>
                </a:lnTo>
                <a:lnTo>
                  <a:pt x="103519" y="206802"/>
                </a:lnTo>
                <a:lnTo>
                  <a:pt x="103582" y="203259"/>
                </a:lnTo>
                <a:lnTo>
                  <a:pt x="103708" y="199527"/>
                </a:lnTo>
                <a:lnTo>
                  <a:pt x="103960" y="195352"/>
                </a:lnTo>
                <a:lnTo>
                  <a:pt x="105097" y="192695"/>
                </a:lnTo>
                <a:lnTo>
                  <a:pt x="106107" y="190544"/>
                </a:lnTo>
                <a:lnTo>
                  <a:pt x="106612" y="189595"/>
                </a:lnTo>
                <a:lnTo>
                  <a:pt x="107117" y="188773"/>
                </a:lnTo>
                <a:lnTo>
                  <a:pt x="108190" y="187255"/>
                </a:lnTo>
                <a:lnTo>
                  <a:pt x="109326" y="185737"/>
                </a:lnTo>
                <a:lnTo>
                  <a:pt x="110714" y="184218"/>
                </a:lnTo>
                <a:lnTo>
                  <a:pt x="112356" y="182321"/>
                </a:lnTo>
                <a:lnTo>
                  <a:pt x="114312" y="180043"/>
                </a:lnTo>
                <a:lnTo>
                  <a:pt x="117468" y="176691"/>
                </a:lnTo>
                <a:lnTo>
                  <a:pt x="120246" y="173654"/>
                </a:lnTo>
                <a:lnTo>
                  <a:pt x="124917" y="168594"/>
                </a:lnTo>
                <a:lnTo>
                  <a:pt x="126873" y="166443"/>
                </a:lnTo>
                <a:lnTo>
                  <a:pt x="128704" y="164608"/>
                </a:lnTo>
                <a:lnTo>
                  <a:pt x="130535" y="162964"/>
                </a:lnTo>
                <a:lnTo>
                  <a:pt x="132176" y="161509"/>
                </a:lnTo>
                <a:lnTo>
                  <a:pt x="133059" y="160813"/>
                </a:lnTo>
                <a:lnTo>
                  <a:pt x="133943" y="160244"/>
                </a:lnTo>
                <a:lnTo>
                  <a:pt x="134890" y="159611"/>
                </a:lnTo>
                <a:lnTo>
                  <a:pt x="135837" y="159041"/>
                </a:lnTo>
                <a:lnTo>
                  <a:pt x="136783" y="158599"/>
                </a:lnTo>
                <a:lnTo>
                  <a:pt x="137793" y="158093"/>
                </a:lnTo>
                <a:lnTo>
                  <a:pt x="138866" y="157587"/>
                </a:lnTo>
                <a:lnTo>
                  <a:pt x="140003" y="157207"/>
                </a:lnTo>
                <a:lnTo>
                  <a:pt x="142401" y="156321"/>
                </a:lnTo>
                <a:lnTo>
                  <a:pt x="145115" y="155499"/>
                </a:lnTo>
                <a:lnTo>
                  <a:pt x="148272" y="154803"/>
                </a:lnTo>
                <a:lnTo>
                  <a:pt x="151869" y="153981"/>
                </a:lnTo>
                <a:lnTo>
                  <a:pt x="153258" y="154044"/>
                </a:lnTo>
                <a:lnTo>
                  <a:pt x="155783" y="154171"/>
                </a:lnTo>
                <a:lnTo>
                  <a:pt x="159760" y="154424"/>
                </a:lnTo>
                <a:lnTo>
                  <a:pt x="173331" y="197756"/>
                </a:lnTo>
                <a:lnTo>
                  <a:pt x="172005" y="184851"/>
                </a:lnTo>
                <a:lnTo>
                  <a:pt x="171374" y="161572"/>
                </a:lnTo>
                <a:lnTo>
                  <a:pt x="170490" y="159358"/>
                </a:lnTo>
                <a:lnTo>
                  <a:pt x="172258" y="156385"/>
                </a:lnTo>
                <a:lnTo>
                  <a:pt x="176108" y="156385"/>
                </a:lnTo>
                <a:lnTo>
                  <a:pt x="177749" y="159358"/>
                </a:lnTo>
                <a:lnTo>
                  <a:pt x="176991" y="161951"/>
                </a:lnTo>
                <a:lnTo>
                  <a:pt x="181662" y="195858"/>
                </a:lnTo>
                <a:lnTo>
                  <a:pt x="180968" y="154993"/>
                </a:lnTo>
                <a:lnTo>
                  <a:pt x="182357" y="154297"/>
                </a:lnTo>
                <a:lnTo>
                  <a:pt x="182736" y="154107"/>
                </a:lnTo>
                <a:lnTo>
                  <a:pt x="182799" y="153981"/>
                </a:lnTo>
                <a:lnTo>
                  <a:pt x="183809" y="153918"/>
                </a:lnTo>
                <a:moveTo>
                  <a:pt x="148095" y="117464"/>
                </a:moveTo>
                <a:lnTo>
                  <a:pt x="147841" y="119805"/>
                </a:lnTo>
                <a:lnTo>
                  <a:pt x="147714" y="121641"/>
                </a:lnTo>
                <a:lnTo>
                  <a:pt x="147778" y="121641"/>
                </a:lnTo>
                <a:lnTo>
                  <a:pt x="147841" y="119805"/>
                </a:lnTo>
                <a:lnTo>
                  <a:pt x="147968" y="118983"/>
                </a:lnTo>
                <a:lnTo>
                  <a:pt x="148095" y="118223"/>
                </a:lnTo>
                <a:lnTo>
                  <a:pt x="148095" y="117464"/>
                </a:lnTo>
                <a:moveTo>
                  <a:pt x="150948" y="108287"/>
                </a:moveTo>
                <a:lnTo>
                  <a:pt x="150821" y="108413"/>
                </a:lnTo>
                <a:lnTo>
                  <a:pt x="150377" y="108666"/>
                </a:lnTo>
                <a:lnTo>
                  <a:pt x="150123" y="108983"/>
                </a:lnTo>
                <a:lnTo>
                  <a:pt x="149807" y="109552"/>
                </a:lnTo>
                <a:lnTo>
                  <a:pt x="150440" y="108856"/>
                </a:lnTo>
                <a:lnTo>
                  <a:pt x="150821" y="108603"/>
                </a:lnTo>
                <a:lnTo>
                  <a:pt x="151138" y="108287"/>
                </a:lnTo>
                <a:lnTo>
                  <a:pt x="150948" y="108287"/>
                </a:lnTo>
                <a:moveTo>
                  <a:pt x="165149" y="98983"/>
                </a:moveTo>
                <a:lnTo>
                  <a:pt x="166860" y="98983"/>
                </a:lnTo>
                <a:lnTo>
                  <a:pt x="168509" y="99047"/>
                </a:lnTo>
                <a:lnTo>
                  <a:pt x="170157" y="99236"/>
                </a:lnTo>
                <a:lnTo>
                  <a:pt x="171679" y="99426"/>
                </a:lnTo>
                <a:lnTo>
                  <a:pt x="173200" y="99806"/>
                </a:lnTo>
                <a:lnTo>
                  <a:pt x="174658" y="100123"/>
                </a:lnTo>
                <a:lnTo>
                  <a:pt x="176053" y="100502"/>
                </a:lnTo>
                <a:lnTo>
                  <a:pt x="177384" y="101009"/>
                </a:lnTo>
                <a:lnTo>
                  <a:pt x="178716" y="101452"/>
                </a:lnTo>
                <a:lnTo>
                  <a:pt x="179857" y="102021"/>
                </a:lnTo>
                <a:lnTo>
                  <a:pt x="180998" y="102527"/>
                </a:lnTo>
                <a:lnTo>
                  <a:pt x="182076" y="103097"/>
                </a:lnTo>
                <a:lnTo>
                  <a:pt x="183914" y="104110"/>
                </a:lnTo>
                <a:lnTo>
                  <a:pt x="185563" y="105186"/>
                </a:lnTo>
                <a:lnTo>
                  <a:pt x="186831" y="106008"/>
                </a:lnTo>
                <a:lnTo>
                  <a:pt x="187782" y="106768"/>
                </a:lnTo>
                <a:lnTo>
                  <a:pt x="188606" y="107401"/>
                </a:lnTo>
                <a:lnTo>
                  <a:pt x="188606" y="107844"/>
                </a:lnTo>
                <a:lnTo>
                  <a:pt x="188606" y="109109"/>
                </a:lnTo>
                <a:lnTo>
                  <a:pt x="188479" y="109869"/>
                </a:lnTo>
                <a:lnTo>
                  <a:pt x="188289" y="110755"/>
                </a:lnTo>
                <a:lnTo>
                  <a:pt x="188035" y="111641"/>
                </a:lnTo>
                <a:lnTo>
                  <a:pt x="187718" y="112400"/>
                </a:lnTo>
                <a:lnTo>
                  <a:pt x="187528" y="112844"/>
                </a:lnTo>
                <a:lnTo>
                  <a:pt x="187211" y="113223"/>
                </a:lnTo>
                <a:lnTo>
                  <a:pt x="186957" y="113540"/>
                </a:lnTo>
                <a:lnTo>
                  <a:pt x="186640" y="113856"/>
                </a:lnTo>
                <a:lnTo>
                  <a:pt x="186197" y="114173"/>
                </a:lnTo>
                <a:lnTo>
                  <a:pt x="185816" y="114362"/>
                </a:lnTo>
                <a:lnTo>
                  <a:pt x="185373" y="114552"/>
                </a:lnTo>
                <a:lnTo>
                  <a:pt x="184802" y="114679"/>
                </a:lnTo>
                <a:lnTo>
                  <a:pt x="184295" y="114742"/>
                </a:lnTo>
                <a:lnTo>
                  <a:pt x="183661" y="114742"/>
                </a:lnTo>
                <a:lnTo>
                  <a:pt x="183027" y="114679"/>
                </a:lnTo>
                <a:lnTo>
                  <a:pt x="182266" y="114552"/>
                </a:lnTo>
                <a:lnTo>
                  <a:pt x="181442" y="114362"/>
                </a:lnTo>
                <a:lnTo>
                  <a:pt x="180554" y="114109"/>
                </a:lnTo>
                <a:lnTo>
                  <a:pt x="179603" y="113666"/>
                </a:lnTo>
                <a:lnTo>
                  <a:pt x="178716" y="113223"/>
                </a:lnTo>
                <a:lnTo>
                  <a:pt x="178145" y="113033"/>
                </a:lnTo>
                <a:lnTo>
                  <a:pt x="177194" y="112844"/>
                </a:lnTo>
                <a:lnTo>
                  <a:pt x="174785" y="112400"/>
                </a:lnTo>
                <a:lnTo>
                  <a:pt x="172313" y="111957"/>
                </a:lnTo>
                <a:lnTo>
                  <a:pt x="171362" y="111768"/>
                </a:lnTo>
                <a:lnTo>
                  <a:pt x="170791" y="111641"/>
                </a:lnTo>
                <a:lnTo>
                  <a:pt x="175673" y="113983"/>
                </a:lnTo>
                <a:lnTo>
                  <a:pt x="177955" y="114995"/>
                </a:lnTo>
                <a:lnTo>
                  <a:pt x="179033" y="115375"/>
                </a:lnTo>
                <a:lnTo>
                  <a:pt x="180111" y="115755"/>
                </a:lnTo>
                <a:lnTo>
                  <a:pt x="181125" y="116134"/>
                </a:lnTo>
                <a:lnTo>
                  <a:pt x="182076" y="116324"/>
                </a:lnTo>
                <a:lnTo>
                  <a:pt x="183027" y="116514"/>
                </a:lnTo>
                <a:lnTo>
                  <a:pt x="183851" y="116577"/>
                </a:lnTo>
                <a:lnTo>
                  <a:pt x="184675" y="116514"/>
                </a:lnTo>
                <a:lnTo>
                  <a:pt x="185436" y="116324"/>
                </a:lnTo>
                <a:lnTo>
                  <a:pt x="186133" y="116071"/>
                </a:lnTo>
                <a:lnTo>
                  <a:pt x="186767" y="115628"/>
                </a:lnTo>
                <a:lnTo>
                  <a:pt x="186957" y="117274"/>
                </a:lnTo>
                <a:lnTo>
                  <a:pt x="187021" y="118793"/>
                </a:lnTo>
                <a:lnTo>
                  <a:pt x="186957" y="120185"/>
                </a:lnTo>
                <a:lnTo>
                  <a:pt x="186894" y="121577"/>
                </a:lnTo>
                <a:lnTo>
                  <a:pt x="187148" y="121387"/>
                </a:lnTo>
                <a:lnTo>
                  <a:pt x="187274" y="121261"/>
                </a:lnTo>
                <a:lnTo>
                  <a:pt x="187465" y="121198"/>
                </a:lnTo>
                <a:lnTo>
                  <a:pt x="187528" y="121261"/>
                </a:lnTo>
                <a:lnTo>
                  <a:pt x="187591" y="121387"/>
                </a:lnTo>
                <a:lnTo>
                  <a:pt x="187655" y="121830"/>
                </a:lnTo>
                <a:lnTo>
                  <a:pt x="187718" y="122463"/>
                </a:lnTo>
                <a:lnTo>
                  <a:pt x="187718" y="123286"/>
                </a:lnTo>
                <a:lnTo>
                  <a:pt x="187528" y="125311"/>
                </a:lnTo>
                <a:lnTo>
                  <a:pt x="187274" y="127653"/>
                </a:lnTo>
                <a:lnTo>
                  <a:pt x="186957" y="129868"/>
                </a:lnTo>
                <a:lnTo>
                  <a:pt x="186640" y="131767"/>
                </a:lnTo>
                <a:lnTo>
                  <a:pt x="186387" y="132906"/>
                </a:lnTo>
                <a:lnTo>
                  <a:pt x="186197" y="133096"/>
                </a:lnTo>
                <a:lnTo>
                  <a:pt x="186133" y="133033"/>
                </a:lnTo>
                <a:lnTo>
                  <a:pt x="186006" y="134298"/>
                </a:lnTo>
                <a:lnTo>
                  <a:pt x="185816" y="135501"/>
                </a:lnTo>
                <a:lnTo>
                  <a:pt x="185563" y="136640"/>
                </a:lnTo>
                <a:lnTo>
                  <a:pt x="185309" y="137779"/>
                </a:lnTo>
                <a:lnTo>
                  <a:pt x="184929" y="138855"/>
                </a:lnTo>
                <a:lnTo>
                  <a:pt x="184548" y="139931"/>
                </a:lnTo>
                <a:lnTo>
                  <a:pt x="184168" y="140944"/>
                </a:lnTo>
                <a:lnTo>
                  <a:pt x="183661" y="141956"/>
                </a:lnTo>
                <a:lnTo>
                  <a:pt x="183217" y="142969"/>
                </a:lnTo>
                <a:lnTo>
                  <a:pt x="182710" y="143855"/>
                </a:lnTo>
                <a:lnTo>
                  <a:pt x="182203" y="144741"/>
                </a:lnTo>
                <a:lnTo>
                  <a:pt x="181569" y="145627"/>
                </a:lnTo>
                <a:lnTo>
                  <a:pt x="180998" y="146450"/>
                </a:lnTo>
                <a:lnTo>
                  <a:pt x="180364" y="147272"/>
                </a:lnTo>
                <a:lnTo>
                  <a:pt x="179096" y="148665"/>
                </a:lnTo>
                <a:lnTo>
                  <a:pt x="177765" y="149994"/>
                </a:lnTo>
                <a:lnTo>
                  <a:pt x="176307" y="151133"/>
                </a:lnTo>
                <a:lnTo>
                  <a:pt x="174912" y="152146"/>
                </a:lnTo>
                <a:lnTo>
                  <a:pt x="173454" y="152968"/>
                </a:lnTo>
                <a:lnTo>
                  <a:pt x="171932" y="153601"/>
                </a:lnTo>
                <a:lnTo>
                  <a:pt x="171298" y="153854"/>
                </a:lnTo>
                <a:lnTo>
                  <a:pt x="170537" y="154108"/>
                </a:lnTo>
                <a:lnTo>
                  <a:pt x="169777" y="154234"/>
                </a:lnTo>
                <a:lnTo>
                  <a:pt x="169143" y="154361"/>
                </a:lnTo>
                <a:lnTo>
                  <a:pt x="168445" y="154424"/>
                </a:lnTo>
                <a:lnTo>
                  <a:pt x="167748" y="154424"/>
                </a:lnTo>
                <a:lnTo>
                  <a:pt x="167241" y="154424"/>
                </a:lnTo>
                <a:lnTo>
                  <a:pt x="166607" y="154361"/>
                </a:lnTo>
                <a:lnTo>
                  <a:pt x="166036" y="154234"/>
                </a:lnTo>
                <a:lnTo>
                  <a:pt x="165402" y="154044"/>
                </a:lnTo>
                <a:lnTo>
                  <a:pt x="164134" y="153538"/>
                </a:lnTo>
                <a:lnTo>
                  <a:pt x="162803" y="152905"/>
                </a:lnTo>
                <a:lnTo>
                  <a:pt x="161408" y="152019"/>
                </a:lnTo>
                <a:lnTo>
                  <a:pt x="160014" y="151070"/>
                </a:lnTo>
                <a:lnTo>
                  <a:pt x="158619" y="149867"/>
                </a:lnTo>
                <a:lnTo>
                  <a:pt x="157224" y="148601"/>
                </a:lnTo>
                <a:lnTo>
                  <a:pt x="155829" y="147083"/>
                </a:lnTo>
                <a:lnTo>
                  <a:pt x="154561" y="145564"/>
                </a:lnTo>
                <a:lnTo>
                  <a:pt x="153293" y="143855"/>
                </a:lnTo>
                <a:lnTo>
                  <a:pt x="152152" y="142083"/>
                </a:lnTo>
                <a:lnTo>
                  <a:pt x="151074" y="140121"/>
                </a:lnTo>
                <a:lnTo>
                  <a:pt x="150123" y="138096"/>
                </a:lnTo>
                <a:lnTo>
                  <a:pt x="149743" y="137083"/>
                </a:lnTo>
                <a:lnTo>
                  <a:pt x="149299" y="136007"/>
                </a:lnTo>
                <a:lnTo>
                  <a:pt x="148982" y="134931"/>
                </a:lnTo>
                <a:lnTo>
                  <a:pt x="148665" y="133855"/>
                </a:lnTo>
                <a:lnTo>
                  <a:pt x="148475" y="134551"/>
                </a:lnTo>
                <a:lnTo>
                  <a:pt x="148158" y="135121"/>
                </a:lnTo>
                <a:lnTo>
                  <a:pt x="147841" y="135501"/>
                </a:lnTo>
                <a:lnTo>
                  <a:pt x="147714" y="135564"/>
                </a:lnTo>
                <a:lnTo>
                  <a:pt x="147588" y="135627"/>
                </a:lnTo>
                <a:lnTo>
                  <a:pt x="147397" y="135564"/>
                </a:lnTo>
                <a:lnTo>
                  <a:pt x="147207" y="135501"/>
                </a:lnTo>
                <a:lnTo>
                  <a:pt x="147017" y="135248"/>
                </a:lnTo>
                <a:lnTo>
                  <a:pt x="146890" y="134994"/>
                </a:lnTo>
                <a:lnTo>
                  <a:pt x="146573" y="134425"/>
                </a:lnTo>
                <a:lnTo>
                  <a:pt x="146383" y="133539"/>
                </a:lnTo>
                <a:lnTo>
                  <a:pt x="146129" y="132526"/>
                </a:lnTo>
                <a:lnTo>
                  <a:pt x="145939" y="131324"/>
                </a:lnTo>
                <a:lnTo>
                  <a:pt x="145876" y="129995"/>
                </a:lnTo>
                <a:lnTo>
                  <a:pt x="145812" y="128539"/>
                </a:lnTo>
                <a:lnTo>
                  <a:pt x="145876" y="127273"/>
                </a:lnTo>
                <a:lnTo>
                  <a:pt x="145939" y="126071"/>
                </a:lnTo>
                <a:lnTo>
                  <a:pt x="146066" y="124995"/>
                </a:lnTo>
                <a:lnTo>
                  <a:pt x="146320" y="123982"/>
                </a:lnTo>
                <a:lnTo>
                  <a:pt x="146510" y="123159"/>
                </a:lnTo>
                <a:lnTo>
                  <a:pt x="146700" y="122463"/>
                </a:lnTo>
                <a:lnTo>
                  <a:pt x="147017" y="121957"/>
                </a:lnTo>
                <a:lnTo>
                  <a:pt x="147144" y="121767"/>
                </a:lnTo>
                <a:lnTo>
                  <a:pt x="147334" y="121704"/>
                </a:lnTo>
                <a:lnTo>
                  <a:pt x="146827" y="121134"/>
                </a:lnTo>
                <a:lnTo>
                  <a:pt x="146447" y="120628"/>
                </a:lnTo>
                <a:lnTo>
                  <a:pt x="146066" y="119995"/>
                </a:lnTo>
                <a:lnTo>
                  <a:pt x="145812" y="119362"/>
                </a:lnTo>
                <a:lnTo>
                  <a:pt x="145559" y="118729"/>
                </a:lnTo>
                <a:lnTo>
                  <a:pt x="145432" y="117970"/>
                </a:lnTo>
                <a:lnTo>
                  <a:pt x="145305" y="117337"/>
                </a:lnTo>
                <a:lnTo>
                  <a:pt x="145242" y="116577"/>
                </a:lnTo>
                <a:lnTo>
                  <a:pt x="145178" y="115945"/>
                </a:lnTo>
                <a:lnTo>
                  <a:pt x="145178" y="115122"/>
                </a:lnTo>
                <a:lnTo>
                  <a:pt x="145305" y="113603"/>
                </a:lnTo>
                <a:lnTo>
                  <a:pt x="145559" y="112147"/>
                </a:lnTo>
                <a:lnTo>
                  <a:pt x="145876" y="110692"/>
                </a:lnTo>
                <a:lnTo>
                  <a:pt x="146383" y="109236"/>
                </a:lnTo>
                <a:lnTo>
                  <a:pt x="146890" y="107907"/>
                </a:lnTo>
                <a:lnTo>
                  <a:pt x="147461" y="106641"/>
                </a:lnTo>
                <a:lnTo>
                  <a:pt x="148031" y="105565"/>
                </a:lnTo>
                <a:lnTo>
                  <a:pt x="148602" y="104616"/>
                </a:lnTo>
                <a:lnTo>
                  <a:pt x="149109" y="103856"/>
                </a:lnTo>
                <a:lnTo>
                  <a:pt x="149616" y="103287"/>
                </a:lnTo>
                <a:lnTo>
                  <a:pt x="149997" y="103034"/>
                </a:lnTo>
                <a:lnTo>
                  <a:pt x="152025" y="102021"/>
                </a:lnTo>
                <a:lnTo>
                  <a:pt x="153991" y="101198"/>
                </a:lnTo>
                <a:lnTo>
                  <a:pt x="155893" y="100502"/>
                </a:lnTo>
                <a:lnTo>
                  <a:pt x="157858" y="99996"/>
                </a:lnTo>
                <a:lnTo>
                  <a:pt x="159760" y="99553"/>
                </a:lnTo>
                <a:lnTo>
                  <a:pt x="161598" y="99236"/>
                </a:lnTo>
                <a:lnTo>
                  <a:pt x="163374" y="99047"/>
                </a:lnTo>
                <a:lnTo>
                  <a:pt x="165149" y="98983"/>
                </a:lnTo>
                <a:moveTo>
                  <a:pt x="165914" y="82219"/>
                </a:moveTo>
                <a:lnTo>
                  <a:pt x="162693" y="82282"/>
                </a:lnTo>
                <a:lnTo>
                  <a:pt x="159472" y="82409"/>
                </a:lnTo>
                <a:lnTo>
                  <a:pt x="156314" y="82662"/>
                </a:lnTo>
                <a:lnTo>
                  <a:pt x="153156" y="82915"/>
                </a:lnTo>
                <a:lnTo>
                  <a:pt x="150061" y="83232"/>
                </a:lnTo>
                <a:lnTo>
                  <a:pt x="146967" y="83738"/>
                </a:lnTo>
                <a:lnTo>
                  <a:pt x="143872" y="84181"/>
                </a:lnTo>
                <a:lnTo>
                  <a:pt x="140777" y="84814"/>
                </a:lnTo>
                <a:lnTo>
                  <a:pt x="137809" y="85447"/>
                </a:lnTo>
                <a:lnTo>
                  <a:pt x="134841" y="86207"/>
                </a:lnTo>
                <a:lnTo>
                  <a:pt x="131872" y="87030"/>
                </a:lnTo>
                <a:lnTo>
                  <a:pt x="128904" y="87853"/>
                </a:lnTo>
                <a:lnTo>
                  <a:pt x="125999" y="88802"/>
                </a:lnTo>
                <a:lnTo>
                  <a:pt x="123156" y="89815"/>
                </a:lnTo>
                <a:lnTo>
                  <a:pt x="120251" y="90891"/>
                </a:lnTo>
                <a:lnTo>
                  <a:pt x="117472" y="92031"/>
                </a:lnTo>
                <a:lnTo>
                  <a:pt x="114693" y="93360"/>
                </a:lnTo>
                <a:lnTo>
                  <a:pt x="111978" y="94626"/>
                </a:lnTo>
                <a:lnTo>
                  <a:pt x="109262" y="95955"/>
                </a:lnTo>
                <a:lnTo>
                  <a:pt x="106609" y="97348"/>
                </a:lnTo>
                <a:lnTo>
                  <a:pt x="103957" y="98804"/>
                </a:lnTo>
                <a:lnTo>
                  <a:pt x="101430" y="100323"/>
                </a:lnTo>
                <a:lnTo>
                  <a:pt x="98904" y="101905"/>
                </a:lnTo>
                <a:lnTo>
                  <a:pt x="96378" y="103615"/>
                </a:lnTo>
                <a:lnTo>
                  <a:pt x="93915" y="105324"/>
                </a:lnTo>
                <a:lnTo>
                  <a:pt x="91515" y="107033"/>
                </a:lnTo>
                <a:lnTo>
                  <a:pt x="89052" y="108868"/>
                </a:lnTo>
                <a:lnTo>
                  <a:pt x="86778" y="110767"/>
                </a:lnTo>
                <a:lnTo>
                  <a:pt x="84504" y="112667"/>
                </a:lnTo>
                <a:lnTo>
                  <a:pt x="82231" y="114692"/>
                </a:lnTo>
                <a:lnTo>
                  <a:pt x="80083" y="116718"/>
                </a:lnTo>
                <a:lnTo>
                  <a:pt x="77936" y="118807"/>
                </a:lnTo>
                <a:lnTo>
                  <a:pt x="75852" y="120959"/>
                </a:lnTo>
                <a:lnTo>
                  <a:pt x="73831" y="123174"/>
                </a:lnTo>
                <a:lnTo>
                  <a:pt x="71810" y="125390"/>
                </a:lnTo>
                <a:lnTo>
                  <a:pt x="69915" y="127669"/>
                </a:lnTo>
                <a:lnTo>
                  <a:pt x="68020" y="130074"/>
                </a:lnTo>
                <a:lnTo>
                  <a:pt x="66189" y="132416"/>
                </a:lnTo>
                <a:lnTo>
                  <a:pt x="64483" y="134822"/>
                </a:lnTo>
                <a:lnTo>
                  <a:pt x="62715" y="137290"/>
                </a:lnTo>
                <a:lnTo>
                  <a:pt x="61073" y="139822"/>
                </a:lnTo>
                <a:lnTo>
                  <a:pt x="59494" y="142354"/>
                </a:lnTo>
                <a:lnTo>
                  <a:pt x="57978" y="144950"/>
                </a:lnTo>
                <a:lnTo>
                  <a:pt x="56463" y="147608"/>
                </a:lnTo>
                <a:lnTo>
                  <a:pt x="55073" y="150204"/>
                </a:lnTo>
                <a:lnTo>
                  <a:pt x="53747" y="152989"/>
                </a:lnTo>
                <a:lnTo>
                  <a:pt x="52420" y="155648"/>
                </a:lnTo>
                <a:lnTo>
                  <a:pt x="51220" y="158496"/>
                </a:lnTo>
                <a:lnTo>
                  <a:pt x="50084" y="161281"/>
                </a:lnTo>
                <a:lnTo>
                  <a:pt x="49010" y="164130"/>
                </a:lnTo>
                <a:lnTo>
                  <a:pt x="47999" y="167042"/>
                </a:lnTo>
                <a:lnTo>
                  <a:pt x="47052" y="169890"/>
                </a:lnTo>
                <a:lnTo>
                  <a:pt x="46231" y="172865"/>
                </a:lnTo>
                <a:lnTo>
                  <a:pt x="45410" y="175841"/>
                </a:lnTo>
                <a:lnTo>
                  <a:pt x="44652" y="178879"/>
                </a:lnTo>
                <a:lnTo>
                  <a:pt x="44021" y="181917"/>
                </a:lnTo>
                <a:lnTo>
                  <a:pt x="43389" y="184892"/>
                </a:lnTo>
                <a:lnTo>
                  <a:pt x="42947" y="187994"/>
                </a:lnTo>
                <a:lnTo>
                  <a:pt x="42442" y="191096"/>
                </a:lnTo>
                <a:lnTo>
                  <a:pt x="42126" y="194261"/>
                </a:lnTo>
                <a:lnTo>
                  <a:pt x="41873" y="197363"/>
                </a:lnTo>
                <a:lnTo>
                  <a:pt x="41621" y="200591"/>
                </a:lnTo>
                <a:lnTo>
                  <a:pt x="41494" y="203756"/>
                </a:lnTo>
                <a:lnTo>
                  <a:pt x="41431" y="206984"/>
                </a:lnTo>
                <a:lnTo>
                  <a:pt x="41494" y="210213"/>
                </a:lnTo>
                <a:lnTo>
                  <a:pt x="41621" y="213378"/>
                </a:lnTo>
                <a:lnTo>
                  <a:pt x="41873" y="216543"/>
                </a:lnTo>
                <a:lnTo>
                  <a:pt x="42126" y="219708"/>
                </a:lnTo>
                <a:lnTo>
                  <a:pt x="42442" y="222809"/>
                </a:lnTo>
                <a:lnTo>
                  <a:pt x="42947" y="225911"/>
                </a:lnTo>
                <a:lnTo>
                  <a:pt x="43389" y="229013"/>
                </a:lnTo>
                <a:lnTo>
                  <a:pt x="44021" y="232051"/>
                </a:lnTo>
                <a:lnTo>
                  <a:pt x="44652" y="235090"/>
                </a:lnTo>
                <a:lnTo>
                  <a:pt x="45410" y="238128"/>
                </a:lnTo>
                <a:lnTo>
                  <a:pt x="46231" y="241040"/>
                </a:lnTo>
                <a:lnTo>
                  <a:pt x="47052" y="244015"/>
                </a:lnTo>
                <a:lnTo>
                  <a:pt x="47999" y="246927"/>
                </a:lnTo>
                <a:lnTo>
                  <a:pt x="49010" y="249776"/>
                </a:lnTo>
                <a:lnTo>
                  <a:pt x="50084" y="252624"/>
                </a:lnTo>
                <a:lnTo>
                  <a:pt x="51220" y="255473"/>
                </a:lnTo>
                <a:lnTo>
                  <a:pt x="52420" y="258195"/>
                </a:lnTo>
                <a:lnTo>
                  <a:pt x="53747" y="260980"/>
                </a:lnTo>
                <a:lnTo>
                  <a:pt x="55073" y="263638"/>
                </a:lnTo>
                <a:lnTo>
                  <a:pt x="56463" y="266360"/>
                </a:lnTo>
                <a:lnTo>
                  <a:pt x="57978" y="268956"/>
                </a:lnTo>
                <a:lnTo>
                  <a:pt x="59494" y="271614"/>
                </a:lnTo>
                <a:lnTo>
                  <a:pt x="61073" y="274146"/>
                </a:lnTo>
                <a:lnTo>
                  <a:pt x="62715" y="276615"/>
                </a:lnTo>
                <a:lnTo>
                  <a:pt x="64483" y="279147"/>
                </a:lnTo>
                <a:lnTo>
                  <a:pt x="66189" y="281553"/>
                </a:lnTo>
                <a:lnTo>
                  <a:pt x="68020" y="283895"/>
                </a:lnTo>
                <a:lnTo>
                  <a:pt x="69915" y="286237"/>
                </a:lnTo>
                <a:lnTo>
                  <a:pt x="71810" y="288515"/>
                </a:lnTo>
                <a:lnTo>
                  <a:pt x="73831" y="290731"/>
                </a:lnTo>
                <a:lnTo>
                  <a:pt x="75852" y="292947"/>
                </a:lnTo>
                <a:lnTo>
                  <a:pt x="77936" y="295099"/>
                </a:lnTo>
                <a:lnTo>
                  <a:pt x="80083" y="297188"/>
                </a:lnTo>
                <a:lnTo>
                  <a:pt x="82231" y="299213"/>
                </a:lnTo>
                <a:lnTo>
                  <a:pt x="84504" y="301239"/>
                </a:lnTo>
                <a:lnTo>
                  <a:pt x="86778" y="303138"/>
                </a:lnTo>
                <a:lnTo>
                  <a:pt x="89052" y="305037"/>
                </a:lnTo>
                <a:lnTo>
                  <a:pt x="91515" y="306809"/>
                </a:lnTo>
                <a:lnTo>
                  <a:pt x="93915" y="308645"/>
                </a:lnTo>
                <a:lnTo>
                  <a:pt x="96378" y="310291"/>
                </a:lnTo>
                <a:lnTo>
                  <a:pt x="98904" y="312000"/>
                </a:lnTo>
                <a:lnTo>
                  <a:pt x="101430" y="313519"/>
                </a:lnTo>
                <a:lnTo>
                  <a:pt x="103957" y="315102"/>
                </a:lnTo>
                <a:lnTo>
                  <a:pt x="106609" y="316558"/>
                </a:lnTo>
                <a:lnTo>
                  <a:pt x="109262" y="318014"/>
                </a:lnTo>
                <a:lnTo>
                  <a:pt x="111978" y="319343"/>
                </a:lnTo>
                <a:lnTo>
                  <a:pt x="114693" y="320609"/>
                </a:lnTo>
                <a:lnTo>
                  <a:pt x="117472" y="321812"/>
                </a:lnTo>
                <a:lnTo>
                  <a:pt x="120251" y="322951"/>
                </a:lnTo>
                <a:lnTo>
                  <a:pt x="123156" y="324091"/>
                </a:lnTo>
                <a:lnTo>
                  <a:pt x="125999" y="325103"/>
                </a:lnTo>
                <a:lnTo>
                  <a:pt x="128904" y="326053"/>
                </a:lnTo>
                <a:lnTo>
                  <a:pt x="131872" y="326939"/>
                </a:lnTo>
                <a:lnTo>
                  <a:pt x="134841" y="327762"/>
                </a:lnTo>
                <a:lnTo>
                  <a:pt x="137809" y="328458"/>
                </a:lnTo>
                <a:lnTo>
                  <a:pt x="140777" y="329155"/>
                </a:lnTo>
                <a:lnTo>
                  <a:pt x="143872" y="329661"/>
                </a:lnTo>
                <a:lnTo>
                  <a:pt x="146967" y="330231"/>
                </a:lnTo>
                <a:lnTo>
                  <a:pt x="150061" y="330610"/>
                </a:lnTo>
                <a:lnTo>
                  <a:pt x="153156" y="331053"/>
                </a:lnTo>
                <a:lnTo>
                  <a:pt x="156314" y="331307"/>
                </a:lnTo>
                <a:lnTo>
                  <a:pt x="159472" y="331497"/>
                </a:lnTo>
                <a:lnTo>
                  <a:pt x="162693" y="331623"/>
                </a:lnTo>
                <a:lnTo>
                  <a:pt x="165914" y="331623"/>
                </a:lnTo>
                <a:lnTo>
                  <a:pt x="169072" y="331623"/>
                </a:lnTo>
                <a:lnTo>
                  <a:pt x="172293" y="331497"/>
                </a:lnTo>
                <a:lnTo>
                  <a:pt x="175450" y="331307"/>
                </a:lnTo>
                <a:lnTo>
                  <a:pt x="178545" y="331053"/>
                </a:lnTo>
                <a:lnTo>
                  <a:pt x="181640" y="330610"/>
                </a:lnTo>
                <a:lnTo>
                  <a:pt x="184798" y="330231"/>
                </a:lnTo>
                <a:lnTo>
                  <a:pt x="187829" y="329661"/>
                </a:lnTo>
                <a:lnTo>
                  <a:pt x="190924" y="329155"/>
                </a:lnTo>
                <a:lnTo>
                  <a:pt x="193956" y="328458"/>
                </a:lnTo>
                <a:lnTo>
                  <a:pt x="196861" y="327762"/>
                </a:lnTo>
                <a:lnTo>
                  <a:pt x="199892" y="326939"/>
                </a:lnTo>
                <a:lnTo>
                  <a:pt x="202798" y="326053"/>
                </a:lnTo>
                <a:lnTo>
                  <a:pt x="205766" y="325103"/>
                </a:lnTo>
                <a:lnTo>
                  <a:pt x="208608" y="324091"/>
                </a:lnTo>
                <a:lnTo>
                  <a:pt x="211450" y="322951"/>
                </a:lnTo>
                <a:lnTo>
                  <a:pt x="214292" y="321812"/>
                </a:lnTo>
                <a:lnTo>
                  <a:pt x="217008" y="320609"/>
                </a:lnTo>
                <a:lnTo>
                  <a:pt x="219787" y="319343"/>
                </a:lnTo>
                <a:lnTo>
                  <a:pt x="222439" y="318014"/>
                </a:lnTo>
                <a:lnTo>
                  <a:pt x="225155" y="316558"/>
                </a:lnTo>
                <a:lnTo>
                  <a:pt x="227745" y="315102"/>
                </a:lnTo>
                <a:lnTo>
                  <a:pt x="230271" y="313519"/>
                </a:lnTo>
                <a:lnTo>
                  <a:pt x="232860" y="312000"/>
                </a:lnTo>
                <a:lnTo>
                  <a:pt x="235387" y="310291"/>
                </a:lnTo>
                <a:lnTo>
                  <a:pt x="237787" y="308645"/>
                </a:lnTo>
                <a:lnTo>
                  <a:pt x="240250" y="306809"/>
                </a:lnTo>
                <a:lnTo>
                  <a:pt x="242650" y="305037"/>
                </a:lnTo>
                <a:lnTo>
                  <a:pt x="244923" y="303138"/>
                </a:lnTo>
                <a:lnTo>
                  <a:pt x="247197" y="301239"/>
                </a:lnTo>
                <a:lnTo>
                  <a:pt x="249471" y="299213"/>
                </a:lnTo>
                <a:lnTo>
                  <a:pt x="251618" y="297188"/>
                </a:lnTo>
                <a:lnTo>
                  <a:pt x="253766" y="295099"/>
                </a:lnTo>
                <a:lnTo>
                  <a:pt x="255850" y="292947"/>
                </a:lnTo>
                <a:lnTo>
                  <a:pt x="257934" y="290731"/>
                </a:lnTo>
                <a:lnTo>
                  <a:pt x="259892" y="288515"/>
                </a:lnTo>
                <a:lnTo>
                  <a:pt x="261849" y="286237"/>
                </a:lnTo>
                <a:lnTo>
                  <a:pt x="263681" y="283895"/>
                </a:lnTo>
                <a:lnTo>
                  <a:pt x="265513" y="281553"/>
                </a:lnTo>
                <a:lnTo>
                  <a:pt x="267281" y="279147"/>
                </a:lnTo>
                <a:lnTo>
                  <a:pt x="268986" y="276615"/>
                </a:lnTo>
                <a:lnTo>
                  <a:pt x="270628" y="274146"/>
                </a:lnTo>
                <a:lnTo>
                  <a:pt x="272207" y="271614"/>
                </a:lnTo>
                <a:lnTo>
                  <a:pt x="273786" y="268956"/>
                </a:lnTo>
                <a:lnTo>
                  <a:pt x="275239" y="266360"/>
                </a:lnTo>
                <a:lnTo>
                  <a:pt x="276628" y="263638"/>
                </a:lnTo>
                <a:lnTo>
                  <a:pt x="278018" y="260980"/>
                </a:lnTo>
                <a:lnTo>
                  <a:pt x="279281" y="258195"/>
                </a:lnTo>
                <a:lnTo>
                  <a:pt x="280481" y="255473"/>
                </a:lnTo>
                <a:lnTo>
                  <a:pt x="281618" y="252624"/>
                </a:lnTo>
                <a:lnTo>
                  <a:pt x="282691" y="249776"/>
                </a:lnTo>
                <a:lnTo>
                  <a:pt x="283702" y="246927"/>
                </a:lnTo>
                <a:lnTo>
                  <a:pt x="284649" y="244015"/>
                </a:lnTo>
                <a:lnTo>
                  <a:pt x="285597" y="241040"/>
                </a:lnTo>
                <a:lnTo>
                  <a:pt x="286355" y="238128"/>
                </a:lnTo>
                <a:lnTo>
                  <a:pt x="287049" y="235090"/>
                </a:lnTo>
                <a:lnTo>
                  <a:pt x="287744" y="232051"/>
                </a:lnTo>
                <a:lnTo>
                  <a:pt x="288312" y="229013"/>
                </a:lnTo>
                <a:lnTo>
                  <a:pt x="288881" y="225911"/>
                </a:lnTo>
                <a:lnTo>
                  <a:pt x="289260" y="222809"/>
                </a:lnTo>
                <a:lnTo>
                  <a:pt x="289576" y="219708"/>
                </a:lnTo>
                <a:lnTo>
                  <a:pt x="289955" y="216543"/>
                </a:lnTo>
                <a:lnTo>
                  <a:pt x="290144" y="213378"/>
                </a:lnTo>
                <a:lnTo>
                  <a:pt x="290207" y="210213"/>
                </a:lnTo>
                <a:lnTo>
                  <a:pt x="290270" y="206984"/>
                </a:lnTo>
                <a:lnTo>
                  <a:pt x="290207" y="203756"/>
                </a:lnTo>
                <a:lnTo>
                  <a:pt x="290144" y="200591"/>
                </a:lnTo>
                <a:lnTo>
                  <a:pt x="289955" y="197363"/>
                </a:lnTo>
                <a:lnTo>
                  <a:pt x="289576" y="194261"/>
                </a:lnTo>
                <a:lnTo>
                  <a:pt x="289260" y="191096"/>
                </a:lnTo>
                <a:lnTo>
                  <a:pt x="288881" y="187994"/>
                </a:lnTo>
                <a:lnTo>
                  <a:pt x="288312" y="184892"/>
                </a:lnTo>
                <a:lnTo>
                  <a:pt x="287744" y="181917"/>
                </a:lnTo>
                <a:lnTo>
                  <a:pt x="287049" y="178879"/>
                </a:lnTo>
                <a:lnTo>
                  <a:pt x="286355" y="175841"/>
                </a:lnTo>
                <a:lnTo>
                  <a:pt x="285597" y="172865"/>
                </a:lnTo>
                <a:lnTo>
                  <a:pt x="284649" y="169890"/>
                </a:lnTo>
                <a:lnTo>
                  <a:pt x="283702" y="167042"/>
                </a:lnTo>
                <a:lnTo>
                  <a:pt x="282691" y="164130"/>
                </a:lnTo>
                <a:lnTo>
                  <a:pt x="281618" y="161281"/>
                </a:lnTo>
                <a:lnTo>
                  <a:pt x="280481" y="158496"/>
                </a:lnTo>
                <a:lnTo>
                  <a:pt x="279281" y="155648"/>
                </a:lnTo>
                <a:lnTo>
                  <a:pt x="278018" y="152989"/>
                </a:lnTo>
                <a:lnTo>
                  <a:pt x="276628" y="150204"/>
                </a:lnTo>
                <a:lnTo>
                  <a:pt x="275239" y="147608"/>
                </a:lnTo>
                <a:lnTo>
                  <a:pt x="273786" y="144950"/>
                </a:lnTo>
                <a:lnTo>
                  <a:pt x="272207" y="142354"/>
                </a:lnTo>
                <a:lnTo>
                  <a:pt x="270628" y="139822"/>
                </a:lnTo>
                <a:lnTo>
                  <a:pt x="268986" y="137290"/>
                </a:lnTo>
                <a:lnTo>
                  <a:pt x="267281" y="134822"/>
                </a:lnTo>
                <a:lnTo>
                  <a:pt x="265513" y="132416"/>
                </a:lnTo>
                <a:lnTo>
                  <a:pt x="263681" y="130074"/>
                </a:lnTo>
                <a:lnTo>
                  <a:pt x="261849" y="127669"/>
                </a:lnTo>
                <a:lnTo>
                  <a:pt x="259892" y="125390"/>
                </a:lnTo>
                <a:lnTo>
                  <a:pt x="257934" y="123174"/>
                </a:lnTo>
                <a:lnTo>
                  <a:pt x="255850" y="120959"/>
                </a:lnTo>
                <a:lnTo>
                  <a:pt x="253766" y="118807"/>
                </a:lnTo>
                <a:lnTo>
                  <a:pt x="251618" y="116718"/>
                </a:lnTo>
                <a:lnTo>
                  <a:pt x="249471" y="114692"/>
                </a:lnTo>
                <a:lnTo>
                  <a:pt x="247197" y="112667"/>
                </a:lnTo>
                <a:lnTo>
                  <a:pt x="244923" y="110767"/>
                </a:lnTo>
                <a:lnTo>
                  <a:pt x="242650" y="108868"/>
                </a:lnTo>
                <a:lnTo>
                  <a:pt x="240250" y="107033"/>
                </a:lnTo>
                <a:lnTo>
                  <a:pt x="237787" y="105324"/>
                </a:lnTo>
                <a:lnTo>
                  <a:pt x="235387" y="103615"/>
                </a:lnTo>
                <a:lnTo>
                  <a:pt x="232860" y="101905"/>
                </a:lnTo>
                <a:lnTo>
                  <a:pt x="230271" y="100323"/>
                </a:lnTo>
                <a:lnTo>
                  <a:pt x="227745" y="98804"/>
                </a:lnTo>
                <a:lnTo>
                  <a:pt x="225155" y="97348"/>
                </a:lnTo>
                <a:lnTo>
                  <a:pt x="222439" y="95955"/>
                </a:lnTo>
                <a:lnTo>
                  <a:pt x="219787" y="94626"/>
                </a:lnTo>
                <a:lnTo>
                  <a:pt x="217008" y="93360"/>
                </a:lnTo>
                <a:lnTo>
                  <a:pt x="214292" y="92031"/>
                </a:lnTo>
                <a:lnTo>
                  <a:pt x="211450" y="90891"/>
                </a:lnTo>
                <a:lnTo>
                  <a:pt x="208608" y="89815"/>
                </a:lnTo>
                <a:lnTo>
                  <a:pt x="205766" y="88802"/>
                </a:lnTo>
                <a:lnTo>
                  <a:pt x="202798" y="87853"/>
                </a:lnTo>
                <a:lnTo>
                  <a:pt x="199892" y="87030"/>
                </a:lnTo>
                <a:lnTo>
                  <a:pt x="196861" y="86207"/>
                </a:lnTo>
                <a:lnTo>
                  <a:pt x="193956" y="85447"/>
                </a:lnTo>
                <a:lnTo>
                  <a:pt x="190924" y="84814"/>
                </a:lnTo>
                <a:lnTo>
                  <a:pt x="187829" y="84181"/>
                </a:lnTo>
                <a:lnTo>
                  <a:pt x="184798" y="83738"/>
                </a:lnTo>
                <a:lnTo>
                  <a:pt x="181640" y="83232"/>
                </a:lnTo>
                <a:lnTo>
                  <a:pt x="178545" y="82915"/>
                </a:lnTo>
                <a:lnTo>
                  <a:pt x="175450" y="82662"/>
                </a:lnTo>
                <a:lnTo>
                  <a:pt x="172293" y="82409"/>
                </a:lnTo>
                <a:lnTo>
                  <a:pt x="169072" y="82282"/>
                </a:lnTo>
                <a:lnTo>
                  <a:pt x="165914" y="82219"/>
                </a:lnTo>
                <a:moveTo>
                  <a:pt x="127830" y="44808"/>
                </a:moveTo>
                <a:lnTo>
                  <a:pt x="137241" y="62406"/>
                </a:lnTo>
                <a:lnTo>
                  <a:pt x="140714" y="61773"/>
                </a:lnTo>
                <a:lnTo>
                  <a:pt x="144251" y="61203"/>
                </a:lnTo>
                <a:lnTo>
                  <a:pt x="147788" y="60697"/>
                </a:lnTo>
                <a:lnTo>
                  <a:pt x="151325" y="60317"/>
                </a:lnTo>
                <a:lnTo>
                  <a:pt x="154988" y="60000"/>
                </a:lnTo>
                <a:lnTo>
                  <a:pt x="158588" y="59747"/>
                </a:lnTo>
                <a:lnTo>
                  <a:pt x="162188" y="59621"/>
                </a:lnTo>
                <a:lnTo>
                  <a:pt x="165914" y="59557"/>
                </a:lnTo>
                <a:lnTo>
                  <a:pt x="168567" y="59621"/>
                </a:lnTo>
                <a:lnTo>
                  <a:pt x="171282" y="59684"/>
                </a:lnTo>
                <a:lnTo>
                  <a:pt x="173935" y="59874"/>
                </a:lnTo>
                <a:lnTo>
                  <a:pt x="176650" y="60000"/>
                </a:lnTo>
                <a:lnTo>
                  <a:pt x="179303" y="60254"/>
                </a:lnTo>
                <a:lnTo>
                  <a:pt x="181956" y="60507"/>
                </a:lnTo>
                <a:lnTo>
                  <a:pt x="184545" y="60760"/>
                </a:lnTo>
                <a:lnTo>
                  <a:pt x="187135" y="61203"/>
                </a:lnTo>
                <a:lnTo>
                  <a:pt x="189787" y="61583"/>
                </a:lnTo>
                <a:lnTo>
                  <a:pt x="192377" y="62026"/>
                </a:lnTo>
                <a:lnTo>
                  <a:pt x="194966" y="62532"/>
                </a:lnTo>
                <a:lnTo>
                  <a:pt x="197492" y="63039"/>
                </a:lnTo>
                <a:lnTo>
                  <a:pt x="200019" y="63672"/>
                </a:lnTo>
                <a:lnTo>
                  <a:pt x="202545" y="64305"/>
                </a:lnTo>
                <a:lnTo>
                  <a:pt x="205071" y="64938"/>
                </a:lnTo>
                <a:lnTo>
                  <a:pt x="207534" y="65698"/>
                </a:lnTo>
                <a:lnTo>
                  <a:pt x="217955" y="48606"/>
                </a:lnTo>
                <a:lnTo>
                  <a:pt x="256292" y="66520"/>
                </a:lnTo>
                <a:lnTo>
                  <a:pt x="249723" y="86080"/>
                </a:lnTo>
                <a:lnTo>
                  <a:pt x="253323" y="88612"/>
                </a:lnTo>
                <a:lnTo>
                  <a:pt x="256797" y="91334"/>
                </a:lnTo>
                <a:lnTo>
                  <a:pt x="260207" y="94056"/>
                </a:lnTo>
                <a:lnTo>
                  <a:pt x="263492" y="96968"/>
                </a:lnTo>
                <a:lnTo>
                  <a:pt x="266713" y="99943"/>
                </a:lnTo>
                <a:lnTo>
                  <a:pt x="269870" y="102918"/>
                </a:lnTo>
                <a:lnTo>
                  <a:pt x="272902" y="106083"/>
                </a:lnTo>
                <a:lnTo>
                  <a:pt x="275870" y="109312"/>
                </a:lnTo>
                <a:lnTo>
                  <a:pt x="278713" y="112667"/>
                </a:lnTo>
                <a:lnTo>
                  <a:pt x="281491" y="116148"/>
                </a:lnTo>
                <a:lnTo>
                  <a:pt x="284144" y="119630"/>
                </a:lnTo>
                <a:lnTo>
                  <a:pt x="286733" y="123174"/>
                </a:lnTo>
                <a:lnTo>
                  <a:pt x="289197" y="126846"/>
                </a:lnTo>
                <a:lnTo>
                  <a:pt x="291470" y="130581"/>
                </a:lnTo>
                <a:lnTo>
                  <a:pt x="293744" y="134379"/>
                </a:lnTo>
                <a:lnTo>
                  <a:pt x="295828" y="138240"/>
                </a:lnTo>
                <a:lnTo>
                  <a:pt x="317238" y="133049"/>
                </a:lnTo>
                <a:lnTo>
                  <a:pt x="331765" y="172865"/>
                </a:lnTo>
                <a:lnTo>
                  <a:pt x="310923" y="183310"/>
                </a:lnTo>
                <a:lnTo>
                  <a:pt x="311428" y="186222"/>
                </a:lnTo>
                <a:lnTo>
                  <a:pt x="311807" y="189070"/>
                </a:lnTo>
                <a:lnTo>
                  <a:pt x="312123" y="192045"/>
                </a:lnTo>
                <a:lnTo>
                  <a:pt x="312438" y="195021"/>
                </a:lnTo>
                <a:lnTo>
                  <a:pt x="312628" y="197932"/>
                </a:lnTo>
                <a:lnTo>
                  <a:pt x="312754" y="200907"/>
                </a:lnTo>
                <a:lnTo>
                  <a:pt x="312881" y="203946"/>
                </a:lnTo>
                <a:lnTo>
                  <a:pt x="312881" y="206984"/>
                </a:lnTo>
                <a:lnTo>
                  <a:pt x="312881" y="209770"/>
                </a:lnTo>
                <a:lnTo>
                  <a:pt x="312817" y="212555"/>
                </a:lnTo>
                <a:lnTo>
                  <a:pt x="312691" y="215277"/>
                </a:lnTo>
                <a:lnTo>
                  <a:pt x="312502" y="218125"/>
                </a:lnTo>
                <a:lnTo>
                  <a:pt x="312186" y="220911"/>
                </a:lnTo>
                <a:lnTo>
                  <a:pt x="311933" y="223569"/>
                </a:lnTo>
                <a:lnTo>
                  <a:pt x="311617" y="226354"/>
                </a:lnTo>
                <a:lnTo>
                  <a:pt x="311302" y="229013"/>
                </a:lnTo>
                <a:lnTo>
                  <a:pt x="310796" y="231735"/>
                </a:lnTo>
                <a:lnTo>
                  <a:pt x="310354" y="234393"/>
                </a:lnTo>
                <a:lnTo>
                  <a:pt x="309786" y="237052"/>
                </a:lnTo>
                <a:lnTo>
                  <a:pt x="309217" y="239711"/>
                </a:lnTo>
                <a:lnTo>
                  <a:pt x="308586" y="242369"/>
                </a:lnTo>
                <a:lnTo>
                  <a:pt x="307891" y="244901"/>
                </a:lnTo>
                <a:lnTo>
                  <a:pt x="307259" y="247497"/>
                </a:lnTo>
                <a:lnTo>
                  <a:pt x="306438" y="250092"/>
                </a:lnTo>
                <a:lnTo>
                  <a:pt x="327849" y="263195"/>
                </a:lnTo>
                <a:lnTo>
                  <a:pt x="310038" y="301555"/>
                </a:lnTo>
                <a:lnTo>
                  <a:pt x="284965" y="293200"/>
                </a:lnTo>
                <a:lnTo>
                  <a:pt x="282565" y="296491"/>
                </a:lnTo>
                <a:lnTo>
                  <a:pt x="280102" y="299656"/>
                </a:lnTo>
                <a:lnTo>
                  <a:pt x="277449" y="302695"/>
                </a:lnTo>
                <a:lnTo>
                  <a:pt x="274860" y="305733"/>
                </a:lnTo>
                <a:lnTo>
                  <a:pt x="272081" y="308708"/>
                </a:lnTo>
                <a:lnTo>
                  <a:pt x="269302" y="311620"/>
                </a:lnTo>
                <a:lnTo>
                  <a:pt x="266397" y="314342"/>
                </a:lnTo>
                <a:lnTo>
                  <a:pt x="263365" y="317127"/>
                </a:lnTo>
                <a:lnTo>
                  <a:pt x="260334" y="319723"/>
                </a:lnTo>
                <a:lnTo>
                  <a:pt x="257176" y="322318"/>
                </a:lnTo>
                <a:lnTo>
                  <a:pt x="254018" y="324787"/>
                </a:lnTo>
                <a:lnTo>
                  <a:pt x="250734" y="327129"/>
                </a:lnTo>
                <a:lnTo>
                  <a:pt x="247450" y="329471"/>
                </a:lnTo>
                <a:lnTo>
                  <a:pt x="244039" y="331623"/>
                </a:lnTo>
                <a:lnTo>
                  <a:pt x="240629" y="333775"/>
                </a:lnTo>
                <a:lnTo>
                  <a:pt x="237155" y="335801"/>
                </a:lnTo>
                <a:lnTo>
                  <a:pt x="243597" y="362704"/>
                </a:lnTo>
                <a:lnTo>
                  <a:pt x="203871" y="377200"/>
                </a:lnTo>
                <a:lnTo>
                  <a:pt x="191303" y="352069"/>
                </a:lnTo>
                <a:lnTo>
                  <a:pt x="188208" y="352576"/>
                </a:lnTo>
                <a:lnTo>
                  <a:pt x="185050" y="353019"/>
                </a:lnTo>
                <a:lnTo>
                  <a:pt x="181956" y="353399"/>
                </a:lnTo>
                <a:lnTo>
                  <a:pt x="178798" y="353778"/>
                </a:lnTo>
                <a:lnTo>
                  <a:pt x="175577" y="353968"/>
                </a:lnTo>
                <a:lnTo>
                  <a:pt x="172356" y="354158"/>
                </a:lnTo>
                <a:lnTo>
                  <a:pt x="169135" y="354285"/>
                </a:lnTo>
                <a:lnTo>
                  <a:pt x="165914" y="354285"/>
                </a:lnTo>
                <a:lnTo>
                  <a:pt x="161114" y="354221"/>
                </a:lnTo>
                <a:lnTo>
                  <a:pt x="156377" y="354032"/>
                </a:lnTo>
                <a:lnTo>
                  <a:pt x="151767" y="353652"/>
                </a:lnTo>
                <a:lnTo>
                  <a:pt x="147093" y="353145"/>
                </a:lnTo>
                <a:lnTo>
                  <a:pt x="142483" y="352512"/>
                </a:lnTo>
                <a:lnTo>
                  <a:pt x="137935" y="351689"/>
                </a:lnTo>
                <a:lnTo>
                  <a:pt x="133451" y="350740"/>
                </a:lnTo>
                <a:lnTo>
                  <a:pt x="128967" y="349664"/>
                </a:lnTo>
                <a:lnTo>
                  <a:pt x="113746" y="373338"/>
                </a:lnTo>
                <a:lnTo>
                  <a:pt x="75473" y="355488"/>
                </a:lnTo>
                <a:lnTo>
                  <a:pt x="83494" y="328965"/>
                </a:lnTo>
                <a:lnTo>
                  <a:pt x="80273" y="326749"/>
                </a:lnTo>
                <a:lnTo>
                  <a:pt x="77052" y="324280"/>
                </a:lnTo>
                <a:lnTo>
                  <a:pt x="73957" y="321875"/>
                </a:lnTo>
                <a:lnTo>
                  <a:pt x="70925" y="319406"/>
                </a:lnTo>
                <a:lnTo>
                  <a:pt x="67957" y="316748"/>
                </a:lnTo>
                <a:lnTo>
                  <a:pt x="64989" y="314089"/>
                </a:lnTo>
                <a:lnTo>
                  <a:pt x="62147" y="311304"/>
                </a:lnTo>
                <a:lnTo>
                  <a:pt x="59431" y="308519"/>
                </a:lnTo>
                <a:lnTo>
                  <a:pt x="56715" y="305543"/>
                </a:lnTo>
                <a:lnTo>
                  <a:pt x="54126" y="302568"/>
                </a:lnTo>
                <a:lnTo>
                  <a:pt x="51599" y="299593"/>
                </a:lnTo>
                <a:lnTo>
                  <a:pt x="49073" y="296428"/>
                </a:lnTo>
                <a:lnTo>
                  <a:pt x="46736" y="293263"/>
                </a:lnTo>
                <a:lnTo>
                  <a:pt x="44463" y="290035"/>
                </a:lnTo>
                <a:lnTo>
                  <a:pt x="42252" y="286680"/>
                </a:lnTo>
                <a:lnTo>
                  <a:pt x="40168" y="283262"/>
                </a:lnTo>
                <a:lnTo>
                  <a:pt x="14526" y="288895"/>
                </a:lnTo>
                <a:lnTo>
                  <a:pt x="0" y="249143"/>
                </a:lnTo>
                <a:lnTo>
                  <a:pt x="21979" y="237369"/>
                </a:lnTo>
                <a:lnTo>
                  <a:pt x="21221" y="233634"/>
                </a:lnTo>
                <a:lnTo>
                  <a:pt x="20652" y="229899"/>
                </a:lnTo>
                <a:lnTo>
                  <a:pt x="20084" y="226164"/>
                </a:lnTo>
                <a:lnTo>
                  <a:pt x="19642" y="222366"/>
                </a:lnTo>
                <a:lnTo>
                  <a:pt x="19326" y="218505"/>
                </a:lnTo>
                <a:lnTo>
                  <a:pt x="19010" y="214707"/>
                </a:lnTo>
                <a:lnTo>
                  <a:pt x="18884" y="210846"/>
                </a:lnTo>
                <a:lnTo>
                  <a:pt x="18821" y="206984"/>
                </a:lnTo>
                <a:lnTo>
                  <a:pt x="18884" y="202427"/>
                </a:lnTo>
                <a:lnTo>
                  <a:pt x="19073" y="197806"/>
                </a:lnTo>
                <a:lnTo>
                  <a:pt x="19515" y="193248"/>
                </a:lnTo>
                <a:lnTo>
                  <a:pt x="19958" y="188817"/>
                </a:lnTo>
                <a:lnTo>
                  <a:pt x="20589" y="184323"/>
                </a:lnTo>
                <a:lnTo>
                  <a:pt x="21347" y="179955"/>
                </a:lnTo>
                <a:lnTo>
                  <a:pt x="22231" y="175587"/>
                </a:lnTo>
                <a:lnTo>
                  <a:pt x="23242" y="171283"/>
                </a:lnTo>
                <a:lnTo>
                  <a:pt x="3853" y="158813"/>
                </a:lnTo>
                <a:lnTo>
                  <a:pt x="21726" y="120452"/>
                </a:lnTo>
                <a:lnTo>
                  <a:pt x="42631" y="126719"/>
                </a:lnTo>
                <a:lnTo>
                  <a:pt x="45094" y="123111"/>
                </a:lnTo>
                <a:lnTo>
                  <a:pt x="47557" y="119630"/>
                </a:lnTo>
                <a:lnTo>
                  <a:pt x="50210" y="116148"/>
                </a:lnTo>
                <a:lnTo>
                  <a:pt x="52926" y="112793"/>
                </a:lnTo>
                <a:lnTo>
                  <a:pt x="55705" y="109438"/>
                </a:lnTo>
                <a:lnTo>
                  <a:pt x="58673" y="106336"/>
                </a:lnTo>
                <a:lnTo>
                  <a:pt x="61641" y="103171"/>
                </a:lnTo>
                <a:lnTo>
                  <a:pt x="64799" y="100133"/>
                </a:lnTo>
                <a:lnTo>
                  <a:pt x="67957" y="97158"/>
                </a:lnTo>
                <a:lnTo>
                  <a:pt x="71241" y="94309"/>
                </a:lnTo>
                <a:lnTo>
                  <a:pt x="74589" y="91587"/>
                </a:lnTo>
                <a:lnTo>
                  <a:pt x="77999" y="88929"/>
                </a:lnTo>
                <a:lnTo>
                  <a:pt x="81473" y="86397"/>
                </a:lnTo>
                <a:lnTo>
                  <a:pt x="85136" y="83928"/>
                </a:lnTo>
                <a:lnTo>
                  <a:pt x="88736" y="81586"/>
                </a:lnTo>
                <a:lnTo>
                  <a:pt x="92525" y="79370"/>
                </a:lnTo>
                <a:lnTo>
                  <a:pt x="88167" y="59304"/>
                </a:lnTo>
                <a:lnTo>
                  <a:pt x="127830" y="44808"/>
                </a:lnTo>
                <a:moveTo>
                  <a:pt x="320278" y="29746"/>
                </a:moveTo>
                <a:lnTo>
                  <a:pt x="318388" y="29809"/>
                </a:lnTo>
                <a:lnTo>
                  <a:pt x="316436" y="29999"/>
                </a:lnTo>
                <a:lnTo>
                  <a:pt x="314609" y="30315"/>
                </a:lnTo>
                <a:lnTo>
                  <a:pt x="312782" y="30758"/>
                </a:lnTo>
                <a:lnTo>
                  <a:pt x="310956" y="31328"/>
                </a:lnTo>
                <a:lnTo>
                  <a:pt x="309192" y="32024"/>
                </a:lnTo>
                <a:lnTo>
                  <a:pt x="307429" y="32847"/>
                </a:lnTo>
                <a:lnTo>
                  <a:pt x="305728" y="33733"/>
                </a:lnTo>
                <a:lnTo>
                  <a:pt x="304468" y="34492"/>
                </a:lnTo>
                <a:lnTo>
                  <a:pt x="303271" y="35378"/>
                </a:lnTo>
                <a:lnTo>
                  <a:pt x="302138" y="36264"/>
                </a:lnTo>
                <a:lnTo>
                  <a:pt x="301067" y="37214"/>
                </a:lnTo>
                <a:lnTo>
                  <a:pt x="299996" y="38226"/>
                </a:lnTo>
                <a:lnTo>
                  <a:pt x="299051" y="39239"/>
                </a:lnTo>
                <a:lnTo>
                  <a:pt x="298106" y="40315"/>
                </a:lnTo>
                <a:lnTo>
                  <a:pt x="297287" y="41454"/>
                </a:lnTo>
                <a:lnTo>
                  <a:pt x="296469" y="42593"/>
                </a:lnTo>
                <a:lnTo>
                  <a:pt x="295713" y="43732"/>
                </a:lnTo>
                <a:lnTo>
                  <a:pt x="295083" y="44935"/>
                </a:lnTo>
                <a:lnTo>
                  <a:pt x="294390" y="46201"/>
                </a:lnTo>
                <a:lnTo>
                  <a:pt x="293823" y="47466"/>
                </a:lnTo>
                <a:lnTo>
                  <a:pt x="293382" y="48732"/>
                </a:lnTo>
                <a:lnTo>
                  <a:pt x="292941" y="50061"/>
                </a:lnTo>
                <a:lnTo>
                  <a:pt x="292501" y="51390"/>
                </a:lnTo>
                <a:lnTo>
                  <a:pt x="292249" y="52719"/>
                </a:lnTo>
                <a:lnTo>
                  <a:pt x="291997" y="54112"/>
                </a:lnTo>
                <a:lnTo>
                  <a:pt x="291745" y="55504"/>
                </a:lnTo>
                <a:lnTo>
                  <a:pt x="291619" y="56896"/>
                </a:lnTo>
                <a:lnTo>
                  <a:pt x="291619" y="58225"/>
                </a:lnTo>
                <a:lnTo>
                  <a:pt x="291619" y="59618"/>
                </a:lnTo>
                <a:lnTo>
                  <a:pt x="291682" y="61073"/>
                </a:lnTo>
                <a:lnTo>
                  <a:pt x="291871" y="62466"/>
                </a:lnTo>
                <a:lnTo>
                  <a:pt x="292123" y="63795"/>
                </a:lnTo>
                <a:lnTo>
                  <a:pt x="292375" y="65250"/>
                </a:lnTo>
                <a:lnTo>
                  <a:pt x="292689" y="66580"/>
                </a:lnTo>
                <a:lnTo>
                  <a:pt x="293193" y="67972"/>
                </a:lnTo>
                <a:lnTo>
                  <a:pt x="293634" y="69301"/>
                </a:lnTo>
                <a:lnTo>
                  <a:pt x="294264" y="70693"/>
                </a:lnTo>
                <a:lnTo>
                  <a:pt x="294831" y="71959"/>
                </a:lnTo>
                <a:lnTo>
                  <a:pt x="295587" y="73288"/>
                </a:lnTo>
                <a:lnTo>
                  <a:pt x="296595" y="74870"/>
                </a:lnTo>
                <a:lnTo>
                  <a:pt x="297728" y="76389"/>
                </a:lnTo>
                <a:lnTo>
                  <a:pt x="298925" y="77845"/>
                </a:lnTo>
                <a:lnTo>
                  <a:pt x="300185" y="79237"/>
                </a:lnTo>
                <a:lnTo>
                  <a:pt x="301634" y="80440"/>
                </a:lnTo>
                <a:lnTo>
                  <a:pt x="303019" y="81642"/>
                </a:lnTo>
                <a:lnTo>
                  <a:pt x="304531" y="82718"/>
                </a:lnTo>
                <a:lnTo>
                  <a:pt x="306106" y="83667"/>
                </a:lnTo>
                <a:lnTo>
                  <a:pt x="307743" y="84490"/>
                </a:lnTo>
                <a:lnTo>
                  <a:pt x="309444" y="85313"/>
                </a:lnTo>
                <a:lnTo>
                  <a:pt x="311208" y="85946"/>
                </a:lnTo>
                <a:lnTo>
                  <a:pt x="312971" y="86452"/>
                </a:lnTo>
                <a:lnTo>
                  <a:pt x="314798" y="86958"/>
                </a:lnTo>
                <a:lnTo>
                  <a:pt x="316625" y="87212"/>
                </a:lnTo>
                <a:lnTo>
                  <a:pt x="318451" y="87402"/>
                </a:lnTo>
                <a:lnTo>
                  <a:pt x="320404" y="87465"/>
                </a:lnTo>
                <a:lnTo>
                  <a:pt x="322293" y="87402"/>
                </a:lnTo>
                <a:lnTo>
                  <a:pt x="324183" y="87212"/>
                </a:lnTo>
                <a:lnTo>
                  <a:pt x="326010" y="86895"/>
                </a:lnTo>
                <a:lnTo>
                  <a:pt x="327899" y="86452"/>
                </a:lnTo>
                <a:lnTo>
                  <a:pt x="329726" y="85883"/>
                </a:lnTo>
                <a:lnTo>
                  <a:pt x="331490" y="85186"/>
                </a:lnTo>
                <a:lnTo>
                  <a:pt x="333253" y="84364"/>
                </a:lnTo>
                <a:lnTo>
                  <a:pt x="334954" y="83414"/>
                </a:lnTo>
                <a:lnTo>
                  <a:pt x="336150" y="82718"/>
                </a:lnTo>
                <a:lnTo>
                  <a:pt x="337347" y="81895"/>
                </a:lnTo>
                <a:lnTo>
                  <a:pt x="338481" y="81009"/>
                </a:lnTo>
                <a:lnTo>
                  <a:pt x="339552" y="80060"/>
                </a:lnTo>
                <a:lnTo>
                  <a:pt x="340560" y="79174"/>
                </a:lnTo>
                <a:lnTo>
                  <a:pt x="341504" y="78161"/>
                </a:lnTo>
                <a:lnTo>
                  <a:pt x="342449" y="77085"/>
                </a:lnTo>
                <a:lnTo>
                  <a:pt x="343268" y="76010"/>
                </a:lnTo>
                <a:lnTo>
                  <a:pt x="344087" y="74870"/>
                </a:lnTo>
                <a:lnTo>
                  <a:pt x="344906" y="73605"/>
                </a:lnTo>
                <a:lnTo>
                  <a:pt x="345599" y="72402"/>
                </a:lnTo>
                <a:lnTo>
                  <a:pt x="346228" y="71200"/>
                </a:lnTo>
                <a:lnTo>
                  <a:pt x="346795" y="69870"/>
                </a:lnTo>
                <a:lnTo>
                  <a:pt x="347299" y="68605"/>
                </a:lnTo>
                <a:lnTo>
                  <a:pt x="347803" y="67212"/>
                </a:lnTo>
                <a:lnTo>
                  <a:pt x="348181" y="65820"/>
                </a:lnTo>
                <a:lnTo>
                  <a:pt x="348496" y="64428"/>
                </a:lnTo>
                <a:lnTo>
                  <a:pt x="348685" y="63035"/>
                </a:lnTo>
                <a:lnTo>
                  <a:pt x="348937" y="61580"/>
                </a:lnTo>
                <a:lnTo>
                  <a:pt x="349063" y="60187"/>
                </a:lnTo>
                <a:lnTo>
                  <a:pt x="349063" y="58795"/>
                </a:lnTo>
                <a:lnTo>
                  <a:pt x="349063" y="57339"/>
                </a:lnTo>
                <a:lnTo>
                  <a:pt x="349000" y="56010"/>
                </a:lnTo>
                <a:lnTo>
                  <a:pt x="348748" y="54618"/>
                </a:lnTo>
                <a:lnTo>
                  <a:pt x="348559" y="53162"/>
                </a:lnTo>
                <a:lnTo>
                  <a:pt x="348244" y="51833"/>
                </a:lnTo>
                <a:lnTo>
                  <a:pt x="347929" y="50504"/>
                </a:lnTo>
                <a:lnTo>
                  <a:pt x="347488" y="49175"/>
                </a:lnTo>
                <a:lnTo>
                  <a:pt x="346984" y="47783"/>
                </a:lnTo>
                <a:lnTo>
                  <a:pt x="346418" y="46517"/>
                </a:lnTo>
                <a:lnTo>
                  <a:pt x="345788" y="45251"/>
                </a:lnTo>
                <a:lnTo>
                  <a:pt x="345095" y="43985"/>
                </a:lnTo>
                <a:lnTo>
                  <a:pt x="344087" y="42340"/>
                </a:lnTo>
                <a:lnTo>
                  <a:pt x="342953" y="40821"/>
                </a:lnTo>
                <a:lnTo>
                  <a:pt x="341756" y="39429"/>
                </a:lnTo>
                <a:lnTo>
                  <a:pt x="340497" y="38036"/>
                </a:lnTo>
                <a:lnTo>
                  <a:pt x="339048" y="36771"/>
                </a:lnTo>
                <a:lnTo>
                  <a:pt x="337662" y="35631"/>
                </a:lnTo>
                <a:lnTo>
                  <a:pt x="336150" y="34556"/>
                </a:lnTo>
                <a:lnTo>
                  <a:pt x="334513" y="33543"/>
                </a:lnTo>
                <a:lnTo>
                  <a:pt x="332938" y="32657"/>
                </a:lnTo>
                <a:lnTo>
                  <a:pt x="331238" y="31961"/>
                </a:lnTo>
                <a:lnTo>
                  <a:pt x="329537" y="31264"/>
                </a:lnTo>
                <a:lnTo>
                  <a:pt x="327710" y="30758"/>
                </a:lnTo>
                <a:lnTo>
                  <a:pt x="325884" y="30315"/>
                </a:lnTo>
                <a:lnTo>
                  <a:pt x="323994" y="29999"/>
                </a:lnTo>
                <a:lnTo>
                  <a:pt x="322167" y="29809"/>
                </a:lnTo>
                <a:lnTo>
                  <a:pt x="320278" y="29746"/>
                </a:lnTo>
                <a:moveTo>
                  <a:pt x="328592" y="0"/>
                </a:moveTo>
                <a:lnTo>
                  <a:pt x="342953" y="3797"/>
                </a:lnTo>
                <a:lnTo>
                  <a:pt x="341315" y="15949"/>
                </a:lnTo>
                <a:lnTo>
                  <a:pt x="340503" y="18902"/>
                </a:lnTo>
                <a:lnTo>
                  <a:pt x="339489" y="18354"/>
                </a:lnTo>
                <a:lnTo>
                  <a:pt x="339191" y="18236"/>
                </a:lnTo>
                <a:lnTo>
                  <a:pt x="339174" y="18227"/>
                </a:lnTo>
                <a:lnTo>
                  <a:pt x="337725" y="17657"/>
                </a:lnTo>
                <a:lnTo>
                  <a:pt x="339191" y="18236"/>
                </a:lnTo>
                <a:lnTo>
                  <a:pt x="340497" y="18923"/>
                </a:lnTo>
                <a:lnTo>
                  <a:pt x="340503" y="18902"/>
                </a:lnTo>
                <a:lnTo>
                  <a:pt x="341127" y="19240"/>
                </a:lnTo>
                <a:lnTo>
                  <a:pt x="342512" y="19999"/>
                </a:lnTo>
                <a:lnTo>
                  <a:pt x="344717" y="21328"/>
                </a:lnTo>
                <a:lnTo>
                  <a:pt x="345788" y="22024"/>
                </a:lnTo>
                <a:lnTo>
                  <a:pt x="346858" y="22784"/>
                </a:lnTo>
                <a:lnTo>
                  <a:pt x="346921" y="22847"/>
                </a:lnTo>
                <a:lnTo>
                  <a:pt x="347929" y="23607"/>
                </a:lnTo>
                <a:lnTo>
                  <a:pt x="348937" y="24429"/>
                </a:lnTo>
                <a:lnTo>
                  <a:pt x="350764" y="26138"/>
                </a:lnTo>
                <a:lnTo>
                  <a:pt x="351897" y="27214"/>
                </a:lnTo>
                <a:lnTo>
                  <a:pt x="353283" y="28733"/>
                </a:lnTo>
                <a:lnTo>
                  <a:pt x="354104" y="29681"/>
                </a:lnTo>
                <a:lnTo>
                  <a:pt x="354102" y="29682"/>
                </a:lnTo>
                <a:lnTo>
                  <a:pt x="354543" y="30189"/>
                </a:lnTo>
                <a:lnTo>
                  <a:pt x="354104" y="29681"/>
                </a:lnTo>
                <a:lnTo>
                  <a:pt x="356999" y="27974"/>
                </a:lnTo>
                <a:lnTo>
                  <a:pt x="368337" y="22910"/>
                </a:lnTo>
                <a:lnTo>
                  <a:pt x="375832" y="35758"/>
                </a:lnTo>
                <a:lnTo>
                  <a:pt x="366132" y="43163"/>
                </a:lnTo>
                <a:lnTo>
                  <a:pt x="362668" y="45188"/>
                </a:lnTo>
                <a:lnTo>
                  <a:pt x="363298" y="47277"/>
                </a:lnTo>
                <a:lnTo>
                  <a:pt x="363739" y="49302"/>
                </a:lnTo>
                <a:lnTo>
                  <a:pt x="364180" y="51390"/>
                </a:lnTo>
                <a:lnTo>
                  <a:pt x="364432" y="53479"/>
                </a:lnTo>
                <a:lnTo>
                  <a:pt x="364621" y="55567"/>
                </a:lnTo>
                <a:lnTo>
                  <a:pt x="364747" y="57656"/>
                </a:lnTo>
                <a:lnTo>
                  <a:pt x="364747" y="59744"/>
                </a:lnTo>
                <a:lnTo>
                  <a:pt x="364621" y="61770"/>
                </a:lnTo>
                <a:lnTo>
                  <a:pt x="368715" y="62845"/>
                </a:lnTo>
                <a:lnTo>
                  <a:pt x="380242" y="67339"/>
                </a:lnTo>
                <a:lnTo>
                  <a:pt x="376525" y="81769"/>
                </a:lnTo>
                <a:lnTo>
                  <a:pt x="364432" y="80060"/>
                </a:lnTo>
                <a:lnTo>
                  <a:pt x="359897" y="78857"/>
                </a:lnTo>
                <a:lnTo>
                  <a:pt x="358952" y="80693"/>
                </a:lnTo>
                <a:lnTo>
                  <a:pt x="357881" y="82465"/>
                </a:lnTo>
                <a:lnTo>
                  <a:pt x="356810" y="84110"/>
                </a:lnTo>
                <a:lnTo>
                  <a:pt x="355614" y="85756"/>
                </a:lnTo>
                <a:lnTo>
                  <a:pt x="354354" y="87338"/>
                </a:lnTo>
                <a:lnTo>
                  <a:pt x="352968" y="88920"/>
                </a:lnTo>
                <a:lnTo>
                  <a:pt x="351582" y="90376"/>
                </a:lnTo>
                <a:lnTo>
                  <a:pt x="350071" y="91768"/>
                </a:lnTo>
                <a:lnTo>
                  <a:pt x="352464" y="95882"/>
                </a:lnTo>
                <a:lnTo>
                  <a:pt x="357503" y="107148"/>
                </a:lnTo>
                <a:lnTo>
                  <a:pt x="344717" y="114805"/>
                </a:lnTo>
                <a:lnTo>
                  <a:pt x="337347" y="104996"/>
                </a:lnTo>
                <a:lnTo>
                  <a:pt x="334891" y="100819"/>
                </a:lnTo>
                <a:lnTo>
                  <a:pt x="335710" y="100439"/>
                </a:lnTo>
                <a:lnTo>
                  <a:pt x="336529" y="100123"/>
                </a:lnTo>
                <a:lnTo>
                  <a:pt x="334639" y="100819"/>
                </a:lnTo>
                <a:lnTo>
                  <a:pt x="332812" y="101388"/>
                </a:lnTo>
                <a:lnTo>
                  <a:pt x="331301" y="101895"/>
                </a:lnTo>
                <a:lnTo>
                  <a:pt x="328781" y="102464"/>
                </a:lnTo>
                <a:lnTo>
                  <a:pt x="327521" y="102654"/>
                </a:lnTo>
                <a:lnTo>
                  <a:pt x="326136" y="102844"/>
                </a:lnTo>
                <a:lnTo>
                  <a:pt x="325884" y="102844"/>
                </a:lnTo>
                <a:lnTo>
                  <a:pt x="323427" y="103160"/>
                </a:lnTo>
                <a:lnTo>
                  <a:pt x="321034" y="103224"/>
                </a:lnTo>
                <a:lnTo>
                  <a:pt x="320404" y="103287"/>
                </a:lnTo>
                <a:lnTo>
                  <a:pt x="319396" y="103224"/>
                </a:lnTo>
                <a:lnTo>
                  <a:pt x="318507" y="103194"/>
                </a:lnTo>
                <a:lnTo>
                  <a:pt x="317254" y="103097"/>
                </a:lnTo>
                <a:lnTo>
                  <a:pt x="315680" y="102970"/>
                </a:lnTo>
                <a:lnTo>
                  <a:pt x="317506" y="103160"/>
                </a:lnTo>
                <a:lnTo>
                  <a:pt x="318507" y="103194"/>
                </a:lnTo>
                <a:lnTo>
                  <a:pt x="318892" y="103224"/>
                </a:lnTo>
                <a:lnTo>
                  <a:pt x="317192" y="109679"/>
                </a:lnTo>
                <a:lnTo>
                  <a:pt x="313349" y="119236"/>
                </a:lnTo>
                <a:lnTo>
                  <a:pt x="298925" y="115502"/>
                </a:lnTo>
                <a:lnTo>
                  <a:pt x="299996" y="105629"/>
                </a:lnTo>
                <a:lnTo>
                  <a:pt x="301697" y="99110"/>
                </a:lnTo>
                <a:lnTo>
                  <a:pt x="302893" y="99679"/>
                </a:lnTo>
                <a:lnTo>
                  <a:pt x="301193" y="98857"/>
                </a:lnTo>
                <a:lnTo>
                  <a:pt x="299492" y="97971"/>
                </a:lnTo>
                <a:lnTo>
                  <a:pt x="298169" y="97274"/>
                </a:lnTo>
                <a:lnTo>
                  <a:pt x="295965" y="95945"/>
                </a:lnTo>
                <a:lnTo>
                  <a:pt x="294894" y="95186"/>
                </a:lnTo>
                <a:lnTo>
                  <a:pt x="293823" y="94490"/>
                </a:lnTo>
                <a:lnTo>
                  <a:pt x="293697" y="94427"/>
                </a:lnTo>
                <a:lnTo>
                  <a:pt x="292689" y="93604"/>
                </a:lnTo>
                <a:lnTo>
                  <a:pt x="291745" y="92781"/>
                </a:lnTo>
                <a:lnTo>
                  <a:pt x="289855" y="91072"/>
                </a:lnTo>
                <a:lnTo>
                  <a:pt x="288784" y="89996"/>
                </a:lnTo>
                <a:lnTo>
                  <a:pt x="287795" y="88957"/>
                </a:lnTo>
                <a:lnTo>
                  <a:pt x="287147" y="88224"/>
                </a:lnTo>
                <a:lnTo>
                  <a:pt x="286139" y="87022"/>
                </a:lnTo>
                <a:lnTo>
                  <a:pt x="287399" y="88541"/>
                </a:lnTo>
                <a:lnTo>
                  <a:pt x="287795" y="88957"/>
                </a:lnTo>
                <a:lnTo>
                  <a:pt x="288154" y="89363"/>
                </a:lnTo>
                <a:lnTo>
                  <a:pt x="283052" y="92401"/>
                </a:lnTo>
                <a:lnTo>
                  <a:pt x="273604" y="96325"/>
                </a:lnTo>
                <a:lnTo>
                  <a:pt x="266109" y="83541"/>
                </a:lnTo>
                <a:lnTo>
                  <a:pt x="273793" y="77275"/>
                </a:lnTo>
                <a:lnTo>
                  <a:pt x="278769" y="74301"/>
                </a:lnTo>
                <a:lnTo>
                  <a:pt x="278076" y="72212"/>
                </a:lnTo>
                <a:lnTo>
                  <a:pt x="277447" y="70060"/>
                </a:lnTo>
                <a:lnTo>
                  <a:pt x="276943" y="67909"/>
                </a:lnTo>
                <a:lnTo>
                  <a:pt x="276502" y="65757"/>
                </a:lnTo>
                <a:lnTo>
                  <a:pt x="276187" y="63605"/>
                </a:lnTo>
                <a:lnTo>
                  <a:pt x="276061" y="61453"/>
                </a:lnTo>
                <a:lnTo>
                  <a:pt x="275935" y="59238"/>
                </a:lnTo>
                <a:lnTo>
                  <a:pt x="275998" y="57086"/>
                </a:lnTo>
                <a:lnTo>
                  <a:pt x="271085" y="55884"/>
                </a:lnTo>
                <a:lnTo>
                  <a:pt x="261574" y="51897"/>
                </a:lnTo>
                <a:lnTo>
                  <a:pt x="265353" y="37530"/>
                </a:lnTo>
                <a:lnTo>
                  <a:pt x="275179" y="38606"/>
                </a:lnTo>
                <a:lnTo>
                  <a:pt x="280029" y="39872"/>
                </a:lnTo>
                <a:lnTo>
                  <a:pt x="280974" y="37846"/>
                </a:lnTo>
                <a:lnTo>
                  <a:pt x="282045" y="35885"/>
                </a:lnTo>
                <a:lnTo>
                  <a:pt x="283304" y="34049"/>
                </a:lnTo>
                <a:lnTo>
                  <a:pt x="284564" y="32151"/>
                </a:lnTo>
                <a:lnTo>
                  <a:pt x="285950" y="30378"/>
                </a:lnTo>
                <a:lnTo>
                  <a:pt x="287399" y="28670"/>
                </a:lnTo>
                <a:lnTo>
                  <a:pt x="288973" y="26961"/>
                </a:lnTo>
                <a:lnTo>
                  <a:pt x="290611" y="25442"/>
                </a:lnTo>
                <a:lnTo>
                  <a:pt x="288343" y="21581"/>
                </a:lnTo>
                <a:lnTo>
                  <a:pt x="284438" y="12025"/>
                </a:lnTo>
                <a:lnTo>
                  <a:pt x="297224" y="4430"/>
                </a:lnTo>
                <a:lnTo>
                  <a:pt x="303334" y="12278"/>
                </a:lnTo>
                <a:lnTo>
                  <a:pt x="305854" y="16392"/>
                </a:lnTo>
                <a:lnTo>
                  <a:pt x="304972" y="16771"/>
                </a:lnTo>
                <a:lnTo>
                  <a:pt x="304153" y="17088"/>
                </a:lnTo>
                <a:lnTo>
                  <a:pt x="306043" y="16392"/>
                </a:lnTo>
                <a:lnTo>
                  <a:pt x="307869" y="15822"/>
                </a:lnTo>
                <a:lnTo>
                  <a:pt x="309381" y="15316"/>
                </a:lnTo>
                <a:lnTo>
                  <a:pt x="311901" y="14810"/>
                </a:lnTo>
                <a:lnTo>
                  <a:pt x="313160" y="14556"/>
                </a:lnTo>
                <a:lnTo>
                  <a:pt x="314483" y="14303"/>
                </a:lnTo>
                <a:lnTo>
                  <a:pt x="314798" y="14303"/>
                </a:lnTo>
                <a:lnTo>
                  <a:pt x="317192" y="14050"/>
                </a:lnTo>
                <a:lnTo>
                  <a:pt x="319648" y="13987"/>
                </a:lnTo>
                <a:lnTo>
                  <a:pt x="320278" y="13987"/>
                </a:lnTo>
                <a:lnTo>
                  <a:pt x="321223" y="13987"/>
                </a:lnTo>
                <a:lnTo>
                  <a:pt x="323175" y="14113"/>
                </a:lnTo>
                <a:lnTo>
                  <a:pt x="325002" y="14240"/>
                </a:lnTo>
                <a:lnTo>
                  <a:pt x="323553" y="14113"/>
                </a:lnTo>
                <a:lnTo>
                  <a:pt x="324183" y="11582"/>
                </a:lnTo>
                <a:lnTo>
                  <a:pt x="328592" y="0"/>
                </a:lnTo>
                <a:close/>
                <a:close/>
                <a:close/>
                <a:close/>
                <a:close/>
                <a:close/>
                <a:close/>
                <a:close/>
                <a:close/>
                <a:close/>
                <a:close/>
                <a:close/>
                <a:close/>
                <a:close/>
              </a:path>
            </a:pathLst>
          </a:custGeom>
          <a:solidFill>
            <a:srgbClr val="FFFFFF"/>
          </a:solidFill>
        </p:spPr>
      </p:sp>
      <p:sp>
        <p:nvSpPr>
          <p:cNvPr id="24" name="Text 22"/>
          <p:cNvSpPr/>
          <p:nvPr/>
        </p:nvSpPr>
        <p:spPr>
          <a:xfrm>
            <a:off x="2079639" y="4253039"/>
            <a:ext cx="396875" cy="3937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5" name="Text 23"/>
          <p:cNvSpPr/>
          <p:nvPr/>
        </p:nvSpPr>
        <p:spPr>
          <a:xfrm>
            <a:off x="3032760" y="1814830"/>
            <a:ext cx="6609080" cy="40823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单模光纤</a:t>
            </a:r>
            <a:endParaRPr lang="en-US" sz="1725" dirty="0"/>
          </a:p>
        </p:txBody>
      </p:sp>
      <p:sp>
        <p:nvSpPr>
          <p:cNvPr id="26" name="Text 24"/>
          <p:cNvSpPr/>
          <p:nvPr/>
        </p:nvSpPr>
        <p:spPr>
          <a:xfrm>
            <a:off x="3032760" y="2309495"/>
            <a:ext cx="6644005" cy="104775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单模光纤是光纤通信中常用的光纤之一，它具有低色散、低损耗和高带宽的特点，能够实现长距离的高速数据传输，广泛应用于远距离通信和数据中心互联等领域。</a:t>
            </a:r>
            <a:endParaRPr lang="en-US" sz="1350" dirty="0"/>
          </a:p>
        </p:txBody>
      </p:sp>
      <p:sp>
        <p:nvSpPr>
          <p:cNvPr id="27" name="Text 25"/>
          <p:cNvSpPr/>
          <p:nvPr/>
        </p:nvSpPr>
        <p:spPr>
          <a:xfrm>
            <a:off x="3032760" y="3945255"/>
            <a:ext cx="6609080" cy="40823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多模光纤</a:t>
            </a:r>
            <a:endParaRPr lang="en-US" sz="1725" dirty="0"/>
          </a:p>
        </p:txBody>
      </p:sp>
      <p:sp>
        <p:nvSpPr>
          <p:cNvPr id="28" name="Text 26"/>
          <p:cNvSpPr/>
          <p:nvPr/>
        </p:nvSpPr>
        <p:spPr>
          <a:xfrm>
            <a:off x="3032760" y="4439920"/>
            <a:ext cx="6644005" cy="104775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多模光纤也是光纤通信中常用的光纤之一，它具有较大的芯径和较高的损耗，适用于短距离通信和局域网等场景，能够满足不同距离和带宽需求。</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光放大器</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5804340" y="1382952"/>
            <a:ext cx="712460" cy="712460"/>
          </a:xfrm>
          <a:custGeom>
            <a:avLst/>
            <a:gdLst/>
            <a:ahLst/>
            <a:cxnLst/>
            <a:rect l="l" t="t" r="r" b="b"/>
            <a:pathLst>
              <a:path w="712460" h="712460">
                <a:moveTo>
                  <a:pt x="341300" y="0"/>
                </a:moveTo>
                <a:cubicBezTo>
                  <a:pt x="529669" y="0"/>
                  <a:pt x="682600" y="152931"/>
                  <a:pt x="682600" y="341300"/>
                </a:cubicBezTo>
                <a:cubicBezTo>
                  <a:pt x="682600" y="529669"/>
                  <a:pt x="529669" y="682600"/>
                  <a:pt x="341300" y="682600"/>
                </a:cubicBezTo>
                <a:cubicBezTo>
                  <a:pt x="152931" y="682600"/>
                  <a:pt x="0" y="529669"/>
                  <a:pt x="0" y="341300"/>
                </a:cubicBezTo>
                <a:cubicBezTo>
                  <a:pt x="0" y="152931"/>
                  <a:pt x="152931" y="0"/>
                  <a:pt x="341300" y="0"/>
                </a:cubicBezTo>
                <a:close/>
              </a:path>
            </a:pathLst>
          </a:custGeom>
          <a:solidFill>
            <a:srgbClr val="1C1C1C"/>
          </a:solidFill>
        </p:spPr>
      </p:sp>
      <p:sp>
        <p:nvSpPr>
          <p:cNvPr id="14" name="Text 12"/>
          <p:cNvSpPr/>
          <p:nvPr/>
        </p:nvSpPr>
        <p:spPr>
          <a:xfrm>
            <a:off x="5804340" y="1382952"/>
            <a:ext cx="712460" cy="712460"/>
          </a:xfrm>
          <a:prstGeom prst="rect">
            <a:avLst/>
          </a:prstGeom>
          <a:noFill/>
        </p:spPr>
        <p:txBody>
          <a:bodyPr wrap="square" rtlCol="0" anchor="ctr"/>
          <a:lstStyle/>
          <a:p>
            <a:pPr marL="0" indent="0" algn="ctr">
              <a:lnSpc>
                <a:spcPct val="120000"/>
              </a:lnSpc>
              <a:spcBef>
                <a:spcPts val="375"/>
              </a:spcBef>
              <a:buNone/>
            </a:pPr>
            <a:r>
              <a:rPr lang="en-US" sz="2775" dirty="0">
                <a:solidFill>
                  <a:srgbClr val="FFFFFF"/>
                </a:solidFill>
                <a:latin typeface="站酷小薇LOGO体" pitchFamily="34" charset="0"/>
                <a:ea typeface="站酷小薇LOGO体" pitchFamily="34" charset="-122"/>
                <a:cs typeface="站酷小薇LOGO体" pitchFamily="34" charset="-120"/>
              </a:rPr>
              <a:t>01</a:t>
            </a:r>
            <a:endParaRPr lang="en-US" sz="2775" dirty="0"/>
          </a:p>
        </p:txBody>
      </p:sp>
      <p:sp>
        <p:nvSpPr>
          <p:cNvPr id="15" name="Shape 13"/>
          <p:cNvSpPr/>
          <p:nvPr/>
        </p:nvSpPr>
        <p:spPr>
          <a:xfrm>
            <a:off x="5804340" y="4130151"/>
            <a:ext cx="712460" cy="712460"/>
          </a:xfrm>
          <a:custGeom>
            <a:avLst/>
            <a:gdLst/>
            <a:ahLst/>
            <a:cxnLst/>
            <a:rect l="l" t="t" r="r" b="b"/>
            <a:pathLst>
              <a:path w="712460" h="712460">
                <a:moveTo>
                  <a:pt x="341300" y="0"/>
                </a:moveTo>
                <a:cubicBezTo>
                  <a:pt x="529669" y="0"/>
                  <a:pt x="682600" y="152931"/>
                  <a:pt x="682600" y="341300"/>
                </a:cubicBezTo>
                <a:cubicBezTo>
                  <a:pt x="682600" y="529669"/>
                  <a:pt x="529669" y="682600"/>
                  <a:pt x="341300" y="682600"/>
                </a:cubicBezTo>
                <a:cubicBezTo>
                  <a:pt x="152931" y="682600"/>
                  <a:pt x="0" y="529669"/>
                  <a:pt x="0" y="341300"/>
                </a:cubicBezTo>
                <a:cubicBezTo>
                  <a:pt x="0" y="152931"/>
                  <a:pt x="152931" y="0"/>
                  <a:pt x="341300" y="0"/>
                </a:cubicBezTo>
                <a:close/>
              </a:path>
            </a:pathLst>
          </a:custGeom>
          <a:solidFill>
            <a:srgbClr val="616161"/>
          </a:solidFill>
        </p:spPr>
      </p:sp>
      <p:sp>
        <p:nvSpPr>
          <p:cNvPr id="16" name="Text 14"/>
          <p:cNvSpPr/>
          <p:nvPr/>
        </p:nvSpPr>
        <p:spPr>
          <a:xfrm>
            <a:off x="5804340" y="4130151"/>
            <a:ext cx="712460" cy="712460"/>
          </a:xfrm>
          <a:prstGeom prst="rect">
            <a:avLst/>
          </a:prstGeom>
          <a:noFill/>
        </p:spPr>
        <p:txBody>
          <a:bodyPr wrap="square" rtlCol="0" anchor="ctr"/>
          <a:lstStyle/>
          <a:p>
            <a:pPr marL="0" indent="0" algn="ctr">
              <a:lnSpc>
                <a:spcPct val="120000"/>
              </a:lnSpc>
              <a:spcBef>
                <a:spcPts val="375"/>
              </a:spcBef>
              <a:buNone/>
            </a:pPr>
            <a:r>
              <a:rPr lang="en-US" sz="2775" dirty="0">
                <a:solidFill>
                  <a:srgbClr val="FFFFFF"/>
                </a:solidFill>
                <a:latin typeface="站酷小薇LOGO体" pitchFamily="34" charset="0"/>
                <a:ea typeface="站酷小薇LOGO体" pitchFamily="34" charset="-122"/>
                <a:cs typeface="站酷小薇LOGO体" pitchFamily="34" charset="-120"/>
              </a:rPr>
              <a:t>02</a:t>
            </a:r>
            <a:endParaRPr lang="en-US" sz="2775" dirty="0"/>
          </a:p>
        </p:txBody>
      </p:sp>
      <p:sp>
        <p:nvSpPr>
          <p:cNvPr id="17" name="Text 15"/>
          <p:cNvSpPr/>
          <p:nvPr/>
        </p:nvSpPr>
        <p:spPr>
          <a:xfrm>
            <a:off x="6607810" y="1354455"/>
            <a:ext cx="4560570" cy="45392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偏振保持光放大器</a:t>
            </a:r>
            <a:endParaRPr lang="en-US" sz="1725" dirty="0"/>
          </a:p>
        </p:txBody>
      </p:sp>
      <p:sp>
        <p:nvSpPr>
          <p:cNvPr id="18" name="Text 16"/>
          <p:cNvSpPr/>
          <p:nvPr/>
        </p:nvSpPr>
        <p:spPr>
          <a:xfrm>
            <a:off x="6607810" y="1946275"/>
            <a:ext cx="4767580" cy="1483221"/>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偏振保持光放大器是光纤通信中常用的光放大器之一，它能够有效地保持输入光信号的偏振状态，具有低噪声和高增益的特点，适用于长距离高速通信系统中的信号放大。</a:t>
            </a:r>
            <a:endParaRPr lang="en-US" sz="1350" dirty="0"/>
          </a:p>
        </p:txBody>
      </p:sp>
      <p:sp>
        <p:nvSpPr>
          <p:cNvPr id="19" name="Text 17"/>
          <p:cNvSpPr/>
          <p:nvPr/>
        </p:nvSpPr>
        <p:spPr>
          <a:xfrm>
            <a:off x="6607810" y="3988435"/>
            <a:ext cx="4560570" cy="45392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光纤放大器阵列</a:t>
            </a:r>
            <a:endParaRPr lang="en-US" sz="1725" dirty="0"/>
          </a:p>
        </p:txBody>
      </p:sp>
      <p:sp>
        <p:nvSpPr>
          <p:cNvPr id="20" name="Text 18"/>
          <p:cNvSpPr/>
          <p:nvPr/>
        </p:nvSpPr>
        <p:spPr>
          <a:xfrm>
            <a:off x="6607810" y="4580255"/>
            <a:ext cx="4767580" cy="1246436"/>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光纤放大器阵列是一种新型的光放大器，它能够实现对多路光信号的同时放大，具有高增益和低串扰的特点，适用于光纤通信系统中的波分复用和密集波分复用技术。</a:t>
            </a:r>
            <a:endParaRPr lang="en-US" sz="1350" dirty="0"/>
          </a:p>
        </p:txBody>
      </p:sp>
      <p:pic>
        <p:nvPicPr>
          <p:cNvPr id="21" name="Image 0" descr="https://cdn.ciniaoppt.com/webroot/upload/ppt/local/20240123/c31b17e24b7a4c5f5e22b04ee62cbb37.png"/>
          <p:cNvPicPr>
            <a:picLocks noChangeAspect="1"/>
          </p:cNvPicPr>
          <p:nvPr/>
        </p:nvPicPr>
        <p:blipFill>
          <a:blip r:embed="rId1"/>
          <a:stretch>
            <a:fillRect/>
          </a:stretch>
        </p:blipFill>
        <p:spPr>
          <a:xfrm>
            <a:off x="109220" y="1797685"/>
            <a:ext cx="5372100" cy="40290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光纤通信的优点</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03</a:t>
            </a:r>
            <a:endParaRPr lang="en-US" sz="9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55943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x-none" altLang="en-US" sz="2400" dirty="0"/>
              <a:t>通信容量巨大</a:t>
            </a:r>
            <a:endParaRPr lang="x-none" alt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flipH="1">
            <a:off x="10390174" y="2289187"/>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C9C9C9"/>
            </a:solidFill>
            <a:prstDash val="solid"/>
          </a:ln>
        </p:spPr>
      </p:sp>
      <p:sp>
        <p:nvSpPr>
          <p:cNvPr id="14" name="Text 12"/>
          <p:cNvSpPr/>
          <p:nvPr/>
        </p:nvSpPr>
        <p:spPr>
          <a:xfrm>
            <a:off x="10390174" y="2289187"/>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flipH="1">
            <a:off x="10516931" y="2415943"/>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C9C9C9"/>
          </a:solidFill>
        </p:spPr>
      </p:sp>
      <p:sp>
        <p:nvSpPr>
          <p:cNvPr id="16" name="Text 14"/>
          <p:cNvSpPr/>
          <p:nvPr/>
        </p:nvSpPr>
        <p:spPr>
          <a:xfrm>
            <a:off x="10516931" y="2415943"/>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flipH="1">
            <a:off x="10390174" y="4280009"/>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616161"/>
            </a:solidFill>
            <a:prstDash val="solid"/>
          </a:ln>
        </p:spPr>
      </p:sp>
      <p:sp>
        <p:nvSpPr>
          <p:cNvPr id="18" name="Text 16"/>
          <p:cNvSpPr/>
          <p:nvPr/>
        </p:nvSpPr>
        <p:spPr>
          <a:xfrm>
            <a:off x="10390174" y="4280009"/>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flipH="1">
            <a:off x="10516931" y="4406766"/>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616161"/>
          </a:solidFill>
        </p:spPr>
      </p:sp>
      <p:sp>
        <p:nvSpPr>
          <p:cNvPr id="20" name="Text 18"/>
          <p:cNvSpPr/>
          <p:nvPr/>
        </p:nvSpPr>
        <p:spPr>
          <a:xfrm>
            <a:off x="10516931" y="4406766"/>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flipH="1">
            <a:off x="9375656" y="5338798"/>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C9C9C9"/>
            </a:solidFill>
            <a:prstDash val="solid"/>
          </a:ln>
        </p:spPr>
      </p:sp>
      <p:sp>
        <p:nvSpPr>
          <p:cNvPr id="22" name="Text 20"/>
          <p:cNvSpPr/>
          <p:nvPr/>
        </p:nvSpPr>
        <p:spPr>
          <a:xfrm>
            <a:off x="9375656" y="5338798"/>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flipH="1">
            <a:off x="9502413" y="5465555"/>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C9C9C9"/>
          </a:solidFill>
        </p:spPr>
      </p:sp>
      <p:sp>
        <p:nvSpPr>
          <p:cNvPr id="24" name="Text 22"/>
          <p:cNvSpPr/>
          <p:nvPr/>
        </p:nvSpPr>
        <p:spPr>
          <a:xfrm>
            <a:off x="9502413" y="5465555"/>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5" name="Shape 23"/>
          <p:cNvSpPr/>
          <p:nvPr/>
        </p:nvSpPr>
        <p:spPr>
          <a:xfrm flipH="1">
            <a:off x="9375190" y="3277608"/>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1C1C1C"/>
            </a:solidFill>
            <a:prstDash val="solid"/>
          </a:ln>
        </p:spPr>
      </p:sp>
      <p:sp>
        <p:nvSpPr>
          <p:cNvPr id="26" name="Text 24"/>
          <p:cNvSpPr/>
          <p:nvPr/>
        </p:nvSpPr>
        <p:spPr>
          <a:xfrm>
            <a:off x="9375190" y="3277608"/>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flipH="1">
            <a:off x="9501947" y="3404364"/>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28" name="Text 26"/>
          <p:cNvSpPr/>
          <p:nvPr/>
        </p:nvSpPr>
        <p:spPr>
          <a:xfrm>
            <a:off x="9501947" y="3404364"/>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flipH="1">
            <a:off x="9375190" y="1292378"/>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1C1C1C"/>
            </a:solidFill>
            <a:prstDash val="solid"/>
          </a:ln>
        </p:spPr>
      </p:sp>
      <p:sp>
        <p:nvSpPr>
          <p:cNvPr id="30" name="Text 28"/>
          <p:cNvSpPr/>
          <p:nvPr/>
        </p:nvSpPr>
        <p:spPr>
          <a:xfrm>
            <a:off x="9375190" y="1292378"/>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flipH="1">
            <a:off x="9501947" y="1419134"/>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32" name="Text 30"/>
          <p:cNvSpPr/>
          <p:nvPr/>
        </p:nvSpPr>
        <p:spPr>
          <a:xfrm>
            <a:off x="9501947" y="1419134"/>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3" name="Shape 31"/>
          <p:cNvSpPr/>
          <p:nvPr/>
        </p:nvSpPr>
        <p:spPr>
          <a:xfrm flipH="1">
            <a:off x="8312207" y="2324604"/>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C9C9C9"/>
            </a:solidFill>
            <a:prstDash val="solid"/>
          </a:ln>
        </p:spPr>
      </p:sp>
      <p:sp>
        <p:nvSpPr>
          <p:cNvPr id="34" name="Text 32"/>
          <p:cNvSpPr/>
          <p:nvPr/>
        </p:nvSpPr>
        <p:spPr>
          <a:xfrm>
            <a:off x="8312207" y="2324604"/>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5" name="Shape 33"/>
          <p:cNvSpPr/>
          <p:nvPr/>
        </p:nvSpPr>
        <p:spPr>
          <a:xfrm flipH="1">
            <a:off x="8438963" y="2451361"/>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C9C9C9"/>
          </a:solidFill>
        </p:spPr>
      </p:sp>
      <p:sp>
        <p:nvSpPr>
          <p:cNvPr id="36" name="Text 34"/>
          <p:cNvSpPr/>
          <p:nvPr/>
        </p:nvSpPr>
        <p:spPr>
          <a:xfrm>
            <a:off x="8438963" y="2451361"/>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7" name="Shape 35"/>
          <p:cNvSpPr/>
          <p:nvPr/>
        </p:nvSpPr>
        <p:spPr>
          <a:xfrm flipH="1">
            <a:off x="8312207" y="4315426"/>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616161"/>
            </a:solidFill>
            <a:prstDash val="solid"/>
          </a:ln>
        </p:spPr>
      </p:sp>
      <p:sp>
        <p:nvSpPr>
          <p:cNvPr id="38" name="Text 36"/>
          <p:cNvSpPr/>
          <p:nvPr/>
        </p:nvSpPr>
        <p:spPr>
          <a:xfrm>
            <a:off x="8312207" y="4315426"/>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9" name="Shape 37"/>
          <p:cNvSpPr/>
          <p:nvPr/>
        </p:nvSpPr>
        <p:spPr>
          <a:xfrm flipH="1">
            <a:off x="8438963" y="4442183"/>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616161"/>
          </a:solidFill>
        </p:spPr>
      </p:sp>
      <p:sp>
        <p:nvSpPr>
          <p:cNvPr id="40" name="Text 38"/>
          <p:cNvSpPr/>
          <p:nvPr/>
        </p:nvSpPr>
        <p:spPr>
          <a:xfrm>
            <a:off x="8438963" y="4442183"/>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1" name="Shape 39"/>
          <p:cNvSpPr/>
          <p:nvPr/>
        </p:nvSpPr>
        <p:spPr>
          <a:xfrm flipH="1">
            <a:off x="6296686" y="2289653"/>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C9C9C9"/>
            </a:solidFill>
            <a:prstDash val="solid"/>
          </a:ln>
        </p:spPr>
      </p:sp>
      <p:sp>
        <p:nvSpPr>
          <p:cNvPr id="42" name="Text 40"/>
          <p:cNvSpPr/>
          <p:nvPr/>
        </p:nvSpPr>
        <p:spPr>
          <a:xfrm>
            <a:off x="6296686" y="2289653"/>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3" name="Shape 41"/>
          <p:cNvSpPr/>
          <p:nvPr/>
        </p:nvSpPr>
        <p:spPr>
          <a:xfrm flipH="1">
            <a:off x="6423442" y="2416409"/>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C9C9C9"/>
          </a:solidFill>
        </p:spPr>
      </p:sp>
      <p:sp>
        <p:nvSpPr>
          <p:cNvPr id="44" name="Text 42"/>
          <p:cNvSpPr/>
          <p:nvPr/>
        </p:nvSpPr>
        <p:spPr>
          <a:xfrm>
            <a:off x="6423442" y="2416409"/>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5" name="Shape 43"/>
          <p:cNvSpPr/>
          <p:nvPr/>
        </p:nvSpPr>
        <p:spPr>
          <a:xfrm flipH="1">
            <a:off x="7297223" y="3313025"/>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1C1C1C"/>
            </a:solidFill>
            <a:prstDash val="solid"/>
          </a:ln>
        </p:spPr>
      </p:sp>
      <p:sp>
        <p:nvSpPr>
          <p:cNvPr id="46" name="Text 44"/>
          <p:cNvSpPr/>
          <p:nvPr/>
        </p:nvSpPr>
        <p:spPr>
          <a:xfrm>
            <a:off x="7297223" y="3313025"/>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7" name="Shape 45"/>
          <p:cNvSpPr/>
          <p:nvPr/>
        </p:nvSpPr>
        <p:spPr>
          <a:xfrm flipH="1">
            <a:off x="7423979" y="3439781"/>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48" name="Text 46"/>
          <p:cNvSpPr/>
          <p:nvPr/>
        </p:nvSpPr>
        <p:spPr>
          <a:xfrm>
            <a:off x="7423979" y="3439781"/>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9" name="Shape 47"/>
          <p:cNvSpPr/>
          <p:nvPr/>
        </p:nvSpPr>
        <p:spPr>
          <a:xfrm flipH="1">
            <a:off x="7297223" y="1327795"/>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1C1C1C"/>
            </a:solidFill>
            <a:prstDash val="solid"/>
          </a:ln>
        </p:spPr>
      </p:sp>
      <p:sp>
        <p:nvSpPr>
          <p:cNvPr id="50" name="Text 48"/>
          <p:cNvSpPr/>
          <p:nvPr/>
        </p:nvSpPr>
        <p:spPr>
          <a:xfrm>
            <a:off x="7297223" y="1327795"/>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51" name="Shape 49"/>
          <p:cNvSpPr/>
          <p:nvPr/>
        </p:nvSpPr>
        <p:spPr>
          <a:xfrm flipH="1">
            <a:off x="7423979" y="1454551"/>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52" name="Text 50"/>
          <p:cNvSpPr/>
          <p:nvPr/>
        </p:nvSpPr>
        <p:spPr>
          <a:xfrm>
            <a:off x="7423979" y="1454551"/>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53" name="Shape 51"/>
          <p:cNvSpPr/>
          <p:nvPr/>
        </p:nvSpPr>
        <p:spPr>
          <a:xfrm flipH="1">
            <a:off x="11412614" y="3277608"/>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4472C4"/>
          </a:solidFill>
          <a:ln w="23813">
            <a:solidFill>
              <a:srgbClr val="1C1C1C"/>
            </a:solidFill>
            <a:prstDash val="solid"/>
          </a:ln>
        </p:spPr>
      </p:sp>
      <p:sp>
        <p:nvSpPr>
          <p:cNvPr id="54" name="Text 52"/>
          <p:cNvSpPr/>
          <p:nvPr/>
        </p:nvSpPr>
        <p:spPr>
          <a:xfrm>
            <a:off x="11412614" y="3277608"/>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55" name="Shape 53"/>
          <p:cNvSpPr/>
          <p:nvPr/>
        </p:nvSpPr>
        <p:spPr>
          <a:xfrm flipH="1">
            <a:off x="11539371" y="3404364"/>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56" name="Text 54"/>
          <p:cNvSpPr/>
          <p:nvPr/>
        </p:nvSpPr>
        <p:spPr>
          <a:xfrm>
            <a:off x="11539371" y="3404364"/>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57" name="Shape 55"/>
          <p:cNvSpPr/>
          <p:nvPr/>
        </p:nvSpPr>
        <p:spPr>
          <a:xfrm flipH="1">
            <a:off x="11413080" y="1328261"/>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4472C4"/>
          </a:solidFill>
          <a:ln w="23813">
            <a:solidFill>
              <a:srgbClr val="1C1C1C"/>
            </a:solidFill>
            <a:prstDash val="solid"/>
          </a:ln>
        </p:spPr>
      </p:sp>
      <p:sp>
        <p:nvSpPr>
          <p:cNvPr id="58" name="Text 56"/>
          <p:cNvSpPr/>
          <p:nvPr/>
        </p:nvSpPr>
        <p:spPr>
          <a:xfrm>
            <a:off x="11413080" y="1328261"/>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59" name="Shape 57"/>
          <p:cNvSpPr/>
          <p:nvPr/>
        </p:nvSpPr>
        <p:spPr>
          <a:xfrm flipH="1">
            <a:off x="11539837" y="1455017"/>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1C1C1C"/>
          </a:solidFill>
        </p:spPr>
      </p:sp>
      <p:sp>
        <p:nvSpPr>
          <p:cNvPr id="60" name="Text 58"/>
          <p:cNvSpPr/>
          <p:nvPr/>
        </p:nvSpPr>
        <p:spPr>
          <a:xfrm>
            <a:off x="11539837" y="1455017"/>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61" name="Shape 59"/>
          <p:cNvSpPr/>
          <p:nvPr/>
        </p:nvSpPr>
        <p:spPr>
          <a:xfrm flipH="1">
            <a:off x="8312673" y="251763"/>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F4CFCE"/>
            </a:solidFill>
            <a:prstDash val="solid"/>
          </a:ln>
        </p:spPr>
      </p:sp>
      <p:sp>
        <p:nvSpPr>
          <p:cNvPr id="62" name="Text 60"/>
          <p:cNvSpPr/>
          <p:nvPr/>
        </p:nvSpPr>
        <p:spPr>
          <a:xfrm>
            <a:off x="8312673" y="251763"/>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63" name="Shape 61"/>
          <p:cNvSpPr/>
          <p:nvPr/>
        </p:nvSpPr>
        <p:spPr>
          <a:xfrm flipH="1">
            <a:off x="8439429" y="378519"/>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616161"/>
          </a:solidFill>
        </p:spPr>
      </p:sp>
      <p:sp>
        <p:nvSpPr>
          <p:cNvPr id="64" name="Text 62"/>
          <p:cNvSpPr/>
          <p:nvPr/>
        </p:nvSpPr>
        <p:spPr>
          <a:xfrm>
            <a:off x="8439429" y="378519"/>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65" name="Shape 63"/>
          <p:cNvSpPr/>
          <p:nvPr/>
        </p:nvSpPr>
        <p:spPr>
          <a:xfrm flipH="1">
            <a:off x="10350097" y="251763"/>
            <a:ext cx="1770396" cy="1770396"/>
          </a:xfrm>
          <a:custGeom>
            <a:avLst/>
            <a:gdLst/>
            <a:ahLst/>
            <a:cxnLst/>
            <a:rect l="l" t="t" r="r" b="b"/>
            <a:pathLst>
              <a:path w="1770396" h="1770396">
                <a:moveTo>
                  <a:pt x="885198" y="0"/>
                </a:moveTo>
                <a:lnTo>
                  <a:pt x="0" y="885198"/>
                </a:lnTo>
                <a:lnTo>
                  <a:pt x="885198" y="1770396"/>
                </a:lnTo>
                <a:lnTo>
                  <a:pt x="1770396" y="885198"/>
                </a:lnTo>
                <a:lnTo>
                  <a:pt x="885198" y="0"/>
                </a:lnTo>
                <a:close/>
              </a:path>
            </a:pathLst>
          </a:custGeom>
          <a:solidFill>
            <a:srgbClr val="FFFFFF"/>
          </a:solidFill>
          <a:ln w="23813">
            <a:solidFill>
              <a:srgbClr val="F4CFCE"/>
            </a:solidFill>
            <a:prstDash val="solid"/>
          </a:ln>
        </p:spPr>
      </p:sp>
      <p:sp>
        <p:nvSpPr>
          <p:cNvPr id="66" name="Text 64"/>
          <p:cNvSpPr/>
          <p:nvPr/>
        </p:nvSpPr>
        <p:spPr>
          <a:xfrm>
            <a:off x="10350097" y="251763"/>
            <a:ext cx="1770396" cy="177039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67" name="Shape 65"/>
          <p:cNvSpPr/>
          <p:nvPr/>
        </p:nvSpPr>
        <p:spPr>
          <a:xfrm flipH="1">
            <a:off x="10476853" y="378519"/>
            <a:ext cx="1516417" cy="1516417"/>
          </a:xfrm>
          <a:custGeom>
            <a:avLst/>
            <a:gdLst/>
            <a:ahLst/>
            <a:cxnLst/>
            <a:rect l="l" t="t" r="r" b="b"/>
            <a:pathLst>
              <a:path w="1516417" h="1516417">
                <a:moveTo>
                  <a:pt x="758209" y="0"/>
                </a:moveTo>
                <a:lnTo>
                  <a:pt x="0" y="758209"/>
                </a:lnTo>
                <a:lnTo>
                  <a:pt x="758209" y="1516417"/>
                </a:lnTo>
                <a:lnTo>
                  <a:pt x="1516417" y="758209"/>
                </a:lnTo>
                <a:lnTo>
                  <a:pt x="758209" y="0"/>
                </a:lnTo>
                <a:close/>
              </a:path>
            </a:pathLst>
          </a:custGeom>
          <a:solidFill>
            <a:srgbClr val="C9C9C9"/>
          </a:solidFill>
        </p:spPr>
      </p:sp>
      <p:sp>
        <p:nvSpPr>
          <p:cNvPr id="68" name="Text 66"/>
          <p:cNvSpPr/>
          <p:nvPr/>
        </p:nvSpPr>
        <p:spPr>
          <a:xfrm>
            <a:off x="10476853" y="378519"/>
            <a:ext cx="1516417" cy="151641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70" name="Text 68"/>
          <p:cNvSpPr/>
          <p:nvPr/>
        </p:nvSpPr>
        <p:spPr>
          <a:xfrm>
            <a:off x="1445260" y="2240915"/>
            <a:ext cx="4491355" cy="174815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a:t>
            </a:r>
            <a:r>
              <a:rPr lang="x-none" altLang="en-US" sz="1350" dirty="0">
                <a:solidFill>
                  <a:srgbClr val="808080"/>
                </a:solidFill>
                <a:latin typeface="微软雅黑" pitchFamily="34" charset="0"/>
                <a:ea typeface="微软雅黑" pitchFamily="34" charset="-122"/>
                <a:cs typeface="微软雅黑" pitchFamily="34" charset="-120"/>
              </a:rPr>
              <a:t>基于光波的传输，信息量可比传统无线电通信大几个数量级。这使得光通信技术在传输高速数据，如高清视频、大型在线游戏、实时音视频通话等方面具有显著优势‌。光纤通信可以提供每秒数十Gbps甚至更高的数据传输速率，满足数据中心、虚拟现实等大流量应用的需求。</a:t>
            </a:r>
            <a:endParaRPr lang="x-none" alt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强抗干扰性</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0035003" y="3066826"/>
            <a:ext cx="1483893" cy="1607416"/>
          </a:xfrm>
          <a:custGeom>
            <a:avLst/>
            <a:gdLst/>
            <a:ahLst/>
            <a:cxnLst/>
            <a:rect l="l" t="t" r="r" b="b"/>
            <a:pathLst>
              <a:path w="1483893" h="1607416">
                <a:moveTo>
                  <a:pt x="710759" y="829212"/>
                </a:moveTo>
                <a:cubicBezTo>
                  <a:pt x="1177598" y="829212"/>
                  <a:pt x="1344220" y="1050572"/>
                  <a:pt x="1413428" y="1281022"/>
                </a:cubicBezTo>
                <a:cubicBezTo>
                  <a:pt x="1452393" y="1410904"/>
                  <a:pt x="1348857" y="1540047"/>
                  <a:pt x="1205428" y="1540047"/>
                </a:cubicBezTo>
                <a:cubicBezTo>
                  <a:pt x="72846" y="1540047"/>
                  <a:pt x="-30690" y="1410904"/>
                  <a:pt x="8273" y="1281022"/>
                </a:cubicBezTo>
                <a:cubicBezTo>
                  <a:pt x="77297" y="1050572"/>
                  <a:pt x="243920" y="829212"/>
                  <a:pt x="710759" y="829212"/>
                </a:cubicBezTo>
                <a:moveTo>
                  <a:pt x="710759" y="0"/>
                </a:moveTo>
                <a:cubicBezTo>
                  <a:pt x="920241" y="0"/>
                  <a:pt x="1090018" y="169591"/>
                  <a:pt x="1089832" y="379074"/>
                </a:cubicBezTo>
                <a:cubicBezTo>
                  <a:pt x="1089832" y="588370"/>
                  <a:pt x="920057" y="758147"/>
                  <a:pt x="710759" y="758147"/>
                </a:cubicBezTo>
                <a:cubicBezTo>
                  <a:pt x="501460" y="758147"/>
                  <a:pt x="331685" y="588370"/>
                  <a:pt x="331685" y="379074"/>
                </a:cubicBezTo>
                <a:cubicBezTo>
                  <a:pt x="331685" y="169591"/>
                  <a:pt x="501460" y="0"/>
                  <a:pt x="710759" y="0"/>
                </a:cubicBezTo>
                <a:close/>
                <a:close/>
              </a:path>
            </a:pathLst>
          </a:custGeom>
          <a:solidFill>
            <a:srgbClr val="C9C9C9">
              <a:alpha val="15000"/>
            </a:srgbClr>
          </a:solidFill>
        </p:spPr>
      </p:sp>
      <p:sp>
        <p:nvSpPr>
          <p:cNvPr id="14" name="Text 12"/>
          <p:cNvSpPr/>
          <p:nvPr/>
        </p:nvSpPr>
        <p:spPr>
          <a:xfrm>
            <a:off x="10035003" y="3066826"/>
            <a:ext cx="1483893" cy="1607416"/>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2881641" y="1127035"/>
            <a:ext cx="16036" cy="5301"/>
          </a:xfrm>
          <a:custGeom>
            <a:avLst/>
            <a:gdLst/>
            <a:ahLst/>
            <a:cxnLst/>
            <a:rect l="l" t="t" r="r" b="b"/>
            <a:pathLst>
              <a:path w="16036" h="5301">
                <a:moveTo>
                  <a:pt x="0" y="0"/>
                </a:moveTo>
                <a:lnTo>
                  <a:pt x="6931" y="695"/>
                </a:lnTo>
                <a:cubicBezTo>
                  <a:pt x="20924" y="6170"/>
                  <a:pt x="14992" y="5866"/>
                  <a:pt x="7159" y="3318"/>
                </a:cubicBezTo>
                <a:lnTo>
                  <a:pt x="0" y="0"/>
                </a:lnTo>
                <a:close/>
              </a:path>
            </a:pathLst>
          </a:custGeom>
          <a:solidFill>
            <a:srgbClr val="B4C6E7"/>
          </a:solidFill>
        </p:spPr>
      </p:sp>
      <p:sp>
        <p:nvSpPr>
          <p:cNvPr id="16" name="Text 14"/>
          <p:cNvSpPr/>
          <p:nvPr/>
        </p:nvSpPr>
        <p:spPr>
          <a:xfrm>
            <a:off x="-2881641" y="1127035"/>
            <a:ext cx="16036" cy="5301"/>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2103120" y="3101340"/>
            <a:ext cx="190500" cy="190500"/>
          </a:xfrm>
          <a:prstGeom prst="rect">
            <a:avLst/>
          </a:prstGeom>
          <a:solidFill>
            <a:srgbClr val="FFFFFF"/>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8" name="Text 16"/>
          <p:cNvSpPr/>
          <p:nvPr/>
        </p:nvSpPr>
        <p:spPr>
          <a:xfrm>
            <a:off x="1582452" y="1758893"/>
            <a:ext cx="7647305" cy="578941"/>
          </a:xfrm>
          <a:prstGeom prst="rect">
            <a:avLst/>
          </a:prstGeom>
          <a:solidFill>
            <a:srgbClr val="616161"/>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616161"/>
                </a:solidFill>
                <a:latin typeface="Arial" panose="02080604020202020204" pitchFamily="34" charset="0"/>
                <a:ea typeface="Arial" pitchFamily="34" charset="-122"/>
                <a:cs typeface="Arial" pitchFamily="34" charset="-120"/>
              </a:rPr>
              <a:t> </a:t>
            </a:r>
            <a:endParaRPr lang="en-US" sz="1800" dirty="0"/>
          </a:p>
        </p:txBody>
      </p:sp>
      <p:sp>
        <p:nvSpPr>
          <p:cNvPr id="19" name="Text 17"/>
          <p:cNvSpPr/>
          <p:nvPr/>
        </p:nvSpPr>
        <p:spPr>
          <a:xfrm>
            <a:off x="1762792" y="1950028"/>
            <a:ext cx="190500" cy="190500"/>
          </a:xfrm>
          <a:prstGeom prst="rect">
            <a:avLst/>
          </a:prstGeom>
          <a:solidFill>
            <a:srgbClr val="FFFFFF"/>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0" name="Text 18"/>
          <p:cNvSpPr/>
          <p:nvPr/>
        </p:nvSpPr>
        <p:spPr>
          <a:xfrm>
            <a:off x="2131092" y="1767148"/>
            <a:ext cx="6805930" cy="639961"/>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FFFFFF"/>
                </a:solidFill>
                <a:latin typeface="微软雅黑" pitchFamily="34" charset="0"/>
                <a:ea typeface="微软雅黑" pitchFamily="34" charset="-122"/>
                <a:cs typeface="微软雅黑" pitchFamily="34" charset="-120"/>
              </a:rPr>
              <a:t>强抗干扰性</a:t>
            </a:r>
            <a:endParaRPr lang="en-US" sz="1725" dirty="0"/>
          </a:p>
        </p:txBody>
      </p:sp>
      <p:sp>
        <p:nvSpPr>
          <p:cNvPr id="21" name="Text 19"/>
          <p:cNvSpPr/>
          <p:nvPr/>
        </p:nvSpPr>
        <p:spPr>
          <a:xfrm>
            <a:off x="1582452" y="2755949"/>
            <a:ext cx="6805930" cy="81343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光信号在光纤中传输不容易受到电磁干扰的影响，相对于铜缆传输，在高密度电子设备和电磁噪声环境下具有更好的抗干扰性‌</a:t>
            </a:r>
            <a:endParaRPr 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55943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x-none" altLang="en-US" sz="2400" dirty="0"/>
              <a:t>抗干扰能力强</a:t>
            </a:r>
            <a:endParaRPr lang="x-none" alt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764669" y="1269885"/>
            <a:ext cx="6481394" cy="4516045"/>
          </a:xfrm>
          <a:custGeom>
            <a:avLst/>
            <a:gdLst/>
            <a:ahLst/>
            <a:cxnLst/>
            <a:rect l="l" t="t" r="r" b="b"/>
            <a:pathLst>
              <a:path w="6481394" h="4516045">
                <a:moveTo>
                  <a:pt x="0" y="3977134"/>
                </a:moveTo>
                <a:lnTo>
                  <a:pt x="1162465" y="3977134"/>
                </a:lnTo>
                <a:lnTo>
                  <a:pt x="1162465" y="3304081"/>
                </a:lnTo>
                <a:lnTo>
                  <a:pt x="1162465" y="2945702"/>
                </a:lnTo>
                <a:lnTo>
                  <a:pt x="1569825" y="2945702"/>
                </a:lnTo>
                <a:lnTo>
                  <a:pt x="2334867" y="2945702"/>
                </a:lnTo>
                <a:lnTo>
                  <a:pt x="2334867" y="2272648"/>
                </a:lnTo>
                <a:lnTo>
                  <a:pt x="2334867" y="1914269"/>
                </a:lnTo>
                <a:lnTo>
                  <a:pt x="2742226" y="1914269"/>
                </a:lnTo>
                <a:lnTo>
                  <a:pt x="3507268" y="1914269"/>
                </a:lnTo>
                <a:lnTo>
                  <a:pt x="3507268" y="1241216"/>
                </a:lnTo>
                <a:lnTo>
                  <a:pt x="3507268" y="882836"/>
                </a:lnTo>
                <a:lnTo>
                  <a:pt x="3914627" y="882836"/>
                </a:lnTo>
                <a:lnTo>
                  <a:pt x="4918123" y="882836"/>
                </a:lnTo>
                <a:lnTo>
                  <a:pt x="5643422" y="253488"/>
                </a:lnTo>
                <a:lnTo>
                  <a:pt x="5563937" y="183560"/>
                </a:lnTo>
                <a:lnTo>
                  <a:pt x="5891812" y="87410"/>
                </a:lnTo>
                <a:lnTo>
                  <a:pt x="6209751" y="0"/>
                </a:lnTo>
                <a:lnTo>
                  <a:pt x="6110395" y="279711"/>
                </a:lnTo>
                <a:lnTo>
                  <a:pt x="6001104" y="568162"/>
                </a:lnTo>
                <a:lnTo>
                  <a:pt x="5921619" y="498234"/>
                </a:lnTo>
                <a:lnTo>
                  <a:pt x="5087028" y="1241216"/>
                </a:lnTo>
                <a:lnTo>
                  <a:pt x="3914627" y="1241216"/>
                </a:lnTo>
                <a:lnTo>
                  <a:pt x="3914627" y="1914269"/>
                </a:lnTo>
                <a:lnTo>
                  <a:pt x="3914627" y="2272648"/>
                </a:lnTo>
                <a:lnTo>
                  <a:pt x="3507268" y="2272648"/>
                </a:lnTo>
                <a:lnTo>
                  <a:pt x="2742226" y="2272648"/>
                </a:lnTo>
                <a:lnTo>
                  <a:pt x="2742226" y="2945702"/>
                </a:lnTo>
                <a:lnTo>
                  <a:pt x="2742226" y="3304081"/>
                </a:lnTo>
                <a:lnTo>
                  <a:pt x="2334867" y="3304081"/>
                </a:lnTo>
                <a:lnTo>
                  <a:pt x="1569825" y="3304081"/>
                </a:lnTo>
                <a:lnTo>
                  <a:pt x="1569825" y="3977134"/>
                </a:lnTo>
                <a:lnTo>
                  <a:pt x="1569825" y="4326772"/>
                </a:lnTo>
                <a:lnTo>
                  <a:pt x="1162465" y="4326772"/>
                </a:lnTo>
                <a:lnTo>
                  <a:pt x="0" y="4326772"/>
                </a:lnTo>
                <a:lnTo>
                  <a:pt x="0" y="3977134"/>
                </a:lnTo>
              </a:path>
            </a:pathLst>
          </a:custGeom>
          <a:solidFill>
            <a:srgbClr val="1C1C1C"/>
          </a:solidFill>
        </p:spPr>
      </p:sp>
      <p:sp>
        <p:nvSpPr>
          <p:cNvPr id="14" name="Text 12"/>
          <p:cNvSpPr/>
          <p:nvPr/>
        </p:nvSpPr>
        <p:spPr>
          <a:xfrm>
            <a:off x="764669" y="1269885"/>
            <a:ext cx="6481394" cy="451604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848185" y="4910779"/>
            <a:ext cx="985654" cy="369012"/>
          </a:xfrm>
          <a:custGeom>
            <a:avLst/>
            <a:gdLst/>
            <a:ahLst/>
            <a:cxnLst/>
            <a:rect l="l" t="t" r="r" b="b"/>
            <a:pathLst>
              <a:path w="985654" h="369012">
                <a:moveTo>
                  <a:pt x="0" y="0"/>
                </a:moveTo>
                <a:lnTo>
                  <a:pt x="985654" y="0"/>
                </a:lnTo>
                <a:lnTo>
                  <a:pt x="985654" y="369012"/>
                </a:lnTo>
                <a:lnTo>
                  <a:pt x="0" y="369012"/>
                </a:lnTo>
                <a:close/>
              </a:path>
            </a:pathLst>
          </a:custGeom>
          <a:solidFill>
            <a:srgbClr val="000000">
              <a:alpha val="0"/>
            </a:srgbClr>
          </a:solidFill>
        </p:spPr>
      </p:sp>
      <p:sp>
        <p:nvSpPr>
          <p:cNvPr id="16" name="Text 14"/>
          <p:cNvSpPr/>
          <p:nvPr/>
        </p:nvSpPr>
        <p:spPr>
          <a:xfrm>
            <a:off x="848185" y="4910779"/>
            <a:ext cx="985654" cy="369012"/>
          </a:xfrm>
          <a:prstGeom prst="rect">
            <a:avLst/>
          </a:prstGeom>
          <a:noFill/>
        </p:spPr>
        <p:txBody>
          <a:bodyPr wrap="square" rtlCol="0" anchor="t"/>
          <a:lstStyle/>
          <a:p>
            <a:pPr marL="0" indent="0" algn="ctr">
              <a:lnSpc>
                <a:spcPct val="120000"/>
              </a:lnSpc>
              <a:spcBef>
                <a:spcPts val="375"/>
              </a:spcBef>
              <a:buNone/>
            </a:pPr>
            <a:r>
              <a:rPr lang="en-US" sz="1800" b="1" dirty="0">
                <a:solidFill>
                  <a:srgbClr val="404040"/>
                </a:solidFill>
                <a:latin typeface="微软雅黑" pitchFamily="34" charset="0"/>
                <a:ea typeface="微软雅黑" pitchFamily="34" charset="-122"/>
                <a:cs typeface="微软雅黑" pitchFamily="34" charset="-120"/>
              </a:rPr>
              <a:t>2001年</a:t>
            </a:r>
            <a:endParaRPr lang="en-US" sz="1800" dirty="0"/>
          </a:p>
        </p:txBody>
      </p:sp>
      <p:sp>
        <p:nvSpPr>
          <p:cNvPr id="17" name="Shape 15"/>
          <p:cNvSpPr/>
          <p:nvPr/>
        </p:nvSpPr>
        <p:spPr>
          <a:xfrm>
            <a:off x="1979653" y="3860823"/>
            <a:ext cx="985654" cy="369012"/>
          </a:xfrm>
          <a:custGeom>
            <a:avLst/>
            <a:gdLst/>
            <a:ahLst/>
            <a:cxnLst/>
            <a:rect l="l" t="t" r="r" b="b"/>
            <a:pathLst>
              <a:path w="985654" h="369012">
                <a:moveTo>
                  <a:pt x="0" y="0"/>
                </a:moveTo>
                <a:lnTo>
                  <a:pt x="985654" y="0"/>
                </a:lnTo>
                <a:lnTo>
                  <a:pt x="985654" y="369012"/>
                </a:lnTo>
                <a:lnTo>
                  <a:pt x="0" y="369012"/>
                </a:lnTo>
                <a:close/>
              </a:path>
            </a:pathLst>
          </a:custGeom>
          <a:solidFill>
            <a:srgbClr val="000000">
              <a:alpha val="0"/>
            </a:srgbClr>
          </a:solidFill>
        </p:spPr>
      </p:sp>
      <p:sp>
        <p:nvSpPr>
          <p:cNvPr id="18" name="Text 16"/>
          <p:cNvSpPr/>
          <p:nvPr/>
        </p:nvSpPr>
        <p:spPr>
          <a:xfrm>
            <a:off x="1979653" y="3860823"/>
            <a:ext cx="985654" cy="369012"/>
          </a:xfrm>
          <a:prstGeom prst="rect">
            <a:avLst/>
          </a:prstGeom>
          <a:noFill/>
        </p:spPr>
        <p:txBody>
          <a:bodyPr wrap="square" rtlCol="0" anchor="t"/>
          <a:lstStyle/>
          <a:p>
            <a:pPr marL="0" indent="0" algn="ctr">
              <a:lnSpc>
                <a:spcPct val="120000"/>
              </a:lnSpc>
              <a:spcBef>
                <a:spcPts val="375"/>
              </a:spcBef>
              <a:buNone/>
            </a:pPr>
            <a:r>
              <a:rPr lang="en-US" sz="1800" b="1" dirty="0">
                <a:solidFill>
                  <a:srgbClr val="404040"/>
                </a:solidFill>
                <a:latin typeface="微软雅黑" pitchFamily="34" charset="0"/>
                <a:ea typeface="微软雅黑" pitchFamily="34" charset="-122"/>
                <a:cs typeface="微软雅黑" pitchFamily="34" charset="-120"/>
              </a:rPr>
              <a:t>2005年</a:t>
            </a:r>
            <a:endParaRPr lang="en-US" sz="1800" dirty="0"/>
          </a:p>
        </p:txBody>
      </p:sp>
      <p:sp>
        <p:nvSpPr>
          <p:cNvPr id="19" name="Shape 17"/>
          <p:cNvSpPr/>
          <p:nvPr/>
        </p:nvSpPr>
        <p:spPr>
          <a:xfrm>
            <a:off x="3250211" y="2781265"/>
            <a:ext cx="985654" cy="369012"/>
          </a:xfrm>
          <a:custGeom>
            <a:avLst/>
            <a:gdLst/>
            <a:ahLst/>
            <a:cxnLst/>
            <a:rect l="l" t="t" r="r" b="b"/>
            <a:pathLst>
              <a:path w="985654" h="369012">
                <a:moveTo>
                  <a:pt x="0" y="0"/>
                </a:moveTo>
                <a:lnTo>
                  <a:pt x="985654" y="0"/>
                </a:lnTo>
                <a:lnTo>
                  <a:pt x="985654" y="369012"/>
                </a:lnTo>
                <a:lnTo>
                  <a:pt x="0" y="369012"/>
                </a:lnTo>
                <a:close/>
              </a:path>
            </a:pathLst>
          </a:custGeom>
          <a:solidFill>
            <a:srgbClr val="000000">
              <a:alpha val="0"/>
            </a:srgbClr>
          </a:solidFill>
        </p:spPr>
      </p:sp>
      <p:sp>
        <p:nvSpPr>
          <p:cNvPr id="20" name="Text 18"/>
          <p:cNvSpPr/>
          <p:nvPr/>
        </p:nvSpPr>
        <p:spPr>
          <a:xfrm>
            <a:off x="3250211" y="2781265"/>
            <a:ext cx="985654" cy="369012"/>
          </a:xfrm>
          <a:prstGeom prst="rect">
            <a:avLst/>
          </a:prstGeom>
          <a:noFill/>
        </p:spPr>
        <p:txBody>
          <a:bodyPr wrap="square" rtlCol="0" anchor="t"/>
          <a:lstStyle/>
          <a:p>
            <a:pPr marL="0" indent="0" algn="ctr">
              <a:lnSpc>
                <a:spcPct val="120000"/>
              </a:lnSpc>
              <a:spcBef>
                <a:spcPts val="375"/>
              </a:spcBef>
              <a:buNone/>
            </a:pPr>
            <a:r>
              <a:rPr lang="en-US" sz="1800" b="1" dirty="0">
                <a:solidFill>
                  <a:srgbClr val="404040"/>
                </a:solidFill>
                <a:latin typeface="微软雅黑" pitchFamily="34" charset="0"/>
                <a:ea typeface="微软雅黑" pitchFamily="34" charset="-122"/>
                <a:cs typeface="微软雅黑" pitchFamily="34" charset="-120"/>
              </a:rPr>
              <a:t>2012年</a:t>
            </a:r>
            <a:endParaRPr lang="en-US" sz="1800" dirty="0"/>
          </a:p>
        </p:txBody>
      </p:sp>
      <p:sp>
        <p:nvSpPr>
          <p:cNvPr id="21" name="Shape 19"/>
          <p:cNvSpPr/>
          <p:nvPr/>
        </p:nvSpPr>
        <p:spPr>
          <a:xfrm>
            <a:off x="4545680" y="1672106"/>
            <a:ext cx="985654" cy="369012"/>
          </a:xfrm>
          <a:custGeom>
            <a:avLst/>
            <a:gdLst/>
            <a:ahLst/>
            <a:cxnLst/>
            <a:rect l="l" t="t" r="r" b="b"/>
            <a:pathLst>
              <a:path w="985654" h="369012">
                <a:moveTo>
                  <a:pt x="0" y="0"/>
                </a:moveTo>
                <a:lnTo>
                  <a:pt x="985654" y="0"/>
                </a:lnTo>
                <a:lnTo>
                  <a:pt x="985654" y="369012"/>
                </a:lnTo>
                <a:lnTo>
                  <a:pt x="0" y="369012"/>
                </a:lnTo>
                <a:close/>
              </a:path>
            </a:pathLst>
          </a:custGeom>
          <a:solidFill>
            <a:srgbClr val="000000">
              <a:alpha val="0"/>
            </a:srgbClr>
          </a:solidFill>
        </p:spPr>
      </p:sp>
      <p:sp>
        <p:nvSpPr>
          <p:cNvPr id="22" name="Text 20"/>
          <p:cNvSpPr/>
          <p:nvPr/>
        </p:nvSpPr>
        <p:spPr>
          <a:xfrm>
            <a:off x="4545680" y="1672106"/>
            <a:ext cx="985654" cy="369012"/>
          </a:xfrm>
          <a:prstGeom prst="rect">
            <a:avLst/>
          </a:prstGeom>
          <a:noFill/>
        </p:spPr>
        <p:txBody>
          <a:bodyPr wrap="square" rtlCol="0" anchor="t"/>
          <a:lstStyle/>
          <a:p>
            <a:pPr marL="0" indent="0" algn="ctr">
              <a:lnSpc>
                <a:spcPct val="120000"/>
              </a:lnSpc>
              <a:spcBef>
                <a:spcPts val="375"/>
              </a:spcBef>
              <a:buNone/>
            </a:pPr>
            <a:r>
              <a:rPr lang="en-US" sz="1800" b="1" dirty="0">
                <a:solidFill>
                  <a:srgbClr val="404040"/>
                </a:solidFill>
                <a:latin typeface="微软雅黑" pitchFamily="34" charset="0"/>
                <a:ea typeface="微软雅黑" pitchFamily="34" charset="-122"/>
                <a:cs typeface="微软雅黑" pitchFamily="34" charset="-120"/>
              </a:rPr>
              <a:t>2015年</a:t>
            </a:r>
            <a:endParaRPr lang="en-US" sz="1800" dirty="0"/>
          </a:p>
        </p:txBody>
      </p:sp>
      <p:sp>
        <p:nvSpPr>
          <p:cNvPr id="23" name="Text 21"/>
          <p:cNvSpPr/>
          <p:nvPr/>
        </p:nvSpPr>
        <p:spPr>
          <a:xfrm>
            <a:off x="5111750" y="2781290"/>
            <a:ext cx="6083935" cy="456565"/>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x-none" altLang="en-US" sz="1725" dirty="0"/>
              <a:t>抗干扰能力强</a:t>
            </a:r>
            <a:endParaRPr lang="x-none" altLang="en-US" sz="1725" dirty="0"/>
          </a:p>
        </p:txBody>
      </p:sp>
      <p:sp>
        <p:nvSpPr>
          <p:cNvPr id="24" name="Text 22"/>
          <p:cNvSpPr/>
          <p:nvPr/>
        </p:nvSpPr>
        <p:spPr>
          <a:xfrm>
            <a:off x="5111750" y="3237865"/>
            <a:ext cx="6083935" cy="237172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光信号在光纤中传输不容易受到电磁干扰的影响，</a:t>
            </a:r>
            <a:r>
              <a:rPr lang="x-none" altLang="en-US" sz="1350" dirty="0">
                <a:solidFill>
                  <a:srgbClr val="808080"/>
                </a:solidFill>
                <a:latin typeface="微软雅黑" pitchFamily="34" charset="0"/>
                <a:ea typeface="微软雅黑" pitchFamily="34" charset="-122"/>
                <a:cs typeface="微软雅黑" pitchFamily="34" charset="-120"/>
              </a:rPr>
              <a:t>光纤采用光信号传输，不受电磁场、射频干扰等环境因素的影响，具有更高的可靠性。</a:t>
            </a:r>
            <a:r>
              <a:rPr lang="en-US" sz="1350" dirty="0">
                <a:solidFill>
                  <a:srgbClr val="808080"/>
                </a:solidFill>
                <a:latin typeface="微软雅黑" pitchFamily="34" charset="0"/>
                <a:ea typeface="微软雅黑" pitchFamily="34" charset="-122"/>
                <a:cs typeface="微软雅黑" pitchFamily="34" charset="-120"/>
              </a:rPr>
              <a:t>相对于铜缆传输，在高密度电子设备和电磁噪声环境下具有更好的抗干扰性‌</a:t>
            </a:r>
            <a:r>
              <a:rPr lang="x-none" altLang="en-US" sz="1350" dirty="0">
                <a:solidFill>
                  <a:srgbClr val="808080"/>
                </a:solidFill>
                <a:latin typeface="微软雅黑" pitchFamily="34" charset="0"/>
                <a:ea typeface="微软雅黑" pitchFamily="34" charset="-122"/>
                <a:cs typeface="微软雅黑" pitchFamily="34" charset="-120"/>
              </a:rPr>
              <a:t>。在复杂的电磁环境中，如高压输电线路附近、强磁场区域等，光纤通信能够稳定工作，不受外界电磁干扰的影响，保证通信的可靠性。同时，在一些对电磁辐射有严格要求的场所，如医院的手术室、精密仪器实验室等，光纤通信也不会对周边设备产生电磁干扰，保证了设备的正常运行。</a:t>
            </a:r>
            <a:endParaRPr lang="x-none" alt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光纤通信在各行业的应用</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04</a:t>
            </a:r>
            <a:endParaRPr lang="en-US" sz="9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通信领域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121894" y="6507634"/>
            <a:ext cx="2724150" cy="230684"/>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Text 5"/>
          <p:cNvSpPr/>
          <p:nvPr/>
        </p:nvSpPr>
        <p:spPr>
          <a:xfrm>
            <a:off x="424815" y="3225800"/>
            <a:ext cx="3649980" cy="575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光纤通信的历史</a:t>
            </a:r>
            <a:endParaRPr lang="en-US" sz="1725" dirty="0"/>
          </a:p>
        </p:txBody>
      </p:sp>
      <p:sp>
        <p:nvSpPr>
          <p:cNvPr id="8" name="Text 6"/>
          <p:cNvSpPr/>
          <p:nvPr/>
        </p:nvSpPr>
        <p:spPr>
          <a:xfrm>
            <a:off x="4309110" y="3225800"/>
            <a:ext cx="3649980" cy="575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光纤通信的优势</a:t>
            </a:r>
            <a:endParaRPr lang="en-US" sz="1725" dirty="0"/>
          </a:p>
        </p:txBody>
      </p:sp>
      <p:sp>
        <p:nvSpPr>
          <p:cNvPr id="9" name="Text 7"/>
          <p:cNvSpPr/>
          <p:nvPr/>
        </p:nvSpPr>
        <p:spPr>
          <a:xfrm>
            <a:off x="8154035" y="3225800"/>
            <a:ext cx="3649980" cy="575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光纤通信的应用场景</a:t>
            </a:r>
            <a:endParaRPr lang="en-US" sz="1725" dirty="0"/>
          </a:p>
        </p:txBody>
      </p:sp>
      <p:sp>
        <p:nvSpPr>
          <p:cNvPr id="10" name="Text 8"/>
          <p:cNvSpPr/>
          <p:nvPr/>
        </p:nvSpPr>
        <p:spPr>
          <a:xfrm>
            <a:off x="424815" y="3860800"/>
            <a:ext cx="3649980" cy="813435"/>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404040"/>
                </a:solidFill>
                <a:latin typeface="微软雅黑" pitchFamily="34" charset="0"/>
                <a:ea typeface="微软雅黑" pitchFamily="34" charset="-122"/>
                <a:cs typeface="微软雅黑" pitchFamily="34" charset="-120"/>
              </a:rPr>
              <a:t>光纤通信是现代通信网络的基础设施之一，可以实现高速、大容量的信息传输和语音通话。</a:t>
            </a:r>
            <a:endParaRPr lang="en-US" sz="1350" dirty="0">
              <a:solidFill>
                <a:srgbClr val="404040"/>
              </a:solidFill>
              <a:latin typeface="微软雅黑" pitchFamily="34" charset="0"/>
              <a:ea typeface="微软雅黑" pitchFamily="34" charset="-122"/>
              <a:cs typeface="微软雅黑" pitchFamily="34" charset="-120"/>
            </a:endParaRPr>
          </a:p>
        </p:txBody>
      </p:sp>
      <p:sp>
        <p:nvSpPr>
          <p:cNvPr id="11" name="Text 9"/>
          <p:cNvSpPr/>
          <p:nvPr/>
        </p:nvSpPr>
        <p:spPr>
          <a:xfrm>
            <a:off x="4309110" y="3860800"/>
            <a:ext cx="3649980" cy="2397621"/>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404040"/>
                </a:solidFill>
                <a:latin typeface="微软雅黑" pitchFamily="34" charset="0"/>
                <a:ea typeface="微软雅黑" pitchFamily="34" charset="-122"/>
                <a:cs typeface="微软雅黑" pitchFamily="34" charset="-120"/>
              </a:rPr>
              <a:t>光纤通信具有传输速度快、抗干扰能力强、传输距离远等优势，因此在通信领域被广泛应用。</a:t>
            </a:r>
            <a:endParaRPr lang="en-US" sz="1350" dirty="0"/>
          </a:p>
        </p:txBody>
      </p:sp>
      <p:sp>
        <p:nvSpPr>
          <p:cNvPr id="12" name="Text 10"/>
          <p:cNvSpPr/>
          <p:nvPr/>
        </p:nvSpPr>
        <p:spPr>
          <a:xfrm>
            <a:off x="8154035" y="3860800"/>
            <a:ext cx="3649980" cy="2397621"/>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404040"/>
                </a:solidFill>
                <a:latin typeface="微软雅黑" pitchFamily="34" charset="0"/>
                <a:ea typeface="微软雅黑" pitchFamily="34" charset="-122"/>
                <a:cs typeface="微软雅黑" pitchFamily="34" charset="-120"/>
              </a:rPr>
              <a:t>在通信领域，光纤通信被广泛应用于电话网络、互联网、有线电视等领域。</a:t>
            </a:r>
            <a:endParaRPr lang="en-US" sz="1350" dirty="0"/>
          </a:p>
        </p:txBody>
      </p:sp>
      <p:pic>
        <p:nvPicPr>
          <p:cNvPr id="13" name="Image 0" descr="https://cdn.ciniaoppt.com/webroot/upload/ppt/local/20240408/40bd43cbe0842570e2ab0143ab837a6f.png"/>
          <p:cNvPicPr>
            <a:picLocks noChangeAspect="1"/>
          </p:cNvPicPr>
          <p:nvPr/>
        </p:nvPicPr>
        <p:blipFill>
          <a:blip r:embed="rId1"/>
          <a:stretch>
            <a:fillRect/>
          </a:stretch>
        </p:blipFill>
        <p:spPr>
          <a:xfrm>
            <a:off x="5219338" y="1305284"/>
            <a:ext cx="1771015" cy="1771560"/>
          </a:xfrm>
          <a:prstGeom prst="rect">
            <a:avLst/>
          </a:prstGeom>
        </p:spPr>
      </p:pic>
      <p:pic>
        <p:nvPicPr>
          <p:cNvPr id="14" name="Image 1" descr="https://cdn.ciniaoppt.com/webroot/upload/ppt/local/20240408/5477398b230bf9070c58327fdf36e947.png"/>
          <p:cNvPicPr>
            <a:picLocks noChangeAspect="1"/>
          </p:cNvPicPr>
          <p:nvPr/>
        </p:nvPicPr>
        <p:blipFill>
          <a:blip r:embed="rId2"/>
          <a:stretch>
            <a:fillRect/>
          </a:stretch>
        </p:blipFill>
        <p:spPr>
          <a:xfrm>
            <a:off x="9084583" y="1305284"/>
            <a:ext cx="1771015" cy="1771560"/>
          </a:xfrm>
          <a:prstGeom prst="rect">
            <a:avLst/>
          </a:prstGeom>
        </p:spPr>
      </p:pic>
      <p:pic>
        <p:nvPicPr>
          <p:cNvPr id="15" name="Image 2" descr="https://cdn.ciniaoppt.com/webroot/upload/ppt/local/20240408/77277cca61ccee8c14e75a7c0ab52f9e.png"/>
          <p:cNvPicPr>
            <a:picLocks noChangeAspect="1"/>
          </p:cNvPicPr>
          <p:nvPr/>
        </p:nvPicPr>
        <p:blipFill>
          <a:blip r:embed="rId3"/>
          <a:stretch>
            <a:fillRect/>
          </a:stretch>
        </p:blipFill>
        <p:spPr>
          <a:xfrm>
            <a:off x="1353547" y="1305284"/>
            <a:ext cx="1771560" cy="1771560"/>
          </a:xfrm>
          <a:prstGeom prst="rect">
            <a:avLst/>
          </a:prstGeom>
        </p:spPr>
      </p:pic>
      <p:sp>
        <p:nvSpPr>
          <p:cNvPr id="16" name="Shape 11"/>
          <p:cNvSpPr/>
          <p:nvPr/>
        </p:nvSpPr>
        <p:spPr>
          <a:xfrm>
            <a:off x="4122710" y="2146530"/>
            <a:ext cx="444924" cy="269664"/>
          </a:xfrm>
          <a:custGeom>
            <a:avLst/>
            <a:gdLst/>
            <a:ahLst/>
            <a:cxnLst/>
            <a:rect l="l" t="t" r="r" b="b"/>
            <a:pathLst>
              <a:path w="444924" h="269664">
                <a:moveTo>
                  <a:pt x="213138" y="0"/>
                </a:moveTo>
                <a:cubicBezTo>
                  <a:pt x="330773" y="0"/>
                  <a:pt x="426277" y="57884"/>
                  <a:pt x="426277" y="129181"/>
                </a:cubicBezTo>
                <a:cubicBezTo>
                  <a:pt x="426277" y="200478"/>
                  <a:pt x="330773" y="258362"/>
                  <a:pt x="213138" y="258362"/>
                </a:cubicBezTo>
                <a:cubicBezTo>
                  <a:pt x="95504" y="258362"/>
                  <a:pt x="0" y="200478"/>
                  <a:pt x="0" y="129181"/>
                </a:cubicBezTo>
                <a:cubicBezTo>
                  <a:pt x="0" y="57884"/>
                  <a:pt x="95504" y="0"/>
                  <a:pt x="213138" y="0"/>
                </a:cubicBezTo>
                <a:close/>
              </a:path>
            </a:pathLst>
          </a:custGeom>
          <a:solidFill>
            <a:srgbClr val="404040"/>
          </a:solidFill>
        </p:spPr>
      </p:sp>
      <p:sp>
        <p:nvSpPr>
          <p:cNvPr id="17" name="Text 12"/>
          <p:cNvSpPr/>
          <p:nvPr/>
        </p:nvSpPr>
        <p:spPr>
          <a:xfrm>
            <a:off x="4122710" y="2146530"/>
            <a:ext cx="444924" cy="269664"/>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8" name="Shape 13"/>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9" name="Text 14"/>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0" name="Shape 15"/>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21" name="Text 16"/>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2" name="Shape 17"/>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23" name="Text 18"/>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4" name="Shape 19"/>
          <p:cNvSpPr/>
          <p:nvPr/>
        </p:nvSpPr>
        <p:spPr>
          <a:xfrm>
            <a:off x="8157038" y="2146530"/>
            <a:ext cx="444924" cy="269664"/>
          </a:xfrm>
          <a:custGeom>
            <a:avLst/>
            <a:gdLst/>
            <a:ahLst/>
            <a:cxnLst/>
            <a:rect l="l" t="t" r="r" b="b"/>
            <a:pathLst>
              <a:path w="444924" h="269664">
                <a:moveTo>
                  <a:pt x="213138" y="0"/>
                </a:moveTo>
                <a:cubicBezTo>
                  <a:pt x="330773" y="0"/>
                  <a:pt x="426277" y="57884"/>
                  <a:pt x="426277" y="129181"/>
                </a:cubicBezTo>
                <a:cubicBezTo>
                  <a:pt x="426277" y="200478"/>
                  <a:pt x="330773" y="258362"/>
                  <a:pt x="213138" y="258362"/>
                </a:cubicBezTo>
                <a:cubicBezTo>
                  <a:pt x="95504" y="258362"/>
                  <a:pt x="0" y="200478"/>
                  <a:pt x="0" y="129181"/>
                </a:cubicBezTo>
                <a:cubicBezTo>
                  <a:pt x="0" y="57884"/>
                  <a:pt x="95504" y="0"/>
                  <a:pt x="213138" y="0"/>
                </a:cubicBezTo>
                <a:close/>
              </a:path>
            </a:pathLst>
          </a:custGeom>
          <a:solidFill>
            <a:srgbClr val="404040"/>
          </a:solidFill>
        </p:spPr>
      </p:sp>
      <p:sp>
        <p:nvSpPr>
          <p:cNvPr id="25" name="Text 20"/>
          <p:cNvSpPr/>
          <p:nvPr/>
        </p:nvSpPr>
        <p:spPr>
          <a:xfrm>
            <a:off x="8157038" y="2146530"/>
            <a:ext cx="444924" cy="269664"/>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6" name="Shape 21"/>
          <p:cNvSpPr/>
          <p:nvPr/>
        </p:nvSpPr>
        <p:spPr>
          <a:xfrm flipH="1" flipV="1">
            <a:off x="8514345"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27" name="Text 22"/>
          <p:cNvSpPr/>
          <p:nvPr/>
        </p:nvSpPr>
        <p:spPr>
          <a:xfrm>
            <a:off x="8514345"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8" name="Shape 23"/>
          <p:cNvSpPr/>
          <p:nvPr/>
        </p:nvSpPr>
        <p:spPr>
          <a:xfrm rot="5400000">
            <a:off x="8514398"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29" name="Text 24"/>
          <p:cNvSpPr/>
          <p:nvPr/>
        </p:nvSpPr>
        <p:spPr>
          <a:xfrm rot="5400000">
            <a:off x="8514398"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30" name="Shape 25"/>
          <p:cNvSpPr/>
          <p:nvPr/>
        </p:nvSpPr>
        <p:spPr>
          <a:xfrm flipH="1" flipV="1">
            <a:off x="8514262"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31" name="Text 26"/>
          <p:cNvSpPr/>
          <p:nvPr/>
        </p:nvSpPr>
        <p:spPr>
          <a:xfrm>
            <a:off x="8514262"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医疗领域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714127" y="1035468"/>
            <a:ext cx="2749053" cy="2749053"/>
          </a:xfrm>
          <a:custGeom>
            <a:avLst/>
            <a:gdLst/>
            <a:ahLst/>
            <a:cxnLst/>
            <a:rect l="l" t="t" r="r" b="b"/>
            <a:pathLst>
              <a:path w="2749053" h="2749053">
                <a:moveTo>
                  <a:pt x="1374527" y="0"/>
                </a:moveTo>
                <a:cubicBezTo>
                  <a:pt x="2133149" y="0"/>
                  <a:pt x="2749053" y="615905"/>
                  <a:pt x="2749053" y="1374527"/>
                </a:cubicBezTo>
                <a:cubicBezTo>
                  <a:pt x="2749053" y="2133149"/>
                  <a:pt x="2133149" y="2749053"/>
                  <a:pt x="1374527" y="2749053"/>
                </a:cubicBezTo>
                <a:cubicBezTo>
                  <a:pt x="615905" y="2749053"/>
                  <a:pt x="0" y="2133149"/>
                  <a:pt x="0" y="1374527"/>
                </a:cubicBezTo>
                <a:cubicBezTo>
                  <a:pt x="0" y="615905"/>
                  <a:pt x="615905" y="0"/>
                  <a:pt x="1374527" y="0"/>
                </a:cubicBezTo>
                <a:close/>
              </a:path>
            </a:pathLst>
          </a:custGeom>
          <a:solidFill>
            <a:srgbClr val="1C1C1C">
              <a:alpha val="10000"/>
            </a:srgbClr>
          </a:solidFill>
        </p:spPr>
      </p:sp>
      <p:pic>
        <p:nvPicPr>
          <p:cNvPr id="14" name="Image 0" descr="https://cdn.ciniaoppt.com/webroot/upload/ppt/local/20240304/f49772939f9a634eee569fc25f0a8f93.png"/>
          <p:cNvPicPr>
            <a:picLocks noChangeAspect="1"/>
          </p:cNvPicPr>
          <p:nvPr/>
        </p:nvPicPr>
        <p:blipFill>
          <a:blip r:embed="rId1"/>
          <a:stretch>
            <a:fillRect/>
          </a:stretch>
        </p:blipFill>
        <p:spPr>
          <a:xfrm flipH="1">
            <a:off x="4768770" y="809746"/>
            <a:ext cx="7423230" cy="6048254"/>
          </a:xfrm>
          <a:prstGeom prst="rect">
            <a:avLst/>
          </a:prstGeom>
        </p:spPr>
      </p:pic>
      <p:sp>
        <p:nvSpPr>
          <p:cNvPr id="15" name="Text 12"/>
          <p:cNvSpPr/>
          <p:nvPr/>
        </p:nvSpPr>
        <p:spPr>
          <a:xfrm>
            <a:off x="660400" y="1874520"/>
            <a:ext cx="6631940" cy="3540621"/>
          </a:xfrm>
          <a:prstGeom prst="rect">
            <a:avLst/>
          </a:prstGeom>
          <a:solidFill>
            <a:srgbClr val="FFFFFF"/>
          </a:solidFill>
          <a:ln w="19050">
            <a:solidFill>
              <a:srgbClr val="44AEE3"/>
            </a:solidFill>
            <a:prstDash val="solid"/>
          </a:ln>
          <a:effectLst>
            <a:outerShdw blurRad="19050" dist="50800" dir="2700000" algn="bl" rotWithShape="0">
              <a:srgbClr val="000000">
                <a:alpha val="100000"/>
              </a:srgbClr>
            </a:outerShdw>
          </a:effectLst>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6" name="Shape 13"/>
          <p:cNvSpPr/>
          <p:nvPr/>
        </p:nvSpPr>
        <p:spPr>
          <a:xfrm>
            <a:off x="908685" y="1694180"/>
            <a:ext cx="362585" cy="479425"/>
          </a:xfrm>
          <a:custGeom>
            <a:avLst/>
            <a:gdLst/>
            <a:ahLst/>
            <a:cxnLst/>
            <a:rect l="l" t="t" r="r" b="b"/>
            <a:pathLst>
              <a:path w="362585" h="479425">
                <a:moveTo>
                  <a:pt x="347389" y="50893"/>
                </a:moveTo>
                <a:cubicBezTo>
                  <a:pt x="347389" y="22859"/>
                  <a:pt x="324747" y="0"/>
                  <a:pt x="296499" y="0"/>
                </a:cubicBezTo>
                <a:lnTo>
                  <a:pt x="50890" y="0"/>
                </a:lnTo>
                <a:cubicBezTo>
                  <a:pt x="22642" y="0"/>
                  <a:pt x="0" y="22859"/>
                  <a:pt x="0" y="50893"/>
                </a:cubicBezTo>
                <a:lnTo>
                  <a:pt x="0" y="286597"/>
                </a:lnTo>
                <a:cubicBezTo>
                  <a:pt x="0" y="314631"/>
                  <a:pt x="22642" y="337490"/>
                  <a:pt x="50890" y="337490"/>
                </a:cubicBezTo>
                <a:lnTo>
                  <a:pt x="184369" y="337490"/>
                </a:lnTo>
                <a:cubicBezTo>
                  <a:pt x="183506" y="418575"/>
                  <a:pt x="127009" y="442080"/>
                  <a:pt x="104368" y="459332"/>
                </a:cubicBezTo>
                <a:lnTo>
                  <a:pt x="268466" y="459332"/>
                </a:lnTo>
                <a:cubicBezTo>
                  <a:pt x="347389" y="428063"/>
                  <a:pt x="347389" y="291557"/>
                  <a:pt x="347389" y="291557"/>
                </a:cubicBezTo>
                <a:cubicBezTo>
                  <a:pt x="347389" y="291557"/>
                  <a:pt x="346958" y="291557"/>
                  <a:pt x="346958" y="291557"/>
                </a:cubicBezTo>
                <a:cubicBezTo>
                  <a:pt x="347174" y="290048"/>
                  <a:pt x="347389" y="288538"/>
                  <a:pt x="347389" y="286813"/>
                </a:cubicBezTo>
                <a:lnTo>
                  <a:pt x="347389" y="50893"/>
                </a:lnTo>
                <a:close/>
              </a:path>
            </a:pathLst>
          </a:custGeom>
          <a:solidFill>
            <a:srgbClr val="1C1C1C"/>
          </a:solidFill>
        </p:spPr>
      </p:sp>
      <p:sp>
        <p:nvSpPr>
          <p:cNvPr id="17" name="Text 14"/>
          <p:cNvSpPr/>
          <p:nvPr/>
        </p:nvSpPr>
        <p:spPr>
          <a:xfrm>
            <a:off x="908685" y="1694180"/>
            <a:ext cx="362585" cy="47942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8" name="Shape 15"/>
          <p:cNvSpPr/>
          <p:nvPr/>
        </p:nvSpPr>
        <p:spPr>
          <a:xfrm>
            <a:off x="1374140" y="1694180"/>
            <a:ext cx="362585" cy="479425"/>
          </a:xfrm>
          <a:custGeom>
            <a:avLst/>
            <a:gdLst/>
            <a:ahLst/>
            <a:cxnLst/>
            <a:rect l="l" t="t" r="r" b="b"/>
            <a:pathLst>
              <a:path w="362585" h="479425">
                <a:moveTo>
                  <a:pt x="347389" y="50893"/>
                </a:moveTo>
                <a:cubicBezTo>
                  <a:pt x="347389" y="22859"/>
                  <a:pt x="324747" y="0"/>
                  <a:pt x="296499" y="0"/>
                </a:cubicBezTo>
                <a:lnTo>
                  <a:pt x="50890" y="0"/>
                </a:lnTo>
                <a:cubicBezTo>
                  <a:pt x="22857" y="0"/>
                  <a:pt x="0" y="22859"/>
                  <a:pt x="0" y="50893"/>
                </a:cubicBezTo>
                <a:lnTo>
                  <a:pt x="0" y="286597"/>
                </a:lnTo>
                <a:cubicBezTo>
                  <a:pt x="0" y="314631"/>
                  <a:pt x="22642" y="337490"/>
                  <a:pt x="50890" y="337490"/>
                </a:cubicBezTo>
                <a:lnTo>
                  <a:pt x="184369" y="337490"/>
                </a:lnTo>
                <a:cubicBezTo>
                  <a:pt x="183506" y="418575"/>
                  <a:pt x="127009" y="442080"/>
                  <a:pt x="104368" y="459332"/>
                </a:cubicBezTo>
                <a:lnTo>
                  <a:pt x="268466" y="459332"/>
                </a:lnTo>
                <a:cubicBezTo>
                  <a:pt x="347389" y="428063"/>
                  <a:pt x="347389" y="291557"/>
                  <a:pt x="347389" y="291557"/>
                </a:cubicBezTo>
                <a:cubicBezTo>
                  <a:pt x="347389" y="291557"/>
                  <a:pt x="346958" y="291557"/>
                  <a:pt x="346958" y="291557"/>
                </a:cubicBezTo>
                <a:cubicBezTo>
                  <a:pt x="347173" y="290048"/>
                  <a:pt x="347389" y="288538"/>
                  <a:pt x="347389" y="286813"/>
                </a:cubicBezTo>
                <a:lnTo>
                  <a:pt x="347389" y="50893"/>
                </a:lnTo>
                <a:close/>
              </a:path>
            </a:pathLst>
          </a:custGeom>
          <a:solidFill>
            <a:srgbClr val="1C1C1C"/>
          </a:solidFill>
        </p:spPr>
      </p:sp>
      <p:sp>
        <p:nvSpPr>
          <p:cNvPr id="19" name="Text 16"/>
          <p:cNvSpPr/>
          <p:nvPr/>
        </p:nvSpPr>
        <p:spPr>
          <a:xfrm>
            <a:off x="1374140" y="1694180"/>
            <a:ext cx="362585" cy="47942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0" name="Shape 17"/>
          <p:cNvSpPr/>
          <p:nvPr/>
        </p:nvSpPr>
        <p:spPr>
          <a:xfrm>
            <a:off x="6120130" y="5222875"/>
            <a:ext cx="362585" cy="479425"/>
          </a:xfrm>
          <a:custGeom>
            <a:avLst/>
            <a:gdLst/>
            <a:ahLst/>
            <a:cxnLst/>
            <a:rect l="l" t="t" r="r" b="b"/>
            <a:pathLst>
              <a:path w="362585" h="479425">
                <a:moveTo>
                  <a:pt x="347389" y="50893"/>
                </a:moveTo>
                <a:cubicBezTo>
                  <a:pt x="347389" y="22859"/>
                  <a:pt x="324747" y="0"/>
                  <a:pt x="296499" y="0"/>
                </a:cubicBezTo>
                <a:lnTo>
                  <a:pt x="50890" y="0"/>
                </a:lnTo>
                <a:cubicBezTo>
                  <a:pt x="22642" y="0"/>
                  <a:pt x="0" y="22859"/>
                  <a:pt x="0" y="50893"/>
                </a:cubicBezTo>
                <a:lnTo>
                  <a:pt x="0" y="286597"/>
                </a:lnTo>
                <a:cubicBezTo>
                  <a:pt x="0" y="314631"/>
                  <a:pt x="22642" y="337490"/>
                  <a:pt x="50890" y="337490"/>
                </a:cubicBezTo>
                <a:lnTo>
                  <a:pt x="184369" y="337490"/>
                </a:lnTo>
                <a:cubicBezTo>
                  <a:pt x="183506" y="418575"/>
                  <a:pt x="127009" y="442080"/>
                  <a:pt x="104368" y="459332"/>
                </a:cubicBezTo>
                <a:lnTo>
                  <a:pt x="268466" y="459332"/>
                </a:lnTo>
                <a:cubicBezTo>
                  <a:pt x="347389" y="428063"/>
                  <a:pt x="347389" y="291557"/>
                  <a:pt x="347389" y="291557"/>
                </a:cubicBezTo>
                <a:cubicBezTo>
                  <a:pt x="347389" y="291557"/>
                  <a:pt x="346958" y="291557"/>
                  <a:pt x="346958" y="291557"/>
                </a:cubicBezTo>
                <a:cubicBezTo>
                  <a:pt x="347174" y="290048"/>
                  <a:pt x="347389" y="288538"/>
                  <a:pt x="347389" y="286813"/>
                </a:cubicBezTo>
                <a:lnTo>
                  <a:pt x="347389" y="50893"/>
                </a:lnTo>
                <a:close/>
              </a:path>
            </a:pathLst>
          </a:custGeom>
          <a:solidFill>
            <a:srgbClr val="1C1C1C"/>
          </a:solidFill>
        </p:spPr>
      </p:sp>
      <p:sp>
        <p:nvSpPr>
          <p:cNvPr id="21" name="Text 18"/>
          <p:cNvSpPr/>
          <p:nvPr/>
        </p:nvSpPr>
        <p:spPr>
          <a:xfrm>
            <a:off x="6120130" y="5222875"/>
            <a:ext cx="362585" cy="47942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2" name="Shape 19"/>
          <p:cNvSpPr/>
          <p:nvPr/>
        </p:nvSpPr>
        <p:spPr>
          <a:xfrm>
            <a:off x="6585585" y="5222875"/>
            <a:ext cx="362585" cy="479425"/>
          </a:xfrm>
          <a:custGeom>
            <a:avLst/>
            <a:gdLst/>
            <a:ahLst/>
            <a:cxnLst/>
            <a:rect l="l" t="t" r="r" b="b"/>
            <a:pathLst>
              <a:path w="362585" h="479425">
                <a:moveTo>
                  <a:pt x="347389" y="50893"/>
                </a:moveTo>
                <a:cubicBezTo>
                  <a:pt x="347389" y="22859"/>
                  <a:pt x="324747" y="0"/>
                  <a:pt x="296499" y="0"/>
                </a:cubicBezTo>
                <a:lnTo>
                  <a:pt x="50890" y="0"/>
                </a:lnTo>
                <a:cubicBezTo>
                  <a:pt x="22857" y="0"/>
                  <a:pt x="0" y="22859"/>
                  <a:pt x="0" y="50893"/>
                </a:cubicBezTo>
                <a:lnTo>
                  <a:pt x="0" y="286597"/>
                </a:lnTo>
                <a:cubicBezTo>
                  <a:pt x="0" y="314631"/>
                  <a:pt x="22642" y="337490"/>
                  <a:pt x="50890" y="337490"/>
                </a:cubicBezTo>
                <a:lnTo>
                  <a:pt x="184369" y="337490"/>
                </a:lnTo>
                <a:cubicBezTo>
                  <a:pt x="183506" y="418575"/>
                  <a:pt x="127009" y="442080"/>
                  <a:pt x="104368" y="459332"/>
                </a:cubicBezTo>
                <a:lnTo>
                  <a:pt x="268466" y="459332"/>
                </a:lnTo>
                <a:cubicBezTo>
                  <a:pt x="347389" y="428063"/>
                  <a:pt x="347389" y="291557"/>
                  <a:pt x="347389" y="291557"/>
                </a:cubicBezTo>
                <a:cubicBezTo>
                  <a:pt x="347389" y="291557"/>
                  <a:pt x="346958" y="291557"/>
                  <a:pt x="346958" y="291557"/>
                </a:cubicBezTo>
                <a:cubicBezTo>
                  <a:pt x="347173" y="290048"/>
                  <a:pt x="347389" y="288538"/>
                  <a:pt x="347389" y="286813"/>
                </a:cubicBezTo>
                <a:lnTo>
                  <a:pt x="347389" y="50893"/>
                </a:lnTo>
                <a:close/>
              </a:path>
            </a:pathLst>
          </a:custGeom>
          <a:solidFill>
            <a:srgbClr val="1C1C1C"/>
          </a:solidFill>
        </p:spPr>
      </p:sp>
      <p:sp>
        <p:nvSpPr>
          <p:cNvPr id="23" name="Text 20"/>
          <p:cNvSpPr/>
          <p:nvPr/>
        </p:nvSpPr>
        <p:spPr>
          <a:xfrm>
            <a:off x="6585585" y="5222875"/>
            <a:ext cx="362585" cy="47942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4" name="Text 21"/>
          <p:cNvSpPr/>
          <p:nvPr/>
        </p:nvSpPr>
        <p:spPr>
          <a:xfrm>
            <a:off x="908685" y="2589530"/>
            <a:ext cx="6038850" cy="639961"/>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3B3B3B"/>
                </a:solidFill>
                <a:latin typeface="微软雅黑" pitchFamily="34" charset="0"/>
                <a:ea typeface="微软雅黑" pitchFamily="34" charset="-122"/>
                <a:cs typeface="微软雅黑" pitchFamily="34" charset="-120"/>
              </a:rPr>
              <a:t>医疗领域</a:t>
            </a:r>
            <a:endParaRPr lang="en-US" sz="1725" dirty="0"/>
          </a:p>
        </p:txBody>
      </p:sp>
      <p:sp>
        <p:nvSpPr>
          <p:cNvPr id="25" name="Text 22"/>
          <p:cNvSpPr/>
          <p:nvPr/>
        </p:nvSpPr>
        <p:spPr>
          <a:xfrm>
            <a:off x="908685" y="3265805"/>
            <a:ext cx="6039485" cy="112522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x-none" altLang="en-US" sz="1350" dirty="0">
                <a:solidFill>
                  <a:srgbClr val="808080"/>
                </a:solidFill>
                <a:latin typeface="微软雅黑" pitchFamily="34" charset="0"/>
                <a:ea typeface="微软雅黑" pitchFamily="34" charset="-122"/>
                <a:cs typeface="微软雅黑" pitchFamily="34" charset="-120"/>
              </a:rPr>
              <a:t>光纤技术在医疗领域得到了广泛应用。它可以用于内窥镜和胃肠镜、激光手术、光学成像等方面。在医疗器械制造中也有很好的应用，例如心脏起搏器、血压计、体温计等。</a:t>
            </a:r>
            <a:endParaRPr lang="x-none" altLang="en-US" sz="1350" dirty="0">
              <a:solidFill>
                <a:srgbClr val="808080"/>
              </a:solidFill>
              <a:latin typeface="微软雅黑" pitchFamily="34" charset="0"/>
              <a:ea typeface="微软雅黑" pitchFamily="34" charset="-122"/>
              <a:cs typeface="微软雅黑" pitchFamily="34" charset="-120"/>
            </a:endParaRPr>
          </a:p>
        </p:txBody>
      </p:sp>
      <p:sp>
        <p:nvSpPr>
          <p:cNvPr id="26" name="Shape 23"/>
          <p:cNvSpPr/>
          <p:nvPr/>
        </p:nvSpPr>
        <p:spPr>
          <a:xfrm>
            <a:off x="4049962" y="5004118"/>
            <a:ext cx="1011296" cy="1011296"/>
          </a:xfrm>
          <a:custGeom>
            <a:avLst/>
            <a:gdLst/>
            <a:ahLst/>
            <a:cxnLst/>
            <a:rect l="l" t="t" r="r" b="b"/>
            <a:pathLst>
              <a:path w="1011296" h="1011296">
                <a:moveTo>
                  <a:pt x="505648" y="0"/>
                </a:moveTo>
                <a:cubicBezTo>
                  <a:pt x="784723" y="0"/>
                  <a:pt x="1011296" y="226573"/>
                  <a:pt x="1011296" y="505648"/>
                </a:cubicBezTo>
                <a:cubicBezTo>
                  <a:pt x="1011296" y="784723"/>
                  <a:pt x="784723" y="1011296"/>
                  <a:pt x="505648" y="1011296"/>
                </a:cubicBezTo>
                <a:cubicBezTo>
                  <a:pt x="226573" y="1011296"/>
                  <a:pt x="0" y="784723"/>
                  <a:pt x="0" y="505648"/>
                </a:cubicBezTo>
                <a:cubicBezTo>
                  <a:pt x="0" y="226573"/>
                  <a:pt x="226573" y="0"/>
                  <a:pt x="505648" y="0"/>
                </a:cubicBezTo>
                <a:close/>
              </a:path>
            </a:pathLst>
          </a:custGeom>
          <a:solidFill>
            <a:srgbClr val="1C1C1C">
              <a:alpha val="10000"/>
            </a:srgbClr>
          </a:solid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工业领域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9184005" y="4257040"/>
            <a:ext cx="852805" cy="852805"/>
          </a:xfrm>
          <a:custGeom>
            <a:avLst/>
            <a:gdLst/>
            <a:ahLst/>
            <a:cxnLst/>
            <a:rect l="l" t="t" r="r" b="b"/>
            <a:pathLst>
              <a:path w="852805" h="852805">
                <a:moveTo>
                  <a:pt x="408531" y="0"/>
                </a:moveTo>
                <a:cubicBezTo>
                  <a:pt x="634006" y="0"/>
                  <a:pt x="817063" y="183057"/>
                  <a:pt x="817063" y="408531"/>
                </a:cubicBezTo>
                <a:cubicBezTo>
                  <a:pt x="817063" y="634006"/>
                  <a:pt x="634006" y="817063"/>
                  <a:pt x="408531" y="817063"/>
                </a:cubicBezTo>
                <a:cubicBezTo>
                  <a:pt x="183057" y="817063"/>
                  <a:pt x="0" y="634006"/>
                  <a:pt x="0" y="408531"/>
                </a:cubicBezTo>
                <a:cubicBezTo>
                  <a:pt x="0" y="183057"/>
                  <a:pt x="183057" y="0"/>
                  <a:pt x="408531" y="0"/>
                </a:cubicBezTo>
                <a:close/>
              </a:path>
            </a:pathLst>
          </a:custGeom>
          <a:solidFill>
            <a:srgbClr val="616161"/>
          </a:solidFill>
        </p:spPr>
      </p:sp>
      <p:sp>
        <p:nvSpPr>
          <p:cNvPr id="14" name="Text 12"/>
          <p:cNvSpPr/>
          <p:nvPr/>
        </p:nvSpPr>
        <p:spPr>
          <a:xfrm>
            <a:off x="9184005" y="4257040"/>
            <a:ext cx="852805" cy="852805"/>
          </a:xfrm>
          <a:prstGeom prst="rect">
            <a:avLst/>
          </a:prstGeom>
          <a:noFill/>
        </p:spPr>
        <p:txBody>
          <a:bodyPr wrap="square" rtlCol="0" anchor="ctr"/>
          <a:lstStyle/>
          <a:p>
            <a:pPr marL="0" indent="0" algn="ctr">
              <a:lnSpc>
                <a:spcPct val="120000"/>
              </a:lnSpc>
              <a:spcBef>
                <a:spcPts val="375"/>
              </a:spcBef>
              <a:buNone/>
            </a:pPr>
            <a:r>
              <a:rPr lang="en-US" sz="1350" b="1" dirty="0">
                <a:solidFill>
                  <a:srgbClr val="FFFFFF"/>
                </a:solidFill>
                <a:latin typeface="微软雅黑" pitchFamily="34" charset="0"/>
                <a:ea typeface="微软雅黑" pitchFamily="34" charset="-122"/>
                <a:cs typeface="微软雅黑" pitchFamily="34" charset="-120"/>
              </a:rPr>
              <a:t>25%</a:t>
            </a:r>
            <a:endParaRPr lang="en-US" sz="1350" dirty="0"/>
          </a:p>
        </p:txBody>
      </p:sp>
      <p:sp>
        <p:nvSpPr>
          <p:cNvPr id="15" name="Shape 13"/>
          <p:cNvSpPr/>
          <p:nvPr/>
        </p:nvSpPr>
        <p:spPr>
          <a:xfrm>
            <a:off x="10234930" y="4257040"/>
            <a:ext cx="852805" cy="852805"/>
          </a:xfrm>
          <a:custGeom>
            <a:avLst/>
            <a:gdLst/>
            <a:ahLst/>
            <a:cxnLst/>
            <a:rect l="l" t="t" r="r" b="b"/>
            <a:pathLst>
              <a:path w="852805" h="852805">
                <a:moveTo>
                  <a:pt x="408531" y="0"/>
                </a:moveTo>
                <a:cubicBezTo>
                  <a:pt x="634006" y="0"/>
                  <a:pt x="817063" y="183057"/>
                  <a:pt x="817063" y="408531"/>
                </a:cubicBezTo>
                <a:cubicBezTo>
                  <a:pt x="817063" y="634006"/>
                  <a:pt x="634006" y="817063"/>
                  <a:pt x="408531" y="817063"/>
                </a:cubicBezTo>
                <a:cubicBezTo>
                  <a:pt x="183057" y="817063"/>
                  <a:pt x="0" y="634006"/>
                  <a:pt x="0" y="408531"/>
                </a:cubicBezTo>
                <a:cubicBezTo>
                  <a:pt x="0" y="183057"/>
                  <a:pt x="183057" y="0"/>
                  <a:pt x="408531" y="0"/>
                </a:cubicBezTo>
                <a:close/>
              </a:path>
            </a:pathLst>
          </a:custGeom>
          <a:solidFill>
            <a:srgbClr val="C9C9C9"/>
          </a:solidFill>
        </p:spPr>
      </p:sp>
      <p:sp>
        <p:nvSpPr>
          <p:cNvPr id="16" name="Text 14"/>
          <p:cNvSpPr/>
          <p:nvPr/>
        </p:nvSpPr>
        <p:spPr>
          <a:xfrm>
            <a:off x="10234930" y="4257040"/>
            <a:ext cx="852805" cy="852805"/>
          </a:xfrm>
          <a:prstGeom prst="rect">
            <a:avLst/>
          </a:prstGeom>
          <a:noFill/>
        </p:spPr>
        <p:txBody>
          <a:bodyPr wrap="square" rtlCol="0" anchor="ctr"/>
          <a:lstStyle/>
          <a:p>
            <a:pPr marL="0" indent="0" algn="ctr">
              <a:lnSpc>
                <a:spcPct val="120000"/>
              </a:lnSpc>
              <a:spcBef>
                <a:spcPts val="375"/>
              </a:spcBef>
              <a:buNone/>
            </a:pPr>
            <a:r>
              <a:rPr lang="en-US" sz="1350" b="1" dirty="0">
                <a:solidFill>
                  <a:srgbClr val="FFFFFF"/>
                </a:solidFill>
                <a:latin typeface="微软雅黑" pitchFamily="34" charset="0"/>
                <a:ea typeface="微软雅黑" pitchFamily="34" charset="-122"/>
                <a:cs typeface="微软雅黑" pitchFamily="34" charset="-120"/>
              </a:rPr>
              <a:t>85%</a:t>
            </a:r>
            <a:endParaRPr lang="en-US" sz="1350" dirty="0"/>
          </a:p>
        </p:txBody>
      </p:sp>
      <p:sp>
        <p:nvSpPr>
          <p:cNvPr id="17" name="Shape 15"/>
          <p:cNvSpPr/>
          <p:nvPr/>
        </p:nvSpPr>
        <p:spPr>
          <a:xfrm>
            <a:off x="2708758" y="539084"/>
            <a:ext cx="6970108" cy="5373011"/>
          </a:xfrm>
          <a:custGeom>
            <a:avLst/>
            <a:gdLst/>
            <a:ahLst/>
            <a:cxnLst/>
            <a:rect l="l" t="t" r="r" b="b"/>
            <a:pathLst>
              <a:path w="6970108" h="5373011">
                <a:moveTo>
                  <a:pt x="5791301" y="2036835"/>
                </a:moveTo>
                <a:lnTo>
                  <a:pt x="5791301" y="2026702"/>
                </a:lnTo>
                <a:lnTo>
                  <a:pt x="5765967" y="2046969"/>
                </a:lnTo>
                <a:lnTo>
                  <a:pt x="5705166" y="2062169"/>
                </a:lnTo>
                <a:lnTo>
                  <a:pt x="5634231" y="2097636"/>
                </a:lnTo>
                <a:lnTo>
                  <a:pt x="5583564" y="2133103"/>
                </a:lnTo>
                <a:lnTo>
                  <a:pt x="5522763" y="2219238"/>
                </a:lnTo>
                <a:lnTo>
                  <a:pt x="5441695" y="2254705"/>
                </a:lnTo>
                <a:lnTo>
                  <a:pt x="5441695" y="2229372"/>
                </a:lnTo>
                <a:lnTo>
                  <a:pt x="5461962" y="2107770"/>
                </a:lnTo>
                <a:lnTo>
                  <a:pt x="5537963" y="1986168"/>
                </a:lnTo>
                <a:lnTo>
                  <a:pt x="5537963" y="1965901"/>
                </a:lnTo>
                <a:lnTo>
                  <a:pt x="5512629" y="1940567"/>
                </a:lnTo>
                <a:lnTo>
                  <a:pt x="5502496" y="1889899"/>
                </a:lnTo>
                <a:lnTo>
                  <a:pt x="5461962" y="1889899"/>
                </a:lnTo>
                <a:lnTo>
                  <a:pt x="5406227" y="1930433"/>
                </a:lnTo>
                <a:lnTo>
                  <a:pt x="5345426" y="2036835"/>
                </a:lnTo>
                <a:lnTo>
                  <a:pt x="5249158" y="2107770"/>
                </a:lnTo>
                <a:lnTo>
                  <a:pt x="5213691" y="2183771"/>
                </a:lnTo>
                <a:lnTo>
                  <a:pt x="5198490" y="2204038"/>
                </a:lnTo>
                <a:lnTo>
                  <a:pt x="5127556" y="2239505"/>
                </a:lnTo>
                <a:lnTo>
                  <a:pt x="5092089" y="2229372"/>
                </a:lnTo>
                <a:lnTo>
                  <a:pt x="5056621" y="2229372"/>
                </a:lnTo>
                <a:lnTo>
                  <a:pt x="5031287" y="2300306"/>
                </a:lnTo>
                <a:lnTo>
                  <a:pt x="5041421" y="2335774"/>
                </a:lnTo>
                <a:lnTo>
                  <a:pt x="5092089" y="2421908"/>
                </a:lnTo>
                <a:lnTo>
                  <a:pt x="5127556" y="2411775"/>
                </a:lnTo>
                <a:lnTo>
                  <a:pt x="5188357" y="2386441"/>
                </a:lnTo>
                <a:lnTo>
                  <a:pt x="5198490" y="2386441"/>
                </a:lnTo>
                <a:lnTo>
                  <a:pt x="5198490" y="2492843"/>
                </a:lnTo>
                <a:lnTo>
                  <a:pt x="5249158" y="2533377"/>
                </a:lnTo>
                <a:lnTo>
                  <a:pt x="5309959" y="2518177"/>
                </a:lnTo>
                <a:lnTo>
                  <a:pt x="5365693" y="2432042"/>
                </a:lnTo>
                <a:lnTo>
                  <a:pt x="5426494" y="2411775"/>
                </a:lnTo>
                <a:lnTo>
                  <a:pt x="5461962" y="2411775"/>
                </a:lnTo>
                <a:lnTo>
                  <a:pt x="5522763" y="2457376"/>
                </a:lnTo>
                <a:lnTo>
                  <a:pt x="5654498" y="2447242"/>
                </a:lnTo>
                <a:lnTo>
                  <a:pt x="5634231" y="2533377"/>
                </a:lnTo>
                <a:lnTo>
                  <a:pt x="5608898" y="2533377"/>
                </a:lnTo>
                <a:lnTo>
                  <a:pt x="5598764" y="2508043"/>
                </a:lnTo>
                <a:lnTo>
                  <a:pt x="5522763" y="2553644"/>
                </a:lnTo>
                <a:lnTo>
                  <a:pt x="5441695" y="2589111"/>
                </a:lnTo>
                <a:lnTo>
                  <a:pt x="5441695" y="2665113"/>
                </a:lnTo>
                <a:lnTo>
                  <a:pt x="5330226" y="2736047"/>
                </a:lnTo>
                <a:lnTo>
                  <a:pt x="5269425" y="2857649"/>
                </a:lnTo>
                <a:lnTo>
                  <a:pt x="5294759" y="2903250"/>
                </a:lnTo>
                <a:lnTo>
                  <a:pt x="5416361" y="2953918"/>
                </a:lnTo>
                <a:lnTo>
                  <a:pt x="5512629" y="3156588"/>
                </a:lnTo>
                <a:lnTo>
                  <a:pt x="5522763" y="3207255"/>
                </a:lnTo>
                <a:lnTo>
                  <a:pt x="5598764" y="3242722"/>
                </a:lnTo>
                <a:lnTo>
                  <a:pt x="5654498" y="3313657"/>
                </a:lnTo>
                <a:lnTo>
                  <a:pt x="5654498" y="3328857"/>
                </a:lnTo>
                <a:lnTo>
                  <a:pt x="5583564" y="3303524"/>
                </a:lnTo>
                <a:lnTo>
                  <a:pt x="5548096" y="3313657"/>
                </a:lnTo>
                <a:lnTo>
                  <a:pt x="5548096" y="3349124"/>
                </a:lnTo>
                <a:lnTo>
                  <a:pt x="5644365" y="3399792"/>
                </a:lnTo>
                <a:lnTo>
                  <a:pt x="5669699" y="3445393"/>
                </a:lnTo>
                <a:lnTo>
                  <a:pt x="5487295" y="3541661"/>
                </a:lnTo>
                <a:lnTo>
                  <a:pt x="5477162" y="3582195"/>
                </a:lnTo>
                <a:lnTo>
                  <a:pt x="5502496" y="3592328"/>
                </a:lnTo>
                <a:lnTo>
                  <a:pt x="5522763" y="3592328"/>
                </a:lnTo>
                <a:lnTo>
                  <a:pt x="5608898" y="3556861"/>
                </a:lnTo>
                <a:lnTo>
                  <a:pt x="5669699" y="3602462"/>
                </a:lnTo>
                <a:lnTo>
                  <a:pt x="5730500" y="3602462"/>
                </a:lnTo>
                <a:lnTo>
                  <a:pt x="5715299" y="3698730"/>
                </a:lnTo>
                <a:lnTo>
                  <a:pt x="5654498" y="3713931"/>
                </a:lnTo>
                <a:lnTo>
                  <a:pt x="5679832" y="3749398"/>
                </a:lnTo>
                <a:lnTo>
                  <a:pt x="5695032" y="3845666"/>
                </a:lnTo>
                <a:lnTo>
                  <a:pt x="5634231" y="3855800"/>
                </a:lnTo>
                <a:lnTo>
                  <a:pt x="5573430" y="3967268"/>
                </a:lnTo>
                <a:lnTo>
                  <a:pt x="5573430" y="4038203"/>
                </a:lnTo>
                <a:lnTo>
                  <a:pt x="5512629" y="4124338"/>
                </a:lnTo>
                <a:lnTo>
                  <a:pt x="5502496" y="4124338"/>
                </a:lnTo>
                <a:lnTo>
                  <a:pt x="5451828" y="4109137"/>
                </a:lnTo>
                <a:lnTo>
                  <a:pt x="5441695" y="4109137"/>
                </a:lnTo>
                <a:lnTo>
                  <a:pt x="5477162" y="4159805"/>
                </a:lnTo>
                <a:lnTo>
                  <a:pt x="5487295" y="4195272"/>
                </a:lnTo>
                <a:lnTo>
                  <a:pt x="5461962" y="4316874"/>
                </a:lnTo>
                <a:lnTo>
                  <a:pt x="5451828" y="4316874"/>
                </a:lnTo>
                <a:lnTo>
                  <a:pt x="5426494" y="4301674"/>
                </a:lnTo>
                <a:lnTo>
                  <a:pt x="5406227" y="4316874"/>
                </a:lnTo>
                <a:lnTo>
                  <a:pt x="5380894" y="4352342"/>
                </a:lnTo>
                <a:lnTo>
                  <a:pt x="5380894" y="4413143"/>
                </a:lnTo>
                <a:lnTo>
                  <a:pt x="5355560" y="4458743"/>
                </a:lnTo>
                <a:lnTo>
                  <a:pt x="5284625" y="4448610"/>
                </a:lnTo>
                <a:lnTo>
                  <a:pt x="5249158" y="4458743"/>
                </a:lnTo>
                <a:lnTo>
                  <a:pt x="5233958" y="4484077"/>
                </a:lnTo>
                <a:lnTo>
                  <a:pt x="5269425" y="4494211"/>
                </a:lnTo>
                <a:lnTo>
                  <a:pt x="5259291" y="4534745"/>
                </a:lnTo>
                <a:lnTo>
                  <a:pt x="5021154" y="4737415"/>
                </a:lnTo>
                <a:lnTo>
                  <a:pt x="4848884" y="4783016"/>
                </a:lnTo>
                <a:lnTo>
                  <a:pt x="4828617" y="4783016"/>
                </a:lnTo>
                <a:lnTo>
                  <a:pt x="4813417" y="4762749"/>
                </a:lnTo>
                <a:lnTo>
                  <a:pt x="4788083" y="4762749"/>
                </a:lnTo>
                <a:lnTo>
                  <a:pt x="4752616" y="4798216"/>
                </a:lnTo>
                <a:lnTo>
                  <a:pt x="4767816" y="4843817"/>
                </a:lnTo>
                <a:lnTo>
                  <a:pt x="4742482" y="4859017"/>
                </a:lnTo>
                <a:lnTo>
                  <a:pt x="4707015" y="4859017"/>
                </a:lnTo>
                <a:lnTo>
                  <a:pt x="4707015" y="4808349"/>
                </a:lnTo>
                <a:lnTo>
                  <a:pt x="4681681" y="4772882"/>
                </a:lnTo>
                <a:lnTo>
                  <a:pt x="4656348" y="4762749"/>
                </a:lnTo>
                <a:lnTo>
                  <a:pt x="4646214" y="4798216"/>
                </a:lnTo>
                <a:lnTo>
                  <a:pt x="4656348" y="4859017"/>
                </a:lnTo>
                <a:lnTo>
                  <a:pt x="4595547" y="4904618"/>
                </a:lnTo>
                <a:lnTo>
                  <a:pt x="4418210" y="4955285"/>
                </a:lnTo>
                <a:lnTo>
                  <a:pt x="4200340" y="4980619"/>
                </a:lnTo>
                <a:lnTo>
                  <a:pt x="4175006" y="5051554"/>
                </a:lnTo>
                <a:lnTo>
                  <a:pt x="4225673" y="5112355"/>
                </a:lnTo>
                <a:lnTo>
                  <a:pt x="4225673" y="5137688"/>
                </a:lnTo>
                <a:lnTo>
                  <a:pt x="4200340" y="5147822"/>
                </a:lnTo>
                <a:lnTo>
                  <a:pt x="4154739" y="5147822"/>
                </a:lnTo>
                <a:lnTo>
                  <a:pt x="4114205" y="5112355"/>
                </a:lnTo>
                <a:lnTo>
                  <a:pt x="4104071" y="5036353"/>
                </a:lnTo>
                <a:lnTo>
                  <a:pt x="4129405" y="4965419"/>
                </a:lnTo>
                <a:lnTo>
                  <a:pt x="3997670" y="4990753"/>
                </a:lnTo>
                <a:lnTo>
                  <a:pt x="3886201" y="4980619"/>
                </a:lnTo>
                <a:lnTo>
                  <a:pt x="3886201" y="4980619"/>
                </a:lnTo>
                <a:lnTo>
                  <a:pt x="3789933" y="4955285"/>
                </a:lnTo>
                <a:lnTo>
                  <a:pt x="3683531" y="4904618"/>
                </a:lnTo>
                <a:lnTo>
                  <a:pt x="3673397" y="4833683"/>
                </a:lnTo>
                <a:lnTo>
                  <a:pt x="3693664" y="4772882"/>
                </a:lnTo>
                <a:lnTo>
                  <a:pt x="3683531" y="4762749"/>
                </a:lnTo>
                <a:lnTo>
                  <a:pt x="3632863" y="4747548"/>
                </a:lnTo>
                <a:lnTo>
                  <a:pt x="3551795" y="4737415"/>
                </a:lnTo>
                <a:lnTo>
                  <a:pt x="3501128" y="4686747"/>
                </a:lnTo>
                <a:lnTo>
                  <a:pt x="3445393" y="4701948"/>
                </a:lnTo>
                <a:lnTo>
                  <a:pt x="3394726" y="4747548"/>
                </a:lnTo>
                <a:lnTo>
                  <a:pt x="3333925" y="4772882"/>
                </a:lnTo>
                <a:lnTo>
                  <a:pt x="3308591" y="4772882"/>
                </a:lnTo>
                <a:lnTo>
                  <a:pt x="3273124" y="4747548"/>
                </a:lnTo>
                <a:lnTo>
                  <a:pt x="3212323" y="4747548"/>
                </a:lnTo>
                <a:lnTo>
                  <a:pt x="3156588" y="4798216"/>
                </a:lnTo>
                <a:lnTo>
                  <a:pt x="3095787" y="4737415"/>
                </a:lnTo>
                <a:lnTo>
                  <a:pt x="3070453" y="4747548"/>
                </a:lnTo>
                <a:lnTo>
                  <a:pt x="3034986" y="4798216"/>
                </a:lnTo>
                <a:lnTo>
                  <a:pt x="2974185" y="4772882"/>
                </a:lnTo>
                <a:lnTo>
                  <a:pt x="2964052" y="4859017"/>
                </a:lnTo>
                <a:lnTo>
                  <a:pt x="2984319" y="4919818"/>
                </a:lnTo>
                <a:lnTo>
                  <a:pt x="2984319" y="4965419"/>
                </a:lnTo>
                <a:lnTo>
                  <a:pt x="2948851" y="4980619"/>
                </a:lnTo>
                <a:lnTo>
                  <a:pt x="2903250" y="4965419"/>
                </a:lnTo>
                <a:lnTo>
                  <a:pt x="2888050" y="4955285"/>
                </a:lnTo>
                <a:lnTo>
                  <a:pt x="2888050" y="4940085"/>
                </a:lnTo>
                <a:lnTo>
                  <a:pt x="2903250" y="4894484"/>
                </a:lnTo>
                <a:lnTo>
                  <a:pt x="2888050" y="4869150"/>
                </a:lnTo>
                <a:lnTo>
                  <a:pt x="2817116" y="4904618"/>
                </a:lnTo>
                <a:lnTo>
                  <a:pt x="2730981" y="4919818"/>
                </a:lnTo>
                <a:lnTo>
                  <a:pt x="2720847" y="4894484"/>
                </a:lnTo>
                <a:lnTo>
                  <a:pt x="2710714" y="4823550"/>
                </a:lnTo>
                <a:lnTo>
                  <a:pt x="2614445" y="4798216"/>
                </a:lnTo>
                <a:lnTo>
                  <a:pt x="2649913" y="4701948"/>
                </a:lnTo>
                <a:lnTo>
                  <a:pt x="2685380" y="4676614"/>
                </a:lnTo>
                <a:lnTo>
                  <a:pt x="2675247" y="4651280"/>
                </a:lnTo>
                <a:lnTo>
                  <a:pt x="2599245" y="4651280"/>
                </a:lnTo>
                <a:lnTo>
                  <a:pt x="2589112" y="4641147"/>
                </a:lnTo>
                <a:lnTo>
                  <a:pt x="2599245" y="4494211"/>
                </a:lnTo>
                <a:lnTo>
                  <a:pt x="2482710" y="4494211"/>
                </a:lnTo>
                <a:lnTo>
                  <a:pt x="2421909" y="4509411"/>
                </a:lnTo>
                <a:lnTo>
                  <a:pt x="2406709" y="4509411"/>
                </a:lnTo>
                <a:lnTo>
                  <a:pt x="2432042" y="4377675"/>
                </a:lnTo>
                <a:lnTo>
                  <a:pt x="2482710" y="4316874"/>
                </a:lnTo>
                <a:lnTo>
                  <a:pt x="2599245" y="4205406"/>
                </a:lnTo>
                <a:lnTo>
                  <a:pt x="2634712" y="4099004"/>
                </a:lnTo>
                <a:lnTo>
                  <a:pt x="2624579" y="3967268"/>
                </a:lnTo>
                <a:lnTo>
                  <a:pt x="2589112" y="3967268"/>
                </a:lnTo>
                <a:lnTo>
                  <a:pt x="2578978" y="3871000"/>
                </a:lnTo>
                <a:lnTo>
                  <a:pt x="2518177" y="3810199"/>
                </a:lnTo>
                <a:lnTo>
                  <a:pt x="2482710" y="3835533"/>
                </a:lnTo>
                <a:lnTo>
                  <a:pt x="2467510" y="3845666"/>
                </a:lnTo>
                <a:lnTo>
                  <a:pt x="2482710" y="3906467"/>
                </a:lnTo>
                <a:lnTo>
                  <a:pt x="2467510" y="3916601"/>
                </a:lnTo>
                <a:lnTo>
                  <a:pt x="2432042" y="3916601"/>
                </a:lnTo>
                <a:lnTo>
                  <a:pt x="2290173" y="3810199"/>
                </a:lnTo>
                <a:lnTo>
                  <a:pt x="2249639" y="3810199"/>
                </a:lnTo>
                <a:lnTo>
                  <a:pt x="2178705" y="3855800"/>
                </a:lnTo>
                <a:lnTo>
                  <a:pt x="2057102" y="3891267"/>
                </a:lnTo>
                <a:lnTo>
                  <a:pt x="1960834" y="3967268"/>
                </a:lnTo>
                <a:lnTo>
                  <a:pt x="1940567" y="3977402"/>
                </a:lnTo>
                <a:lnTo>
                  <a:pt x="1818965" y="3941935"/>
                </a:lnTo>
                <a:lnTo>
                  <a:pt x="1748030" y="3941935"/>
                </a:lnTo>
                <a:lnTo>
                  <a:pt x="1712563" y="3845666"/>
                </a:lnTo>
                <a:lnTo>
                  <a:pt x="1722697" y="3784865"/>
                </a:lnTo>
                <a:lnTo>
                  <a:pt x="1712563" y="3774732"/>
                </a:lnTo>
                <a:lnTo>
                  <a:pt x="1687229" y="3759531"/>
                </a:lnTo>
                <a:lnTo>
                  <a:pt x="1651762" y="3774732"/>
                </a:lnTo>
                <a:lnTo>
                  <a:pt x="1520026" y="3688597"/>
                </a:lnTo>
                <a:lnTo>
                  <a:pt x="1469359" y="3688597"/>
                </a:lnTo>
                <a:lnTo>
                  <a:pt x="1423758" y="3713931"/>
                </a:lnTo>
                <a:lnTo>
                  <a:pt x="1383224" y="3749398"/>
                </a:lnTo>
                <a:lnTo>
                  <a:pt x="1383224" y="3810199"/>
                </a:lnTo>
                <a:lnTo>
                  <a:pt x="1362957" y="3810199"/>
                </a:lnTo>
                <a:lnTo>
                  <a:pt x="1347757" y="3810199"/>
                </a:lnTo>
                <a:lnTo>
                  <a:pt x="1327490" y="3774732"/>
                </a:lnTo>
                <a:lnTo>
                  <a:pt x="1327490" y="3734198"/>
                </a:lnTo>
                <a:lnTo>
                  <a:pt x="1362957" y="3713931"/>
                </a:lnTo>
                <a:lnTo>
                  <a:pt x="1347757" y="3678463"/>
                </a:lnTo>
                <a:lnTo>
                  <a:pt x="1180554" y="3698730"/>
                </a:lnTo>
                <a:lnTo>
                  <a:pt x="1074152" y="3602462"/>
                </a:lnTo>
                <a:lnTo>
                  <a:pt x="1038685" y="3627796"/>
                </a:lnTo>
                <a:lnTo>
                  <a:pt x="988017" y="3617662"/>
                </a:lnTo>
                <a:lnTo>
                  <a:pt x="901882" y="3541661"/>
                </a:lnTo>
                <a:lnTo>
                  <a:pt x="820814" y="3435259"/>
                </a:lnTo>
                <a:lnTo>
                  <a:pt x="770147" y="3328857"/>
                </a:lnTo>
                <a:lnTo>
                  <a:pt x="760013" y="3313657"/>
                </a:lnTo>
                <a:lnTo>
                  <a:pt x="724546" y="3338991"/>
                </a:lnTo>
                <a:lnTo>
                  <a:pt x="709346" y="3338991"/>
                </a:lnTo>
                <a:lnTo>
                  <a:pt x="567477" y="3121120"/>
                </a:lnTo>
                <a:lnTo>
                  <a:pt x="521876" y="3075520"/>
                </a:lnTo>
                <a:lnTo>
                  <a:pt x="481342" y="3121120"/>
                </a:lnTo>
                <a:lnTo>
                  <a:pt x="445874" y="3121120"/>
                </a:lnTo>
                <a:lnTo>
                  <a:pt x="349606" y="3014719"/>
                </a:lnTo>
                <a:lnTo>
                  <a:pt x="314139" y="2938717"/>
                </a:lnTo>
                <a:lnTo>
                  <a:pt x="233071" y="2903250"/>
                </a:lnTo>
                <a:lnTo>
                  <a:pt x="217870" y="2842449"/>
                </a:lnTo>
                <a:lnTo>
                  <a:pt x="217870" y="2685380"/>
                </a:lnTo>
                <a:lnTo>
                  <a:pt x="233071" y="2649912"/>
                </a:lnTo>
                <a:lnTo>
                  <a:pt x="278672" y="2639779"/>
                </a:lnTo>
                <a:lnTo>
                  <a:pt x="288805" y="2639779"/>
                </a:lnTo>
                <a:lnTo>
                  <a:pt x="278672" y="2685380"/>
                </a:lnTo>
                <a:lnTo>
                  <a:pt x="288805" y="2700580"/>
                </a:lnTo>
                <a:lnTo>
                  <a:pt x="304005" y="2710713"/>
                </a:lnTo>
                <a:lnTo>
                  <a:pt x="329339" y="2685380"/>
                </a:lnTo>
                <a:lnTo>
                  <a:pt x="339473" y="2639779"/>
                </a:lnTo>
                <a:lnTo>
                  <a:pt x="329339" y="2508043"/>
                </a:lnTo>
                <a:lnTo>
                  <a:pt x="329339" y="2447242"/>
                </a:lnTo>
                <a:lnTo>
                  <a:pt x="329339" y="2432042"/>
                </a:lnTo>
                <a:lnTo>
                  <a:pt x="374940" y="2432042"/>
                </a:lnTo>
                <a:lnTo>
                  <a:pt x="385073" y="2411775"/>
                </a:lnTo>
                <a:lnTo>
                  <a:pt x="304005" y="2335774"/>
                </a:lnTo>
                <a:lnTo>
                  <a:pt x="314139" y="2239505"/>
                </a:lnTo>
                <a:lnTo>
                  <a:pt x="339473" y="2219238"/>
                </a:lnTo>
                <a:lnTo>
                  <a:pt x="339473" y="2204038"/>
                </a:lnTo>
                <a:lnTo>
                  <a:pt x="253338" y="2183771"/>
                </a:lnTo>
                <a:lnTo>
                  <a:pt x="136802" y="2082436"/>
                </a:lnTo>
                <a:lnTo>
                  <a:pt x="121602" y="2046969"/>
                </a:lnTo>
                <a:lnTo>
                  <a:pt x="136802" y="2001368"/>
                </a:lnTo>
                <a:lnTo>
                  <a:pt x="136802" y="1940567"/>
                </a:lnTo>
                <a:lnTo>
                  <a:pt x="86135" y="1879766"/>
                </a:lnTo>
                <a:lnTo>
                  <a:pt x="60801" y="1879766"/>
                </a:lnTo>
                <a:lnTo>
                  <a:pt x="40534" y="1879766"/>
                </a:lnTo>
                <a:lnTo>
                  <a:pt x="0" y="1818965"/>
                </a:lnTo>
                <a:lnTo>
                  <a:pt x="25334" y="1793631"/>
                </a:lnTo>
                <a:lnTo>
                  <a:pt x="15200" y="1793631"/>
                </a:lnTo>
                <a:lnTo>
                  <a:pt x="86135" y="1818965"/>
                </a:lnTo>
                <a:lnTo>
                  <a:pt x="121602" y="1758164"/>
                </a:lnTo>
                <a:lnTo>
                  <a:pt x="96268" y="1697363"/>
                </a:lnTo>
                <a:lnTo>
                  <a:pt x="111469" y="1636562"/>
                </a:lnTo>
                <a:lnTo>
                  <a:pt x="86135" y="1601094"/>
                </a:lnTo>
                <a:lnTo>
                  <a:pt x="40534" y="1616294"/>
                </a:lnTo>
                <a:lnTo>
                  <a:pt x="15200" y="1590961"/>
                </a:lnTo>
                <a:lnTo>
                  <a:pt x="15200" y="1590961"/>
                </a:lnTo>
                <a:lnTo>
                  <a:pt x="15200" y="1555493"/>
                </a:lnTo>
                <a:lnTo>
                  <a:pt x="40534" y="1459225"/>
                </a:lnTo>
                <a:lnTo>
                  <a:pt x="96268" y="1398424"/>
                </a:lnTo>
                <a:lnTo>
                  <a:pt x="233071" y="1337623"/>
                </a:lnTo>
                <a:lnTo>
                  <a:pt x="329339" y="1347757"/>
                </a:lnTo>
                <a:lnTo>
                  <a:pt x="339473" y="1383224"/>
                </a:lnTo>
                <a:lnTo>
                  <a:pt x="304005" y="1423758"/>
                </a:lnTo>
                <a:lnTo>
                  <a:pt x="385073" y="1433891"/>
                </a:lnTo>
                <a:lnTo>
                  <a:pt x="425607" y="1408558"/>
                </a:lnTo>
                <a:lnTo>
                  <a:pt x="471208" y="1347757"/>
                </a:lnTo>
                <a:lnTo>
                  <a:pt x="567477" y="1383224"/>
                </a:lnTo>
                <a:lnTo>
                  <a:pt x="628278" y="1347757"/>
                </a:lnTo>
                <a:lnTo>
                  <a:pt x="770147" y="1327490"/>
                </a:lnTo>
                <a:lnTo>
                  <a:pt x="881615" y="1312289"/>
                </a:lnTo>
                <a:lnTo>
                  <a:pt x="891749" y="1302156"/>
                </a:lnTo>
                <a:lnTo>
                  <a:pt x="901882" y="1251488"/>
                </a:lnTo>
                <a:lnTo>
                  <a:pt x="952550" y="1180554"/>
                </a:lnTo>
                <a:lnTo>
                  <a:pt x="998151" y="1170420"/>
                </a:lnTo>
                <a:lnTo>
                  <a:pt x="1013351" y="1155220"/>
                </a:lnTo>
                <a:lnTo>
                  <a:pt x="998151" y="1048818"/>
                </a:lnTo>
                <a:lnTo>
                  <a:pt x="1013351" y="952550"/>
                </a:lnTo>
                <a:lnTo>
                  <a:pt x="977884" y="917082"/>
                </a:lnTo>
                <a:lnTo>
                  <a:pt x="962683" y="891749"/>
                </a:lnTo>
                <a:lnTo>
                  <a:pt x="1180554" y="891749"/>
                </a:lnTo>
                <a:lnTo>
                  <a:pt x="1231221" y="927216"/>
                </a:lnTo>
                <a:lnTo>
                  <a:pt x="1266689" y="927216"/>
                </a:lnTo>
                <a:lnTo>
                  <a:pt x="1266689" y="901882"/>
                </a:lnTo>
                <a:lnTo>
                  <a:pt x="1241355" y="881615"/>
                </a:lnTo>
                <a:lnTo>
                  <a:pt x="1241355" y="856281"/>
                </a:lnTo>
                <a:lnTo>
                  <a:pt x="1373091" y="648544"/>
                </a:lnTo>
                <a:lnTo>
                  <a:pt x="1398424" y="648544"/>
                </a:lnTo>
                <a:lnTo>
                  <a:pt x="1444025" y="699212"/>
                </a:lnTo>
                <a:lnTo>
                  <a:pt x="1555494" y="760013"/>
                </a:lnTo>
                <a:lnTo>
                  <a:pt x="1575761" y="760013"/>
                </a:lnTo>
                <a:lnTo>
                  <a:pt x="1651762" y="724546"/>
                </a:lnTo>
                <a:lnTo>
                  <a:pt x="1661896" y="613077"/>
                </a:lnTo>
                <a:lnTo>
                  <a:pt x="1672029" y="567476"/>
                </a:lnTo>
                <a:lnTo>
                  <a:pt x="1712563" y="542143"/>
                </a:lnTo>
                <a:lnTo>
                  <a:pt x="1783498" y="542143"/>
                </a:lnTo>
                <a:lnTo>
                  <a:pt x="1844299" y="471208"/>
                </a:lnTo>
                <a:lnTo>
                  <a:pt x="1925367" y="471208"/>
                </a:lnTo>
                <a:lnTo>
                  <a:pt x="1940567" y="481342"/>
                </a:lnTo>
                <a:lnTo>
                  <a:pt x="1925367" y="552276"/>
                </a:lnTo>
                <a:lnTo>
                  <a:pt x="2001368" y="673878"/>
                </a:lnTo>
                <a:lnTo>
                  <a:pt x="2072303" y="684012"/>
                </a:lnTo>
                <a:lnTo>
                  <a:pt x="2133104" y="770147"/>
                </a:lnTo>
                <a:lnTo>
                  <a:pt x="2178705" y="891749"/>
                </a:lnTo>
                <a:lnTo>
                  <a:pt x="2178705" y="952550"/>
                </a:lnTo>
                <a:lnTo>
                  <a:pt x="2143237" y="1033618"/>
                </a:lnTo>
                <a:lnTo>
                  <a:pt x="2107770" y="1084285"/>
                </a:lnTo>
                <a:lnTo>
                  <a:pt x="2107770" y="1145086"/>
                </a:lnTo>
                <a:lnTo>
                  <a:pt x="2193905" y="1155220"/>
                </a:lnTo>
                <a:lnTo>
                  <a:pt x="2386441" y="1216021"/>
                </a:lnTo>
                <a:lnTo>
                  <a:pt x="2528311" y="1347757"/>
                </a:lnTo>
                <a:lnTo>
                  <a:pt x="2578978" y="1347757"/>
                </a:lnTo>
                <a:lnTo>
                  <a:pt x="2589112" y="1444025"/>
                </a:lnTo>
                <a:lnTo>
                  <a:pt x="2660046" y="1616294"/>
                </a:lnTo>
                <a:lnTo>
                  <a:pt x="2791782" y="1616294"/>
                </a:lnTo>
                <a:lnTo>
                  <a:pt x="2867783" y="1651762"/>
                </a:lnTo>
                <a:lnTo>
                  <a:pt x="2948851" y="1661895"/>
                </a:lnTo>
                <a:lnTo>
                  <a:pt x="3141388" y="1677096"/>
                </a:lnTo>
                <a:lnTo>
                  <a:pt x="3252857" y="1722696"/>
                </a:lnTo>
                <a:lnTo>
                  <a:pt x="3455527" y="1844298"/>
                </a:lnTo>
                <a:lnTo>
                  <a:pt x="3612596" y="1869632"/>
                </a:lnTo>
                <a:lnTo>
                  <a:pt x="3648063" y="1844298"/>
                </a:lnTo>
                <a:lnTo>
                  <a:pt x="3825400" y="1773364"/>
                </a:lnTo>
                <a:lnTo>
                  <a:pt x="4093938" y="1758164"/>
                </a:lnTo>
                <a:lnTo>
                  <a:pt x="4164872" y="1722696"/>
                </a:lnTo>
                <a:lnTo>
                  <a:pt x="4261141" y="1626428"/>
                </a:lnTo>
                <a:lnTo>
                  <a:pt x="4347276" y="1590961"/>
                </a:lnTo>
                <a:lnTo>
                  <a:pt x="4357409" y="1555493"/>
                </a:lnTo>
                <a:lnTo>
                  <a:pt x="4347276" y="1530160"/>
                </a:lnTo>
                <a:lnTo>
                  <a:pt x="4306742" y="1494692"/>
                </a:lnTo>
                <a:lnTo>
                  <a:pt x="4296608" y="1459225"/>
                </a:lnTo>
                <a:lnTo>
                  <a:pt x="4347276" y="1347757"/>
                </a:lnTo>
                <a:lnTo>
                  <a:pt x="4392876" y="1347757"/>
                </a:lnTo>
                <a:lnTo>
                  <a:pt x="4479011" y="1398424"/>
                </a:lnTo>
                <a:lnTo>
                  <a:pt x="4549946" y="1383224"/>
                </a:lnTo>
                <a:lnTo>
                  <a:pt x="4585413" y="1362957"/>
                </a:lnTo>
                <a:lnTo>
                  <a:pt x="4646214" y="1286955"/>
                </a:lnTo>
                <a:lnTo>
                  <a:pt x="4707015" y="1286955"/>
                </a:lnTo>
                <a:lnTo>
                  <a:pt x="4777950" y="1251488"/>
                </a:lnTo>
                <a:lnTo>
                  <a:pt x="4828617" y="1170420"/>
                </a:lnTo>
                <a:lnTo>
                  <a:pt x="4838751" y="1155220"/>
                </a:lnTo>
                <a:lnTo>
                  <a:pt x="5005954" y="1058952"/>
                </a:lnTo>
                <a:lnTo>
                  <a:pt x="5163023" y="1074152"/>
                </a:lnTo>
                <a:lnTo>
                  <a:pt x="5173157" y="1048818"/>
                </a:lnTo>
                <a:lnTo>
                  <a:pt x="5163023" y="998151"/>
                </a:lnTo>
                <a:lnTo>
                  <a:pt x="5092089" y="917082"/>
                </a:lnTo>
                <a:lnTo>
                  <a:pt x="5041421" y="891749"/>
                </a:lnTo>
                <a:lnTo>
                  <a:pt x="4970486" y="866415"/>
                </a:lnTo>
                <a:lnTo>
                  <a:pt x="4945153" y="881615"/>
                </a:lnTo>
                <a:lnTo>
                  <a:pt x="4909685" y="927216"/>
                </a:lnTo>
                <a:lnTo>
                  <a:pt x="4899552" y="937349"/>
                </a:lnTo>
                <a:lnTo>
                  <a:pt x="4838751" y="901882"/>
                </a:lnTo>
                <a:lnTo>
                  <a:pt x="4788083" y="917082"/>
                </a:lnTo>
                <a:lnTo>
                  <a:pt x="4752616" y="937349"/>
                </a:lnTo>
                <a:lnTo>
                  <a:pt x="4742482" y="927216"/>
                </a:lnTo>
                <a:lnTo>
                  <a:pt x="4707015" y="866415"/>
                </a:lnTo>
                <a:lnTo>
                  <a:pt x="4742482" y="830948"/>
                </a:lnTo>
                <a:lnTo>
                  <a:pt x="4767816" y="734679"/>
                </a:lnTo>
                <a:lnTo>
                  <a:pt x="4813417" y="602944"/>
                </a:lnTo>
                <a:lnTo>
                  <a:pt x="4874218" y="628277"/>
                </a:lnTo>
                <a:lnTo>
                  <a:pt x="4945153" y="638411"/>
                </a:lnTo>
                <a:lnTo>
                  <a:pt x="5076888" y="567476"/>
                </a:lnTo>
                <a:lnTo>
                  <a:pt x="5076888" y="532009"/>
                </a:lnTo>
                <a:lnTo>
                  <a:pt x="5056621" y="506675"/>
                </a:lnTo>
                <a:lnTo>
                  <a:pt x="5127556" y="324272"/>
                </a:lnTo>
                <a:lnTo>
                  <a:pt x="5188357" y="238137"/>
                </a:lnTo>
                <a:lnTo>
                  <a:pt x="5173157" y="157069"/>
                </a:lnTo>
                <a:lnTo>
                  <a:pt x="5102222" y="167203"/>
                </a:lnTo>
                <a:lnTo>
                  <a:pt x="5137689" y="106402"/>
                </a:lnTo>
                <a:lnTo>
                  <a:pt x="5188357" y="70935"/>
                </a:lnTo>
                <a:lnTo>
                  <a:pt x="5284625" y="35467"/>
                </a:lnTo>
                <a:lnTo>
                  <a:pt x="5451828" y="0"/>
                </a:lnTo>
                <a:lnTo>
                  <a:pt x="5512629" y="35467"/>
                </a:lnTo>
                <a:lnTo>
                  <a:pt x="5608898" y="35467"/>
                </a:lnTo>
                <a:lnTo>
                  <a:pt x="5654498" y="60801"/>
                </a:lnTo>
                <a:lnTo>
                  <a:pt x="5907836" y="506675"/>
                </a:lnTo>
                <a:lnTo>
                  <a:pt x="5933170" y="516809"/>
                </a:lnTo>
                <a:lnTo>
                  <a:pt x="6004104" y="491475"/>
                </a:lnTo>
                <a:lnTo>
                  <a:pt x="6080106" y="506675"/>
                </a:lnTo>
                <a:lnTo>
                  <a:pt x="6221975" y="577610"/>
                </a:lnTo>
                <a:lnTo>
                  <a:pt x="6247309" y="663745"/>
                </a:lnTo>
                <a:lnTo>
                  <a:pt x="6282776" y="709346"/>
                </a:lnTo>
                <a:lnTo>
                  <a:pt x="6308110" y="734679"/>
                </a:lnTo>
                <a:lnTo>
                  <a:pt x="6439845" y="709346"/>
                </a:lnTo>
                <a:lnTo>
                  <a:pt x="6475313" y="628277"/>
                </a:lnTo>
                <a:lnTo>
                  <a:pt x="6536114" y="602944"/>
                </a:lnTo>
                <a:lnTo>
                  <a:pt x="6632382" y="542143"/>
                </a:lnTo>
                <a:lnTo>
                  <a:pt x="6667849" y="481342"/>
                </a:lnTo>
                <a:lnTo>
                  <a:pt x="6677983" y="542143"/>
                </a:lnTo>
                <a:lnTo>
                  <a:pt x="6617182" y="820814"/>
                </a:lnTo>
                <a:lnTo>
                  <a:pt x="6632382" y="881615"/>
                </a:lnTo>
                <a:lnTo>
                  <a:pt x="6632382" y="917082"/>
                </a:lnTo>
                <a:lnTo>
                  <a:pt x="6607048" y="1058952"/>
                </a:lnTo>
                <a:lnTo>
                  <a:pt x="6596915" y="1074152"/>
                </a:lnTo>
                <a:lnTo>
                  <a:pt x="6556381" y="1074152"/>
                </a:lnTo>
                <a:lnTo>
                  <a:pt x="6449979" y="1058952"/>
                </a:lnTo>
                <a:lnTo>
                  <a:pt x="6389178" y="1129886"/>
                </a:lnTo>
                <a:lnTo>
                  <a:pt x="6460112" y="1373090"/>
                </a:lnTo>
                <a:lnTo>
                  <a:pt x="6449979" y="1433891"/>
                </a:lnTo>
                <a:lnTo>
                  <a:pt x="6404378" y="1469359"/>
                </a:lnTo>
                <a:lnTo>
                  <a:pt x="6439845" y="1520026"/>
                </a:lnTo>
                <a:lnTo>
                  <a:pt x="6424645" y="1540293"/>
                </a:lnTo>
                <a:lnTo>
                  <a:pt x="6353710" y="1469359"/>
                </a:lnTo>
                <a:lnTo>
                  <a:pt x="6318243" y="1459225"/>
                </a:lnTo>
                <a:lnTo>
                  <a:pt x="6318243" y="1494692"/>
                </a:lnTo>
                <a:lnTo>
                  <a:pt x="6318243" y="1540293"/>
                </a:lnTo>
                <a:lnTo>
                  <a:pt x="6292909" y="1590961"/>
                </a:lnTo>
                <a:lnTo>
                  <a:pt x="6232108" y="1626428"/>
                </a:lnTo>
                <a:lnTo>
                  <a:pt x="6211841" y="1636562"/>
                </a:lnTo>
                <a:lnTo>
                  <a:pt x="6161174" y="1636562"/>
                </a:lnTo>
                <a:lnTo>
                  <a:pt x="6161174" y="1636562"/>
                </a:lnTo>
                <a:lnTo>
                  <a:pt x="6196641" y="1712563"/>
                </a:lnTo>
                <a:lnTo>
                  <a:pt x="6196641" y="1722696"/>
                </a:lnTo>
                <a:lnTo>
                  <a:pt x="6125707" y="1732830"/>
                </a:lnTo>
                <a:lnTo>
                  <a:pt x="6029438" y="1712563"/>
                </a:lnTo>
                <a:lnTo>
                  <a:pt x="5983837" y="1834165"/>
                </a:lnTo>
                <a:lnTo>
                  <a:pt x="5826768" y="1940567"/>
                </a:lnTo>
                <a:lnTo>
                  <a:pt x="5791301" y="2036835"/>
                </a:lnTo>
                <a:lnTo>
                  <a:pt x="5791301" y="2036835"/>
                </a:lnTo>
                <a:lnTo>
                  <a:pt x="5791301" y="2036835"/>
                </a:lnTo>
                <a:lnTo>
                  <a:pt x="5791301" y="2036835"/>
                </a:lnTo>
                <a:close/>
              </a:path>
            </a:pathLst>
          </a:custGeom>
          <a:solidFill>
            <a:srgbClr val="1C1C1C">
              <a:alpha val="8000"/>
            </a:srgbClr>
          </a:solidFill>
        </p:spPr>
      </p:sp>
      <p:sp>
        <p:nvSpPr>
          <p:cNvPr id="18" name="Text 16"/>
          <p:cNvSpPr/>
          <p:nvPr/>
        </p:nvSpPr>
        <p:spPr>
          <a:xfrm>
            <a:off x="2708758" y="539084"/>
            <a:ext cx="6970108" cy="5373011"/>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9098763" y="3391862"/>
            <a:ext cx="1404552" cy="393313"/>
          </a:xfrm>
          <a:custGeom>
            <a:avLst/>
            <a:gdLst/>
            <a:ahLst/>
            <a:cxnLst/>
            <a:rect l="l" t="t" r="r" b="b"/>
            <a:pathLst>
              <a:path w="1404552" h="393313">
                <a:moveTo>
                  <a:pt x="0" y="0"/>
                </a:moveTo>
                <a:lnTo>
                  <a:pt x="1404552" y="0"/>
                </a:lnTo>
                <a:lnTo>
                  <a:pt x="1404552" y="393313"/>
                </a:lnTo>
                <a:lnTo>
                  <a:pt x="0" y="393313"/>
                </a:lnTo>
                <a:close/>
              </a:path>
            </a:pathLst>
          </a:custGeom>
          <a:solidFill>
            <a:srgbClr val="000000">
              <a:alpha val="0"/>
            </a:srgbClr>
          </a:solidFill>
        </p:spPr>
      </p:sp>
      <p:sp>
        <p:nvSpPr>
          <p:cNvPr id="20" name="Text 18"/>
          <p:cNvSpPr/>
          <p:nvPr/>
        </p:nvSpPr>
        <p:spPr>
          <a:xfrm>
            <a:off x="9098763" y="3391862"/>
            <a:ext cx="1404552" cy="393313"/>
          </a:xfrm>
          <a:prstGeom prst="rect">
            <a:avLst/>
          </a:prstGeom>
          <a:noFill/>
        </p:spPr>
        <p:txBody>
          <a:bodyPr wrap="square" rtlCol="0" anchor="t"/>
          <a:lstStyle/>
          <a:p>
            <a:pPr marL="0" indent="0" algn="l">
              <a:lnSpc>
                <a:spcPct val="120000"/>
              </a:lnSpc>
              <a:spcBef>
                <a:spcPts val="375"/>
              </a:spcBef>
              <a:buNone/>
            </a:pPr>
            <a:r>
              <a:rPr lang="en-US" sz="1575" b="1" dirty="0">
                <a:solidFill>
                  <a:srgbClr val="404040"/>
                </a:solidFill>
                <a:latin typeface="汉仪新人文宋W" pitchFamily="34" charset="0"/>
                <a:ea typeface="汉仪新人文宋W" pitchFamily="34" charset="-122"/>
                <a:cs typeface="汉仪新人文宋W" pitchFamily="34" charset="-120"/>
              </a:rPr>
              <a:t>BRILLIANT </a:t>
            </a:r>
            <a:endParaRPr lang="en-US" sz="1575" dirty="0"/>
          </a:p>
        </p:txBody>
      </p:sp>
      <p:sp>
        <p:nvSpPr>
          <p:cNvPr id="21" name="Shape 19"/>
          <p:cNvSpPr/>
          <p:nvPr/>
        </p:nvSpPr>
        <p:spPr>
          <a:xfrm>
            <a:off x="7097152" y="2380527"/>
            <a:ext cx="811280" cy="811280"/>
          </a:xfrm>
          <a:custGeom>
            <a:avLst/>
            <a:gdLst/>
            <a:ahLst/>
            <a:cxnLst/>
            <a:rect l="l" t="t" r="r" b="b"/>
            <a:pathLst>
              <a:path w="811280" h="811280">
                <a:moveTo>
                  <a:pt x="388639" y="0"/>
                </a:moveTo>
                <a:cubicBezTo>
                  <a:pt x="603135" y="0"/>
                  <a:pt x="777278" y="174143"/>
                  <a:pt x="777278" y="388639"/>
                </a:cubicBezTo>
                <a:cubicBezTo>
                  <a:pt x="777278" y="603135"/>
                  <a:pt x="603135" y="777278"/>
                  <a:pt x="388639" y="777278"/>
                </a:cubicBezTo>
                <a:cubicBezTo>
                  <a:pt x="174143" y="777278"/>
                  <a:pt x="0" y="603135"/>
                  <a:pt x="0" y="388639"/>
                </a:cubicBezTo>
                <a:cubicBezTo>
                  <a:pt x="0" y="174143"/>
                  <a:pt x="174143" y="0"/>
                  <a:pt x="388639" y="0"/>
                </a:cubicBezTo>
                <a:close/>
              </a:path>
            </a:pathLst>
          </a:custGeom>
          <a:solidFill>
            <a:srgbClr val="000000">
              <a:alpha val="0"/>
            </a:srgbClr>
          </a:solidFill>
          <a:ln w="4763">
            <a:solidFill>
              <a:srgbClr val="808080"/>
            </a:solidFill>
            <a:prstDash val="dash"/>
          </a:ln>
        </p:spPr>
      </p:sp>
      <p:sp>
        <p:nvSpPr>
          <p:cNvPr id="22" name="Text 20"/>
          <p:cNvSpPr/>
          <p:nvPr/>
        </p:nvSpPr>
        <p:spPr>
          <a:xfrm>
            <a:off x="7097152" y="2380527"/>
            <a:ext cx="811280" cy="81128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a:off x="5143253" y="2092786"/>
            <a:ext cx="3185586" cy="3185586"/>
          </a:xfrm>
          <a:custGeom>
            <a:avLst/>
            <a:gdLst/>
            <a:ahLst/>
            <a:cxnLst/>
            <a:rect l="l" t="t" r="r" b="b"/>
            <a:pathLst>
              <a:path w="3185586" h="3185586">
                <a:moveTo>
                  <a:pt x="1526037" y="0"/>
                </a:moveTo>
                <a:cubicBezTo>
                  <a:pt x="2368280" y="0"/>
                  <a:pt x="3052074" y="683794"/>
                  <a:pt x="3052074" y="1526037"/>
                </a:cubicBezTo>
                <a:cubicBezTo>
                  <a:pt x="3052074" y="2368280"/>
                  <a:pt x="2368280" y="3052074"/>
                  <a:pt x="1526037" y="3052074"/>
                </a:cubicBezTo>
                <a:cubicBezTo>
                  <a:pt x="683794" y="3052074"/>
                  <a:pt x="0" y="2368280"/>
                  <a:pt x="0" y="1526037"/>
                </a:cubicBezTo>
                <a:cubicBezTo>
                  <a:pt x="0" y="683794"/>
                  <a:pt x="683794" y="0"/>
                  <a:pt x="1526037" y="0"/>
                </a:cubicBezTo>
                <a:close/>
              </a:path>
            </a:pathLst>
          </a:custGeom>
          <a:solidFill>
            <a:srgbClr val="000000">
              <a:alpha val="0"/>
            </a:srgbClr>
          </a:solidFill>
          <a:ln w="4763">
            <a:solidFill>
              <a:srgbClr val="808080"/>
            </a:solidFill>
            <a:prstDash val="dash"/>
          </a:ln>
        </p:spPr>
      </p:sp>
      <p:sp>
        <p:nvSpPr>
          <p:cNvPr id="24" name="Text 22"/>
          <p:cNvSpPr/>
          <p:nvPr/>
        </p:nvSpPr>
        <p:spPr>
          <a:xfrm>
            <a:off x="5143253" y="2092786"/>
            <a:ext cx="3185586" cy="3185586"/>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5" name="Text 23"/>
          <p:cNvSpPr/>
          <p:nvPr/>
        </p:nvSpPr>
        <p:spPr>
          <a:xfrm>
            <a:off x="1130935" y="2381250"/>
            <a:ext cx="4012565" cy="900410"/>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工业领域</a:t>
            </a:r>
            <a:endParaRPr lang="en-US" sz="1725" dirty="0"/>
          </a:p>
        </p:txBody>
      </p:sp>
      <p:sp>
        <p:nvSpPr>
          <p:cNvPr id="26" name="Text 24"/>
          <p:cNvSpPr/>
          <p:nvPr/>
        </p:nvSpPr>
        <p:spPr>
          <a:xfrm>
            <a:off x="1130935" y="3282950"/>
            <a:ext cx="4012565" cy="205994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光纤传感器是工业控制系统中的重要组成部分。由于其高精度、高灵敏度、抗干扰性强等特点，光纤传感器被广泛用于测量加速度、温度、气压、流量等物理参数，以及判断材料的力学性能、外形、质量等。</a:t>
            </a:r>
            <a:r>
              <a:rPr lang="x-none" altLang="en-US" sz="1350" dirty="0">
                <a:solidFill>
                  <a:srgbClr val="808080"/>
                </a:solidFill>
                <a:latin typeface="微软雅黑" pitchFamily="34" charset="0"/>
                <a:ea typeface="微软雅黑" pitchFamily="34" charset="-122"/>
                <a:cs typeface="微软雅黑" pitchFamily="34" charset="-120"/>
              </a:rPr>
              <a:t>；</a:t>
            </a:r>
            <a:r>
              <a:rPr lang="en-US" sz="1350" dirty="0">
                <a:solidFill>
                  <a:srgbClr val="808080"/>
                </a:solidFill>
                <a:latin typeface="微软雅黑" pitchFamily="34" charset="0"/>
                <a:ea typeface="微软雅黑" pitchFamily="34" charset="-122"/>
                <a:cs typeface="微软雅黑" pitchFamily="34" charset="-120"/>
              </a:rPr>
              <a:t>光纤传感技术在工业自动化中的应用光纤在工业监测中的应用</a:t>
            </a:r>
            <a:r>
              <a:rPr lang="x-none" altLang="en-US" sz="1350" dirty="0">
                <a:solidFill>
                  <a:srgbClr val="808080"/>
                </a:solidFill>
                <a:latin typeface="微软雅黑" pitchFamily="34" charset="0"/>
                <a:ea typeface="微软雅黑" pitchFamily="34" charset="-122"/>
                <a:cs typeface="微软雅黑" pitchFamily="34" charset="-120"/>
              </a:rPr>
              <a:t>。</a:t>
            </a:r>
            <a:endParaRPr lang="x-none" altLang="en-US" sz="1350" dirty="0">
              <a:solidFill>
                <a:srgbClr val="808080"/>
              </a:solidFill>
              <a:latin typeface="微软雅黑" pitchFamily="34" charset="0"/>
              <a:ea typeface="微软雅黑" pitchFamily="34" charset="-122"/>
              <a:cs typeface="微软雅黑" pitchFamily="34" charset="-120"/>
            </a:endParaRPr>
          </a:p>
        </p:txBody>
      </p:sp>
      <p:sp>
        <p:nvSpPr>
          <p:cNvPr id="27" name="Shape 25"/>
          <p:cNvSpPr/>
          <p:nvPr/>
        </p:nvSpPr>
        <p:spPr>
          <a:xfrm>
            <a:off x="9169584" y="3281578"/>
            <a:ext cx="662528" cy="0"/>
          </a:xfrm>
          <a:custGeom>
            <a:avLst/>
            <a:gdLst/>
            <a:ahLst/>
            <a:cxnLst/>
            <a:rect l="l" t="t" r="r" b="b"/>
            <a:pathLst>
              <a:path w="662528">
                <a:moveTo>
                  <a:pt x="0" y="0"/>
                </a:moveTo>
                <a:lnTo>
                  <a:pt x="662528" y="0"/>
                </a:lnTo>
              </a:path>
            </a:pathLst>
          </a:custGeom>
          <a:noFill/>
          <a:ln w="9525">
            <a:solidFill>
              <a:srgbClr val="B5C2D5"/>
            </a:solidFill>
            <a:prstDash val="dash"/>
            <a:headEnd type="none"/>
            <a:tailEnd type="arrow"/>
          </a:ln>
        </p:spPr>
      </p:sp>
      <p:sp>
        <p:nvSpPr>
          <p:cNvPr id="28" name="Shape 26"/>
          <p:cNvSpPr/>
          <p:nvPr/>
        </p:nvSpPr>
        <p:spPr>
          <a:xfrm>
            <a:off x="1341120" y="3391862"/>
            <a:ext cx="4401634" cy="37138"/>
          </a:xfrm>
          <a:custGeom>
            <a:avLst/>
            <a:gdLst/>
            <a:ahLst/>
            <a:cxnLst/>
            <a:rect l="l" t="t" r="r" b="b"/>
            <a:pathLst>
              <a:path w="4401634" h="37138">
                <a:moveTo>
                  <a:pt x="4401634" y="37138"/>
                </a:moveTo>
                <a:lnTo>
                  <a:pt x="0" y="0"/>
                </a:lnTo>
              </a:path>
            </a:pathLst>
          </a:custGeom>
          <a:noFill/>
          <a:ln w="4763">
            <a:solidFill>
              <a:srgbClr val="808080"/>
            </a:solidFill>
            <a:prstDash val="dash"/>
            <a:headEnd type="none"/>
            <a:tailEnd type="none"/>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军事领域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Text 11"/>
          <p:cNvSpPr/>
          <p:nvPr/>
        </p:nvSpPr>
        <p:spPr>
          <a:xfrm>
            <a:off x="0" y="2245489"/>
            <a:ext cx="782320" cy="3104555"/>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14" name="Shape 12"/>
          <p:cNvSpPr/>
          <p:nvPr/>
        </p:nvSpPr>
        <p:spPr>
          <a:xfrm>
            <a:off x="236548" y="2392721"/>
            <a:ext cx="309224" cy="334964"/>
          </a:xfrm>
          <a:custGeom>
            <a:avLst/>
            <a:gdLst/>
            <a:ahLst/>
            <a:cxnLst/>
            <a:rect l="l" t="t" r="r" b="b"/>
            <a:pathLst>
              <a:path w="309224" h="334964">
                <a:moveTo>
                  <a:pt x="148113" y="23199"/>
                </a:moveTo>
                <a:cubicBezTo>
                  <a:pt x="163038" y="23199"/>
                  <a:pt x="177035" y="28999"/>
                  <a:pt x="187590" y="39555"/>
                </a:cubicBezTo>
                <a:cubicBezTo>
                  <a:pt x="198146" y="50111"/>
                  <a:pt x="203946" y="64108"/>
                  <a:pt x="203946" y="79033"/>
                </a:cubicBezTo>
                <a:cubicBezTo>
                  <a:pt x="203946" y="93958"/>
                  <a:pt x="198146" y="107955"/>
                  <a:pt x="187590" y="118510"/>
                </a:cubicBezTo>
                <a:cubicBezTo>
                  <a:pt x="177035" y="129066"/>
                  <a:pt x="163038" y="134866"/>
                  <a:pt x="148113" y="134866"/>
                </a:cubicBezTo>
                <a:cubicBezTo>
                  <a:pt x="133188" y="134866"/>
                  <a:pt x="119191" y="129066"/>
                  <a:pt x="108635" y="118510"/>
                </a:cubicBezTo>
                <a:cubicBezTo>
                  <a:pt x="98118" y="107916"/>
                  <a:pt x="92318" y="93880"/>
                  <a:pt x="92318" y="78994"/>
                </a:cubicBezTo>
                <a:cubicBezTo>
                  <a:pt x="92318" y="64108"/>
                  <a:pt x="98118" y="50072"/>
                  <a:pt x="108674" y="39516"/>
                </a:cubicBezTo>
                <a:cubicBezTo>
                  <a:pt x="119191" y="28999"/>
                  <a:pt x="133227" y="23199"/>
                  <a:pt x="148113" y="23199"/>
                </a:cubicBezTo>
                <a:moveTo>
                  <a:pt x="148113" y="0"/>
                </a:moveTo>
                <a:cubicBezTo>
                  <a:pt x="104498" y="0"/>
                  <a:pt x="69119" y="35340"/>
                  <a:pt x="69119" y="78994"/>
                </a:cubicBezTo>
                <a:cubicBezTo>
                  <a:pt x="69119" y="122609"/>
                  <a:pt x="104498" y="157988"/>
                  <a:pt x="148113" y="157988"/>
                </a:cubicBezTo>
                <a:cubicBezTo>
                  <a:pt x="191728" y="157988"/>
                  <a:pt x="227107" y="122609"/>
                  <a:pt x="227107" y="78994"/>
                </a:cubicBezTo>
                <a:cubicBezTo>
                  <a:pt x="227145" y="35340"/>
                  <a:pt x="191766" y="0"/>
                  <a:pt x="148113" y="0"/>
                </a:cubicBezTo>
                <a:moveTo>
                  <a:pt x="148113" y="195996"/>
                </a:moveTo>
                <a:cubicBezTo>
                  <a:pt x="169108" y="195996"/>
                  <a:pt x="187707" y="198355"/>
                  <a:pt x="203444" y="202995"/>
                </a:cubicBezTo>
                <a:cubicBezTo>
                  <a:pt x="216899" y="206978"/>
                  <a:pt x="228615" y="212778"/>
                  <a:pt x="238204" y="220201"/>
                </a:cubicBezTo>
                <a:cubicBezTo>
                  <a:pt x="246672" y="226774"/>
                  <a:pt x="253632" y="234585"/>
                  <a:pt x="259509" y="244097"/>
                </a:cubicBezTo>
                <a:cubicBezTo>
                  <a:pt x="264729" y="252603"/>
                  <a:pt x="268943" y="262270"/>
                  <a:pt x="272346" y="273599"/>
                </a:cubicBezTo>
                <a:cubicBezTo>
                  <a:pt x="274511" y="280752"/>
                  <a:pt x="271495" y="286281"/>
                  <a:pt x="269485" y="288949"/>
                </a:cubicBezTo>
                <a:cubicBezTo>
                  <a:pt x="265347" y="294517"/>
                  <a:pt x="258697" y="297687"/>
                  <a:pt x="251196" y="297687"/>
                </a:cubicBezTo>
                <a:lnTo>
                  <a:pt x="45069" y="297687"/>
                </a:lnTo>
                <a:cubicBezTo>
                  <a:pt x="37606" y="297687"/>
                  <a:pt x="30917" y="294517"/>
                  <a:pt x="26780" y="288949"/>
                </a:cubicBezTo>
                <a:cubicBezTo>
                  <a:pt x="24808" y="286281"/>
                  <a:pt x="21792" y="280752"/>
                  <a:pt x="23919" y="273599"/>
                </a:cubicBezTo>
                <a:cubicBezTo>
                  <a:pt x="27321" y="262270"/>
                  <a:pt x="31497" y="252603"/>
                  <a:pt x="36755" y="244097"/>
                </a:cubicBezTo>
                <a:cubicBezTo>
                  <a:pt x="42594" y="234585"/>
                  <a:pt x="49554" y="226736"/>
                  <a:pt x="58060" y="220201"/>
                </a:cubicBezTo>
                <a:cubicBezTo>
                  <a:pt x="67649" y="212778"/>
                  <a:pt x="79365" y="206978"/>
                  <a:pt x="92821" y="202995"/>
                </a:cubicBezTo>
                <a:cubicBezTo>
                  <a:pt x="108519" y="198355"/>
                  <a:pt x="127156" y="195996"/>
                  <a:pt x="148113" y="195996"/>
                </a:cubicBezTo>
                <a:moveTo>
                  <a:pt x="148113" y="172797"/>
                </a:moveTo>
                <a:cubicBezTo>
                  <a:pt x="50830" y="172797"/>
                  <a:pt x="16108" y="218925"/>
                  <a:pt x="1724" y="266948"/>
                </a:cubicBezTo>
                <a:cubicBezTo>
                  <a:pt x="-6395" y="294014"/>
                  <a:pt x="15180" y="320925"/>
                  <a:pt x="45069" y="320925"/>
                </a:cubicBezTo>
                <a:lnTo>
                  <a:pt x="251196" y="320925"/>
                </a:lnTo>
                <a:cubicBezTo>
                  <a:pt x="281084" y="320925"/>
                  <a:pt x="302660" y="294014"/>
                  <a:pt x="294540" y="266948"/>
                </a:cubicBezTo>
                <a:cubicBezTo>
                  <a:pt x="280118" y="218925"/>
                  <a:pt x="245396" y="172797"/>
                  <a:pt x="148113" y="172797"/>
                </a:cubicBezTo>
                <a:close/>
                <a:close/>
              </a:path>
            </a:pathLst>
          </a:custGeom>
          <a:solidFill>
            <a:srgbClr val="FFFFFF"/>
          </a:solidFill>
        </p:spPr>
      </p:sp>
      <p:sp>
        <p:nvSpPr>
          <p:cNvPr id="15" name="Text 13"/>
          <p:cNvSpPr/>
          <p:nvPr/>
        </p:nvSpPr>
        <p:spPr>
          <a:xfrm>
            <a:off x="236548" y="2392721"/>
            <a:ext cx="309224" cy="334964"/>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6" name="Text 14"/>
          <p:cNvSpPr/>
          <p:nvPr/>
        </p:nvSpPr>
        <p:spPr>
          <a:xfrm>
            <a:off x="6784436" y="5810491"/>
            <a:ext cx="1241964" cy="322957"/>
          </a:xfrm>
          <a:prstGeom prst="rect">
            <a:avLst/>
          </a:prstGeom>
          <a:solidFill>
            <a:srgbClr val="616161"/>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616161"/>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1028700" y="2245360"/>
            <a:ext cx="5755005" cy="639961"/>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军事领域</a:t>
            </a:r>
            <a:endParaRPr lang="en-US" sz="1725" dirty="0"/>
          </a:p>
        </p:txBody>
      </p:sp>
      <p:sp>
        <p:nvSpPr>
          <p:cNvPr id="18" name="Text 16"/>
          <p:cNvSpPr/>
          <p:nvPr/>
        </p:nvSpPr>
        <p:spPr>
          <a:xfrm>
            <a:off x="1028700" y="2921635"/>
            <a:ext cx="5756275" cy="112522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光纤传感技术在军事领域中有广泛的应用，例如光纤陀螺仪、光纤激光雷达、光纤通信、光电子战等。这些技术的出现，使得军事设备的灵敏度和准确度都得到了大幅提升。</a:t>
            </a:r>
            <a:endParaRPr lang="en-US" sz="1350" dirty="0">
              <a:solidFill>
                <a:srgbClr val="808080"/>
              </a:solidFill>
              <a:latin typeface="微软雅黑" pitchFamily="34" charset="0"/>
              <a:ea typeface="微软雅黑" pitchFamily="34" charset="-122"/>
              <a:cs typeface="微软雅黑" pitchFamily="34" charset="-120"/>
            </a:endParaRPr>
          </a:p>
        </p:txBody>
      </p:sp>
      <p:sp>
        <p:nvSpPr>
          <p:cNvPr id="19" name="Shape 17"/>
          <p:cNvSpPr/>
          <p:nvPr/>
        </p:nvSpPr>
        <p:spPr>
          <a:xfrm>
            <a:off x="215265" y="5139055"/>
            <a:ext cx="327025" cy="0"/>
          </a:xfrm>
          <a:custGeom>
            <a:avLst/>
            <a:gdLst/>
            <a:ahLst/>
            <a:cxnLst/>
            <a:rect l="l" t="t" r="r" b="b"/>
            <a:pathLst>
              <a:path w="327025">
                <a:moveTo>
                  <a:pt x="0" y="0"/>
                </a:moveTo>
                <a:lnTo>
                  <a:pt x="327025" y="0"/>
                </a:lnTo>
              </a:path>
            </a:pathLst>
          </a:custGeom>
          <a:noFill/>
          <a:ln w="14288">
            <a:solidFill>
              <a:srgbClr val="FFFFFF"/>
            </a:solidFill>
            <a:prstDash val="solid"/>
            <a:headEnd type="none"/>
            <a:tailEnd type="none"/>
          </a:ln>
        </p:spPr>
      </p:sp>
      <p:sp>
        <p:nvSpPr>
          <p:cNvPr id="20" name="Shape 18"/>
          <p:cNvSpPr/>
          <p:nvPr/>
        </p:nvSpPr>
        <p:spPr>
          <a:xfrm>
            <a:off x="427355" y="5093970"/>
            <a:ext cx="139700" cy="0"/>
          </a:xfrm>
          <a:custGeom>
            <a:avLst/>
            <a:gdLst/>
            <a:ahLst/>
            <a:cxnLst/>
            <a:rect l="l" t="t" r="r" b="b"/>
            <a:pathLst>
              <a:path w="139700">
                <a:moveTo>
                  <a:pt x="0" y="0"/>
                </a:moveTo>
                <a:lnTo>
                  <a:pt x="139700" y="0"/>
                </a:lnTo>
              </a:path>
            </a:pathLst>
          </a:custGeom>
          <a:noFill/>
          <a:ln w="14288">
            <a:solidFill>
              <a:srgbClr val="FFFFFF"/>
            </a:solidFill>
            <a:prstDash val="solid"/>
            <a:headEnd type="none"/>
            <a:tailEnd type="none"/>
          </a:ln>
        </p:spPr>
      </p:sp>
      <p:sp>
        <p:nvSpPr>
          <p:cNvPr id="21" name="Shape 19"/>
          <p:cNvSpPr/>
          <p:nvPr/>
        </p:nvSpPr>
        <p:spPr>
          <a:xfrm>
            <a:off x="427355" y="5181600"/>
            <a:ext cx="139700" cy="0"/>
          </a:xfrm>
          <a:custGeom>
            <a:avLst/>
            <a:gdLst/>
            <a:ahLst/>
            <a:cxnLst/>
            <a:rect l="l" t="t" r="r" b="b"/>
            <a:pathLst>
              <a:path w="139700">
                <a:moveTo>
                  <a:pt x="139700" y="0"/>
                </a:moveTo>
                <a:lnTo>
                  <a:pt x="0" y="0"/>
                </a:lnTo>
              </a:path>
            </a:pathLst>
          </a:custGeom>
          <a:noFill/>
          <a:ln w="14288">
            <a:solidFill>
              <a:srgbClr val="FFFFFF"/>
            </a:solidFill>
            <a:prstDash val="solid"/>
            <a:headEnd type="none"/>
            <a:tailEnd type="none"/>
          </a:ln>
        </p:spPr>
      </p:sp>
      <p:pic>
        <p:nvPicPr>
          <p:cNvPr id="22" name="Image 0" descr="https://cdn.ciniaoppt.com/webroot/upload/ppt/local/20240304/3eac03ae39a182f324a7acbfec5f80e2.png"/>
          <p:cNvPicPr>
            <a:picLocks noChangeAspect="1"/>
          </p:cNvPicPr>
          <p:nvPr/>
        </p:nvPicPr>
        <p:blipFill>
          <a:blip r:embed="rId1"/>
          <a:stretch>
            <a:fillRect/>
          </a:stretch>
        </p:blipFill>
        <p:spPr>
          <a:xfrm>
            <a:off x="8143875" y="-91440"/>
            <a:ext cx="4048125" cy="68675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数据中心和云计算</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981075" y="2238375"/>
            <a:ext cx="4463415" cy="3139440"/>
          </a:xfrm>
          <a:custGeom>
            <a:avLst/>
            <a:gdLst/>
            <a:ahLst/>
            <a:cxnLst/>
            <a:rect l="l" t="t" r="r" b="b"/>
            <a:pathLst>
              <a:path w="4463415" h="3139440">
                <a:moveTo>
                  <a:pt x="65868" y="0"/>
                </a:moveTo>
                <a:lnTo>
                  <a:pt x="4397547" y="0"/>
                </a:lnTo>
                <a:quadBezTo>
                  <a:pt x="4463415" y="0"/>
                  <a:pt x="4463415" y="65868"/>
                </a:quadBezTo>
                <a:lnTo>
                  <a:pt x="4463415" y="3073572"/>
                </a:lnTo>
                <a:quadBezTo>
                  <a:pt x="4463415" y="3139440"/>
                  <a:pt x="4397547" y="3139440"/>
                </a:quadBezTo>
                <a:lnTo>
                  <a:pt x="65868" y="3139440"/>
                </a:lnTo>
                <a:quadBezTo>
                  <a:pt x="0" y="3139440"/>
                  <a:pt x="0" y="3073572"/>
                </a:quadBezTo>
                <a:lnTo>
                  <a:pt x="0" y="65868"/>
                </a:lnTo>
                <a:quadBezTo>
                  <a:pt x="0" y="0"/>
                  <a:pt x="65868" y="0"/>
                </a:quadBezTo>
                <a:close/>
              </a:path>
            </a:pathLst>
          </a:custGeom>
          <a:solidFill>
            <a:srgbClr val="000000">
              <a:alpha val="0"/>
            </a:srgbClr>
          </a:solidFill>
          <a:ln w="9525">
            <a:solidFill>
              <a:srgbClr val="1C1C1C"/>
            </a:solidFill>
            <a:prstDash val="dash"/>
          </a:ln>
        </p:spPr>
      </p:sp>
      <p:sp>
        <p:nvSpPr>
          <p:cNvPr id="14" name="Text 12"/>
          <p:cNvSpPr/>
          <p:nvPr/>
        </p:nvSpPr>
        <p:spPr>
          <a:xfrm>
            <a:off x="981075" y="2238375"/>
            <a:ext cx="4463415" cy="31394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705835" y="2000727"/>
            <a:ext cx="489600" cy="489600"/>
          </a:xfrm>
          <a:custGeom>
            <a:avLst/>
            <a:gdLst/>
            <a:ahLst/>
            <a:cxnLst/>
            <a:rect l="l" t="t" r="r" b="b"/>
            <a:pathLst>
              <a:path w="489600" h="489600">
                <a:moveTo>
                  <a:pt x="234540" y="0"/>
                </a:moveTo>
                <a:cubicBezTo>
                  <a:pt x="363986" y="0"/>
                  <a:pt x="469080" y="105094"/>
                  <a:pt x="469080" y="234540"/>
                </a:cubicBezTo>
                <a:cubicBezTo>
                  <a:pt x="469080" y="363986"/>
                  <a:pt x="363986" y="469080"/>
                  <a:pt x="234540" y="469080"/>
                </a:cubicBezTo>
                <a:cubicBezTo>
                  <a:pt x="105094" y="469080"/>
                  <a:pt x="0" y="363986"/>
                  <a:pt x="0" y="234540"/>
                </a:cubicBezTo>
                <a:cubicBezTo>
                  <a:pt x="0" y="105094"/>
                  <a:pt x="105094" y="0"/>
                  <a:pt x="234540" y="0"/>
                </a:cubicBezTo>
                <a:close/>
              </a:path>
            </a:pathLst>
          </a:custGeom>
          <a:solidFill>
            <a:srgbClr val="616161"/>
          </a:solidFill>
        </p:spPr>
      </p:sp>
      <p:sp>
        <p:nvSpPr>
          <p:cNvPr id="16" name="Text 14"/>
          <p:cNvSpPr/>
          <p:nvPr/>
        </p:nvSpPr>
        <p:spPr>
          <a:xfrm>
            <a:off x="705835" y="2000727"/>
            <a:ext cx="489600" cy="4896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1193800" y="2000885"/>
            <a:ext cx="4581525" cy="488900"/>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18" name="Text 16"/>
          <p:cNvSpPr/>
          <p:nvPr/>
        </p:nvSpPr>
        <p:spPr>
          <a:xfrm>
            <a:off x="702310" y="2052142"/>
            <a:ext cx="495300" cy="358080"/>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350" dirty="0">
                <a:solidFill>
                  <a:srgbClr val="FFFFFF"/>
                </a:solidFill>
                <a:latin typeface="OPPOSans H" pitchFamily="34" charset="0"/>
                <a:ea typeface="OPPOSans H" pitchFamily="34" charset="-122"/>
                <a:cs typeface="OPPOSans H" pitchFamily="34" charset="-120"/>
              </a:rPr>
              <a:t>01</a:t>
            </a:r>
            <a:endParaRPr lang="en-US" sz="1350" dirty="0"/>
          </a:p>
        </p:txBody>
      </p:sp>
      <p:sp>
        <p:nvSpPr>
          <p:cNvPr id="19" name="Shape 17"/>
          <p:cNvSpPr/>
          <p:nvPr/>
        </p:nvSpPr>
        <p:spPr>
          <a:xfrm>
            <a:off x="6812915" y="2238375"/>
            <a:ext cx="4463415" cy="3139440"/>
          </a:xfrm>
          <a:custGeom>
            <a:avLst/>
            <a:gdLst/>
            <a:ahLst/>
            <a:cxnLst/>
            <a:rect l="l" t="t" r="r" b="b"/>
            <a:pathLst>
              <a:path w="4463415" h="3139440">
                <a:moveTo>
                  <a:pt x="65868" y="0"/>
                </a:moveTo>
                <a:lnTo>
                  <a:pt x="4397547" y="0"/>
                </a:lnTo>
                <a:quadBezTo>
                  <a:pt x="4463415" y="0"/>
                  <a:pt x="4463415" y="65868"/>
                </a:quadBezTo>
                <a:lnTo>
                  <a:pt x="4463415" y="3073572"/>
                </a:lnTo>
                <a:quadBezTo>
                  <a:pt x="4463415" y="3139440"/>
                  <a:pt x="4397547" y="3139440"/>
                </a:quadBezTo>
                <a:lnTo>
                  <a:pt x="65868" y="3139440"/>
                </a:lnTo>
                <a:quadBezTo>
                  <a:pt x="0" y="3139440"/>
                  <a:pt x="0" y="3073572"/>
                </a:quadBezTo>
                <a:lnTo>
                  <a:pt x="0" y="65868"/>
                </a:lnTo>
                <a:quadBezTo>
                  <a:pt x="0" y="0"/>
                  <a:pt x="65868" y="0"/>
                </a:quadBezTo>
                <a:close/>
              </a:path>
            </a:pathLst>
          </a:custGeom>
          <a:solidFill>
            <a:srgbClr val="000000">
              <a:alpha val="0"/>
            </a:srgbClr>
          </a:solidFill>
          <a:ln w="9525">
            <a:solidFill>
              <a:srgbClr val="1C1C1C"/>
            </a:solidFill>
            <a:prstDash val="dash"/>
          </a:ln>
        </p:spPr>
      </p:sp>
      <p:sp>
        <p:nvSpPr>
          <p:cNvPr id="20" name="Text 18"/>
          <p:cNvSpPr/>
          <p:nvPr/>
        </p:nvSpPr>
        <p:spPr>
          <a:xfrm>
            <a:off x="6812915" y="2238375"/>
            <a:ext cx="4463415" cy="31394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6537481" y="2000727"/>
            <a:ext cx="489600" cy="489600"/>
          </a:xfrm>
          <a:custGeom>
            <a:avLst/>
            <a:gdLst/>
            <a:ahLst/>
            <a:cxnLst/>
            <a:rect l="l" t="t" r="r" b="b"/>
            <a:pathLst>
              <a:path w="489600" h="489600">
                <a:moveTo>
                  <a:pt x="234540" y="0"/>
                </a:moveTo>
                <a:cubicBezTo>
                  <a:pt x="363986" y="0"/>
                  <a:pt x="469080" y="105094"/>
                  <a:pt x="469080" y="234540"/>
                </a:cubicBezTo>
                <a:cubicBezTo>
                  <a:pt x="469080" y="363986"/>
                  <a:pt x="363986" y="469080"/>
                  <a:pt x="234540" y="469080"/>
                </a:cubicBezTo>
                <a:cubicBezTo>
                  <a:pt x="105094" y="469080"/>
                  <a:pt x="0" y="363986"/>
                  <a:pt x="0" y="234540"/>
                </a:cubicBezTo>
                <a:cubicBezTo>
                  <a:pt x="0" y="105094"/>
                  <a:pt x="105094" y="0"/>
                  <a:pt x="234540" y="0"/>
                </a:cubicBezTo>
                <a:close/>
              </a:path>
            </a:pathLst>
          </a:custGeom>
          <a:solidFill>
            <a:srgbClr val="616161"/>
          </a:solidFill>
        </p:spPr>
      </p:sp>
      <p:sp>
        <p:nvSpPr>
          <p:cNvPr id="22" name="Text 20"/>
          <p:cNvSpPr/>
          <p:nvPr/>
        </p:nvSpPr>
        <p:spPr>
          <a:xfrm>
            <a:off x="6537481" y="2000727"/>
            <a:ext cx="489600" cy="4896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3" name="Text 21"/>
          <p:cNvSpPr/>
          <p:nvPr/>
        </p:nvSpPr>
        <p:spPr>
          <a:xfrm>
            <a:off x="7025005" y="2000885"/>
            <a:ext cx="4581525" cy="488900"/>
          </a:xfrm>
          <a:prstGeom prst="rect">
            <a:avLst/>
          </a:prstGeom>
          <a:solidFill>
            <a:srgbClr val="1C1C1C"/>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1C1C1C"/>
                </a:solidFill>
                <a:latin typeface="Arial" panose="02080604020202020204" pitchFamily="34" charset="0"/>
                <a:ea typeface="Arial" pitchFamily="34" charset="-122"/>
                <a:cs typeface="Arial" pitchFamily="34" charset="-120"/>
              </a:rPr>
              <a:t> </a:t>
            </a:r>
            <a:endParaRPr lang="en-US" sz="1800" dirty="0"/>
          </a:p>
        </p:txBody>
      </p:sp>
      <p:sp>
        <p:nvSpPr>
          <p:cNvPr id="24" name="Text 22"/>
          <p:cNvSpPr/>
          <p:nvPr/>
        </p:nvSpPr>
        <p:spPr>
          <a:xfrm>
            <a:off x="6533955" y="2052141"/>
            <a:ext cx="495300" cy="358080"/>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350" dirty="0">
                <a:solidFill>
                  <a:srgbClr val="FFFFFF"/>
                </a:solidFill>
                <a:latin typeface="OPPOSans H" pitchFamily="34" charset="0"/>
                <a:ea typeface="OPPOSans H" pitchFamily="34" charset="-122"/>
                <a:cs typeface="OPPOSans H" pitchFamily="34" charset="-120"/>
              </a:rPr>
              <a:t>02</a:t>
            </a:r>
            <a:endParaRPr lang="en-US" sz="1350" dirty="0"/>
          </a:p>
        </p:txBody>
      </p:sp>
      <p:sp>
        <p:nvSpPr>
          <p:cNvPr id="25" name="Shape 23"/>
          <p:cNvSpPr/>
          <p:nvPr/>
        </p:nvSpPr>
        <p:spPr>
          <a:xfrm>
            <a:off x="5362631" y="5234227"/>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616161"/>
          </a:solidFill>
        </p:spPr>
      </p:sp>
      <p:sp>
        <p:nvSpPr>
          <p:cNvPr id="26" name="Text 24"/>
          <p:cNvSpPr/>
          <p:nvPr/>
        </p:nvSpPr>
        <p:spPr>
          <a:xfrm>
            <a:off x="5362631" y="5234227"/>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a:off x="5362631" y="4839512"/>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1C1C1C"/>
          </a:solidFill>
        </p:spPr>
      </p:sp>
      <p:sp>
        <p:nvSpPr>
          <p:cNvPr id="28" name="Text 26"/>
          <p:cNvSpPr/>
          <p:nvPr/>
        </p:nvSpPr>
        <p:spPr>
          <a:xfrm>
            <a:off x="5362631" y="4839512"/>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a:off x="5362631" y="5038647"/>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C9C9C9"/>
          </a:solidFill>
        </p:spPr>
      </p:sp>
      <p:sp>
        <p:nvSpPr>
          <p:cNvPr id="30" name="Text 28"/>
          <p:cNvSpPr/>
          <p:nvPr/>
        </p:nvSpPr>
        <p:spPr>
          <a:xfrm>
            <a:off x="5362631" y="5038647"/>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a:off x="11177270" y="5234227"/>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616161"/>
          </a:solidFill>
        </p:spPr>
      </p:sp>
      <p:sp>
        <p:nvSpPr>
          <p:cNvPr id="32" name="Text 30"/>
          <p:cNvSpPr/>
          <p:nvPr/>
        </p:nvSpPr>
        <p:spPr>
          <a:xfrm>
            <a:off x="11177270" y="5234227"/>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3" name="Shape 31"/>
          <p:cNvSpPr/>
          <p:nvPr/>
        </p:nvSpPr>
        <p:spPr>
          <a:xfrm>
            <a:off x="11177270" y="4839512"/>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1C1C1C"/>
          </a:solidFill>
        </p:spPr>
      </p:sp>
      <p:sp>
        <p:nvSpPr>
          <p:cNvPr id="34" name="Text 32"/>
          <p:cNvSpPr/>
          <p:nvPr/>
        </p:nvSpPr>
        <p:spPr>
          <a:xfrm>
            <a:off x="11177270" y="4839512"/>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5" name="Shape 33"/>
          <p:cNvSpPr/>
          <p:nvPr/>
        </p:nvSpPr>
        <p:spPr>
          <a:xfrm>
            <a:off x="11177270" y="5038647"/>
            <a:ext cx="198120" cy="198120"/>
          </a:xfrm>
          <a:custGeom>
            <a:avLst/>
            <a:gdLst/>
            <a:ahLst/>
            <a:cxnLst/>
            <a:rect l="l" t="t" r="r" b="b"/>
            <a:pathLst>
              <a:path w="198120" h="198120">
                <a:moveTo>
                  <a:pt x="94908" y="0"/>
                </a:moveTo>
                <a:cubicBezTo>
                  <a:pt x="147290" y="0"/>
                  <a:pt x="189817" y="42527"/>
                  <a:pt x="189817" y="94908"/>
                </a:cubicBezTo>
                <a:cubicBezTo>
                  <a:pt x="189817" y="147290"/>
                  <a:pt x="147290" y="189817"/>
                  <a:pt x="94908" y="189817"/>
                </a:cubicBezTo>
                <a:cubicBezTo>
                  <a:pt x="42527" y="189817"/>
                  <a:pt x="0" y="147290"/>
                  <a:pt x="0" y="94908"/>
                </a:cubicBezTo>
                <a:cubicBezTo>
                  <a:pt x="0" y="42527"/>
                  <a:pt x="42527" y="0"/>
                  <a:pt x="94908" y="0"/>
                </a:cubicBezTo>
                <a:close/>
              </a:path>
            </a:pathLst>
          </a:custGeom>
          <a:solidFill>
            <a:srgbClr val="C9C9C9"/>
          </a:solidFill>
        </p:spPr>
      </p:sp>
      <p:sp>
        <p:nvSpPr>
          <p:cNvPr id="36" name="Text 34"/>
          <p:cNvSpPr/>
          <p:nvPr/>
        </p:nvSpPr>
        <p:spPr>
          <a:xfrm>
            <a:off x="11177270" y="5038647"/>
            <a:ext cx="198120" cy="19812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7" name="Text 35"/>
          <p:cNvSpPr/>
          <p:nvPr/>
        </p:nvSpPr>
        <p:spPr>
          <a:xfrm>
            <a:off x="1310005" y="2000885"/>
            <a:ext cx="4375150" cy="45392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FFFFFF"/>
                </a:solidFill>
                <a:latin typeface="微软雅黑" pitchFamily="34" charset="0"/>
                <a:ea typeface="微软雅黑" pitchFamily="34" charset="-122"/>
                <a:cs typeface="微软雅黑" pitchFamily="34" charset="-120"/>
              </a:rPr>
              <a:t>数据中心和云计算</a:t>
            </a:r>
            <a:endParaRPr lang="en-US" sz="1725" dirty="0"/>
          </a:p>
        </p:txBody>
      </p:sp>
      <p:sp>
        <p:nvSpPr>
          <p:cNvPr id="38" name="Text 36"/>
          <p:cNvSpPr/>
          <p:nvPr/>
        </p:nvSpPr>
        <p:spPr>
          <a:xfrm>
            <a:off x="1197610" y="2644140"/>
            <a:ext cx="3786505" cy="241998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光纤通信系统被广泛应用于数据中心和云计算等领域，为数据传输提供高速、低延迟、稳定的传输服务，满足不断增长的移动通信数据流量需求。</a:t>
            </a:r>
            <a:r>
              <a:rPr lang="x-none" altLang="en-US" sz="1350" dirty="0">
                <a:solidFill>
                  <a:srgbClr val="808080"/>
                </a:solidFill>
                <a:latin typeface="微软雅黑" pitchFamily="34" charset="0"/>
                <a:ea typeface="微软雅黑" pitchFamily="34" charset="-122"/>
                <a:cs typeface="微软雅黑" pitchFamily="34" charset="-120"/>
              </a:rPr>
              <a:t>为数据中心提供高宽带支持、低延迟和可靠性以及高密度连接。</a:t>
            </a:r>
            <a:endParaRPr lang="x-none" alt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x-none" altLang="en-US" sz="1350" dirty="0">
                <a:solidFill>
                  <a:srgbClr val="808080"/>
                </a:solidFill>
                <a:latin typeface="微软雅黑" pitchFamily="34" charset="0"/>
                <a:ea typeface="微软雅黑" pitchFamily="34" charset="-122"/>
                <a:cs typeface="微软雅黑" pitchFamily="34" charset="-120"/>
              </a:rPr>
              <a:t>光纤通信也用于数据中心之间的互联，为多个地理位置分布的数据中心提供信息通信。</a:t>
            </a:r>
            <a:endParaRPr lang="x-none" altLang="en-US" sz="1350" dirty="0">
              <a:solidFill>
                <a:srgbClr val="808080"/>
              </a:solidFill>
              <a:latin typeface="微软雅黑" pitchFamily="34" charset="0"/>
              <a:ea typeface="微软雅黑" pitchFamily="34" charset="-122"/>
              <a:cs typeface="微软雅黑" pitchFamily="34" charset="-120"/>
            </a:endParaRPr>
          </a:p>
        </p:txBody>
      </p:sp>
      <p:sp>
        <p:nvSpPr>
          <p:cNvPr id="39" name="Text 37"/>
          <p:cNvSpPr/>
          <p:nvPr/>
        </p:nvSpPr>
        <p:spPr>
          <a:xfrm>
            <a:off x="7176135" y="2000885"/>
            <a:ext cx="4375150" cy="45392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FFFFFF"/>
                </a:solidFill>
                <a:latin typeface="微软雅黑" pitchFamily="34" charset="0"/>
                <a:ea typeface="微软雅黑" pitchFamily="34" charset="-122"/>
                <a:cs typeface="微软雅黑" pitchFamily="34" charset="-120"/>
              </a:rPr>
              <a:t>光纤在云计算中的应用</a:t>
            </a:r>
            <a:endParaRPr lang="en-US" sz="1725" dirty="0"/>
          </a:p>
        </p:txBody>
      </p:sp>
      <p:sp>
        <p:nvSpPr>
          <p:cNvPr id="40" name="Text 38"/>
          <p:cNvSpPr/>
          <p:nvPr/>
        </p:nvSpPr>
        <p:spPr>
          <a:xfrm>
            <a:off x="7063740" y="2644140"/>
            <a:ext cx="3786505" cy="237172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x-none" altLang="en-US" sz="1350" dirty="0"/>
              <a:t>在云计算架构中，光纤通信被广泛应用于服务集群、存储阵列和交换机之间的连接。由于云计算需要处理海量的数据存储和计算任务，光纤通信提供了一个高速、低延迟的传输网络，能够支持虚拟化和高性能计算任务的快速执行；光纤通信连接了存储设备、数据库服务器和计算服务器，保证了数据存取的高效性。</a:t>
            </a:r>
            <a:endParaRPr lang="x-none" alt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视频监控和广播电视</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Text 11"/>
          <p:cNvSpPr/>
          <p:nvPr/>
        </p:nvSpPr>
        <p:spPr>
          <a:xfrm>
            <a:off x="660400" y="1844040"/>
            <a:ext cx="7059914" cy="190500"/>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 name="Text 12"/>
          <p:cNvSpPr/>
          <p:nvPr/>
        </p:nvSpPr>
        <p:spPr>
          <a:xfrm>
            <a:off x="660400" y="5217160"/>
            <a:ext cx="7059914" cy="190500"/>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4049387" y="5516880"/>
            <a:ext cx="281940" cy="281940"/>
          </a:xfrm>
          <a:custGeom>
            <a:avLst/>
            <a:gdLst/>
            <a:ahLst/>
            <a:cxnLst/>
            <a:rect l="l" t="t" r="r" b="b"/>
            <a:pathLst>
              <a:path w="281940" h="281940">
                <a:moveTo>
                  <a:pt x="54468" y="0"/>
                </a:moveTo>
                <a:lnTo>
                  <a:pt x="215656" y="0"/>
                </a:lnTo>
                <a:cubicBezTo>
                  <a:pt x="215656" y="30082"/>
                  <a:pt x="240042" y="54468"/>
                  <a:pt x="270124" y="54468"/>
                </a:cubicBezTo>
                <a:lnTo>
                  <a:pt x="270124" y="215656"/>
                </a:lnTo>
                <a:cubicBezTo>
                  <a:pt x="240042" y="215656"/>
                  <a:pt x="215656" y="240042"/>
                  <a:pt x="215656" y="270124"/>
                </a:cubicBezTo>
                <a:lnTo>
                  <a:pt x="54468" y="270124"/>
                </a:lnTo>
                <a:cubicBezTo>
                  <a:pt x="54468" y="240042"/>
                  <a:pt x="30082" y="215656"/>
                  <a:pt x="0" y="215656"/>
                </a:cubicBezTo>
                <a:lnTo>
                  <a:pt x="0" y="54468"/>
                </a:lnTo>
                <a:cubicBezTo>
                  <a:pt x="30082" y="54468"/>
                  <a:pt x="54468" y="30082"/>
                  <a:pt x="54468" y="0"/>
                </a:cubicBezTo>
                <a:moveTo>
                  <a:pt x="94413" y="60447"/>
                </a:moveTo>
                <a:cubicBezTo>
                  <a:pt x="94413" y="79206"/>
                  <a:pt x="79206" y="94413"/>
                  <a:pt x="60447" y="94413"/>
                </a:cubicBezTo>
                <a:lnTo>
                  <a:pt x="60447" y="175710"/>
                </a:lnTo>
                <a:cubicBezTo>
                  <a:pt x="79206" y="175710"/>
                  <a:pt x="94413" y="190917"/>
                  <a:pt x="94413" y="209676"/>
                </a:cubicBezTo>
                <a:lnTo>
                  <a:pt x="175710" y="209676"/>
                </a:lnTo>
                <a:cubicBezTo>
                  <a:pt x="175710" y="190917"/>
                  <a:pt x="190917" y="175710"/>
                  <a:pt x="209676" y="175710"/>
                </a:cubicBezTo>
                <a:lnTo>
                  <a:pt x="209676" y="94413"/>
                </a:lnTo>
                <a:cubicBezTo>
                  <a:pt x="190917" y="94413"/>
                  <a:pt x="175710" y="79206"/>
                  <a:pt x="175710" y="60447"/>
                </a:cubicBezTo>
                <a:lnTo>
                  <a:pt x="94413" y="60447"/>
                </a:lnTo>
                <a:close/>
                <a:close/>
              </a:path>
            </a:pathLst>
          </a:custGeom>
          <a:solidFill>
            <a:srgbClr val="4472C4"/>
          </a:solidFill>
        </p:spPr>
      </p:sp>
      <p:sp>
        <p:nvSpPr>
          <p:cNvPr id="16" name="Text 14"/>
          <p:cNvSpPr/>
          <p:nvPr/>
        </p:nvSpPr>
        <p:spPr>
          <a:xfrm>
            <a:off x="4049387" y="5516880"/>
            <a:ext cx="281940" cy="2819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8148577" y="127322"/>
            <a:ext cx="3171464" cy="6493371"/>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8" name="Text 16"/>
          <p:cNvSpPr/>
          <p:nvPr/>
        </p:nvSpPr>
        <p:spPr>
          <a:xfrm>
            <a:off x="829310" y="2217420"/>
            <a:ext cx="6997700" cy="639961"/>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视频监控和广播电视</a:t>
            </a:r>
            <a:endParaRPr lang="en-US" sz="1725" dirty="0"/>
          </a:p>
        </p:txBody>
      </p:sp>
      <p:sp>
        <p:nvSpPr>
          <p:cNvPr id="19" name="Text 17"/>
          <p:cNvSpPr/>
          <p:nvPr/>
        </p:nvSpPr>
        <p:spPr>
          <a:xfrm>
            <a:off x="829310" y="2893695"/>
            <a:ext cx="6781165" cy="246761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a:t>
            </a:r>
            <a:r>
              <a:rPr lang="x-none" altLang="en-US" sz="1350" dirty="0">
                <a:solidFill>
                  <a:srgbClr val="808080"/>
                </a:solidFill>
                <a:latin typeface="微软雅黑" pitchFamily="34" charset="0"/>
                <a:ea typeface="微软雅黑" pitchFamily="34" charset="-122"/>
                <a:cs typeface="微软雅黑" pitchFamily="34" charset="-120"/>
              </a:rPr>
              <a:t>通信提供了高清视频传输，支持大宽带、长距离和高清实时传输，适用于高清视频监控摄像头的数据传输需求；光纤的低延迟性保证了监控视频的实时性，确保监控画面不卡顿、无延迟，尤其在安防关键场所，如机场、车站等。</a:t>
            </a:r>
            <a:endParaRPr lang="x-none" alt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x-none" altLang="en-US" sz="1350" dirty="0">
                <a:solidFill>
                  <a:srgbClr val="808080"/>
                </a:solidFill>
                <a:latin typeface="微软雅黑" pitchFamily="34" charset="0"/>
                <a:ea typeface="微软雅黑" pitchFamily="34" charset="-122"/>
                <a:cs typeface="微软雅黑" pitchFamily="34" charset="-120"/>
              </a:rPr>
              <a:t>光纤通信的抗干扰能力可以有效避免电气噪声对信号的干扰；光纤通信不易被窃听，可以保证监控数据的安全性，防止信息被非法获取；光纤可以实现多路信号传输，将多路视频信号聚合在一根光纤上。</a:t>
            </a:r>
            <a:endParaRPr lang="x-none" alt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x-none" altLang="en-US" sz="1350" dirty="0">
                <a:solidFill>
                  <a:srgbClr val="808080"/>
                </a:solidFill>
                <a:latin typeface="微软雅黑" pitchFamily="34" charset="0"/>
                <a:ea typeface="微软雅黑" pitchFamily="34" charset="-122"/>
                <a:cs typeface="微软雅黑" pitchFamily="34" charset="-120"/>
              </a:rPr>
              <a:t>光纤通信广泛用于高清视频传输、卫星和远程直播、广播电视网络基础设施等。</a:t>
            </a:r>
            <a:endParaRPr lang="x-none" altLang="en-US" sz="1350" dirty="0">
              <a:solidFill>
                <a:srgbClr val="808080"/>
              </a:solidFill>
              <a:latin typeface="微软雅黑" pitchFamily="34" charset="0"/>
              <a:ea typeface="微软雅黑" pitchFamily="34" charset="-122"/>
              <a:cs typeface="微软雅黑" pitchFamily="34" charset="-120"/>
            </a:endParaRPr>
          </a:p>
        </p:txBody>
      </p:sp>
      <p:pic>
        <p:nvPicPr>
          <p:cNvPr id="20" name="Image 0" descr="https://cdn.ciniaoppt.com/webroot/upload/ppt/local/20240304/d6b3a3d425978dd0247c1f9f51860502.png"/>
          <p:cNvPicPr>
            <a:picLocks noChangeAspect="1"/>
          </p:cNvPicPr>
          <p:nvPr/>
        </p:nvPicPr>
        <p:blipFill>
          <a:blip r:embed="rId1"/>
          <a:stretch>
            <a:fillRect/>
          </a:stretch>
        </p:blipFill>
        <p:spPr>
          <a:xfrm>
            <a:off x="8377514" y="0"/>
            <a:ext cx="3141386"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光纤通信的发展前景</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05</a:t>
            </a:r>
            <a:endParaRPr lang="en-US" sz="9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G/6G 技术推动</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pic>
        <p:nvPicPr>
          <p:cNvPr id="13" name="Image 0" descr="https://cdn.ciniaoppt.com/webroot/upload/ppt/thumb/20240307/850b5e26c44d33ccae82a6967c959a8b.png"/>
          <p:cNvPicPr>
            <a:picLocks noChangeAspect="1"/>
          </p:cNvPicPr>
          <p:nvPr/>
        </p:nvPicPr>
        <p:blipFill>
          <a:blip r:embed="rId1"/>
          <a:stretch>
            <a:fillRect/>
          </a:stretch>
        </p:blipFill>
        <p:spPr>
          <a:xfrm>
            <a:off x="7378900" y="3694812"/>
            <a:ext cx="4140000" cy="1980000"/>
          </a:xfrm>
          <a:prstGeom prst="rect">
            <a:avLst/>
          </a:prstGeom>
        </p:spPr>
      </p:pic>
      <p:sp>
        <p:nvSpPr>
          <p:cNvPr id="14" name="Text 11"/>
          <p:cNvSpPr/>
          <p:nvPr/>
        </p:nvSpPr>
        <p:spPr>
          <a:xfrm>
            <a:off x="804545" y="1580515"/>
            <a:ext cx="5919470" cy="467916"/>
          </a:xfrm>
          <a:prstGeom prst="rect">
            <a:avLst/>
          </a:prstGeom>
          <a:solidFill>
            <a:srgbClr val="F2F2F2"/>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2F2F2"/>
                </a:solidFill>
                <a:latin typeface="Arial" panose="02080604020202020204" pitchFamily="34" charset="0"/>
                <a:ea typeface="Arial" pitchFamily="34" charset="-122"/>
                <a:cs typeface="Arial" pitchFamily="34" charset="-120"/>
              </a:rPr>
              <a:t> </a:t>
            </a:r>
            <a:endParaRPr lang="en-US" sz="1800" dirty="0"/>
          </a:p>
        </p:txBody>
      </p:sp>
      <p:sp>
        <p:nvSpPr>
          <p:cNvPr id="15" name="Text 12"/>
          <p:cNvSpPr/>
          <p:nvPr/>
        </p:nvSpPr>
        <p:spPr>
          <a:xfrm>
            <a:off x="660401" y="1580211"/>
            <a:ext cx="144000" cy="467916"/>
          </a:xfrm>
          <a:prstGeom prst="rect">
            <a:avLst/>
          </a:prstGeom>
          <a:solidFill>
            <a:srgbClr val="C9C9C9"/>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C9C9C9"/>
                </a:solidFill>
                <a:latin typeface="Arial" panose="02080604020202020204" pitchFamily="34" charset="0"/>
                <a:ea typeface="Arial" pitchFamily="34" charset="-122"/>
                <a:cs typeface="Arial" pitchFamily="34" charset="-120"/>
              </a:rPr>
              <a:t> </a:t>
            </a:r>
            <a:endParaRPr lang="en-US" sz="1800" dirty="0"/>
          </a:p>
        </p:txBody>
      </p:sp>
      <p:sp>
        <p:nvSpPr>
          <p:cNvPr id="16" name="Text 13"/>
          <p:cNvSpPr/>
          <p:nvPr/>
        </p:nvSpPr>
        <p:spPr>
          <a:xfrm>
            <a:off x="804545" y="3002280"/>
            <a:ext cx="5919470" cy="467916"/>
          </a:xfrm>
          <a:prstGeom prst="rect">
            <a:avLst/>
          </a:prstGeom>
          <a:solidFill>
            <a:srgbClr val="F2F2F2"/>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2F2F2"/>
                </a:solidFill>
                <a:latin typeface="Arial" panose="02080604020202020204" pitchFamily="34" charset="0"/>
                <a:ea typeface="Arial" pitchFamily="34" charset="-122"/>
                <a:cs typeface="Arial" pitchFamily="34" charset="-120"/>
              </a:rPr>
              <a:t> </a:t>
            </a:r>
            <a:endParaRPr lang="en-US" sz="1800" dirty="0"/>
          </a:p>
        </p:txBody>
      </p:sp>
      <p:sp>
        <p:nvSpPr>
          <p:cNvPr id="17" name="Text 14"/>
          <p:cNvSpPr/>
          <p:nvPr/>
        </p:nvSpPr>
        <p:spPr>
          <a:xfrm>
            <a:off x="660401" y="3002487"/>
            <a:ext cx="144000" cy="467916"/>
          </a:xfrm>
          <a:prstGeom prst="rect">
            <a:avLst/>
          </a:prstGeom>
          <a:solidFill>
            <a:srgbClr val="616161"/>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616161"/>
                </a:solidFill>
                <a:latin typeface="Arial" panose="02080604020202020204" pitchFamily="34" charset="0"/>
                <a:ea typeface="Arial" pitchFamily="34" charset="-122"/>
                <a:cs typeface="Arial" pitchFamily="34" charset="-120"/>
              </a:rPr>
              <a:t> </a:t>
            </a:r>
            <a:endParaRPr lang="en-US" sz="1800" dirty="0"/>
          </a:p>
        </p:txBody>
      </p:sp>
      <p:sp>
        <p:nvSpPr>
          <p:cNvPr id="18" name="Text 15"/>
          <p:cNvSpPr/>
          <p:nvPr/>
        </p:nvSpPr>
        <p:spPr>
          <a:xfrm>
            <a:off x="804545" y="4424045"/>
            <a:ext cx="5919470" cy="467916"/>
          </a:xfrm>
          <a:prstGeom prst="rect">
            <a:avLst/>
          </a:prstGeom>
          <a:solidFill>
            <a:srgbClr val="F2F2F2"/>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2F2F2"/>
                </a:solidFill>
                <a:latin typeface="Arial" panose="02080604020202020204" pitchFamily="34" charset="0"/>
                <a:ea typeface="Arial" pitchFamily="34" charset="-122"/>
                <a:cs typeface="Arial" pitchFamily="34" charset="-120"/>
              </a:rPr>
              <a:t> </a:t>
            </a:r>
            <a:endParaRPr lang="en-US" sz="1800" dirty="0"/>
          </a:p>
        </p:txBody>
      </p:sp>
      <p:sp>
        <p:nvSpPr>
          <p:cNvPr id="19" name="Text 16"/>
          <p:cNvSpPr/>
          <p:nvPr/>
        </p:nvSpPr>
        <p:spPr>
          <a:xfrm>
            <a:off x="660401" y="4424190"/>
            <a:ext cx="144000" cy="467916"/>
          </a:xfrm>
          <a:prstGeom prst="rect">
            <a:avLst/>
          </a:prstGeom>
          <a:solidFill>
            <a:srgbClr val="C9C9C9"/>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C9C9C9"/>
                </a:solidFill>
                <a:latin typeface="Arial" panose="02080604020202020204" pitchFamily="34" charset="0"/>
                <a:ea typeface="Arial" pitchFamily="34" charset="-122"/>
                <a:cs typeface="Arial" pitchFamily="34" charset="-120"/>
              </a:rPr>
              <a:t> </a:t>
            </a:r>
            <a:endParaRPr lang="en-US" sz="1800" dirty="0"/>
          </a:p>
        </p:txBody>
      </p:sp>
      <p:sp>
        <p:nvSpPr>
          <p:cNvPr id="20" name="Text 17"/>
          <p:cNvSpPr/>
          <p:nvPr/>
        </p:nvSpPr>
        <p:spPr>
          <a:xfrm>
            <a:off x="10798900" y="2849587"/>
            <a:ext cx="720000" cy="719882"/>
          </a:xfrm>
          <a:prstGeom prst="rect">
            <a:avLst/>
          </a:prstGeom>
          <a:solidFill>
            <a:srgbClr val="616161"/>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616161"/>
                </a:solidFill>
                <a:latin typeface="Arial" panose="02080604020202020204" pitchFamily="34" charset="0"/>
                <a:ea typeface="Arial" pitchFamily="34" charset="-122"/>
                <a:cs typeface="Arial" pitchFamily="34" charset="-120"/>
              </a:rPr>
              <a:t> </a:t>
            </a:r>
            <a:endParaRPr lang="en-US" sz="1800" dirty="0"/>
          </a:p>
        </p:txBody>
      </p:sp>
      <p:sp>
        <p:nvSpPr>
          <p:cNvPr id="21" name="Text 18"/>
          <p:cNvSpPr/>
          <p:nvPr/>
        </p:nvSpPr>
        <p:spPr>
          <a:xfrm>
            <a:off x="6546600" y="4954812"/>
            <a:ext cx="720000" cy="719882"/>
          </a:xfrm>
          <a:prstGeom prst="rect">
            <a:avLst/>
          </a:prstGeom>
          <a:solidFill>
            <a:srgbClr val="C9C9C9"/>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C9C9C9"/>
                </a:solidFill>
                <a:latin typeface="Arial" panose="02080604020202020204" pitchFamily="34" charset="0"/>
                <a:ea typeface="Arial" pitchFamily="34" charset="-122"/>
                <a:cs typeface="Arial" pitchFamily="34" charset="-120"/>
              </a:rPr>
              <a:t> </a:t>
            </a:r>
            <a:endParaRPr lang="en-US" sz="1800" dirty="0"/>
          </a:p>
        </p:txBody>
      </p:sp>
      <p:sp>
        <p:nvSpPr>
          <p:cNvPr id="22" name="Text 19"/>
          <p:cNvSpPr/>
          <p:nvPr/>
        </p:nvSpPr>
        <p:spPr>
          <a:xfrm>
            <a:off x="894715" y="2092960"/>
            <a:ext cx="5539105" cy="756791"/>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光纤通信技术在G/6G时代迎来了突破性发展，实现了更高的传输速度和更大的带宽，为信息传输提供了更加稳定和可靠的支持。</a:t>
            </a:r>
            <a:endParaRPr lang="en-US" sz="1350" dirty="0"/>
          </a:p>
        </p:txBody>
      </p:sp>
      <p:sp>
        <p:nvSpPr>
          <p:cNvPr id="23" name="Text 20"/>
          <p:cNvSpPr/>
          <p:nvPr/>
        </p:nvSpPr>
        <p:spPr>
          <a:xfrm>
            <a:off x="894715" y="1584960"/>
            <a:ext cx="5499100" cy="45898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404040"/>
                </a:solidFill>
                <a:latin typeface="Arial" panose="02080604020202020204" pitchFamily="34" charset="0"/>
                <a:ea typeface="Arial" pitchFamily="34" charset="-122"/>
                <a:cs typeface="Arial" pitchFamily="34" charset="-120"/>
              </a:rPr>
              <a:t>光纤通信技术的突破</a:t>
            </a:r>
            <a:endParaRPr lang="en-US" sz="1725" dirty="0"/>
          </a:p>
        </p:txBody>
      </p:sp>
      <p:sp>
        <p:nvSpPr>
          <p:cNvPr id="24" name="Text 21"/>
          <p:cNvSpPr/>
          <p:nvPr/>
        </p:nvSpPr>
        <p:spPr>
          <a:xfrm>
            <a:off x="894715" y="3514725"/>
            <a:ext cx="5539105" cy="756791"/>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G/6G技术推动了光纤网络的智能化升级，通过更高效的数据处理和管理技术，提高了网络的安全性和稳定性，满足了大规模数据传输的需求。</a:t>
            </a:r>
            <a:endParaRPr lang="en-US" sz="1350" dirty="0"/>
          </a:p>
        </p:txBody>
      </p:sp>
      <p:sp>
        <p:nvSpPr>
          <p:cNvPr id="25" name="Text 22"/>
          <p:cNvSpPr/>
          <p:nvPr/>
        </p:nvSpPr>
        <p:spPr>
          <a:xfrm>
            <a:off x="894715" y="3006725"/>
            <a:ext cx="5499100" cy="45898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404040"/>
                </a:solidFill>
                <a:latin typeface="Arial" panose="02080604020202020204" pitchFamily="34" charset="0"/>
                <a:ea typeface="Arial" pitchFamily="34" charset="-122"/>
                <a:cs typeface="Arial" pitchFamily="34" charset="-120"/>
              </a:rPr>
              <a:t>光纤网络的智能化升级</a:t>
            </a:r>
            <a:endParaRPr lang="en-US" sz="1725" dirty="0"/>
          </a:p>
        </p:txBody>
      </p:sp>
      <p:sp>
        <p:nvSpPr>
          <p:cNvPr id="26" name="Text 23"/>
          <p:cNvSpPr/>
          <p:nvPr/>
        </p:nvSpPr>
        <p:spPr>
          <a:xfrm>
            <a:off x="894715" y="4936490"/>
            <a:ext cx="5539105" cy="112522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x-none" altLang="en-US" sz="1350" dirty="0"/>
              <a:t>极高速率和更大宽带；超低延迟，支持实时性更强的应用如远程手术、高精度工业控制等；全场景智能连接，包括地面、空中、海洋，甚至太空通信。</a:t>
            </a:r>
            <a:endParaRPr lang="x-none" altLang="en-US" sz="1350" dirty="0"/>
          </a:p>
        </p:txBody>
      </p:sp>
      <p:sp>
        <p:nvSpPr>
          <p:cNvPr id="27" name="Text 24"/>
          <p:cNvSpPr/>
          <p:nvPr/>
        </p:nvSpPr>
        <p:spPr>
          <a:xfrm>
            <a:off x="894715" y="4428490"/>
            <a:ext cx="5499100" cy="458986"/>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404040"/>
                </a:solidFill>
                <a:latin typeface="Arial" panose="02080604020202020204" pitchFamily="34" charset="0"/>
                <a:ea typeface="Arial" pitchFamily="34" charset="-122"/>
                <a:cs typeface="Arial" pitchFamily="34" charset="-120"/>
              </a:rPr>
              <a:t>G/6G 技术推动</a:t>
            </a:r>
            <a:endParaRPr lang="en-US" sz="1725" dirty="0"/>
          </a:p>
        </p:txBody>
      </p:sp>
      <p:pic>
        <p:nvPicPr>
          <p:cNvPr id="28" name="Image 1" descr="https://cdn.ciniaoppt.com/webroot/upload/ppt/thumb/20240307/78575994d4b10bcf87acd5a4aa5e6a0d.png"/>
          <p:cNvPicPr>
            <a:picLocks noChangeAspect="1"/>
          </p:cNvPicPr>
          <p:nvPr/>
        </p:nvPicPr>
        <p:blipFill>
          <a:blip r:embed="rId2"/>
          <a:stretch>
            <a:fillRect/>
          </a:stretch>
        </p:blipFill>
        <p:spPr>
          <a:xfrm>
            <a:off x="6724015" y="1580515"/>
            <a:ext cx="4140000" cy="198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云计算和物联网应用</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3535045" y="4579620"/>
            <a:ext cx="2472690" cy="965835"/>
          </a:xfrm>
          <a:custGeom>
            <a:avLst/>
            <a:gdLst/>
            <a:ahLst/>
            <a:cxnLst/>
            <a:rect l="l" t="t" r="r" b="b"/>
            <a:pathLst>
              <a:path w="2472690" h="965835">
                <a:moveTo>
                  <a:pt x="278740" y="0"/>
                </a:moveTo>
                <a:lnTo>
                  <a:pt x="2193950" y="0"/>
                </a:lnTo>
                <a:quadBezTo>
                  <a:pt x="2472690" y="0"/>
                  <a:pt x="2472690" y="278740"/>
                </a:quadBezTo>
                <a:lnTo>
                  <a:pt x="2472690" y="687095"/>
                </a:lnTo>
                <a:quadBezTo>
                  <a:pt x="2472690" y="965835"/>
                  <a:pt x="2193950" y="965835"/>
                </a:quadBezTo>
                <a:lnTo>
                  <a:pt x="278740" y="965835"/>
                </a:lnTo>
                <a:quadBezTo>
                  <a:pt x="0" y="965835"/>
                  <a:pt x="0" y="687095"/>
                </a:quadBezTo>
                <a:lnTo>
                  <a:pt x="0" y="278740"/>
                </a:lnTo>
                <a:quadBezTo>
                  <a:pt x="0" y="0"/>
                  <a:pt x="278740" y="0"/>
                </a:quadBezTo>
                <a:close/>
              </a:path>
            </a:pathLst>
          </a:custGeom>
          <a:solidFill>
            <a:srgbClr val="1C1C1C"/>
          </a:solidFill>
        </p:spPr>
      </p:sp>
      <p:sp>
        <p:nvSpPr>
          <p:cNvPr id="14" name="Text 12"/>
          <p:cNvSpPr/>
          <p:nvPr/>
        </p:nvSpPr>
        <p:spPr>
          <a:xfrm>
            <a:off x="3535045" y="4579620"/>
            <a:ext cx="2472690" cy="96583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6439535" y="4579620"/>
            <a:ext cx="2472690" cy="965835"/>
          </a:xfrm>
          <a:custGeom>
            <a:avLst/>
            <a:gdLst/>
            <a:ahLst/>
            <a:cxnLst/>
            <a:rect l="l" t="t" r="r" b="b"/>
            <a:pathLst>
              <a:path w="2472690" h="965835">
                <a:moveTo>
                  <a:pt x="278740" y="0"/>
                </a:moveTo>
                <a:lnTo>
                  <a:pt x="2193950" y="0"/>
                </a:lnTo>
                <a:quadBezTo>
                  <a:pt x="2472690" y="0"/>
                  <a:pt x="2472690" y="278740"/>
                </a:quadBezTo>
                <a:lnTo>
                  <a:pt x="2472690" y="687095"/>
                </a:lnTo>
                <a:quadBezTo>
                  <a:pt x="2472690" y="965835"/>
                  <a:pt x="2193950" y="965835"/>
                </a:quadBezTo>
                <a:lnTo>
                  <a:pt x="278740" y="965835"/>
                </a:lnTo>
                <a:quadBezTo>
                  <a:pt x="0" y="965835"/>
                  <a:pt x="0" y="687095"/>
                </a:quadBezTo>
                <a:lnTo>
                  <a:pt x="0" y="278740"/>
                </a:lnTo>
                <a:quadBezTo>
                  <a:pt x="0" y="0"/>
                  <a:pt x="278740" y="0"/>
                </a:quadBezTo>
                <a:close/>
              </a:path>
            </a:pathLst>
          </a:custGeom>
          <a:solidFill>
            <a:srgbClr val="616161"/>
          </a:solidFill>
        </p:spPr>
      </p:sp>
      <p:sp>
        <p:nvSpPr>
          <p:cNvPr id="16" name="Text 14"/>
          <p:cNvSpPr/>
          <p:nvPr/>
        </p:nvSpPr>
        <p:spPr>
          <a:xfrm>
            <a:off x="6439535" y="4579620"/>
            <a:ext cx="2472690" cy="96583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3646170" y="4818380"/>
            <a:ext cx="2219325" cy="5219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775" b="1" dirty="0">
                <a:solidFill>
                  <a:srgbClr val="FFFFFF"/>
                </a:solidFill>
                <a:latin typeface="Arial" panose="02080604020202020204" pitchFamily="34" charset="0"/>
                <a:ea typeface="Arial" pitchFamily="34" charset="-122"/>
                <a:cs typeface="Arial" pitchFamily="34" charset="-120"/>
              </a:rPr>
              <a:t>12%</a:t>
            </a:r>
            <a:endParaRPr lang="en-US" sz="2775" dirty="0"/>
          </a:p>
        </p:txBody>
      </p:sp>
      <p:sp>
        <p:nvSpPr>
          <p:cNvPr id="18" name="Text 16"/>
          <p:cNvSpPr/>
          <p:nvPr/>
        </p:nvSpPr>
        <p:spPr>
          <a:xfrm>
            <a:off x="6593840" y="4818380"/>
            <a:ext cx="2219325" cy="5219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775" b="1" dirty="0">
                <a:solidFill>
                  <a:srgbClr val="FFFFFF"/>
                </a:solidFill>
                <a:latin typeface="Arial" panose="02080604020202020204" pitchFamily="34" charset="0"/>
                <a:ea typeface="Arial" pitchFamily="34" charset="-122"/>
                <a:cs typeface="Arial" pitchFamily="34" charset="-120"/>
              </a:rPr>
              <a:t>78%</a:t>
            </a:r>
            <a:endParaRPr lang="en-US" sz="2775" dirty="0"/>
          </a:p>
        </p:txBody>
      </p:sp>
      <p:sp>
        <p:nvSpPr>
          <p:cNvPr id="19" name="Text 17"/>
          <p:cNvSpPr/>
          <p:nvPr/>
        </p:nvSpPr>
        <p:spPr>
          <a:xfrm>
            <a:off x="3850640" y="1502410"/>
            <a:ext cx="4491355" cy="3682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云计算和物联网应用</a:t>
            </a:r>
            <a:endParaRPr lang="en-US" sz="1725" dirty="0"/>
          </a:p>
        </p:txBody>
      </p:sp>
      <p:sp>
        <p:nvSpPr>
          <p:cNvPr id="20" name="Text 18"/>
          <p:cNvSpPr/>
          <p:nvPr/>
        </p:nvSpPr>
        <p:spPr>
          <a:xfrm>
            <a:off x="2411095" y="2076450"/>
            <a:ext cx="7366635" cy="1748155"/>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a:t>
            </a:r>
            <a:r>
              <a:rPr lang="x-none" altLang="en-US" sz="1350" dirty="0">
                <a:solidFill>
                  <a:srgbClr val="808080"/>
                </a:solidFill>
                <a:latin typeface="微软雅黑" pitchFamily="34" charset="0"/>
                <a:ea typeface="微软雅黑" pitchFamily="34" charset="-122"/>
                <a:cs typeface="微软雅黑" pitchFamily="34" charset="-120"/>
              </a:rPr>
              <a:t>可以满足计算云和物联网对高速、稳定和大容量通信网络的需求，在智能家智能城市、智能工业等领域提供更大的带宽和更稳定的连接；同时光纤的高速和大容量传输能力能够有效地传输和处理来自海量传感器和设备的数据，特别是在高清视频监控、传感器数据流、车辆通信等领域；在一些实时性要求较高的领域，如智能医疗、自动驾驶、远程监控、无人机等，光纤通信能够为这些低延迟、高可靠性的应用提供稳定的支持。</a:t>
            </a:r>
            <a:endParaRPr lang="x-none" alt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全球网络和数字化加速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3549015" y="2925445"/>
            <a:ext cx="3319145" cy="3431540"/>
          </a:xfrm>
          <a:custGeom>
            <a:avLst/>
            <a:gdLst/>
            <a:ahLst/>
            <a:cxnLst/>
            <a:rect l="l" t="t" r="r" b="b"/>
            <a:pathLst>
              <a:path w="3319145" h="3431540">
                <a:moveTo>
                  <a:pt x="1590018" y="0"/>
                </a:moveTo>
                <a:cubicBezTo>
                  <a:pt x="2467573" y="0"/>
                  <a:pt x="3180036" y="736589"/>
                  <a:pt x="3180036" y="1643860"/>
                </a:cubicBezTo>
                <a:cubicBezTo>
                  <a:pt x="3180036" y="2551131"/>
                  <a:pt x="2467573" y="3287720"/>
                  <a:pt x="1590018" y="3287720"/>
                </a:cubicBezTo>
                <a:cubicBezTo>
                  <a:pt x="712463" y="3287720"/>
                  <a:pt x="0" y="2551131"/>
                  <a:pt x="0" y="1643860"/>
                </a:cubicBezTo>
                <a:cubicBezTo>
                  <a:pt x="0" y="736589"/>
                  <a:pt x="712463" y="0"/>
                  <a:pt x="1590018" y="0"/>
                </a:cubicBezTo>
                <a:close/>
              </a:path>
            </a:pathLst>
          </a:custGeom>
          <a:solidFill>
            <a:srgbClr val="000000">
              <a:alpha val="0"/>
            </a:srgbClr>
          </a:solidFill>
          <a:ln w="9525">
            <a:solidFill>
              <a:srgbClr val="BABEBD"/>
            </a:solidFill>
            <a:prstDash val="dash"/>
          </a:ln>
        </p:spPr>
      </p:sp>
      <p:sp>
        <p:nvSpPr>
          <p:cNvPr id="14" name="Text 12"/>
          <p:cNvSpPr/>
          <p:nvPr/>
        </p:nvSpPr>
        <p:spPr>
          <a:xfrm>
            <a:off x="3549015" y="2925445"/>
            <a:ext cx="3319145" cy="34315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5534660" y="2925445"/>
            <a:ext cx="3321050" cy="3431540"/>
          </a:xfrm>
          <a:custGeom>
            <a:avLst/>
            <a:gdLst/>
            <a:ahLst/>
            <a:cxnLst/>
            <a:rect l="l" t="t" r="r" b="b"/>
            <a:pathLst>
              <a:path w="3321050" h="3431540">
                <a:moveTo>
                  <a:pt x="1590930" y="0"/>
                </a:moveTo>
                <a:cubicBezTo>
                  <a:pt x="2468989" y="0"/>
                  <a:pt x="3181861" y="736589"/>
                  <a:pt x="3181861" y="1643860"/>
                </a:cubicBezTo>
                <a:cubicBezTo>
                  <a:pt x="3181861" y="2551131"/>
                  <a:pt x="2468989" y="3287720"/>
                  <a:pt x="1590930" y="3287720"/>
                </a:cubicBezTo>
                <a:cubicBezTo>
                  <a:pt x="712872" y="3287720"/>
                  <a:pt x="0" y="2551131"/>
                  <a:pt x="0" y="1643860"/>
                </a:cubicBezTo>
                <a:cubicBezTo>
                  <a:pt x="0" y="736589"/>
                  <a:pt x="712872" y="0"/>
                  <a:pt x="1590930" y="0"/>
                </a:cubicBezTo>
                <a:close/>
              </a:path>
            </a:pathLst>
          </a:custGeom>
          <a:solidFill>
            <a:srgbClr val="000000">
              <a:alpha val="0"/>
            </a:srgbClr>
          </a:solidFill>
          <a:ln w="9525">
            <a:solidFill>
              <a:srgbClr val="BABEBD"/>
            </a:solidFill>
            <a:prstDash val="dash"/>
          </a:ln>
        </p:spPr>
      </p:sp>
      <p:sp>
        <p:nvSpPr>
          <p:cNvPr id="16" name="Text 14"/>
          <p:cNvSpPr/>
          <p:nvPr/>
        </p:nvSpPr>
        <p:spPr>
          <a:xfrm>
            <a:off x="5534660" y="2925445"/>
            <a:ext cx="3321050" cy="34315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a:off x="5229225" y="3643630"/>
            <a:ext cx="1948815" cy="2014855"/>
          </a:xfrm>
          <a:custGeom>
            <a:avLst/>
            <a:gdLst/>
            <a:ahLst/>
            <a:cxnLst/>
            <a:rect l="l" t="t" r="r" b="b"/>
            <a:pathLst>
              <a:path w="1948815" h="2014855">
                <a:moveTo>
                  <a:pt x="933569" y="0"/>
                </a:moveTo>
                <a:cubicBezTo>
                  <a:pt x="1448820" y="0"/>
                  <a:pt x="1867138" y="432494"/>
                  <a:pt x="1867138" y="965205"/>
                </a:cubicBezTo>
                <a:cubicBezTo>
                  <a:pt x="1867138" y="1497916"/>
                  <a:pt x="1448820" y="1930410"/>
                  <a:pt x="933569" y="1930410"/>
                </a:cubicBezTo>
                <a:cubicBezTo>
                  <a:pt x="418318" y="1930410"/>
                  <a:pt x="0" y="1497916"/>
                  <a:pt x="0" y="965205"/>
                </a:cubicBezTo>
                <a:cubicBezTo>
                  <a:pt x="0" y="432494"/>
                  <a:pt x="418318" y="0"/>
                  <a:pt x="933569" y="0"/>
                </a:cubicBezTo>
                <a:close/>
              </a:path>
            </a:pathLst>
          </a:custGeom>
          <a:solidFill>
            <a:srgbClr val="1C1C1C"/>
          </a:solidFill>
        </p:spPr>
      </p:sp>
      <p:sp>
        <p:nvSpPr>
          <p:cNvPr id="18" name="Text 16"/>
          <p:cNvSpPr/>
          <p:nvPr/>
        </p:nvSpPr>
        <p:spPr>
          <a:xfrm>
            <a:off x="5229225" y="3643630"/>
            <a:ext cx="1948815" cy="2014855"/>
          </a:xfrm>
          <a:prstGeom prst="rect">
            <a:avLst/>
          </a:prstGeom>
          <a:noFill/>
        </p:spPr>
        <p:txBody>
          <a:bodyPr wrap="square" rtlCol="0" anchor="ctr"/>
          <a:lstStyle/>
          <a:p>
            <a:pPr marL="0" indent="0" algn="ctr">
              <a:lnSpc>
                <a:spcPct val="120000"/>
              </a:lnSpc>
              <a:spcBef>
                <a:spcPts val="375"/>
              </a:spcBef>
              <a:buNone/>
            </a:pPr>
            <a:r>
              <a:rPr lang="en-US" sz="2775" dirty="0">
                <a:solidFill>
                  <a:srgbClr val="FFFFFF"/>
                </a:solidFill>
                <a:latin typeface="Museo Sans 500" pitchFamily="34" charset="0"/>
                <a:ea typeface="Museo Sans 500" pitchFamily="34" charset="-122"/>
                <a:cs typeface="Museo Sans 500" pitchFamily="34" charset="-120"/>
              </a:rPr>
              <a:t>领导力</a:t>
            </a:r>
            <a:endParaRPr lang="en-US" sz="2775" dirty="0"/>
          </a:p>
        </p:txBody>
      </p:sp>
      <p:sp>
        <p:nvSpPr>
          <p:cNvPr id="19" name="Shape 17"/>
          <p:cNvSpPr/>
          <p:nvPr/>
        </p:nvSpPr>
        <p:spPr>
          <a:xfrm>
            <a:off x="3500120" y="3061970"/>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C9C9C9"/>
          </a:solidFill>
        </p:spPr>
      </p:sp>
      <p:sp>
        <p:nvSpPr>
          <p:cNvPr id="20" name="Text 18"/>
          <p:cNvSpPr/>
          <p:nvPr/>
        </p:nvSpPr>
        <p:spPr>
          <a:xfrm>
            <a:off x="3500120" y="3061970"/>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学习力</a:t>
            </a:r>
            <a:endParaRPr lang="en-US" sz="1800" dirty="0"/>
          </a:p>
        </p:txBody>
      </p:sp>
      <p:sp>
        <p:nvSpPr>
          <p:cNvPr id="21" name="Shape 19"/>
          <p:cNvSpPr/>
          <p:nvPr/>
        </p:nvSpPr>
        <p:spPr>
          <a:xfrm>
            <a:off x="3096260" y="4137025"/>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1C1C1C"/>
          </a:solidFill>
        </p:spPr>
      </p:sp>
      <p:sp>
        <p:nvSpPr>
          <p:cNvPr id="22" name="Text 20"/>
          <p:cNvSpPr/>
          <p:nvPr/>
        </p:nvSpPr>
        <p:spPr>
          <a:xfrm>
            <a:off x="3096260" y="4137025"/>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教导力</a:t>
            </a:r>
            <a:endParaRPr lang="en-US" sz="1800" dirty="0"/>
          </a:p>
        </p:txBody>
      </p:sp>
      <p:sp>
        <p:nvSpPr>
          <p:cNvPr id="23" name="Shape 21"/>
          <p:cNvSpPr/>
          <p:nvPr/>
        </p:nvSpPr>
        <p:spPr>
          <a:xfrm>
            <a:off x="3465830" y="5219700"/>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616161"/>
          </a:solidFill>
        </p:spPr>
      </p:sp>
      <p:sp>
        <p:nvSpPr>
          <p:cNvPr id="24" name="Text 22"/>
          <p:cNvSpPr/>
          <p:nvPr/>
        </p:nvSpPr>
        <p:spPr>
          <a:xfrm>
            <a:off x="3465830" y="5219700"/>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感召力</a:t>
            </a:r>
            <a:endParaRPr lang="en-US" sz="1800" dirty="0"/>
          </a:p>
        </p:txBody>
      </p:sp>
      <p:sp>
        <p:nvSpPr>
          <p:cNvPr id="25" name="Shape 23"/>
          <p:cNvSpPr/>
          <p:nvPr/>
        </p:nvSpPr>
        <p:spPr>
          <a:xfrm>
            <a:off x="7918450" y="3061970"/>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1C1C1C"/>
          </a:solidFill>
        </p:spPr>
      </p:sp>
      <p:sp>
        <p:nvSpPr>
          <p:cNvPr id="26" name="Text 24"/>
          <p:cNvSpPr/>
          <p:nvPr/>
        </p:nvSpPr>
        <p:spPr>
          <a:xfrm>
            <a:off x="7918450" y="3061970"/>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组织力</a:t>
            </a:r>
            <a:endParaRPr lang="en-US" sz="1800" dirty="0"/>
          </a:p>
        </p:txBody>
      </p:sp>
      <p:sp>
        <p:nvSpPr>
          <p:cNvPr id="27" name="Shape 25"/>
          <p:cNvSpPr/>
          <p:nvPr/>
        </p:nvSpPr>
        <p:spPr>
          <a:xfrm>
            <a:off x="8329930" y="4137025"/>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616161"/>
          </a:solidFill>
        </p:spPr>
      </p:sp>
      <p:sp>
        <p:nvSpPr>
          <p:cNvPr id="28" name="Text 26"/>
          <p:cNvSpPr/>
          <p:nvPr/>
        </p:nvSpPr>
        <p:spPr>
          <a:xfrm>
            <a:off x="8329930" y="4137025"/>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决策力</a:t>
            </a:r>
            <a:endParaRPr lang="en-US" sz="1800" dirty="0"/>
          </a:p>
        </p:txBody>
      </p:sp>
      <p:sp>
        <p:nvSpPr>
          <p:cNvPr id="29" name="Shape 27"/>
          <p:cNvSpPr/>
          <p:nvPr/>
        </p:nvSpPr>
        <p:spPr>
          <a:xfrm>
            <a:off x="7964170" y="5219700"/>
            <a:ext cx="1031875" cy="1066800"/>
          </a:xfrm>
          <a:custGeom>
            <a:avLst/>
            <a:gdLst/>
            <a:ahLst/>
            <a:cxnLst/>
            <a:rect l="l" t="t" r="r" b="b"/>
            <a:pathLst>
              <a:path w="1031875" h="1066800">
                <a:moveTo>
                  <a:pt x="494314" y="0"/>
                </a:moveTo>
                <a:cubicBezTo>
                  <a:pt x="767133" y="0"/>
                  <a:pt x="988628" y="228991"/>
                  <a:pt x="988628" y="511045"/>
                </a:cubicBezTo>
                <a:cubicBezTo>
                  <a:pt x="988628" y="793098"/>
                  <a:pt x="767133" y="1022089"/>
                  <a:pt x="494314" y="1022089"/>
                </a:cubicBezTo>
                <a:cubicBezTo>
                  <a:pt x="221495" y="1022089"/>
                  <a:pt x="0" y="793098"/>
                  <a:pt x="0" y="511045"/>
                </a:cubicBezTo>
                <a:cubicBezTo>
                  <a:pt x="0" y="228991"/>
                  <a:pt x="221495" y="0"/>
                  <a:pt x="494314" y="0"/>
                </a:cubicBezTo>
                <a:close/>
              </a:path>
            </a:pathLst>
          </a:custGeom>
          <a:solidFill>
            <a:srgbClr val="C9C9C9"/>
          </a:solidFill>
        </p:spPr>
      </p:sp>
      <p:sp>
        <p:nvSpPr>
          <p:cNvPr id="30" name="Text 28"/>
          <p:cNvSpPr/>
          <p:nvPr/>
        </p:nvSpPr>
        <p:spPr>
          <a:xfrm>
            <a:off x="7964170" y="5219700"/>
            <a:ext cx="1031875" cy="10668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Museo Sans 500" pitchFamily="34" charset="0"/>
                <a:ea typeface="Museo Sans 500" pitchFamily="34" charset="-122"/>
                <a:cs typeface="Museo Sans 500" pitchFamily="34" charset="-120"/>
              </a:rPr>
              <a:t>执行力</a:t>
            </a:r>
            <a:endParaRPr lang="en-US" sz="1800" dirty="0"/>
          </a:p>
        </p:txBody>
      </p:sp>
      <p:sp>
        <p:nvSpPr>
          <p:cNvPr id="31" name="Text 29"/>
          <p:cNvSpPr/>
          <p:nvPr/>
        </p:nvSpPr>
        <p:spPr>
          <a:xfrm>
            <a:off x="1979295" y="998220"/>
            <a:ext cx="8637905" cy="640705"/>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全球网络和数字化加速</a:t>
            </a:r>
            <a:endParaRPr lang="en-US" sz="1725" dirty="0"/>
          </a:p>
        </p:txBody>
      </p:sp>
      <p:sp>
        <p:nvSpPr>
          <p:cNvPr id="32" name="Text 30"/>
          <p:cNvSpPr/>
          <p:nvPr/>
        </p:nvSpPr>
        <p:spPr>
          <a:xfrm>
            <a:off x="1979295" y="1590675"/>
            <a:ext cx="8637905" cy="1125220"/>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a:t>
            </a:r>
            <a:r>
              <a:rPr lang="x-none" altLang="en-US" sz="1350" dirty="0">
                <a:solidFill>
                  <a:srgbClr val="808080"/>
                </a:solidFill>
                <a:latin typeface="微软雅黑" pitchFamily="34" charset="0"/>
                <a:ea typeface="微软雅黑" pitchFamily="34" charset="-122"/>
                <a:cs typeface="微软雅黑" pitchFamily="34" charset="-120"/>
              </a:rPr>
              <a:t>在全球数据传输、跨境互联网服务以及远程办公等服务上成为全球网络基础设施的核心。海底光缆通过光纤网络将各大洲和国家紧密联系在一起，支持国际互联网的稳定运行。随着5G网络的普及，光纤将成为5G基站的骨干网络连接技术，尤其是在5G的核心网和边缘计算节点之间的数据传输起到来至关重要的作用。</a:t>
            </a:r>
            <a:endParaRPr lang="x-none" altLang="en-US" sz="1350" dirty="0">
              <a:solidFill>
                <a:srgbClr val="808080"/>
              </a:solidFill>
              <a:latin typeface="微软雅黑" pitchFamily="34" charset="0"/>
              <a:ea typeface="微软雅黑" pitchFamily="34" charset="-122"/>
              <a:cs typeface="微软雅黑" pitchFamily="34" charset="-120"/>
            </a:endParaRPr>
          </a:p>
        </p:txBody>
      </p:sp>
      <p:sp>
        <p:nvSpPr>
          <p:cNvPr id="33" name="Shape 31"/>
          <p:cNvSpPr/>
          <p:nvPr/>
        </p:nvSpPr>
        <p:spPr>
          <a:xfrm>
            <a:off x="4460240" y="3876040"/>
            <a:ext cx="962025" cy="448945"/>
          </a:xfrm>
          <a:custGeom>
            <a:avLst/>
            <a:gdLst/>
            <a:ahLst/>
            <a:cxnLst/>
            <a:rect l="l" t="t" r="r" b="b"/>
            <a:pathLst>
              <a:path w="962025" h="448945">
                <a:moveTo>
                  <a:pt x="0" y="0"/>
                </a:moveTo>
                <a:lnTo>
                  <a:pt x="962025" y="448945"/>
                </a:lnTo>
              </a:path>
            </a:pathLst>
          </a:custGeom>
          <a:noFill/>
          <a:ln w="7144">
            <a:solidFill>
              <a:srgbClr val="BABEBD"/>
            </a:solidFill>
            <a:prstDash val="solid"/>
            <a:headEnd type="none"/>
            <a:tailEnd type="arrow"/>
          </a:ln>
        </p:spPr>
      </p:sp>
      <p:sp>
        <p:nvSpPr>
          <p:cNvPr id="34" name="Shape 32"/>
          <p:cNvSpPr/>
          <p:nvPr/>
        </p:nvSpPr>
        <p:spPr>
          <a:xfrm>
            <a:off x="4182745" y="4650740"/>
            <a:ext cx="1174115" cy="0"/>
          </a:xfrm>
          <a:custGeom>
            <a:avLst/>
            <a:gdLst/>
            <a:ahLst/>
            <a:cxnLst/>
            <a:rect l="l" t="t" r="r" b="b"/>
            <a:pathLst>
              <a:path w="1174115">
                <a:moveTo>
                  <a:pt x="0" y="0"/>
                </a:moveTo>
                <a:lnTo>
                  <a:pt x="1174115" y="0"/>
                </a:lnTo>
              </a:path>
            </a:pathLst>
          </a:custGeom>
          <a:noFill/>
          <a:ln w="7144">
            <a:solidFill>
              <a:srgbClr val="BABEBD"/>
            </a:solidFill>
            <a:prstDash val="solid"/>
            <a:headEnd type="none"/>
            <a:tailEnd type="arrow"/>
          </a:ln>
        </p:spPr>
      </p:sp>
      <p:sp>
        <p:nvSpPr>
          <p:cNvPr id="35" name="Shape 33"/>
          <p:cNvSpPr/>
          <p:nvPr/>
        </p:nvSpPr>
        <p:spPr>
          <a:xfrm>
            <a:off x="4460240" y="4934585"/>
            <a:ext cx="962025" cy="511810"/>
          </a:xfrm>
          <a:custGeom>
            <a:avLst/>
            <a:gdLst/>
            <a:ahLst/>
            <a:cxnLst/>
            <a:rect l="l" t="t" r="r" b="b"/>
            <a:pathLst>
              <a:path w="962025" h="511810">
                <a:moveTo>
                  <a:pt x="0" y="511810"/>
                </a:moveTo>
                <a:lnTo>
                  <a:pt x="962025" y="0"/>
                </a:lnTo>
              </a:path>
            </a:pathLst>
          </a:custGeom>
          <a:noFill/>
          <a:ln w="7144">
            <a:solidFill>
              <a:srgbClr val="BABEBD"/>
            </a:solidFill>
            <a:prstDash val="solid"/>
            <a:headEnd type="none"/>
            <a:tailEnd type="arrow"/>
          </a:ln>
        </p:spPr>
      </p:sp>
      <p:sp>
        <p:nvSpPr>
          <p:cNvPr id="36" name="Shape 34"/>
          <p:cNvSpPr/>
          <p:nvPr/>
        </p:nvSpPr>
        <p:spPr>
          <a:xfrm>
            <a:off x="7059930" y="4934585"/>
            <a:ext cx="969010" cy="500380"/>
          </a:xfrm>
          <a:custGeom>
            <a:avLst/>
            <a:gdLst/>
            <a:ahLst/>
            <a:cxnLst/>
            <a:rect l="l" t="t" r="r" b="b"/>
            <a:pathLst>
              <a:path w="969010" h="500380">
                <a:moveTo>
                  <a:pt x="969010" y="500380"/>
                </a:moveTo>
                <a:lnTo>
                  <a:pt x="0" y="0"/>
                </a:lnTo>
              </a:path>
            </a:pathLst>
          </a:custGeom>
          <a:noFill/>
          <a:ln w="7144">
            <a:solidFill>
              <a:srgbClr val="BABEBD"/>
            </a:solidFill>
            <a:prstDash val="solid"/>
            <a:headEnd type="none"/>
            <a:tailEnd type="arrow"/>
          </a:ln>
        </p:spPr>
      </p:sp>
      <p:sp>
        <p:nvSpPr>
          <p:cNvPr id="37" name="Shape 35"/>
          <p:cNvSpPr/>
          <p:nvPr/>
        </p:nvSpPr>
        <p:spPr>
          <a:xfrm>
            <a:off x="7059930" y="4647565"/>
            <a:ext cx="1238250" cy="0"/>
          </a:xfrm>
          <a:custGeom>
            <a:avLst/>
            <a:gdLst/>
            <a:ahLst/>
            <a:cxnLst/>
            <a:rect l="l" t="t" r="r" b="b"/>
            <a:pathLst>
              <a:path w="1238250">
                <a:moveTo>
                  <a:pt x="1238250" y="0"/>
                </a:moveTo>
                <a:lnTo>
                  <a:pt x="0" y="0"/>
                </a:lnTo>
              </a:path>
            </a:pathLst>
          </a:custGeom>
          <a:noFill/>
          <a:ln w="7144">
            <a:solidFill>
              <a:srgbClr val="BABEBD"/>
            </a:solidFill>
            <a:prstDash val="solid"/>
            <a:headEnd type="none"/>
            <a:tailEnd type="arrow"/>
          </a:ln>
        </p:spPr>
      </p:sp>
      <p:sp>
        <p:nvSpPr>
          <p:cNvPr id="38" name="Shape 36"/>
          <p:cNvSpPr/>
          <p:nvPr/>
        </p:nvSpPr>
        <p:spPr>
          <a:xfrm>
            <a:off x="7059930" y="3876040"/>
            <a:ext cx="969010" cy="448945"/>
          </a:xfrm>
          <a:custGeom>
            <a:avLst/>
            <a:gdLst/>
            <a:ahLst/>
            <a:cxnLst/>
            <a:rect l="l" t="t" r="r" b="b"/>
            <a:pathLst>
              <a:path w="969010" h="448945">
                <a:moveTo>
                  <a:pt x="969010" y="0"/>
                </a:moveTo>
                <a:lnTo>
                  <a:pt x="0" y="448945"/>
                </a:lnTo>
              </a:path>
            </a:pathLst>
          </a:custGeom>
          <a:noFill/>
          <a:ln w="7144">
            <a:solidFill>
              <a:srgbClr val="BABEBD"/>
            </a:solidFill>
            <a:prstDash val="solid"/>
            <a:headEnd type="none"/>
            <a:tailEnd type="arrow"/>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光纤通信的未来趋势</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06</a:t>
            </a:r>
            <a:endParaRPr lang="en-US" sz="9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55943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x-none" altLang="en-US" sz="2400" dirty="0"/>
              <a:t>人工智能新需求</a:t>
            </a:r>
            <a:endParaRPr lang="x-none" alt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5334986" y="3932874"/>
            <a:ext cx="6291943" cy="2209800"/>
          </a:xfrm>
          <a:custGeom>
            <a:avLst/>
            <a:gdLst/>
            <a:ahLst/>
            <a:cxnLst/>
            <a:rect l="l" t="t" r="r" b="b"/>
            <a:pathLst>
              <a:path w="6291943" h="2209800">
                <a:moveTo>
                  <a:pt x="0" y="0"/>
                </a:moveTo>
                <a:lnTo>
                  <a:pt x="6291943" y="0"/>
                </a:lnTo>
                <a:lnTo>
                  <a:pt x="6291943" y="2209800"/>
                </a:lnTo>
                <a:lnTo>
                  <a:pt x="0" y="2209800"/>
                </a:lnTo>
                <a:close/>
              </a:path>
            </a:pathLst>
          </a:custGeom>
          <a:solidFill>
            <a:srgbClr val="FFFFFF"/>
          </a:solidFill>
          <a:ln w="9525">
            <a:solidFill>
              <a:srgbClr val="1C1C1C"/>
            </a:solidFill>
            <a:prstDash val="solid"/>
          </a:ln>
        </p:spPr>
      </p:sp>
      <p:sp>
        <p:nvSpPr>
          <p:cNvPr id="14" name="Text 12"/>
          <p:cNvSpPr/>
          <p:nvPr/>
        </p:nvSpPr>
        <p:spPr>
          <a:xfrm>
            <a:off x="5334986" y="3932874"/>
            <a:ext cx="6291943" cy="22098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429337" y="1197434"/>
            <a:ext cx="6291943" cy="2209800"/>
          </a:xfrm>
          <a:custGeom>
            <a:avLst/>
            <a:gdLst/>
            <a:ahLst/>
            <a:cxnLst/>
            <a:rect l="l" t="t" r="r" b="b"/>
            <a:pathLst>
              <a:path w="6291943" h="2209800">
                <a:moveTo>
                  <a:pt x="0" y="0"/>
                </a:moveTo>
                <a:lnTo>
                  <a:pt x="6291943" y="0"/>
                </a:lnTo>
                <a:lnTo>
                  <a:pt x="6291943" y="2209800"/>
                </a:lnTo>
                <a:lnTo>
                  <a:pt x="0" y="2209800"/>
                </a:lnTo>
                <a:close/>
              </a:path>
            </a:pathLst>
          </a:custGeom>
          <a:solidFill>
            <a:srgbClr val="FFFFFF"/>
          </a:solidFill>
          <a:ln w="9525">
            <a:solidFill>
              <a:srgbClr val="616161"/>
            </a:solidFill>
            <a:prstDash val="solid"/>
          </a:ln>
        </p:spPr>
      </p:sp>
      <p:sp>
        <p:nvSpPr>
          <p:cNvPr id="16" name="Text 14"/>
          <p:cNvSpPr/>
          <p:nvPr/>
        </p:nvSpPr>
        <p:spPr>
          <a:xfrm>
            <a:off x="429337" y="1197434"/>
            <a:ext cx="6291943" cy="22098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rot="16200000" flipH="1">
            <a:off x="3512458" y="2667001"/>
            <a:ext cx="1611086" cy="3490684"/>
          </a:xfrm>
          <a:custGeom>
            <a:avLst/>
            <a:gdLst/>
            <a:ahLst/>
            <a:cxnLst/>
            <a:rect l="l" t="t" r="r" b="b"/>
            <a:pathLst>
              <a:path w="1611086" h="3490684">
                <a:moveTo>
                  <a:pt x="0" y="3344385"/>
                </a:moveTo>
                <a:lnTo>
                  <a:pt x="0" y="681433"/>
                </a:lnTo>
                <a:lnTo>
                  <a:pt x="0" y="681433"/>
                </a:lnTo>
                <a:lnTo>
                  <a:pt x="0" y="681433"/>
                </a:lnTo>
                <a:lnTo>
                  <a:pt x="104" y="669540"/>
                </a:lnTo>
                <a:lnTo>
                  <a:pt x="415" y="657651"/>
                </a:lnTo>
                <a:lnTo>
                  <a:pt x="934" y="645770"/>
                </a:lnTo>
                <a:lnTo>
                  <a:pt x="1660" y="633899"/>
                </a:lnTo>
                <a:lnTo>
                  <a:pt x="2593" y="622042"/>
                </a:lnTo>
                <a:lnTo>
                  <a:pt x="3733" y="610204"/>
                </a:lnTo>
                <a:lnTo>
                  <a:pt x="5079" y="598387"/>
                </a:lnTo>
                <a:lnTo>
                  <a:pt x="6632" y="586596"/>
                </a:lnTo>
                <a:lnTo>
                  <a:pt x="8390" y="574834"/>
                </a:lnTo>
                <a:lnTo>
                  <a:pt x="10353" y="563104"/>
                </a:lnTo>
                <a:lnTo>
                  <a:pt x="12520" y="551410"/>
                </a:lnTo>
                <a:lnTo>
                  <a:pt x="14891" y="539755"/>
                </a:lnTo>
                <a:lnTo>
                  <a:pt x="17465" y="528144"/>
                </a:lnTo>
                <a:lnTo>
                  <a:pt x="20241" y="516580"/>
                </a:lnTo>
                <a:lnTo>
                  <a:pt x="23219" y="505065"/>
                </a:lnTo>
                <a:lnTo>
                  <a:pt x="26398" y="493605"/>
                </a:lnTo>
                <a:lnTo>
                  <a:pt x="29775" y="482201"/>
                </a:lnTo>
                <a:lnTo>
                  <a:pt x="33352" y="470859"/>
                </a:lnTo>
                <a:lnTo>
                  <a:pt x="37125" y="459580"/>
                </a:lnTo>
                <a:lnTo>
                  <a:pt x="41095" y="448369"/>
                </a:lnTo>
                <a:lnTo>
                  <a:pt x="45260" y="437229"/>
                </a:lnTo>
                <a:lnTo>
                  <a:pt x="49619" y="426164"/>
                </a:lnTo>
                <a:lnTo>
                  <a:pt x="54171" y="415176"/>
                </a:lnTo>
                <a:lnTo>
                  <a:pt x="58913" y="404269"/>
                </a:lnTo>
                <a:lnTo>
                  <a:pt x="63845" y="393447"/>
                </a:lnTo>
                <a:lnTo>
                  <a:pt x="68965" y="382713"/>
                </a:lnTo>
                <a:lnTo>
                  <a:pt x="74272" y="372069"/>
                </a:lnTo>
                <a:lnTo>
                  <a:pt x="79763" y="361520"/>
                </a:lnTo>
                <a:lnTo>
                  <a:pt x="85438" y="351068"/>
                </a:lnTo>
                <a:lnTo>
                  <a:pt x="91295" y="340717"/>
                </a:lnTo>
                <a:lnTo>
                  <a:pt x="97331" y="330469"/>
                </a:lnTo>
                <a:lnTo>
                  <a:pt x="103545" y="320329"/>
                </a:lnTo>
                <a:lnTo>
                  <a:pt x="109935" y="310298"/>
                </a:lnTo>
                <a:lnTo>
                  <a:pt x="116499" y="300381"/>
                </a:lnTo>
                <a:lnTo>
                  <a:pt x="123236" y="290579"/>
                </a:lnTo>
                <a:lnTo>
                  <a:pt x="130142" y="280897"/>
                </a:lnTo>
                <a:lnTo>
                  <a:pt x="137216" y="271336"/>
                </a:lnTo>
                <a:lnTo>
                  <a:pt x="144456" y="261901"/>
                </a:lnTo>
                <a:lnTo>
                  <a:pt x="151860" y="252593"/>
                </a:lnTo>
                <a:lnTo>
                  <a:pt x="159425" y="243416"/>
                </a:lnTo>
                <a:lnTo>
                  <a:pt x="167149" y="234373"/>
                </a:lnTo>
                <a:lnTo>
                  <a:pt x="175030" y="225465"/>
                </a:lnTo>
                <a:lnTo>
                  <a:pt x="183064" y="216697"/>
                </a:lnTo>
                <a:lnTo>
                  <a:pt x="191251" y="208070"/>
                </a:lnTo>
                <a:lnTo>
                  <a:pt x="199587" y="199587"/>
                </a:lnTo>
                <a:lnTo>
                  <a:pt x="208070" y="191251"/>
                </a:lnTo>
                <a:lnTo>
                  <a:pt x="216697" y="183064"/>
                </a:lnTo>
                <a:lnTo>
                  <a:pt x="225465" y="175030"/>
                </a:lnTo>
                <a:lnTo>
                  <a:pt x="234373" y="167149"/>
                </a:lnTo>
                <a:lnTo>
                  <a:pt x="243416" y="159425"/>
                </a:lnTo>
                <a:lnTo>
                  <a:pt x="252593" y="151860"/>
                </a:lnTo>
                <a:lnTo>
                  <a:pt x="261901" y="144456"/>
                </a:lnTo>
                <a:lnTo>
                  <a:pt x="271336" y="137216"/>
                </a:lnTo>
                <a:lnTo>
                  <a:pt x="280897" y="130142"/>
                </a:lnTo>
                <a:lnTo>
                  <a:pt x="290579" y="123236"/>
                </a:lnTo>
                <a:lnTo>
                  <a:pt x="300381" y="116499"/>
                </a:lnTo>
                <a:lnTo>
                  <a:pt x="310298" y="109935"/>
                </a:lnTo>
                <a:lnTo>
                  <a:pt x="320329" y="103545"/>
                </a:lnTo>
                <a:lnTo>
                  <a:pt x="330469" y="97331"/>
                </a:lnTo>
                <a:lnTo>
                  <a:pt x="340717" y="91295"/>
                </a:lnTo>
                <a:lnTo>
                  <a:pt x="351068" y="85438"/>
                </a:lnTo>
                <a:lnTo>
                  <a:pt x="361520" y="79763"/>
                </a:lnTo>
                <a:lnTo>
                  <a:pt x="372069" y="74272"/>
                </a:lnTo>
                <a:lnTo>
                  <a:pt x="382713" y="68965"/>
                </a:lnTo>
                <a:lnTo>
                  <a:pt x="393447" y="63845"/>
                </a:lnTo>
                <a:lnTo>
                  <a:pt x="404269" y="58913"/>
                </a:lnTo>
                <a:lnTo>
                  <a:pt x="415176" y="54171"/>
                </a:lnTo>
                <a:lnTo>
                  <a:pt x="426164" y="49619"/>
                </a:lnTo>
                <a:lnTo>
                  <a:pt x="437229" y="45260"/>
                </a:lnTo>
                <a:lnTo>
                  <a:pt x="448369" y="41095"/>
                </a:lnTo>
                <a:lnTo>
                  <a:pt x="459580" y="37125"/>
                </a:lnTo>
                <a:lnTo>
                  <a:pt x="470859" y="33352"/>
                </a:lnTo>
                <a:lnTo>
                  <a:pt x="482201" y="29775"/>
                </a:lnTo>
                <a:lnTo>
                  <a:pt x="493605" y="26398"/>
                </a:lnTo>
                <a:lnTo>
                  <a:pt x="505065" y="23219"/>
                </a:lnTo>
                <a:lnTo>
                  <a:pt x="516580" y="20241"/>
                </a:lnTo>
                <a:lnTo>
                  <a:pt x="528144" y="17465"/>
                </a:lnTo>
                <a:lnTo>
                  <a:pt x="539755" y="14891"/>
                </a:lnTo>
                <a:lnTo>
                  <a:pt x="551410" y="12520"/>
                </a:lnTo>
                <a:lnTo>
                  <a:pt x="563104" y="10353"/>
                </a:lnTo>
                <a:lnTo>
                  <a:pt x="574834" y="8390"/>
                </a:lnTo>
                <a:lnTo>
                  <a:pt x="586596" y="6632"/>
                </a:lnTo>
                <a:lnTo>
                  <a:pt x="598387" y="5079"/>
                </a:lnTo>
                <a:lnTo>
                  <a:pt x="610204" y="3733"/>
                </a:lnTo>
                <a:lnTo>
                  <a:pt x="622042" y="2593"/>
                </a:lnTo>
                <a:lnTo>
                  <a:pt x="633899" y="1660"/>
                </a:lnTo>
                <a:lnTo>
                  <a:pt x="645770" y="934"/>
                </a:lnTo>
                <a:lnTo>
                  <a:pt x="657651" y="415"/>
                </a:lnTo>
                <a:lnTo>
                  <a:pt x="669540" y="104"/>
                </a:lnTo>
                <a:lnTo>
                  <a:pt x="681433" y="0"/>
                </a:lnTo>
                <a:lnTo>
                  <a:pt x="681433" y="0"/>
                </a:lnTo>
                <a:lnTo>
                  <a:pt x="681433" y="0"/>
                </a:lnTo>
                <a:lnTo>
                  <a:pt x="681433" y="0"/>
                </a:lnTo>
                <a:lnTo>
                  <a:pt x="693326" y="104"/>
                </a:lnTo>
                <a:lnTo>
                  <a:pt x="705215" y="415"/>
                </a:lnTo>
                <a:lnTo>
                  <a:pt x="717097" y="934"/>
                </a:lnTo>
                <a:lnTo>
                  <a:pt x="728968" y="1660"/>
                </a:lnTo>
                <a:lnTo>
                  <a:pt x="740824" y="2593"/>
                </a:lnTo>
                <a:lnTo>
                  <a:pt x="752662" y="3733"/>
                </a:lnTo>
                <a:lnTo>
                  <a:pt x="764479" y="5079"/>
                </a:lnTo>
                <a:lnTo>
                  <a:pt x="776270" y="6632"/>
                </a:lnTo>
                <a:lnTo>
                  <a:pt x="788033" y="8390"/>
                </a:lnTo>
                <a:lnTo>
                  <a:pt x="799763" y="10353"/>
                </a:lnTo>
                <a:lnTo>
                  <a:pt x="811457" y="12520"/>
                </a:lnTo>
                <a:lnTo>
                  <a:pt x="823111" y="14891"/>
                </a:lnTo>
                <a:lnTo>
                  <a:pt x="834722" y="17465"/>
                </a:lnTo>
                <a:lnTo>
                  <a:pt x="846287" y="20241"/>
                </a:lnTo>
                <a:lnTo>
                  <a:pt x="857801" y="23219"/>
                </a:lnTo>
                <a:lnTo>
                  <a:pt x="869262" y="26398"/>
                </a:lnTo>
                <a:lnTo>
                  <a:pt x="880665" y="29775"/>
                </a:lnTo>
                <a:lnTo>
                  <a:pt x="892008" y="33352"/>
                </a:lnTo>
                <a:lnTo>
                  <a:pt x="903286" y="37125"/>
                </a:lnTo>
                <a:lnTo>
                  <a:pt x="914497" y="41095"/>
                </a:lnTo>
                <a:lnTo>
                  <a:pt x="925637" y="45260"/>
                </a:lnTo>
                <a:lnTo>
                  <a:pt x="936702" y="49619"/>
                </a:lnTo>
                <a:lnTo>
                  <a:pt x="947690" y="54171"/>
                </a:lnTo>
                <a:lnTo>
                  <a:pt x="958597" y="58913"/>
                </a:lnTo>
                <a:lnTo>
                  <a:pt x="969419" y="63845"/>
                </a:lnTo>
                <a:lnTo>
                  <a:pt x="980154" y="68965"/>
                </a:lnTo>
                <a:lnTo>
                  <a:pt x="990797" y="74272"/>
                </a:lnTo>
                <a:lnTo>
                  <a:pt x="1001347" y="79763"/>
                </a:lnTo>
                <a:lnTo>
                  <a:pt x="1011798" y="85438"/>
                </a:lnTo>
                <a:lnTo>
                  <a:pt x="1022150" y="91295"/>
                </a:lnTo>
                <a:lnTo>
                  <a:pt x="1032397" y="97331"/>
                </a:lnTo>
                <a:lnTo>
                  <a:pt x="1042538" y="103545"/>
                </a:lnTo>
                <a:lnTo>
                  <a:pt x="1052568" y="109935"/>
                </a:lnTo>
                <a:lnTo>
                  <a:pt x="1062486" y="116499"/>
                </a:lnTo>
                <a:lnTo>
                  <a:pt x="1072287" y="123236"/>
                </a:lnTo>
                <a:lnTo>
                  <a:pt x="1081969" y="130142"/>
                </a:lnTo>
                <a:lnTo>
                  <a:pt x="1091530" y="137216"/>
                </a:lnTo>
                <a:lnTo>
                  <a:pt x="1100965" y="144456"/>
                </a:lnTo>
                <a:lnTo>
                  <a:pt x="1110273" y="151860"/>
                </a:lnTo>
                <a:lnTo>
                  <a:pt x="1119450" y="159425"/>
                </a:lnTo>
                <a:lnTo>
                  <a:pt x="1128493" y="167149"/>
                </a:lnTo>
                <a:lnTo>
                  <a:pt x="1137401" y="175030"/>
                </a:lnTo>
                <a:lnTo>
                  <a:pt x="1146169" y="183064"/>
                </a:lnTo>
                <a:lnTo>
                  <a:pt x="1154796" y="191251"/>
                </a:lnTo>
                <a:lnTo>
                  <a:pt x="1163279" y="199587"/>
                </a:lnTo>
                <a:lnTo>
                  <a:pt x="1171615" y="208070"/>
                </a:lnTo>
                <a:lnTo>
                  <a:pt x="1179802" y="216697"/>
                </a:lnTo>
                <a:lnTo>
                  <a:pt x="1187837" y="225465"/>
                </a:lnTo>
                <a:lnTo>
                  <a:pt x="1195717" y="234373"/>
                </a:lnTo>
                <a:lnTo>
                  <a:pt x="1203441" y="243416"/>
                </a:lnTo>
                <a:lnTo>
                  <a:pt x="1211006" y="252593"/>
                </a:lnTo>
                <a:lnTo>
                  <a:pt x="1218410" y="261901"/>
                </a:lnTo>
                <a:lnTo>
                  <a:pt x="1225650" y="271336"/>
                </a:lnTo>
                <a:lnTo>
                  <a:pt x="1232724" y="280897"/>
                </a:lnTo>
                <a:lnTo>
                  <a:pt x="1239630" y="290579"/>
                </a:lnTo>
                <a:lnTo>
                  <a:pt x="1246367" y="300381"/>
                </a:lnTo>
                <a:lnTo>
                  <a:pt x="1252931" y="310298"/>
                </a:lnTo>
                <a:lnTo>
                  <a:pt x="1259321" y="320329"/>
                </a:lnTo>
                <a:lnTo>
                  <a:pt x="1265535" y="330469"/>
                </a:lnTo>
                <a:lnTo>
                  <a:pt x="1271572" y="340717"/>
                </a:lnTo>
                <a:lnTo>
                  <a:pt x="1277428" y="351068"/>
                </a:lnTo>
                <a:lnTo>
                  <a:pt x="1283103" y="361520"/>
                </a:lnTo>
                <a:lnTo>
                  <a:pt x="1288595" y="372069"/>
                </a:lnTo>
                <a:lnTo>
                  <a:pt x="1293901" y="382713"/>
                </a:lnTo>
                <a:lnTo>
                  <a:pt x="1299021" y="393447"/>
                </a:lnTo>
                <a:lnTo>
                  <a:pt x="1303953" y="404269"/>
                </a:lnTo>
                <a:lnTo>
                  <a:pt x="1308696" y="415176"/>
                </a:lnTo>
                <a:lnTo>
                  <a:pt x="1313247" y="426164"/>
                </a:lnTo>
                <a:lnTo>
                  <a:pt x="1317606" y="437229"/>
                </a:lnTo>
                <a:lnTo>
                  <a:pt x="1321771" y="448369"/>
                </a:lnTo>
                <a:lnTo>
                  <a:pt x="1325741" y="459580"/>
                </a:lnTo>
                <a:lnTo>
                  <a:pt x="1329515" y="470859"/>
                </a:lnTo>
                <a:lnTo>
                  <a:pt x="1333091" y="482201"/>
                </a:lnTo>
                <a:lnTo>
                  <a:pt x="1336469" y="493605"/>
                </a:lnTo>
                <a:lnTo>
                  <a:pt x="1339647" y="505065"/>
                </a:lnTo>
                <a:lnTo>
                  <a:pt x="1342625" y="516580"/>
                </a:lnTo>
                <a:lnTo>
                  <a:pt x="1345401" y="528144"/>
                </a:lnTo>
                <a:lnTo>
                  <a:pt x="1347975" y="539755"/>
                </a:lnTo>
                <a:lnTo>
                  <a:pt x="1350346" y="551410"/>
                </a:lnTo>
                <a:lnTo>
                  <a:pt x="1352514" y="563104"/>
                </a:lnTo>
                <a:lnTo>
                  <a:pt x="1354477" y="574834"/>
                </a:lnTo>
                <a:lnTo>
                  <a:pt x="1356235" y="586596"/>
                </a:lnTo>
                <a:lnTo>
                  <a:pt x="1357787" y="598387"/>
                </a:lnTo>
                <a:lnTo>
                  <a:pt x="1359133" y="610204"/>
                </a:lnTo>
                <a:lnTo>
                  <a:pt x="1360273" y="622042"/>
                </a:lnTo>
                <a:lnTo>
                  <a:pt x="1361206" y="633899"/>
                </a:lnTo>
                <a:lnTo>
                  <a:pt x="1361932" y="645770"/>
                </a:lnTo>
                <a:lnTo>
                  <a:pt x="1362451" y="657651"/>
                </a:lnTo>
                <a:lnTo>
                  <a:pt x="1362762" y="669540"/>
                </a:lnTo>
                <a:lnTo>
                  <a:pt x="1362866" y="681433"/>
                </a:lnTo>
                <a:lnTo>
                  <a:pt x="1362866" y="2944587"/>
                </a:lnTo>
                <a:lnTo>
                  <a:pt x="1543564" y="2944587"/>
                </a:lnTo>
                <a:lnTo>
                  <a:pt x="1289786" y="3344385"/>
                </a:lnTo>
                <a:lnTo>
                  <a:pt x="1036009" y="2944587"/>
                </a:lnTo>
                <a:lnTo>
                  <a:pt x="1216706" y="2944587"/>
                </a:lnTo>
                <a:lnTo>
                  <a:pt x="1216706" y="681433"/>
                </a:lnTo>
                <a:lnTo>
                  <a:pt x="1216706" y="681433"/>
                </a:lnTo>
                <a:lnTo>
                  <a:pt x="1216706" y="681433"/>
                </a:lnTo>
                <a:lnTo>
                  <a:pt x="1216625" y="672091"/>
                </a:lnTo>
                <a:lnTo>
                  <a:pt x="1216380" y="662752"/>
                </a:lnTo>
                <a:lnTo>
                  <a:pt x="1215973" y="653419"/>
                </a:lnTo>
                <a:lnTo>
                  <a:pt x="1215402" y="644094"/>
                </a:lnTo>
                <a:lnTo>
                  <a:pt x="1214669" y="634781"/>
                </a:lnTo>
                <a:lnTo>
                  <a:pt x="1213774" y="625482"/>
                </a:lnTo>
                <a:lnTo>
                  <a:pt x="1212716" y="616200"/>
                </a:lnTo>
                <a:lnTo>
                  <a:pt x="1211497" y="606938"/>
                </a:lnTo>
                <a:lnTo>
                  <a:pt x="1210116" y="597698"/>
                </a:lnTo>
                <a:lnTo>
                  <a:pt x="1208574" y="588484"/>
                </a:lnTo>
                <a:lnTo>
                  <a:pt x="1206872" y="579298"/>
                </a:lnTo>
                <a:lnTo>
                  <a:pt x="1205009" y="570144"/>
                </a:lnTo>
                <a:lnTo>
                  <a:pt x="1202987" y="561023"/>
                </a:lnTo>
                <a:lnTo>
                  <a:pt x="1200806" y="551939"/>
                </a:lnTo>
                <a:lnTo>
                  <a:pt x="1198467" y="542894"/>
                </a:lnTo>
                <a:lnTo>
                  <a:pt x="1195971" y="533892"/>
                </a:lnTo>
                <a:lnTo>
                  <a:pt x="1193317" y="524934"/>
                </a:lnTo>
                <a:lnTo>
                  <a:pt x="1190508" y="516025"/>
                </a:lnTo>
                <a:lnTo>
                  <a:pt x="1187544" y="507165"/>
                </a:lnTo>
                <a:lnTo>
                  <a:pt x="1184425" y="498359"/>
                </a:lnTo>
                <a:lnTo>
                  <a:pt x="1181154" y="489608"/>
                </a:lnTo>
                <a:lnTo>
                  <a:pt x="1177730" y="480916"/>
                </a:lnTo>
                <a:lnTo>
                  <a:pt x="1174155" y="472285"/>
                </a:lnTo>
                <a:lnTo>
                  <a:pt x="1170429" y="463718"/>
                </a:lnTo>
                <a:lnTo>
                  <a:pt x="1166555" y="455217"/>
                </a:lnTo>
                <a:lnTo>
                  <a:pt x="1162533" y="446785"/>
                </a:lnTo>
                <a:lnTo>
                  <a:pt x="1158365" y="438424"/>
                </a:lnTo>
                <a:lnTo>
                  <a:pt x="1154051" y="430138"/>
                </a:lnTo>
                <a:lnTo>
                  <a:pt x="1149594" y="421928"/>
                </a:lnTo>
                <a:lnTo>
                  <a:pt x="1144993" y="413797"/>
                </a:lnTo>
                <a:lnTo>
                  <a:pt x="1140252" y="405747"/>
                </a:lnTo>
                <a:lnTo>
                  <a:pt x="1135370" y="397782"/>
                </a:lnTo>
                <a:lnTo>
                  <a:pt x="1130351" y="389903"/>
                </a:lnTo>
                <a:lnTo>
                  <a:pt x="1125195" y="382112"/>
                </a:lnTo>
                <a:lnTo>
                  <a:pt x="1119903" y="374413"/>
                </a:lnTo>
                <a:lnTo>
                  <a:pt x="1114478" y="366807"/>
                </a:lnTo>
                <a:lnTo>
                  <a:pt x="1108921" y="359298"/>
                </a:lnTo>
                <a:lnTo>
                  <a:pt x="1103234" y="351886"/>
                </a:lnTo>
                <a:lnTo>
                  <a:pt x="1097418" y="344575"/>
                </a:lnTo>
                <a:lnTo>
                  <a:pt x="1091476" y="337366"/>
                </a:lnTo>
                <a:lnTo>
                  <a:pt x="1085409" y="330262"/>
                </a:lnTo>
                <a:lnTo>
                  <a:pt x="1079219" y="323266"/>
                </a:lnTo>
                <a:lnTo>
                  <a:pt x="1072907" y="316378"/>
                </a:lnTo>
                <a:lnTo>
                  <a:pt x="1066476" y="309601"/>
                </a:lnTo>
                <a:lnTo>
                  <a:pt x="1059928" y="302938"/>
                </a:lnTo>
                <a:lnTo>
                  <a:pt x="1053265" y="296390"/>
                </a:lnTo>
                <a:lnTo>
                  <a:pt x="1046489" y="289959"/>
                </a:lnTo>
                <a:lnTo>
                  <a:pt x="1039601" y="283648"/>
                </a:lnTo>
                <a:lnTo>
                  <a:pt x="1032604" y="277457"/>
                </a:lnTo>
                <a:lnTo>
                  <a:pt x="1025500" y="271390"/>
                </a:lnTo>
                <a:lnTo>
                  <a:pt x="1018291" y="265448"/>
                </a:lnTo>
                <a:lnTo>
                  <a:pt x="1010980" y="259632"/>
                </a:lnTo>
                <a:lnTo>
                  <a:pt x="1003569" y="253945"/>
                </a:lnTo>
                <a:lnTo>
                  <a:pt x="996059" y="248388"/>
                </a:lnTo>
                <a:lnTo>
                  <a:pt x="988453" y="242963"/>
                </a:lnTo>
                <a:lnTo>
                  <a:pt x="980754" y="237672"/>
                </a:lnTo>
                <a:lnTo>
                  <a:pt x="972964" y="232515"/>
                </a:lnTo>
                <a:lnTo>
                  <a:pt x="965085" y="227496"/>
                </a:lnTo>
                <a:lnTo>
                  <a:pt x="957119" y="222615"/>
                </a:lnTo>
                <a:lnTo>
                  <a:pt x="949070" y="217873"/>
                </a:lnTo>
                <a:lnTo>
                  <a:pt x="940939" y="213273"/>
                </a:lnTo>
                <a:lnTo>
                  <a:pt x="932729" y="208815"/>
                </a:lnTo>
                <a:lnTo>
                  <a:pt x="924442" y="204501"/>
                </a:lnTo>
                <a:lnTo>
                  <a:pt x="916081" y="200333"/>
                </a:lnTo>
                <a:lnTo>
                  <a:pt x="907649" y="196311"/>
                </a:lnTo>
                <a:lnTo>
                  <a:pt x="899148" y="192437"/>
                </a:lnTo>
                <a:lnTo>
                  <a:pt x="890581" y="188712"/>
                </a:lnTo>
                <a:lnTo>
                  <a:pt x="881950" y="185137"/>
                </a:lnTo>
                <a:lnTo>
                  <a:pt x="873258" y="181713"/>
                </a:lnTo>
                <a:lnTo>
                  <a:pt x="864507" y="178441"/>
                </a:lnTo>
                <a:lnTo>
                  <a:pt x="855701" y="175322"/>
                </a:lnTo>
                <a:lnTo>
                  <a:pt x="846842" y="172358"/>
                </a:lnTo>
                <a:lnTo>
                  <a:pt x="837932" y="169549"/>
                </a:lnTo>
                <a:lnTo>
                  <a:pt x="828974" y="166896"/>
                </a:lnTo>
                <a:lnTo>
                  <a:pt x="819972" y="164399"/>
                </a:lnTo>
                <a:lnTo>
                  <a:pt x="810927" y="162060"/>
                </a:lnTo>
                <a:lnTo>
                  <a:pt x="801843" y="159879"/>
                </a:lnTo>
                <a:lnTo>
                  <a:pt x="792723" y="157857"/>
                </a:lnTo>
                <a:lnTo>
                  <a:pt x="783568" y="155995"/>
                </a:lnTo>
                <a:lnTo>
                  <a:pt x="774382" y="154292"/>
                </a:lnTo>
                <a:lnTo>
                  <a:pt x="765168" y="152750"/>
                </a:lnTo>
                <a:lnTo>
                  <a:pt x="755929" y="151369"/>
                </a:lnTo>
                <a:lnTo>
                  <a:pt x="746667" y="150150"/>
                </a:lnTo>
                <a:lnTo>
                  <a:pt x="737384" y="149092"/>
                </a:lnTo>
                <a:lnTo>
                  <a:pt x="728085" y="148197"/>
                </a:lnTo>
                <a:lnTo>
                  <a:pt x="718772" y="147464"/>
                </a:lnTo>
                <a:lnTo>
                  <a:pt x="709447" y="146894"/>
                </a:lnTo>
                <a:lnTo>
                  <a:pt x="700114" y="146486"/>
                </a:lnTo>
                <a:lnTo>
                  <a:pt x="690775" y="146242"/>
                </a:lnTo>
                <a:lnTo>
                  <a:pt x="681433" y="146160"/>
                </a:lnTo>
                <a:lnTo>
                  <a:pt x="681433" y="146160"/>
                </a:lnTo>
                <a:lnTo>
                  <a:pt x="681433" y="146160"/>
                </a:lnTo>
                <a:lnTo>
                  <a:pt x="672091" y="146242"/>
                </a:lnTo>
                <a:lnTo>
                  <a:pt x="662752" y="146486"/>
                </a:lnTo>
                <a:lnTo>
                  <a:pt x="653419" y="146894"/>
                </a:lnTo>
                <a:lnTo>
                  <a:pt x="644094" y="147464"/>
                </a:lnTo>
                <a:lnTo>
                  <a:pt x="634781" y="148197"/>
                </a:lnTo>
                <a:lnTo>
                  <a:pt x="625482" y="149092"/>
                </a:lnTo>
                <a:lnTo>
                  <a:pt x="616200" y="150150"/>
                </a:lnTo>
                <a:lnTo>
                  <a:pt x="606938" y="151369"/>
                </a:lnTo>
                <a:lnTo>
                  <a:pt x="597698" y="152750"/>
                </a:lnTo>
                <a:lnTo>
                  <a:pt x="588484" y="154292"/>
                </a:lnTo>
                <a:lnTo>
                  <a:pt x="579298" y="155995"/>
                </a:lnTo>
                <a:lnTo>
                  <a:pt x="570144" y="157857"/>
                </a:lnTo>
                <a:lnTo>
                  <a:pt x="561023" y="159879"/>
                </a:lnTo>
                <a:lnTo>
                  <a:pt x="551939" y="162060"/>
                </a:lnTo>
                <a:lnTo>
                  <a:pt x="542894" y="164399"/>
                </a:lnTo>
                <a:lnTo>
                  <a:pt x="533892" y="166896"/>
                </a:lnTo>
                <a:lnTo>
                  <a:pt x="524934" y="169549"/>
                </a:lnTo>
                <a:lnTo>
                  <a:pt x="516025" y="172358"/>
                </a:lnTo>
                <a:lnTo>
                  <a:pt x="507165" y="175322"/>
                </a:lnTo>
                <a:lnTo>
                  <a:pt x="498359" y="178441"/>
                </a:lnTo>
                <a:lnTo>
                  <a:pt x="489608" y="181713"/>
                </a:lnTo>
                <a:lnTo>
                  <a:pt x="480916" y="185137"/>
                </a:lnTo>
                <a:lnTo>
                  <a:pt x="472285" y="188712"/>
                </a:lnTo>
                <a:lnTo>
                  <a:pt x="463718" y="192437"/>
                </a:lnTo>
                <a:lnTo>
                  <a:pt x="455217" y="196311"/>
                </a:lnTo>
                <a:lnTo>
                  <a:pt x="446785" y="200333"/>
                </a:lnTo>
                <a:lnTo>
                  <a:pt x="438424" y="204501"/>
                </a:lnTo>
                <a:lnTo>
                  <a:pt x="430138" y="208815"/>
                </a:lnTo>
                <a:lnTo>
                  <a:pt x="421928" y="213273"/>
                </a:lnTo>
                <a:lnTo>
                  <a:pt x="413797" y="217873"/>
                </a:lnTo>
                <a:lnTo>
                  <a:pt x="405747" y="222615"/>
                </a:lnTo>
                <a:lnTo>
                  <a:pt x="397782" y="227496"/>
                </a:lnTo>
                <a:lnTo>
                  <a:pt x="389903" y="232515"/>
                </a:lnTo>
                <a:lnTo>
                  <a:pt x="382112" y="237672"/>
                </a:lnTo>
                <a:lnTo>
                  <a:pt x="374413" y="242963"/>
                </a:lnTo>
                <a:lnTo>
                  <a:pt x="366807" y="248388"/>
                </a:lnTo>
                <a:lnTo>
                  <a:pt x="359298" y="253945"/>
                </a:lnTo>
                <a:lnTo>
                  <a:pt x="351886" y="259632"/>
                </a:lnTo>
                <a:lnTo>
                  <a:pt x="344575" y="265448"/>
                </a:lnTo>
                <a:lnTo>
                  <a:pt x="337366" y="271390"/>
                </a:lnTo>
                <a:lnTo>
                  <a:pt x="330262" y="277457"/>
                </a:lnTo>
                <a:lnTo>
                  <a:pt x="323266" y="283648"/>
                </a:lnTo>
                <a:lnTo>
                  <a:pt x="316378" y="289959"/>
                </a:lnTo>
                <a:lnTo>
                  <a:pt x="309601" y="296390"/>
                </a:lnTo>
                <a:lnTo>
                  <a:pt x="302938" y="302938"/>
                </a:lnTo>
                <a:lnTo>
                  <a:pt x="296390" y="309601"/>
                </a:lnTo>
                <a:lnTo>
                  <a:pt x="289959" y="316378"/>
                </a:lnTo>
                <a:lnTo>
                  <a:pt x="283648" y="323266"/>
                </a:lnTo>
                <a:lnTo>
                  <a:pt x="277457" y="330262"/>
                </a:lnTo>
                <a:lnTo>
                  <a:pt x="271390" y="337366"/>
                </a:lnTo>
                <a:lnTo>
                  <a:pt x="265448" y="344575"/>
                </a:lnTo>
                <a:lnTo>
                  <a:pt x="259632" y="351886"/>
                </a:lnTo>
                <a:lnTo>
                  <a:pt x="253945" y="359298"/>
                </a:lnTo>
                <a:lnTo>
                  <a:pt x="248388" y="366807"/>
                </a:lnTo>
                <a:lnTo>
                  <a:pt x="242963" y="374413"/>
                </a:lnTo>
                <a:lnTo>
                  <a:pt x="237672" y="382112"/>
                </a:lnTo>
                <a:lnTo>
                  <a:pt x="232515" y="389903"/>
                </a:lnTo>
                <a:lnTo>
                  <a:pt x="227496" y="397782"/>
                </a:lnTo>
                <a:lnTo>
                  <a:pt x="222615" y="405747"/>
                </a:lnTo>
                <a:lnTo>
                  <a:pt x="217873" y="413797"/>
                </a:lnTo>
                <a:lnTo>
                  <a:pt x="213273" y="421928"/>
                </a:lnTo>
                <a:lnTo>
                  <a:pt x="208815" y="430138"/>
                </a:lnTo>
                <a:lnTo>
                  <a:pt x="204501" y="438424"/>
                </a:lnTo>
                <a:lnTo>
                  <a:pt x="200333" y="446785"/>
                </a:lnTo>
                <a:lnTo>
                  <a:pt x="196311" y="455217"/>
                </a:lnTo>
                <a:lnTo>
                  <a:pt x="192437" y="463718"/>
                </a:lnTo>
                <a:lnTo>
                  <a:pt x="188712" y="472285"/>
                </a:lnTo>
                <a:lnTo>
                  <a:pt x="185137" y="480916"/>
                </a:lnTo>
                <a:lnTo>
                  <a:pt x="181713" y="489608"/>
                </a:lnTo>
                <a:lnTo>
                  <a:pt x="178441" y="498359"/>
                </a:lnTo>
                <a:lnTo>
                  <a:pt x="175322" y="507165"/>
                </a:lnTo>
                <a:lnTo>
                  <a:pt x="172358" y="516025"/>
                </a:lnTo>
                <a:lnTo>
                  <a:pt x="169549" y="524934"/>
                </a:lnTo>
                <a:lnTo>
                  <a:pt x="166896" y="533892"/>
                </a:lnTo>
                <a:lnTo>
                  <a:pt x="164399" y="542894"/>
                </a:lnTo>
                <a:lnTo>
                  <a:pt x="162060" y="551939"/>
                </a:lnTo>
                <a:lnTo>
                  <a:pt x="159879" y="561023"/>
                </a:lnTo>
                <a:lnTo>
                  <a:pt x="157857" y="570144"/>
                </a:lnTo>
                <a:lnTo>
                  <a:pt x="155995" y="579298"/>
                </a:lnTo>
                <a:lnTo>
                  <a:pt x="154292" y="588484"/>
                </a:lnTo>
                <a:lnTo>
                  <a:pt x="152750" y="597698"/>
                </a:lnTo>
                <a:lnTo>
                  <a:pt x="151369" y="606938"/>
                </a:lnTo>
                <a:lnTo>
                  <a:pt x="150150" y="616200"/>
                </a:lnTo>
                <a:lnTo>
                  <a:pt x="149092" y="625482"/>
                </a:lnTo>
                <a:lnTo>
                  <a:pt x="148197" y="634781"/>
                </a:lnTo>
                <a:lnTo>
                  <a:pt x="147464" y="644094"/>
                </a:lnTo>
                <a:lnTo>
                  <a:pt x="146894" y="653419"/>
                </a:lnTo>
                <a:lnTo>
                  <a:pt x="146486" y="662752"/>
                </a:lnTo>
                <a:lnTo>
                  <a:pt x="146242" y="672091"/>
                </a:lnTo>
                <a:lnTo>
                  <a:pt x="146160" y="3344385"/>
                </a:lnTo>
                <a:close/>
              </a:path>
            </a:pathLst>
          </a:custGeom>
          <a:solidFill>
            <a:srgbClr val="1C1C1C"/>
          </a:solidFill>
        </p:spPr>
      </p:sp>
      <p:sp>
        <p:nvSpPr>
          <p:cNvPr id="18" name="Text 16"/>
          <p:cNvSpPr/>
          <p:nvPr/>
        </p:nvSpPr>
        <p:spPr>
          <a:xfrm rot="16200000">
            <a:off x="3512458" y="2667001"/>
            <a:ext cx="1611086" cy="349068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rot="5400000" flipH="1">
            <a:off x="7003142" y="1208315"/>
            <a:ext cx="1611086" cy="3490684"/>
          </a:xfrm>
          <a:custGeom>
            <a:avLst/>
            <a:gdLst/>
            <a:ahLst/>
            <a:cxnLst/>
            <a:rect l="l" t="t" r="r" b="b"/>
            <a:pathLst>
              <a:path w="1611086" h="3490684">
                <a:moveTo>
                  <a:pt x="0" y="3344385"/>
                </a:moveTo>
                <a:lnTo>
                  <a:pt x="0" y="681433"/>
                </a:lnTo>
                <a:lnTo>
                  <a:pt x="0" y="681433"/>
                </a:lnTo>
                <a:lnTo>
                  <a:pt x="0" y="681433"/>
                </a:lnTo>
                <a:lnTo>
                  <a:pt x="104" y="669540"/>
                </a:lnTo>
                <a:lnTo>
                  <a:pt x="415" y="657651"/>
                </a:lnTo>
                <a:lnTo>
                  <a:pt x="934" y="645770"/>
                </a:lnTo>
                <a:lnTo>
                  <a:pt x="1660" y="633899"/>
                </a:lnTo>
                <a:lnTo>
                  <a:pt x="2593" y="622042"/>
                </a:lnTo>
                <a:lnTo>
                  <a:pt x="3733" y="610204"/>
                </a:lnTo>
                <a:lnTo>
                  <a:pt x="5079" y="598387"/>
                </a:lnTo>
                <a:lnTo>
                  <a:pt x="6632" y="586596"/>
                </a:lnTo>
                <a:lnTo>
                  <a:pt x="8390" y="574834"/>
                </a:lnTo>
                <a:lnTo>
                  <a:pt x="10353" y="563104"/>
                </a:lnTo>
                <a:lnTo>
                  <a:pt x="12520" y="551410"/>
                </a:lnTo>
                <a:lnTo>
                  <a:pt x="14891" y="539755"/>
                </a:lnTo>
                <a:lnTo>
                  <a:pt x="17465" y="528144"/>
                </a:lnTo>
                <a:lnTo>
                  <a:pt x="20241" y="516580"/>
                </a:lnTo>
                <a:lnTo>
                  <a:pt x="23219" y="505065"/>
                </a:lnTo>
                <a:lnTo>
                  <a:pt x="26398" y="493605"/>
                </a:lnTo>
                <a:lnTo>
                  <a:pt x="29775" y="482201"/>
                </a:lnTo>
                <a:lnTo>
                  <a:pt x="33352" y="470859"/>
                </a:lnTo>
                <a:lnTo>
                  <a:pt x="37125" y="459580"/>
                </a:lnTo>
                <a:lnTo>
                  <a:pt x="41095" y="448369"/>
                </a:lnTo>
                <a:lnTo>
                  <a:pt x="45260" y="437229"/>
                </a:lnTo>
                <a:lnTo>
                  <a:pt x="49619" y="426164"/>
                </a:lnTo>
                <a:lnTo>
                  <a:pt x="54171" y="415176"/>
                </a:lnTo>
                <a:lnTo>
                  <a:pt x="58913" y="404269"/>
                </a:lnTo>
                <a:lnTo>
                  <a:pt x="63845" y="393447"/>
                </a:lnTo>
                <a:lnTo>
                  <a:pt x="68965" y="382713"/>
                </a:lnTo>
                <a:lnTo>
                  <a:pt x="74272" y="372069"/>
                </a:lnTo>
                <a:lnTo>
                  <a:pt x="79763" y="361520"/>
                </a:lnTo>
                <a:lnTo>
                  <a:pt x="85438" y="351068"/>
                </a:lnTo>
                <a:lnTo>
                  <a:pt x="91295" y="340717"/>
                </a:lnTo>
                <a:lnTo>
                  <a:pt x="97331" y="330469"/>
                </a:lnTo>
                <a:lnTo>
                  <a:pt x="103545" y="320329"/>
                </a:lnTo>
                <a:lnTo>
                  <a:pt x="109935" y="310298"/>
                </a:lnTo>
                <a:lnTo>
                  <a:pt x="116499" y="300381"/>
                </a:lnTo>
                <a:lnTo>
                  <a:pt x="123236" y="290579"/>
                </a:lnTo>
                <a:lnTo>
                  <a:pt x="130142" y="280897"/>
                </a:lnTo>
                <a:lnTo>
                  <a:pt x="137216" y="271336"/>
                </a:lnTo>
                <a:lnTo>
                  <a:pt x="144456" y="261901"/>
                </a:lnTo>
                <a:lnTo>
                  <a:pt x="151860" y="252593"/>
                </a:lnTo>
                <a:lnTo>
                  <a:pt x="159425" y="243416"/>
                </a:lnTo>
                <a:lnTo>
                  <a:pt x="167149" y="234373"/>
                </a:lnTo>
                <a:lnTo>
                  <a:pt x="175030" y="225465"/>
                </a:lnTo>
                <a:lnTo>
                  <a:pt x="183064" y="216697"/>
                </a:lnTo>
                <a:lnTo>
                  <a:pt x="191251" y="208070"/>
                </a:lnTo>
                <a:lnTo>
                  <a:pt x="199587" y="199587"/>
                </a:lnTo>
                <a:lnTo>
                  <a:pt x="208070" y="191251"/>
                </a:lnTo>
                <a:lnTo>
                  <a:pt x="216697" y="183064"/>
                </a:lnTo>
                <a:lnTo>
                  <a:pt x="225465" y="175030"/>
                </a:lnTo>
                <a:lnTo>
                  <a:pt x="234373" y="167149"/>
                </a:lnTo>
                <a:lnTo>
                  <a:pt x="243416" y="159425"/>
                </a:lnTo>
                <a:lnTo>
                  <a:pt x="252593" y="151860"/>
                </a:lnTo>
                <a:lnTo>
                  <a:pt x="261901" y="144456"/>
                </a:lnTo>
                <a:lnTo>
                  <a:pt x="271336" y="137216"/>
                </a:lnTo>
                <a:lnTo>
                  <a:pt x="280897" y="130142"/>
                </a:lnTo>
                <a:lnTo>
                  <a:pt x="290579" y="123236"/>
                </a:lnTo>
                <a:lnTo>
                  <a:pt x="300381" y="116499"/>
                </a:lnTo>
                <a:lnTo>
                  <a:pt x="310298" y="109935"/>
                </a:lnTo>
                <a:lnTo>
                  <a:pt x="320329" y="103545"/>
                </a:lnTo>
                <a:lnTo>
                  <a:pt x="330469" y="97331"/>
                </a:lnTo>
                <a:lnTo>
                  <a:pt x="340717" y="91295"/>
                </a:lnTo>
                <a:lnTo>
                  <a:pt x="351068" y="85438"/>
                </a:lnTo>
                <a:lnTo>
                  <a:pt x="361520" y="79763"/>
                </a:lnTo>
                <a:lnTo>
                  <a:pt x="372069" y="74272"/>
                </a:lnTo>
                <a:lnTo>
                  <a:pt x="382713" y="68965"/>
                </a:lnTo>
                <a:lnTo>
                  <a:pt x="393447" y="63845"/>
                </a:lnTo>
                <a:lnTo>
                  <a:pt x="404269" y="58913"/>
                </a:lnTo>
                <a:lnTo>
                  <a:pt x="415176" y="54171"/>
                </a:lnTo>
                <a:lnTo>
                  <a:pt x="426164" y="49619"/>
                </a:lnTo>
                <a:lnTo>
                  <a:pt x="437229" y="45260"/>
                </a:lnTo>
                <a:lnTo>
                  <a:pt x="448369" y="41095"/>
                </a:lnTo>
                <a:lnTo>
                  <a:pt x="459580" y="37125"/>
                </a:lnTo>
                <a:lnTo>
                  <a:pt x="470859" y="33352"/>
                </a:lnTo>
                <a:lnTo>
                  <a:pt x="482201" y="29775"/>
                </a:lnTo>
                <a:lnTo>
                  <a:pt x="493605" y="26398"/>
                </a:lnTo>
                <a:lnTo>
                  <a:pt x="505065" y="23219"/>
                </a:lnTo>
                <a:lnTo>
                  <a:pt x="516580" y="20241"/>
                </a:lnTo>
                <a:lnTo>
                  <a:pt x="528144" y="17465"/>
                </a:lnTo>
                <a:lnTo>
                  <a:pt x="539755" y="14891"/>
                </a:lnTo>
                <a:lnTo>
                  <a:pt x="551410" y="12520"/>
                </a:lnTo>
                <a:lnTo>
                  <a:pt x="563104" y="10353"/>
                </a:lnTo>
                <a:lnTo>
                  <a:pt x="574834" y="8390"/>
                </a:lnTo>
                <a:lnTo>
                  <a:pt x="586596" y="6632"/>
                </a:lnTo>
                <a:lnTo>
                  <a:pt x="598387" y="5079"/>
                </a:lnTo>
                <a:lnTo>
                  <a:pt x="610204" y="3733"/>
                </a:lnTo>
                <a:lnTo>
                  <a:pt x="622042" y="2593"/>
                </a:lnTo>
                <a:lnTo>
                  <a:pt x="633899" y="1660"/>
                </a:lnTo>
                <a:lnTo>
                  <a:pt x="645770" y="934"/>
                </a:lnTo>
                <a:lnTo>
                  <a:pt x="657651" y="415"/>
                </a:lnTo>
                <a:lnTo>
                  <a:pt x="669540" y="104"/>
                </a:lnTo>
                <a:lnTo>
                  <a:pt x="681433" y="0"/>
                </a:lnTo>
                <a:lnTo>
                  <a:pt x="681433" y="0"/>
                </a:lnTo>
                <a:lnTo>
                  <a:pt x="681433" y="0"/>
                </a:lnTo>
                <a:lnTo>
                  <a:pt x="681433" y="0"/>
                </a:lnTo>
                <a:lnTo>
                  <a:pt x="693326" y="104"/>
                </a:lnTo>
                <a:lnTo>
                  <a:pt x="705215" y="415"/>
                </a:lnTo>
                <a:lnTo>
                  <a:pt x="717097" y="934"/>
                </a:lnTo>
                <a:lnTo>
                  <a:pt x="728968" y="1660"/>
                </a:lnTo>
                <a:lnTo>
                  <a:pt x="740824" y="2593"/>
                </a:lnTo>
                <a:lnTo>
                  <a:pt x="752662" y="3733"/>
                </a:lnTo>
                <a:lnTo>
                  <a:pt x="764479" y="5079"/>
                </a:lnTo>
                <a:lnTo>
                  <a:pt x="776270" y="6632"/>
                </a:lnTo>
                <a:lnTo>
                  <a:pt x="788033" y="8390"/>
                </a:lnTo>
                <a:lnTo>
                  <a:pt x="799763" y="10353"/>
                </a:lnTo>
                <a:lnTo>
                  <a:pt x="811457" y="12520"/>
                </a:lnTo>
                <a:lnTo>
                  <a:pt x="823111" y="14891"/>
                </a:lnTo>
                <a:lnTo>
                  <a:pt x="834722" y="17465"/>
                </a:lnTo>
                <a:lnTo>
                  <a:pt x="846287" y="20241"/>
                </a:lnTo>
                <a:lnTo>
                  <a:pt x="857801" y="23219"/>
                </a:lnTo>
                <a:lnTo>
                  <a:pt x="869262" y="26398"/>
                </a:lnTo>
                <a:lnTo>
                  <a:pt x="880665" y="29775"/>
                </a:lnTo>
                <a:lnTo>
                  <a:pt x="892008" y="33352"/>
                </a:lnTo>
                <a:lnTo>
                  <a:pt x="903286" y="37125"/>
                </a:lnTo>
                <a:lnTo>
                  <a:pt x="914497" y="41095"/>
                </a:lnTo>
                <a:lnTo>
                  <a:pt x="925637" y="45260"/>
                </a:lnTo>
                <a:lnTo>
                  <a:pt x="936702" y="49619"/>
                </a:lnTo>
                <a:lnTo>
                  <a:pt x="947690" y="54171"/>
                </a:lnTo>
                <a:lnTo>
                  <a:pt x="958597" y="58913"/>
                </a:lnTo>
                <a:lnTo>
                  <a:pt x="969419" y="63845"/>
                </a:lnTo>
                <a:lnTo>
                  <a:pt x="980154" y="68965"/>
                </a:lnTo>
                <a:lnTo>
                  <a:pt x="990797" y="74272"/>
                </a:lnTo>
                <a:lnTo>
                  <a:pt x="1001347" y="79763"/>
                </a:lnTo>
                <a:lnTo>
                  <a:pt x="1011798" y="85438"/>
                </a:lnTo>
                <a:lnTo>
                  <a:pt x="1022150" y="91295"/>
                </a:lnTo>
                <a:lnTo>
                  <a:pt x="1032397" y="97331"/>
                </a:lnTo>
                <a:lnTo>
                  <a:pt x="1042538" y="103545"/>
                </a:lnTo>
                <a:lnTo>
                  <a:pt x="1052568" y="109935"/>
                </a:lnTo>
                <a:lnTo>
                  <a:pt x="1062486" y="116499"/>
                </a:lnTo>
                <a:lnTo>
                  <a:pt x="1072287" y="123236"/>
                </a:lnTo>
                <a:lnTo>
                  <a:pt x="1081969" y="130142"/>
                </a:lnTo>
                <a:lnTo>
                  <a:pt x="1091530" y="137216"/>
                </a:lnTo>
                <a:lnTo>
                  <a:pt x="1100965" y="144456"/>
                </a:lnTo>
                <a:lnTo>
                  <a:pt x="1110273" y="151860"/>
                </a:lnTo>
                <a:lnTo>
                  <a:pt x="1119450" y="159425"/>
                </a:lnTo>
                <a:lnTo>
                  <a:pt x="1128493" y="167149"/>
                </a:lnTo>
                <a:lnTo>
                  <a:pt x="1137401" y="175030"/>
                </a:lnTo>
                <a:lnTo>
                  <a:pt x="1146169" y="183064"/>
                </a:lnTo>
                <a:lnTo>
                  <a:pt x="1154796" y="191251"/>
                </a:lnTo>
                <a:lnTo>
                  <a:pt x="1163279" y="199587"/>
                </a:lnTo>
                <a:lnTo>
                  <a:pt x="1171615" y="208070"/>
                </a:lnTo>
                <a:lnTo>
                  <a:pt x="1179802" y="216697"/>
                </a:lnTo>
                <a:lnTo>
                  <a:pt x="1187837" y="225465"/>
                </a:lnTo>
                <a:lnTo>
                  <a:pt x="1195717" y="234373"/>
                </a:lnTo>
                <a:lnTo>
                  <a:pt x="1203441" y="243416"/>
                </a:lnTo>
                <a:lnTo>
                  <a:pt x="1211006" y="252593"/>
                </a:lnTo>
                <a:lnTo>
                  <a:pt x="1218410" y="261901"/>
                </a:lnTo>
                <a:lnTo>
                  <a:pt x="1225650" y="271336"/>
                </a:lnTo>
                <a:lnTo>
                  <a:pt x="1232724" y="280897"/>
                </a:lnTo>
                <a:lnTo>
                  <a:pt x="1239630" y="290579"/>
                </a:lnTo>
                <a:lnTo>
                  <a:pt x="1246367" y="300381"/>
                </a:lnTo>
                <a:lnTo>
                  <a:pt x="1252931" y="310298"/>
                </a:lnTo>
                <a:lnTo>
                  <a:pt x="1259321" y="320329"/>
                </a:lnTo>
                <a:lnTo>
                  <a:pt x="1265535" y="330469"/>
                </a:lnTo>
                <a:lnTo>
                  <a:pt x="1271572" y="340717"/>
                </a:lnTo>
                <a:lnTo>
                  <a:pt x="1277428" y="351068"/>
                </a:lnTo>
                <a:lnTo>
                  <a:pt x="1283103" y="361520"/>
                </a:lnTo>
                <a:lnTo>
                  <a:pt x="1288595" y="372069"/>
                </a:lnTo>
                <a:lnTo>
                  <a:pt x="1293901" y="382713"/>
                </a:lnTo>
                <a:lnTo>
                  <a:pt x="1299021" y="393447"/>
                </a:lnTo>
                <a:lnTo>
                  <a:pt x="1303953" y="404269"/>
                </a:lnTo>
                <a:lnTo>
                  <a:pt x="1308696" y="415176"/>
                </a:lnTo>
                <a:lnTo>
                  <a:pt x="1313247" y="426164"/>
                </a:lnTo>
                <a:lnTo>
                  <a:pt x="1317606" y="437229"/>
                </a:lnTo>
                <a:lnTo>
                  <a:pt x="1321771" y="448369"/>
                </a:lnTo>
                <a:lnTo>
                  <a:pt x="1325741" y="459580"/>
                </a:lnTo>
                <a:lnTo>
                  <a:pt x="1329515" y="470859"/>
                </a:lnTo>
                <a:lnTo>
                  <a:pt x="1333091" y="482201"/>
                </a:lnTo>
                <a:lnTo>
                  <a:pt x="1336469" y="493605"/>
                </a:lnTo>
                <a:lnTo>
                  <a:pt x="1339647" y="505065"/>
                </a:lnTo>
                <a:lnTo>
                  <a:pt x="1342625" y="516580"/>
                </a:lnTo>
                <a:lnTo>
                  <a:pt x="1345401" y="528144"/>
                </a:lnTo>
                <a:lnTo>
                  <a:pt x="1347975" y="539755"/>
                </a:lnTo>
                <a:lnTo>
                  <a:pt x="1350346" y="551410"/>
                </a:lnTo>
                <a:lnTo>
                  <a:pt x="1352514" y="563104"/>
                </a:lnTo>
                <a:lnTo>
                  <a:pt x="1354477" y="574834"/>
                </a:lnTo>
                <a:lnTo>
                  <a:pt x="1356235" y="586596"/>
                </a:lnTo>
                <a:lnTo>
                  <a:pt x="1357787" y="598387"/>
                </a:lnTo>
                <a:lnTo>
                  <a:pt x="1359133" y="610204"/>
                </a:lnTo>
                <a:lnTo>
                  <a:pt x="1360273" y="622042"/>
                </a:lnTo>
                <a:lnTo>
                  <a:pt x="1361206" y="633899"/>
                </a:lnTo>
                <a:lnTo>
                  <a:pt x="1361932" y="645770"/>
                </a:lnTo>
                <a:lnTo>
                  <a:pt x="1362451" y="657651"/>
                </a:lnTo>
                <a:lnTo>
                  <a:pt x="1362762" y="669540"/>
                </a:lnTo>
                <a:lnTo>
                  <a:pt x="1362866" y="681433"/>
                </a:lnTo>
                <a:lnTo>
                  <a:pt x="1362866" y="2944587"/>
                </a:lnTo>
                <a:lnTo>
                  <a:pt x="1543564" y="2944587"/>
                </a:lnTo>
                <a:lnTo>
                  <a:pt x="1289786" y="3344385"/>
                </a:lnTo>
                <a:lnTo>
                  <a:pt x="1036009" y="2944587"/>
                </a:lnTo>
                <a:lnTo>
                  <a:pt x="1216706" y="2944587"/>
                </a:lnTo>
                <a:lnTo>
                  <a:pt x="1216706" y="681433"/>
                </a:lnTo>
                <a:lnTo>
                  <a:pt x="1216706" y="681433"/>
                </a:lnTo>
                <a:lnTo>
                  <a:pt x="1216706" y="681433"/>
                </a:lnTo>
                <a:lnTo>
                  <a:pt x="1216625" y="672091"/>
                </a:lnTo>
                <a:lnTo>
                  <a:pt x="1216380" y="662752"/>
                </a:lnTo>
                <a:lnTo>
                  <a:pt x="1215973" y="653419"/>
                </a:lnTo>
                <a:lnTo>
                  <a:pt x="1215402" y="644094"/>
                </a:lnTo>
                <a:lnTo>
                  <a:pt x="1214669" y="634781"/>
                </a:lnTo>
                <a:lnTo>
                  <a:pt x="1213774" y="625482"/>
                </a:lnTo>
                <a:lnTo>
                  <a:pt x="1212716" y="616200"/>
                </a:lnTo>
                <a:lnTo>
                  <a:pt x="1211497" y="606938"/>
                </a:lnTo>
                <a:lnTo>
                  <a:pt x="1210116" y="597698"/>
                </a:lnTo>
                <a:lnTo>
                  <a:pt x="1208574" y="588484"/>
                </a:lnTo>
                <a:lnTo>
                  <a:pt x="1206872" y="579298"/>
                </a:lnTo>
                <a:lnTo>
                  <a:pt x="1205009" y="570144"/>
                </a:lnTo>
                <a:lnTo>
                  <a:pt x="1202987" y="561023"/>
                </a:lnTo>
                <a:lnTo>
                  <a:pt x="1200806" y="551939"/>
                </a:lnTo>
                <a:lnTo>
                  <a:pt x="1198467" y="542894"/>
                </a:lnTo>
                <a:lnTo>
                  <a:pt x="1195971" y="533892"/>
                </a:lnTo>
                <a:lnTo>
                  <a:pt x="1193317" y="524934"/>
                </a:lnTo>
                <a:lnTo>
                  <a:pt x="1190508" y="516025"/>
                </a:lnTo>
                <a:lnTo>
                  <a:pt x="1187544" y="507165"/>
                </a:lnTo>
                <a:lnTo>
                  <a:pt x="1184425" y="498359"/>
                </a:lnTo>
                <a:lnTo>
                  <a:pt x="1181154" y="489608"/>
                </a:lnTo>
                <a:lnTo>
                  <a:pt x="1177730" y="480916"/>
                </a:lnTo>
                <a:lnTo>
                  <a:pt x="1174155" y="472285"/>
                </a:lnTo>
                <a:lnTo>
                  <a:pt x="1170429" y="463718"/>
                </a:lnTo>
                <a:lnTo>
                  <a:pt x="1166555" y="455217"/>
                </a:lnTo>
                <a:lnTo>
                  <a:pt x="1162533" y="446785"/>
                </a:lnTo>
                <a:lnTo>
                  <a:pt x="1158365" y="438424"/>
                </a:lnTo>
                <a:lnTo>
                  <a:pt x="1154051" y="430138"/>
                </a:lnTo>
                <a:lnTo>
                  <a:pt x="1149594" y="421928"/>
                </a:lnTo>
                <a:lnTo>
                  <a:pt x="1144993" y="413797"/>
                </a:lnTo>
                <a:lnTo>
                  <a:pt x="1140252" y="405747"/>
                </a:lnTo>
                <a:lnTo>
                  <a:pt x="1135370" y="397782"/>
                </a:lnTo>
                <a:lnTo>
                  <a:pt x="1130351" y="389903"/>
                </a:lnTo>
                <a:lnTo>
                  <a:pt x="1125195" y="382112"/>
                </a:lnTo>
                <a:lnTo>
                  <a:pt x="1119903" y="374413"/>
                </a:lnTo>
                <a:lnTo>
                  <a:pt x="1114478" y="366807"/>
                </a:lnTo>
                <a:lnTo>
                  <a:pt x="1108921" y="359298"/>
                </a:lnTo>
                <a:lnTo>
                  <a:pt x="1103234" y="351886"/>
                </a:lnTo>
                <a:lnTo>
                  <a:pt x="1097418" y="344575"/>
                </a:lnTo>
                <a:lnTo>
                  <a:pt x="1091476" y="337366"/>
                </a:lnTo>
                <a:lnTo>
                  <a:pt x="1085409" y="330262"/>
                </a:lnTo>
                <a:lnTo>
                  <a:pt x="1079219" y="323266"/>
                </a:lnTo>
                <a:lnTo>
                  <a:pt x="1072907" y="316378"/>
                </a:lnTo>
                <a:lnTo>
                  <a:pt x="1066476" y="309601"/>
                </a:lnTo>
                <a:lnTo>
                  <a:pt x="1059928" y="302938"/>
                </a:lnTo>
                <a:lnTo>
                  <a:pt x="1053265" y="296390"/>
                </a:lnTo>
                <a:lnTo>
                  <a:pt x="1046489" y="289959"/>
                </a:lnTo>
                <a:lnTo>
                  <a:pt x="1039601" y="283648"/>
                </a:lnTo>
                <a:lnTo>
                  <a:pt x="1032604" y="277457"/>
                </a:lnTo>
                <a:lnTo>
                  <a:pt x="1025500" y="271390"/>
                </a:lnTo>
                <a:lnTo>
                  <a:pt x="1018291" y="265448"/>
                </a:lnTo>
                <a:lnTo>
                  <a:pt x="1010980" y="259632"/>
                </a:lnTo>
                <a:lnTo>
                  <a:pt x="1003569" y="253945"/>
                </a:lnTo>
                <a:lnTo>
                  <a:pt x="996059" y="248388"/>
                </a:lnTo>
                <a:lnTo>
                  <a:pt x="988453" y="242963"/>
                </a:lnTo>
                <a:lnTo>
                  <a:pt x="980754" y="237672"/>
                </a:lnTo>
                <a:lnTo>
                  <a:pt x="972964" y="232515"/>
                </a:lnTo>
                <a:lnTo>
                  <a:pt x="965085" y="227496"/>
                </a:lnTo>
                <a:lnTo>
                  <a:pt x="957119" y="222615"/>
                </a:lnTo>
                <a:lnTo>
                  <a:pt x="949070" y="217873"/>
                </a:lnTo>
                <a:lnTo>
                  <a:pt x="940939" y="213273"/>
                </a:lnTo>
                <a:lnTo>
                  <a:pt x="932729" y="208815"/>
                </a:lnTo>
                <a:lnTo>
                  <a:pt x="924442" y="204501"/>
                </a:lnTo>
                <a:lnTo>
                  <a:pt x="916081" y="200333"/>
                </a:lnTo>
                <a:lnTo>
                  <a:pt x="907649" y="196311"/>
                </a:lnTo>
                <a:lnTo>
                  <a:pt x="899148" y="192437"/>
                </a:lnTo>
                <a:lnTo>
                  <a:pt x="890581" y="188712"/>
                </a:lnTo>
                <a:lnTo>
                  <a:pt x="881950" y="185137"/>
                </a:lnTo>
                <a:lnTo>
                  <a:pt x="873258" y="181713"/>
                </a:lnTo>
                <a:lnTo>
                  <a:pt x="864507" y="178441"/>
                </a:lnTo>
                <a:lnTo>
                  <a:pt x="855701" y="175322"/>
                </a:lnTo>
                <a:lnTo>
                  <a:pt x="846842" y="172358"/>
                </a:lnTo>
                <a:lnTo>
                  <a:pt x="837932" y="169549"/>
                </a:lnTo>
                <a:lnTo>
                  <a:pt x="828974" y="166896"/>
                </a:lnTo>
                <a:lnTo>
                  <a:pt x="819972" y="164399"/>
                </a:lnTo>
                <a:lnTo>
                  <a:pt x="810927" y="162060"/>
                </a:lnTo>
                <a:lnTo>
                  <a:pt x="801843" y="159879"/>
                </a:lnTo>
                <a:lnTo>
                  <a:pt x="792723" y="157857"/>
                </a:lnTo>
                <a:lnTo>
                  <a:pt x="783568" y="155995"/>
                </a:lnTo>
                <a:lnTo>
                  <a:pt x="774382" y="154292"/>
                </a:lnTo>
                <a:lnTo>
                  <a:pt x="765168" y="152750"/>
                </a:lnTo>
                <a:lnTo>
                  <a:pt x="755929" y="151369"/>
                </a:lnTo>
                <a:lnTo>
                  <a:pt x="746667" y="150150"/>
                </a:lnTo>
                <a:lnTo>
                  <a:pt x="737384" y="149092"/>
                </a:lnTo>
                <a:lnTo>
                  <a:pt x="728085" y="148197"/>
                </a:lnTo>
                <a:lnTo>
                  <a:pt x="718772" y="147464"/>
                </a:lnTo>
                <a:lnTo>
                  <a:pt x="709447" y="146894"/>
                </a:lnTo>
                <a:lnTo>
                  <a:pt x="700114" y="146486"/>
                </a:lnTo>
                <a:lnTo>
                  <a:pt x="690775" y="146242"/>
                </a:lnTo>
                <a:lnTo>
                  <a:pt x="681433" y="146160"/>
                </a:lnTo>
                <a:lnTo>
                  <a:pt x="681433" y="146160"/>
                </a:lnTo>
                <a:lnTo>
                  <a:pt x="681433" y="146160"/>
                </a:lnTo>
                <a:lnTo>
                  <a:pt x="672091" y="146242"/>
                </a:lnTo>
                <a:lnTo>
                  <a:pt x="662752" y="146486"/>
                </a:lnTo>
                <a:lnTo>
                  <a:pt x="653419" y="146894"/>
                </a:lnTo>
                <a:lnTo>
                  <a:pt x="644094" y="147464"/>
                </a:lnTo>
                <a:lnTo>
                  <a:pt x="634781" y="148197"/>
                </a:lnTo>
                <a:lnTo>
                  <a:pt x="625482" y="149092"/>
                </a:lnTo>
                <a:lnTo>
                  <a:pt x="616200" y="150150"/>
                </a:lnTo>
                <a:lnTo>
                  <a:pt x="606938" y="151369"/>
                </a:lnTo>
                <a:lnTo>
                  <a:pt x="597698" y="152750"/>
                </a:lnTo>
                <a:lnTo>
                  <a:pt x="588484" y="154292"/>
                </a:lnTo>
                <a:lnTo>
                  <a:pt x="579298" y="155995"/>
                </a:lnTo>
                <a:lnTo>
                  <a:pt x="570144" y="157857"/>
                </a:lnTo>
                <a:lnTo>
                  <a:pt x="561023" y="159879"/>
                </a:lnTo>
                <a:lnTo>
                  <a:pt x="551939" y="162060"/>
                </a:lnTo>
                <a:lnTo>
                  <a:pt x="542894" y="164399"/>
                </a:lnTo>
                <a:lnTo>
                  <a:pt x="533892" y="166896"/>
                </a:lnTo>
                <a:lnTo>
                  <a:pt x="524934" y="169549"/>
                </a:lnTo>
                <a:lnTo>
                  <a:pt x="516025" y="172358"/>
                </a:lnTo>
                <a:lnTo>
                  <a:pt x="507165" y="175322"/>
                </a:lnTo>
                <a:lnTo>
                  <a:pt x="498359" y="178441"/>
                </a:lnTo>
                <a:lnTo>
                  <a:pt x="489608" y="181713"/>
                </a:lnTo>
                <a:lnTo>
                  <a:pt x="480916" y="185137"/>
                </a:lnTo>
                <a:lnTo>
                  <a:pt x="472285" y="188712"/>
                </a:lnTo>
                <a:lnTo>
                  <a:pt x="463718" y="192437"/>
                </a:lnTo>
                <a:lnTo>
                  <a:pt x="455217" y="196311"/>
                </a:lnTo>
                <a:lnTo>
                  <a:pt x="446785" y="200333"/>
                </a:lnTo>
                <a:lnTo>
                  <a:pt x="438424" y="204501"/>
                </a:lnTo>
                <a:lnTo>
                  <a:pt x="430138" y="208815"/>
                </a:lnTo>
                <a:lnTo>
                  <a:pt x="421928" y="213273"/>
                </a:lnTo>
                <a:lnTo>
                  <a:pt x="413797" y="217873"/>
                </a:lnTo>
                <a:lnTo>
                  <a:pt x="405747" y="222615"/>
                </a:lnTo>
                <a:lnTo>
                  <a:pt x="397782" y="227496"/>
                </a:lnTo>
                <a:lnTo>
                  <a:pt x="389903" y="232515"/>
                </a:lnTo>
                <a:lnTo>
                  <a:pt x="382112" y="237672"/>
                </a:lnTo>
                <a:lnTo>
                  <a:pt x="374413" y="242963"/>
                </a:lnTo>
                <a:lnTo>
                  <a:pt x="366807" y="248388"/>
                </a:lnTo>
                <a:lnTo>
                  <a:pt x="359298" y="253945"/>
                </a:lnTo>
                <a:lnTo>
                  <a:pt x="351886" y="259632"/>
                </a:lnTo>
                <a:lnTo>
                  <a:pt x="344575" y="265448"/>
                </a:lnTo>
                <a:lnTo>
                  <a:pt x="337366" y="271390"/>
                </a:lnTo>
                <a:lnTo>
                  <a:pt x="330262" y="277457"/>
                </a:lnTo>
                <a:lnTo>
                  <a:pt x="323266" y="283648"/>
                </a:lnTo>
                <a:lnTo>
                  <a:pt x="316378" y="289959"/>
                </a:lnTo>
                <a:lnTo>
                  <a:pt x="309601" y="296390"/>
                </a:lnTo>
                <a:lnTo>
                  <a:pt x="302938" y="302938"/>
                </a:lnTo>
                <a:lnTo>
                  <a:pt x="296390" y="309601"/>
                </a:lnTo>
                <a:lnTo>
                  <a:pt x="289959" y="316378"/>
                </a:lnTo>
                <a:lnTo>
                  <a:pt x="283648" y="323266"/>
                </a:lnTo>
                <a:lnTo>
                  <a:pt x="277457" y="330262"/>
                </a:lnTo>
                <a:lnTo>
                  <a:pt x="271390" y="337366"/>
                </a:lnTo>
                <a:lnTo>
                  <a:pt x="265448" y="344575"/>
                </a:lnTo>
                <a:lnTo>
                  <a:pt x="259632" y="351886"/>
                </a:lnTo>
                <a:lnTo>
                  <a:pt x="253945" y="359298"/>
                </a:lnTo>
                <a:lnTo>
                  <a:pt x="248388" y="366807"/>
                </a:lnTo>
                <a:lnTo>
                  <a:pt x="242963" y="374413"/>
                </a:lnTo>
                <a:lnTo>
                  <a:pt x="237672" y="382112"/>
                </a:lnTo>
                <a:lnTo>
                  <a:pt x="232515" y="389903"/>
                </a:lnTo>
                <a:lnTo>
                  <a:pt x="227496" y="397782"/>
                </a:lnTo>
                <a:lnTo>
                  <a:pt x="222615" y="405747"/>
                </a:lnTo>
                <a:lnTo>
                  <a:pt x="217873" y="413797"/>
                </a:lnTo>
                <a:lnTo>
                  <a:pt x="213273" y="421928"/>
                </a:lnTo>
                <a:lnTo>
                  <a:pt x="208815" y="430138"/>
                </a:lnTo>
                <a:lnTo>
                  <a:pt x="204501" y="438424"/>
                </a:lnTo>
                <a:lnTo>
                  <a:pt x="200333" y="446785"/>
                </a:lnTo>
                <a:lnTo>
                  <a:pt x="196311" y="455217"/>
                </a:lnTo>
                <a:lnTo>
                  <a:pt x="192437" y="463718"/>
                </a:lnTo>
                <a:lnTo>
                  <a:pt x="188712" y="472285"/>
                </a:lnTo>
                <a:lnTo>
                  <a:pt x="185137" y="480916"/>
                </a:lnTo>
                <a:lnTo>
                  <a:pt x="181713" y="489608"/>
                </a:lnTo>
                <a:lnTo>
                  <a:pt x="178441" y="498359"/>
                </a:lnTo>
                <a:lnTo>
                  <a:pt x="175322" y="507165"/>
                </a:lnTo>
                <a:lnTo>
                  <a:pt x="172358" y="516025"/>
                </a:lnTo>
                <a:lnTo>
                  <a:pt x="169549" y="524934"/>
                </a:lnTo>
                <a:lnTo>
                  <a:pt x="166896" y="533892"/>
                </a:lnTo>
                <a:lnTo>
                  <a:pt x="164399" y="542894"/>
                </a:lnTo>
                <a:lnTo>
                  <a:pt x="162060" y="551939"/>
                </a:lnTo>
                <a:lnTo>
                  <a:pt x="159879" y="561023"/>
                </a:lnTo>
                <a:lnTo>
                  <a:pt x="157857" y="570144"/>
                </a:lnTo>
                <a:lnTo>
                  <a:pt x="155995" y="579298"/>
                </a:lnTo>
                <a:lnTo>
                  <a:pt x="154292" y="588484"/>
                </a:lnTo>
                <a:lnTo>
                  <a:pt x="152750" y="597698"/>
                </a:lnTo>
                <a:lnTo>
                  <a:pt x="151369" y="606938"/>
                </a:lnTo>
                <a:lnTo>
                  <a:pt x="150150" y="616200"/>
                </a:lnTo>
                <a:lnTo>
                  <a:pt x="149092" y="625482"/>
                </a:lnTo>
                <a:lnTo>
                  <a:pt x="148197" y="634781"/>
                </a:lnTo>
                <a:lnTo>
                  <a:pt x="147464" y="644094"/>
                </a:lnTo>
                <a:lnTo>
                  <a:pt x="146894" y="653419"/>
                </a:lnTo>
                <a:lnTo>
                  <a:pt x="146486" y="662752"/>
                </a:lnTo>
                <a:lnTo>
                  <a:pt x="146242" y="672091"/>
                </a:lnTo>
                <a:lnTo>
                  <a:pt x="146160" y="3344385"/>
                </a:lnTo>
                <a:close/>
              </a:path>
            </a:pathLst>
          </a:custGeom>
          <a:solidFill>
            <a:srgbClr val="616161"/>
          </a:solidFill>
        </p:spPr>
      </p:sp>
      <p:sp>
        <p:nvSpPr>
          <p:cNvPr id="20" name="Text 18"/>
          <p:cNvSpPr/>
          <p:nvPr/>
        </p:nvSpPr>
        <p:spPr>
          <a:xfrm rot="5400000">
            <a:off x="7003142" y="1208315"/>
            <a:ext cx="1611086" cy="349068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8349342" y="2591707"/>
            <a:ext cx="881743" cy="881743"/>
          </a:xfrm>
          <a:custGeom>
            <a:avLst/>
            <a:gdLst/>
            <a:ahLst/>
            <a:cxnLst/>
            <a:rect l="l" t="t" r="r" b="b"/>
            <a:pathLst>
              <a:path w="881743" h="881743">
                <a:moveTo>
                  <a:pt x="422394" y="0"/>
                </a:moveTo>
                <a:cubicBezTo>
                  <a:pt x="655520" y="0"/>
                  <a:pt x="844788" y="189268"/>
                  <a:pt x="844788" y="422394"/>
                </a:cubicBezTo>
                <a:cubicBezTo>
                  <a:pt x="844788" y="655520"/>
                  <a:pt x="655520" y="844788"/>
                  <a:pt x="422394" y="844788"/>
                </a:cubicBezTo>
                <a:cubicBezTo>
                  <a:pt x="189268" y="844788"/>
                  <a:pt x="0" y="655520"/>
                  <a:pt x="0" y="422394"/>
                </a:cubicBezTo>
                <a:cubicBezTo>
                  <a:pt x="0" y="189268"/>
                  <a:pt x="189268" y="0"/>
                  <a:pt x="422394" y="0"/>
                </a:cubicBezTo>
                <a:close/>
              </a:path>
            </a:pathLst>
          </a:custGeom>
          <a:solidFill>
            <a:srgbClr val="616161"/>
          </a:solidFill>
        </p:spPr>
      </p:sp>
      <p:sp>
        <p:nvSpPr>
          <p:cNvPr id="22" name="Text 20"/>
          <p:cNvSpPr/>
          <p:nvPr/>
        </p:nvSpPr>
        <p:spPr>
          <a:xfrm>
            <a:off x="8349342" y="2591707"/>
            <a:ext cx="881743" cy="881743"/>
          </a:xfrm>
          <a:prstGeom prst="rect">
            <a:avLst/>
          </a:prstGeom>
          <a:noFill/>
        </p:spPr>
        <p:txBody>
          <a:bodyPr wrap="square" rtlCol="0" anchor="ctr"/>
          <a:lstStyle/>
          <a:p>
            <a:pPr marL="0" indent="0" algn="ctr">
              <a:lnSpc>
                <a:spcPct val="120000"/>
              </a:lnSpc>
              <a:spcBef>
                <a:spcPts val="375"/>
              </a:spcBef>
              <a:buNone/>
            </a:pPr>
            <a:r>
              <a:rPr lang="en-US" sz="3975" b="1" dirty="0">
                <a:solidFill>
                  <a:srgbClr val="FFFFFF"/>
                </a:solidFill>
                <a:latin typeface="Century Gothic" pitchFamily="34" charset="0"/>
                <a:ea typeface="Century Gothic" pitchFamily="34" charset="-122"/>
                <a:cs typeface="Century Gothic" pitchFamily="34" charset="-120"/>
              </a:rPr>
              <a:t>A</a:t>
            </a:r>
            <a:endParaRPr lang="en-US" sz="3975" dirty="0"/>
          </a:p>
        </p:txBody>
      </p:sp>
      <p:sp>
        <p:nvSpPr>
          <p:cNvPr id="23" name="Shape 21"/>
          <p:cNvSpPr/>
          <p:nvPr/>
        </p:nvSpPr>
        <p:spPr>
          <a:xfrm>
            <a:off x="2862942" y="3887107"/>
            <a:ext cx="881743" cy="881743"/>
          </a:xfrm>
          <a:custGeom>
            <a:avLst/>
            <a:gdLst/>
            <a:ahLst/>
            <a:cxnLst/>
            <a:rect l="l" t="t" r="r" b="b"/>
            <a:pathLst>
              <a:path w="881743" h="881743">
                <a:moveTo>
                  <a:pt x="422394" y="0"/>
                </a:moveTo>
                <a:cubicBezTo>
                  <a:pt x="655520" y="0"/>
                  <a:pt x="844788" y="189268"/>
                  <a:pt x="844788" y="422394"/>
                </a:cubicBezTo>
                <a:cubicBezTo>
                  <a:pt x="844788" y="655520"/>
                  <a:pt x="655520" y="844788"/>
                  <a:pt x="422394" y="844788"/>
                </a:cubicBezTo>
                <a:cubicBezTo>
                  <a:pt x="189268" y="844788"/>
                  <a:pt x="0" y="655520"/>
                  <a:pt x="0" y="422394"/>
                </a:cubicBezTo>
                <a:cubicBezTo>
                  <a:pt x="0" y="189268"/>
                  <a:pt x="189268" y="0"/>
                  <a:pt x="422394" y="0"/>
                </a:cubicBezTo>
                <a:close/>
              </a:path>
            </a:pathLst>
          </a:custGeom>
          <a:solidFill>
            <a:srgbClr val="1C1C1C"/>
          </a:solidFill>
        </p:spPr>
      </p:sp>
      <p:sp>
        <p:nvSpPr>
          <p:cNvPr id="24" name="Text 22"/>
          <p:cNvSpPr/>
          <p:nvPr/>
        </p:nvSpPr>
        <p:spPr>
          <a:xfrm>
            <a:off x="2862942" y="3887107"/>
            <a:ext cx="881743" cy="881743"/>
          </a:xfrm>
          <a:prstGeom prst="rect">
            <a:avLst/>
          </a:prstGeom>
          <a:noFill/>
        </p:spPr>
        <p:txBody>
          <a:bodyPr wrap="square" rtlCol="0" anchor="ctr"/>
          <a:lstStyle/>
          <a:p>
            <a:pPr marL="0" indent="0" algn="ctr">
              <a:lnSpc>
                <a:spcPct val="120000"/>
              </a:lnSpc>
              <a:spcBef>
                <a:spcPts val="375"/>
              </a:spcBef>
              <a:buNone/>
            </a:pPr>
            <a:r>
              <a:rPr lang="en-US" sz="3975" b="1" dirty="0">
                <a:solidFill>
                  <a:srgbClr val="FFFFFF"/>
                </a:solidFill>
                <a:latin typeface="Century Gothic" pitchFamily="34" charset="0"/>
                <a:ea typeface="Century Gothic" pitchFamily="34" charset="-122"/>
                <a:cs typeface="Century Gothic" pitchFamily="34" charset="-120"/>
              </a:rPr>
              <a:t>B</a:t>
            </a:r>
            <a:endParaRPr lang="en-US" sz="3975" dirty="0"/>
          </a:p>
        </p:txBody>
      </p:sp>
      <p:sp>
        <p:nvSpPr>
          <p:cNvPr id="25" name="Text 23"/>
          <p:cNvSpPr/>
          <p:nvPr/>
        </p:nvSpPr>
        <p:spPr>
          <a:xfrm>
            <a:off x="695960" y="1364516"/>
            <a:ext cx="5011420" cy="456565"/>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x-none" altLang="en-US" sz="1725" dirty="0"/>
              <a:t>光纤支持AI性能</a:t>
            </a:r>
            <a:endParaRPr lang="x-none" altLang="en-US" sz="1725" dirty="0"/>
          </a:p>
        </p:txBody>
      </p:sp>
      <p:sp>
        <p:nvSpPr>
          <p:cNvPr id="26" name="Text 24"/>
          <p:cNvSpPr/>
          <p:nvPr/>
        </p:nvSpPr>
        <p:spPr>
          <a:xfrm>
            <a:off x="695960" y="1958975"/>
            <a:ext cx="5239385" cy="81343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x-none" altLang="en-US" sz="1350" dirty="0">
                <a:solidFill>
                  <a:srgbClr val="808080"/>
                </a:solidFill>
                <a:latin typeface="微软雅黑" pitchFamily="34" charset="0"/>
                <a:ea typeface="微软雅黑" pitchFamily="34" charset="-122"/>
                <a:cs typeface="微软雅黑" pitchFamily="34" charset="-120"/>
              </a:rPr>
              <a:t>随着AI技术的成熟，模型训练时并行计算节点越多，通信效率越重要，光纤在提升智能网络性能方面尤为重要。</a:t>
            </a:r>
            <a:endParaRPr lang="x-none" altLang="en-US" sz="1350" dirty="0">
              <a:solidFill>
                <a:srgbClr val="808080"/>
              </a:solidFill>
              <a:latin typeface="微软雅黑" pitchFamily="34" charset="0"/>
              <a:ea typeface="微软雅黑" pitchFamily="34" charset="-122"/>
              <a:cs typeface="微软雅黑" pitchFamily="34" charset="-120"/>
            </a:endParaRPr>
          </a:p>
        </p:txBody>
      </p:sp>
      <p:sp>
        <p:nvSpPr>
          <p:cNvPr id="28" name="Text 26"/>
          <p:cNvSpPr/>
          <p:nvPr/>
        </p:nvSpPr>
        <p:spPr>
          <a:xfrm>
            <a:off x="6096000" y="4692650"/>
            <a:ext cx="5239385" cy="112522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有业内人士预测：“未来的光通信市场中，AI的影响与驱动将会高于传统的FTTH领域。”从网络中的方方面面归纳来看，大带宽、低延时、低功耗、智能化成为AI时代光网络演进的关键词。</a:t>
            </a:r>
            <a:endParaRPr 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更广泛的应用领域</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4444678" y="4282633"/>
            <a:ext cx="8032831" cy="2118167"/>
          </a:xfrm>
          <a:custGeom>
            <a:avLst/>
            <a:gdLst/>
            <a:ahLst/>
            <a:cxnLst/>
            <a:rect l="l" t="t" r="r" b="b"/>
            <a:pathLst>
              <a:path w="8032831" h="2118167">
                <a:moveTo>
                  <a:pt x="0" y="2118167"/>
                </a:moveTo>
                <a:lnTo>
                  <a:pt x="8032831" y="0"/>
                </a:lnTo>
              </a:path>
            </a:pathLst>
          </a:custGeom>
          <a:noFill/>
          <a:ln w="4763">
            <a:solidFill>
              <a:srgbClr val="FFFFFF">
                <a:alpha val="0"/>
              </a:srgbClr>
            </a:solidFill>
            <a:prstDash val="solid"/>
            <a:headEnd type="none"/>
            <a:tailEnd type="none"/>
          </a:ln>
        </p:spPr>
      </p:sp>
      <p:sp>
        <p:nvSpPr>
          <p:cNvPr id="14" name="Text 12"/>
          <p:cNvSpPr/>
          <p:nvPr/>
        </p:nvSpPr>
        <p:spPr>
          <a:xfrm>
            <a:off x="1021080" y="1393190"/>
            <a:ext cx="10341610" cy="4740176"/>
          </a:xfrm>
          <a:prstGeom prst="rect">
            <a:avLst/>
          </a:prstGeom>
          <a:solidFill>
            <a:srgbClr val="C9C9C9"/>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C9C9C9"/>
                </a:solidFill>
                <a:latin typeface="Arial" panose="02080604020202020204" pitchFamily="34" charset="0"/>
                <a:ea typeface="Arial" pitchFamily="34" charset="-122"/>
                <a:cs typeface="Arial" pitchFamily="34" charset="-120"/>
              </a:rPr>
              <a:t> </a:t>
            </a:r>
            <a:endParaRPr lang="en-US" sz="1800" dirty="0"/>
          </a:p>
        </p:txBody>
      </p:sp>
      <p:sp>
        <p:nvSpPr>
          <p:cNvPr id="15" name="Text 13"/>
          <p:cNvSpPr/>
          <p:nvPr/>
        </p:nvSpPr>
        <p:spPr>
          <a:xfrm>
            <a:off x="1203960" y="1996440"/>
            <a:ext cx="182880" cy="190500"/>
          </a:xfrm>
          <a:prstGeom prst="rect">
            <a:avLst/>
          </a:prstGeom>
          <a:solidFill>
            <a:srgbClr val="FFFFFF"/>
          </a:solidFill>
        </p:spPr>
        <p:txBody>
          <a:bodyPr wrap="square" lIns="95250" tIns="95250" rIns="95250" bIns="95250" rtlCol="0" anchor="ctr">
            <a:spAutoFit/>
          </a:bodyPr>
          <a:lstStyle/>
          <a:p>
            <a:pPr marL="0" indent="0" algn="ctr">
              <a:lnSpc>
                <a:spcPct val="10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6" name="Text 14"/>
          <p:cNvSpPr/>
          <p:nvPr/>
        </p:nvSpPr>
        <p:spPr>
          <a:xfrm>
            <a:off x="1261745" y="2329815"/>
            <a:ext cx="4444365" cy="86915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FFFFFF"/>
                </a:solidFill>
                <a:latin typeface="微软雅黑" pitchFamily="34" charset="0"/>
                <a:ea typeface="微软雅黑" pitchFamily="34" charset="-122"/>
                <a:cs typeface="微软雅黑" pitchFamily="34" charset="-120"/>
              </a:rPr>
              <a:t>更广泛的应用领域</a:t>
            </a:r>
            <a:endParaRPr lang="en-US" sz="1725" dirty="0"/>
          </a:p>
        </p:txBody>
      </p:sp>
      <p:sp>
        <p:nvSpPr>
          <p:cNvPr id="17" name="Text 15"/>
          <p:cNvSpPr/>
          <p:nvPr/>
        </p:nvSpPr>
        <p:spPr>
          <a:xfrm>
            <a:off x="1261745" y="3317875"/>
            <a:ext cx="9460865" cy="1125220"/>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线性接收光路（LRO）解决方案正在被市场高度关注，仅将DSP保留在光收发器的发射端。其优势在于，仅在发端放置的DSP可以保证光纤上的拥有完美高质量、符合标准的光信号，达到与完整DSP方案一样的效果。此举自然实现了节省功耗的目的，由于LRO方案移除了一半的DSP，因此可以节省一半的DSP功耗，且仍旧保持了非常好的网络性能。</a:t>
            </a:r>
            <a:endParaRPr lang="en-US" sz="1350" dirty="0">
              <a:solidFill>
                <a:srgbClr val="FFFFFF"/>
              </a:solidFill>
              <a:latin typeface="微软雅黑" pitchFamily="34" charset="0"/>
              <a:ea typeface="微软雅黑" pitchFamily="34" charset="-122"/>
              <a:cs typeface="微软雅黑" pitchFamily="34" charset="-12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55943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新型光纤与AI相互推动</a:t>
            </a:r>
            <a:endParaRPr lang="en-US" sz="2400" b="1" dirty="0">
              <a:solidFill>
                <a:srgbClr val="404040"/>
              </a:solidFill>
              <a:latin typeface="微软雅黑" pitchFamily="34" charset="0"/>
              <a:ea typeface="微软雅黑" pitchFamily="34" charset="-122"/>
              <a:cs typeface="微软雅黑" pitchFamily="34" charset="-120"/>
            </a:endParaRPr>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Text 11"/>
          <p:cNvSpPr/>
          <p:nvPr/>
        </p:nvSpPr>
        <p:spPr>
          <a:xfrm>
            <a:off x="3018155" y="1290955"/>
            <a:ext cx="5758815" cy="453926"/>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光纤通信系统的智能化</a:t>
            </a:r>
            <a:endParaRPr lang="en-US" sz="1725" dirty="0"/>
          </a:p>
        </p:txBody>
      </p:sp>
      <p:sp>
        <p:nvSpPr>
          <p:cNvPr id="14" name="Text 12"/>
          <p:cNvSpPr/>
          <p:nvPr/>
        </p:nvSpPr>
        <p:spPr>
          <a:xfrm>
            <a:off x="3018155" y="1882775"/>
            <a:ext cx="6020435" cy="174815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空芯光纤在短时间内发生了巨大革新进步，在技术的提升下，损耗正在成倍下降。空芯光纤所具备的低损耗、大带宽、低非线性、低时延、低色散和高色散平坦度的多种优点，恰恰与AI时代大带宽、低延时、低功耗、智能化的光网络需求匹配。对于长距离干线传输、数据中心间互联、AI大模型等时延敏感场景的应用具有极大帮助。</a:t>
            </a:r>
            <a:endParaRPr lang="en-US" sz="1350" dirty="0">
              <a:solidFill>
                <a:srgbClr val="808080"/>
              </a:solidFill>
              <a:latin typeface="微软雅黑" pitchFamily="34" charset="0"/>
              <a:ea typeface="微软雅黑" pitchFamily="34" charset="-122"/>
              <a:cs typeface="微软雅黑" pitchFamily="34" charset="-120"/>
            </a:endParaRPr>
          </a:p>
        </p:txBody>
      </p:sp>
      <p:sp>
        <p:nvSpPr>
          <p:cNvPr id="15" name="Text 13"/>
          <p:cNvSpPr/>
          <p:nvPr/>
        </p:nvSpPr>
        <p:spPr>
          <a:xfrm>
            <a:off x="3604260" y="3655060"/>
            <a:ext cx="5608320" cy="453926"/>
          </a:xfrm>
          <a:prstGeom prst="rect">
            <a:avLst/>
          </a:prstGeom>
          <a:noFill/>
        </p:spPr>
        <p:txBody>
          <a:bodyPr wrap="square" lIns="95250" tIns="95250" rIns="95250" bIns="95250" rtlCol="0" anchor="b">
            <a:spAutoFit/>
          </a:bodyPr>
          <a:lstStyle/>
          <a:p>
            <a:pPr marL="0" indent="0" algn="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更智能化的系统</a:t>
            </a:r>
            <a:endParaRPr lang="en-US" sz="1725" dirty="0"/>
          </a:p>
        </p:txBody>
      </p:sp>
      <p:sp>
        <p:nvSpPr>
          <p:cNvPr id="16" name="Text 14"/>
          <p:cNvSpPr/>
          <p:nvPr/>
        </p:nvSpPr>
        <p:spPr>
          <a:xfrm>
            <a:off x="3349625" y="4246880"/>
            <a:ext cx="5862955" cy="1125220"/>
          </a:xfrm>
          <a:prstGeom prst="rect">
            <a:avLst/>
          </a:prstGeom>
          <a:noFill/>
        </p:spPr>
        <p:txBody>
          <a:bodyPr wrap="square" lIns="95250" tIns="95250" rIns="95250" bIns="95250" rtlCol="0" anchor="t">
            <a:spAutoFit/>
          </a:bodyPr>
          <a:lstStyle/>
          <a:p>
            <a:pPr marL="0" indent="0" algn="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国际市场中，微软已经宣布将在未来24个月计划部署15000公里的空芯光纤，用于AI大模型和数据中心连接，扩大网络容量和算力。这种低光纤损耗对于数据中心与数据中心之间的连接至关重要。</a:t>
            </a:r>
            <a:endParaRPr lang="en-US" sz="1350" dirty="0">
              <a:solidFill>
                <a:srgbClr val="808080"/>
              </a:solidFill>
              <a:latin typeface="微软雅黑" pitchFamily="34" charset="0"/>
              <a:ea typeface="微软雅黑" pitchFamily="34" charset="-122"/>
              <a:cs typeface="微软雅黑" pitchFamily="34" charset="-120"/>
            </a:endParaRPr>
          </a:p>
        </p:txBody>
      </p:sp>
      <p:sp>
        <p:nvSpPr>
          <p:cNvPr id="17" name="Shape 15"/>
          <p:cNvSpPr/>
          <p:nvPr/>
        </p:nvSpPr>
        <p:spPr>
          <a:xfrm>
            <a:off x="9828530" y="3318510"/>
            <a:ext cx="1715135" cy="1715135"/>
          </a:xfrm>
          <a:custGeom>
            <a:avLst/>
            <a:gdLst/>
            <a:ahLst/>
            <a:cxnLst/>
            <a:rect l="l" t="t" r="r" b="b"/>
            <a:pathLst>
              <a:path w="1715135" h="1715135">
                <a:moveTo>
                  <a:pt x="821626" y="0"/>
                </a:moveTo>
                <a:cubicBezTo>
                  <a:pt x="1275094" y="0"/>
                  <a:pt x="1643252" y="368158"/>
                  <a:pt x="1643252" y="821626"/>
                </a:cubicBezTo>
                <a:cubicBezTo>
                  <a:pt x="1643252" y="1275094"/>
                  <a:pt x="1275094" y="1643252"/>
                  <a:pt x="821626" y="1643252"/>
                </a:cubicBezTo>
                <a:cubicBezTo>
                  <a:pt x="368158" y="1643252"/>
                  <a:pt x="0" y="1275094"/>
                  <a:pt x="0" y="821626"/>
                </a:cubicBezTo>
                <a:cubicBezTo>
                  <a:pt x="0" y="368158"/>
                  <a:pt x="368158" y="0"/>
                  <a:pt x="821626" y="0"/>
                </a:cubicBezTo>
                <a:close/>
              </a:path>
            </a:pathLst>
          </a:custGeom>
          <a:solidFill>
            <a:srgbClr val="C9C9C9"/>
          </a:solidFill>
        </p:spPr>
      </p:sp>
      <p:sp>
        <p:nvSpPr>
          <p:cNvPr id="18" name="Text 16"/>
          <p:cNvSpPr/>
          <p:nvPr/>
        </p:nvSpPr>
        <p:spPr>
          <a:xfrm>
            <a:off x="9828530" y="3318510"/>
            <a:ext cx="1715135" cy="1715135"/>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10070465" y="3561080"/>
            <a:ext cx="1230630" cy="1230630"/>
          </a:xfrm>
          <a:custGeom>
            <a:avLst/>
            <a:gdLst/>
            <a:ahLst/>
            <a:cxnLst/>
            <a:rect l="l" t="t" r="r" b="b"/>
            <a:pathLst>
              <a:path w="1230630" h="1230630">
                <a:moveTo>
                  <a:pt x="589526" y="0"/>
                </a:moveTo>
                <a:cubicBezTo>
                  <a:pt x="914895" y="0"/>
                  <a:pt x="1179053" y="264158"/>
                  <a:pt x="1179053" y="589526"/>
                </a:cubicBezTo>
                <a:cubicBezTo>
                  <a:pt x="1179053" y="914895"/>
                  <a:pt x="914895" y="1179053"/>
                  <a:pt x="589526" y="1179053"/>
                </a:cubicBezTo>
                <a:cubicBezTo>
                  <a:pt x="264158" y="1179053"/>
                  <a:pt x="0" y="914895"/>
                  <a:pt x="0" y="589526"/>
                </a:cubicBezTo>
                <a:cubicBezTo>
                  <a:pt x="0" y="264158"/>
                  <a:pt x="264158" y="0"/>
                  <a:pt x="589526" y="0"/>
                </a:cubicBezTo>
                <a:close/>
              </a:path>
            </a:pathLst>
          </a:custGeom>
          <a:solidFill>
            <a:srgbClr val="1C1C1C"/>
          </a:solidFill>
        </p:spPr>
      </p:sp>
      <p:sp>
        <p:nvSpPr>
          <p:cNvPr id="20" name="Text 18"/>
          <p:cNvSpPr/>
          <p:nvPr/>
        </p:nvSpPr>
        <p:spPr>
          <a:xfrm>
            <a:off x="10070465" y="3561080"/>
            <a:ext cx="1230630" cy="123063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1" name="Text 19"/>
          <p:cNvSpPr/>
          <p:nvPr/>
        </p:nvSpPr>
        <p:spPr>
          <a:xfrm>
            <a:off x="10196195" y="3761105"/>
            <a:ext cx="97917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FFFFFF"/>
                </a:solidFill>
                <a:latin typeface="+mj-lt"/>
                <a:ea typeface="+mj-lt"/>
                <a:cs typeface="+mj-lt"/>
              </a:rPr>
              <a:t>添加文字</a:t>
            </a:r>
            <a:endParaRPr lang="en-US" sz="2400" dirty="0"/>
          </a:p>
        </p:txBody>
      </p:sp>
      <p:sp>
        <p:nvSpPr>
          <p:cNvPr id="22" name="Shape 20"/>
          <p:cNvSpPr/>
          <p:nvPr/>
        </p:nvSpPr>
        <p:spPr>
          <a:xfrm>
            <a:off x="932815" y="965835"/>
            <a:ext cx="1715135" cy="1715135"/>
          </a:xfrm>
          <a:custGeom>
            <a:avLst/>
            <a:gdLst/>
            <a:ahLst/>
            <a:cxnLst/>
            <a:rect l="l" t="t" r="r" b="b"/>
            <a:pathLst>
              <a:path w="1715135" h="1715135">
                <a:moveTo>
                  <a:pt x="821626" y="0"/>
                </a:moveTo>
                <a:cubicBezTo>
                  <a:pt x="1275094" y="0"/>
                  <a:pt x="1643252" y="368158"/>
                  <a:pt x="1643252" y="821626"/>
                </a:cubicBezTo>
                <a:cubicBezTo>
                  <a:pt x="1643252" y="1275094"/>
                  <a:pt x="1275094" y="1643252"/>
                  <a:pt x="821626" y="1643252"/>
                </a:cubicBezTo>
                <a:cubicBezTo>
                  <a:pt x="368158" y="1643252"/>
                  <a:pt x="0" y="1275094"/>
                  <a:pt x="0" y="821626"/>
                </a:cubicBezTo>
                <a:cubicBezTo>
                  <a:pt x="0" y="368158"/>
                  <a:pt x="368158" y="0"/>
                  <a:pt x="821626" y="0"/>
                </a:cubicBezTo>
                <a:close/>
              </a:path>
            </a:pathLst>
          </a:custGeom>
          <a:solidFill>
            <a:srgbClr val="C9C9C9"/>
          </a:solidFill>
        </p:spPr>
      </p:sp>
      <p:sp>
        <p:nvSpPr>
          <p:cNvPr id="23" name="Text 21"/>
          <p:cNvSpPr/>
          <p:nvPr/>
        </p:nvSpPr>
        <p:spPr>
          <a:xfrm>
            <a:off x="932815" y="965835"/>
            <a:ext cx="1715135" cy="1715135"/>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4" name="Shape 22"/>
          <p:cNvSpPr/>
          <p:nvPr/>
        </p:nvSpPr>
        <p:spPr>
          <a:xfrm>
            <a:off x="1174750" y="1208405"/>
            <a:ext cx="1230630" cy="1230630"/>
          </a:xfrm>
          <a:custGeom>
            <a:avLst/>
            <a:gdLst/>
            <a:ahLst/>
            <a:cxnLst/>
            <a:rect l="l" t="t" r="r" b="b"/>
            <a:pathLst>
              <a:path w="1230630" h="1230630">
                <a:moveTo>
                  <a:pt x="589526" y="0"/>
                </a:moveTo>
                <a:cubicBezTo>
                  <a:pt x="914895" y="0"/>
                  <a:pt x="1179053" y="264158"/>
                  <a:pt x="1179053" y="589526"/>
                </a:cubicBezTo>
                <a:cubicBezTo>
                  <a:pt x="1179053" y="914895"/>
                  <a:pt x="914895" y="1179053"/>
                  <a:pt x="589526" y="1179053"/>
                </a:cubicBezTo>
                <a:cubicBezTo>
                  <a:pt x="264158" y="1179053"/>
                  <a:pt x="0" y="914895"/>
                  <a:pt x="0" y="589526"/>
                </a:cubicBezTo>
                <a:cubicBezTo>
                  <a:pt x="0" y="264158"/>
                  <a:pt x="264158" y="0"/>
                  <a:pt x="589526" y="0"/>
                </a:cubicBezTo>
                <a:close/>
              </a:path>
            </a:pathLst>
          </a:custGeom>
          <a:solidFill>
            <a:srgbClr val="1C1C1C"/>
          </a:solidFill>
        </p:spPr>
      </p:sp>
      <p:sp>
        <p:nvSpPr>
          <p:cNvPr id="25" name="Text 23"/>
          <p:cNvSpPr/>
          <p:nvPr/>
        </p:nvSpPr>
        <p:spPr>
          <a:xfrm>
            <a:off x="1174750" y="1208405"/>
            <a:ext cx="1230630" cy="123063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6" name="Text 24"/>
          <p:cNvSpPr/>
          <p:nvPr/>
        </p:nvSpPr>
        <p:spPr>
          <a:xfrm>
            <a:off x="1300480" y="1408430"/>
            <a:ext cx="97917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FFFFFF"/>
                </a:solidFill>
                <a:latin typeface="+mj-lt"/>
                <a:ea typeface="+mj-lt"/>
                <a:cs typeface="+mj-lt"/>
              </a:rPr>
              <a:t>添加文字</a:t>
            </a:r>
            <a:endParaRPr lang="en-US" sz="2400" dirty="0"/>
          </a:p>
        </p:txBody>
      </p:sp>
      <p:pic>
        <p:nvPicPr>
          <p:cNvPr id="27" name="Image 0" descr="https://cdn.ciniaoppt.com/webroot/upload/ppt/local/20240123/20f7a0d53a8e9bdb7c383a778acce1db.png"/>
          <p:cNvPicPr>
            <a:picLocks noChangeAspect="1"/>
          </p:cNvPicPr>
          <p:nvPr/>
        </p:nvPicPr>
        <p:blipFill>
          <a:blip r:embed="rId1"/>
          <a:stretch>
            <a:fillRect/>
          </a:stretch>
        </p:blipFill>
        <p:spPr>
          <a:xfrm>
            <a:off x="2874645" y="1744980"/>
            <a:ext cx="6266815" cy="280670"/>
          </a:xfrm>
          <a:prstGeom prst="rect">
            <a:avLst/>
          </a:prstGeom>
        </p:spPr>
      </p:pic>
      <p:pic>
        <p:nvPicPr>
          <p:cNvPr id="28" name="Image 1" descr="https://cdn.ciniaoppt.com/webroot/upload/ppt/local/20240123/20f7a0d53a8e9bdb7c383a778acce1db1.png"/>
          <p:cNvPicPr>
            <a:picLocks noChangeAspect="1"/>
          </p:cNvPicPr>
          <p:nvPr/>
        </p:nvPicPr>
        <p:blipFill>
          <a:blip r:embed="rId1"/>
          <a:stretch>
            <a:fillRect/>
          </a:stretch>
        </p:blipFill>
        <p:spPr>
          <a:xfrm>
            <a:off x="3084195" y="4109085"/>
            <a:ext cx="6266815" cy="2806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光纤通信技术的挑战</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07</a:t>
            </a:r>
            <a:endParaRPr lang="en-US" sz="9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成本优化</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pic>
        <p:nvPicPr>
          <p:cNvPr id="13" name="Image 0" descr="https://cdn.ciniaoppt.com/webroot/upload/ppt/local/20240123/9c14743cb4ef64a095954f6df4882b0f.png"/>
          <p:cNvPicPr>
            <a:picLocks noChangeAspect="1"/>
          </p:cNvPicPr>
          <p:nvPr/>
        </p:nvPicPr>
        <p:blipFill>
          <a:blip r:embed="rId1"/>
          <a:stretch>
            <a:fillRect/>
          </a:stretch>
        </p:blipFill>
        <p:spPr>
          <a:xfrm>
            <a:off x="4648200" y="3310255"/>
            <a:ext cx="2877185" cy="1438910"/>
          </a:xfrm>
          <a:prstGeom prst="rect">
            <a:avLst/>
          </a:prstGeom>
        </p:spPr>
      </p:pic>
      <p:pic>
        <p:nvPicPr>
          <p:cNvPr id="14" name="Image 1" descr="https://cdn.ciniaoppt.com/webroot/upload/ppt/local/20240123/9c14743cb4ef64a095954f6df4882b0f1.png"/>
          <p:cNvPicPr>
            <a:picLocks noChangeAspect="1"/>
          </p:cNvPicPr>
          <p:nvPr/>
        </p:nvPicPr>
        <p:blipFill>
          <a:blip r:embed="rId1"/>
          <a:stretch>
            <a:fillRect/>
          </a:stretch>
        </p:blipFill>
        <p:spPr>
          <a:xfrm>
            <a:off x="6304280" y="4195445"/>
            <a:ext cx="2877185" cy="1438910"/>
          </a:xfrm>
          <a:prstGeom prst="rect">
            <a:avLst/>
          </a:prstGeom>
        </p:spPr>
      </p:pic>
      <p:pic>
        <p:nvPicPr>
          <p:cNvPr id="15" name="Image 2" descr="https://cdn.ciniaoppt.com/webroot/upload/ppt/local/20240123/9c14743cb4ef64a095954f6df4882b0f2.png"/>
          <p:cNvPicPr>
            <a:picLocks noChangeAspect="1"/>
          </p:cNvPicPr>
          <p:nvPr/>
        </p:nvPicPr>
        <p:blipFill>
          <a:blip r:embed="rId1"/>
          <a:stretch>
            <a:fillRect/>
          </a:stretch>
        </p:blipFill>
        <p:spPr>
          <a:xfrm>
            <a:off x="2996565" y="4201160"/>
            <a:ext cx="2877185" cy="1438910"/>
          </a:xfrm>
          <a:prstGeom prst="rect">
            <a:avLst/>
          </a:prstGeom>
        </p:spPr>
      </p:pic>
      <p:sp>
        <p:nvSpPr>
          <p:cNvPr id="16" name="Shape 11"/>
          <p:cNvSpPr/>
          <p:nvPr/>
        </p:nvSpPr>
        <p:spPr>
          <a:xfrm>
            <a:off x="3006997" y="4105951"/>
            <a:ext cx="2875854" cy="1437927"/>
          </a:xfrm>
          <a:custGeom>
            <a:avLst/>
            <a:gdLst/>
            <a:ahLst/>
            <a:cxnLst/>
            <a:rect l="l" t="t" r="r" b="b"/>
            <a:pathLst>
              <a:path w="2875854" h="1437927">
                <a:moveTo>
                  <a:pt x="1437927" y="0"/>
                </a:moveTo>
                <a:lnTo>
                  <a:pt x="0" y="718964"/>
                </a:lnTo>
                <a:lnTo>
                  <a:pt x="1437927" y="1437927"/>
                </a:lnTo>
                <a:lnTo>
                  <a:pt x="2875854" y="718964"/>
                </a:lnTo>
                <a:lnTo>
                  <a:pt x="1437927" y="0"/>
                </a:lnTo>
                <a:close/>
              </a:path>
            </a:pathLst>
          </a:custGeom>
          <a:solidFill>
            <a:srgbClr val="1C1C1C"/>
          </a:solidFill>
        </p:spPr>
      </p:sp>
      <p:sp>
        <p:nvSpPr>
          <p:cNvPr id="17" name="Text 12"/>
          <p:cNvSpPr/>
          <p:nvPr/>
        </p:nvSpPr>
        <p:spPr>
          <a:xfrm>
            <a:off x="3006997" y="4105951"/>
            <a:ext cx="2875854" cy="143792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8" name="Shape 13"/>
          <p:cNvSpPr/>
          <p:nvPr/>
        </p:nvSpPr>
        <p:spPr>
          <a:xfrm>
            <a:off x="4660613" y="3243195"/>
            <a:ext cx="2875854" cy="1437927"/>
          </a:xfrm>
          <a:custGeom>
            <a:avLst/>
            <a:gdLst/>
            <a:ahLst/>
            <a:cxnLst/>
            <a:rect l="l" t="t" r="r" b="b"/>
            <a:pathLst>
              <a:path w="2875854" h="1437927">
                <a:moveTo>
                  <a:pt x="1437927" y="0"/>
                </a:moveTo>
                <a:lnTo>
                  <a:pt x="0" y="718964"/>
                </a:lnTo>
                <a:lnTo>
                  <a:pt x="1437927" y="1437927"/>
                </a:lnTo>
                <a:lnTo>
                  <a:pt x="2875854" y="718964"/>
                </a:lnTo>
                <a:lnTo>
                  <a:pt x="1437927" y="0"/>
                </a:lnTo>
                <a:close/>
              </a:path>
            </a:pathLst>
          </a:custGeom>
          <a:solidFill>
            <a:srgbClr val="616161"/>
          </a:solidFill>
        </p:spPr>
      </p:sp>
      <p:sp>
        <p:nvSpPr>
          <p:cNvPr id="19" name="Text 14"/>
          <p:cNvSpPr/>
          <p:nvPr/>
        </p:nvSpPr>
        <p:spPr>
          <a:xfrm>
            <a:off x="4660613" y="3243195"/>
            <a:ext cx="2875854" cy="143792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0" name="Shape 15"/>
          <p:cNvSpPr/>
          <p:nvPr/>
        </p:nvSpPr>
        <p:spPr>
          <a:xfrm>
            <a:off x="6314229" y="4105951"/>
            <a:ext cx="2875854" cy="1437927"/>
          </a:xfrm>
          <a:custGeom>
            <a:avLst/>
            <a:gdLst/>
            <a:ahLst/>
            <a:cxnLst/>
            <a:rect l="l" t="t" r="r" b="b"/>
            <a:pathLst>
              <a:path w="2875854" h="1437927">
                <a:moveTo>
                  <a:pt x="1437927" y="0"/>
                </a:moveTo>
                <a:lnTo>
                  <a:pt x="0" y="718964"/>
                </a:lnTo>
                <a:lnTo>
                  <a:pt x="1437927" y="1437927"/>
                </a:lnTo>
                <a:lnTo>
                  <a:pt x="2875854" y="718964"/>
                </a:lnTo>
                <a:lnTo>
                  <a:pt x="1437927" y="0"/>
                </a:lnTo>
                <a:close/>
              </a:path>
            </a:pathLst>
          </a:custGeom>
          <a:solidFill>
            <a:srgbClr val="1C1C1C"/>
          </a:solidFill>
        </p:spPr>
      </p:sp>
      <p:sp>
        <p:nvSpPr>
          <p:cNvPr id="21" name="Text 16"/>
          <p:cNvSpPr/>
          <p:nvPr/>
        </p:nvSpPr>
        <p:spPr>
          <a:xfrm>
            <a:off x="6314229" y="4105951"/>
            <a:ext cx="2875854" cy="1437927"/>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22" name="Shape 17"/>
          <p:cNvSpPr/>
          <p:nvPr/>
        </p:nvSpPr>
        <p:spPr>
          <a:xfrm>
            <a:off x="5816811" y="3662815"/>
            <a:ext cx="568594" cy="546132"/>
          </a:xfrm>
          <a:custGeom>
            <a:avLst/>
            <a:gdLst/>
            <a:ahLst/>
            <a:cxnLst/>
            <a:rect l="l" t="t" r="r" b="b"/>
            <a:pathLst>
              <a:path w="568594" h="546132">
                <a:moveTo>
                  <a:pt x="540370" y="194934"/>
                </a:moveTo>
                <a:cubicBezTo>
                  <a:pt x="534513" y="181743"/>
                  <a:pt x="522797" y="171483"/>
                  <a:pt x="508153" y="170017"/>
                </a:cubicBezTo>
                <a:cubicBezTo>
                  <a:pt x="369033" y="148032"/>
                  <a:pt x="369033" y="148032"/>
                  <a:pt x="369033" y="148032"/>
                </a:cubicBezTo>
                <a:cubicBezTo>
                  <a:pt x="307528" y="21985"/>
                  <a:pt x="307528" y="21985"/>
                  <a:pt x="307528" y="21985"/>
                </a:cubicBezTo>
                <a:cubicBezTo>
                  <a:pt x="301670" y="8794"/>
                  <a:pt x="287026" y="0"/>
                  <a:pt x="272382" y="0"/>
                </a:cubicBezTo>
                <a:cubicBezTo>
                  <a:pt x="257738" y="0"/>
                  <a:pt x="243093" y="8794"/>
                  <a:pt x="237236" y="21985"/>
                </a:cubicBezTo>
                <a:cubicBezTo>
                  <a:pt x="175730" y="148032"/>
                  <a:pt x="175730" y="148032"/>
                  <a:pt x="175730" y="148032"/>
                </a:cubicBezTo>
                <a:cubicBezTo>
                  <a:pt x="36610" y="170017"/>
                  <a:pt x="36610" y="170017"/>
                  <a:pt x="36610" y="170017"/>
                </a:cubicBezTo>
                <a:cubicBezTo>
                  <a:pt x="21966" y="171483"/>
                  <a:pt x="10251" y="181743"/>
                  <a:pt x="4393" y="194934"/>
                </a:cubicBezTo>
                <a:cubicBezTo>
                  <a:pt x="0" y="208125"/>
                  <a:pt x="4393" y="222781"/>
                  <a:pt x="14644" y="233041"/>
                </a:cubicBezTo>
                <a:cubicBezTo>
                  <a:pt x="117153" y="335638"/>
                  <a:pt x="117153" y="335638"/>
                  <a:pt x="117153" y="335638"/>
                </a:cubicBezTo>
                <a:cubicBezTo>
                  <a:pt x="92258" y="477807"/>
                  <a:pt x="92258" y="477807"/>
                  <a:pt x="92258" y="477807"/>
                </a:cubicBezTo>
                <a:cubicBezTo>
                  <a:pt x="90794" y="492464"/>
                  <a:pt x="96652" y="507121"/>
                  <a:pt x="108367" y="515915"/>
                </a:cubicBezTo>
                <a:cubicBezTo>
                  <a:pt x="115689" y="520312"/>
                  <a:pt x="123011" y="523243"/>
                  <a:pt x="131798" y="523243"/>
                </a:cubicBezTo>
                <a:cubicBezTo>
                  <a:pt x="137655" y="523243"/>
                  <a:pt x="144977" y="520312"/>
                  <a:pt x="150835" y="517380"/>
                </a:cubicBezTo>
                <a:cubicBezTo>
                  <a:pt x="272382" y="451425"/>
                  <a:pt x="272382" y="451425"/>
                  <a:pt x="272382" y="451425"/>
                </a:cubicBezTo>
                <a:cubicBezTo>
                  <a:pt x="393928" y="517380"/>
                  <a:pt x="393928" y="517380"/>
                  <a:pt x="393928" y="517380"/>
                </a:cubicBezTo>
                <a:cubicBezTo>
                  <a:pt x="401251" y="520312"/>
                  <a:pt x="407108" y="523243"/>
                  <a:pt x="412966" y="523243"/>
                </a:cubicBezTo>
                <a:cubicBezTo>
                  <a:pt x="421752" y="523243"/>
                  <a:pt x="429075" y="520312"/>
                  <a:pt x="436397" y="515915"/>
                </a:cubicBezTo>
                <a:cubicBezTo>
                  <a:pt x="448112" y="507121"/>
                  <a:pt x="453970" y="492464"/>
                  <a:pt x="452505" y="477807"/>
                </a:cubicBezTo>
                <a:cubicBezTo>
                  <a:pt x="427610" y="335638"/>
                  <a:pt x="427610" y="335638"/>
                  <a:pt x="427610" y="335638"/>
                </a:cubicBezTo>
                <a:cubicBezTo>
                  <a:pt x="530119" y="233041"/>
                  <a:pt x="530119" y="233041"/>
                  <a:pt x="530119" y="233041"/>
                </a:cubicBezTo>
                <a:cubicBezTo>
                  <a:pt x="540370" y="222781"/>
                  <a:pt x="544764" y="208125"/>
                  <a:pt x="540370" y="194934"/>
                </a:cubicBezTo>
                <a:moveTo>
                  <a:pt x="399786" y="309256"/>
                </a:moveTo>
                <a:cubicBezTo>
                  <a:pt x="391000" y="318050"/>
                  <a:pt x="388071" y="329775"/>
                  <a:pt x="389535" y="341500"/>
                </a:cubicBezTo>
                <a:cubicBezTo>
                  <a:pt x="412966" y="485136"/>
                  <a:pt x="412966" y="485136"/>
                  <a:pt x="412966" y="485136"/>
                </a:cubicBezTo>
                <a:cubicBezTo>
                  <a:pt x="291419" y="419181"/>
                  <a:pt x="291419" y="419181"/>
                  <a:pt x="291419" y="419181"/>
                </a:cubicBezTo>
                <a:cubicBezTo>
                  <a:pt x="285562" y="416249"/>
                  <a:pt x="278239" y="413318"/>
                  <a:pt x="272382" y="413318"/>
                </a:cubicBezTo>
                <a:cubicBezTo>
                  <a:pt x="266524" y="413318"/>
                  <a:pt x="259202" y="416249"/>
                  <a:pt x="253344" y="419181"/>
                </a:cubicBezTo>
                <a:cubicBezTo>
                  <a:pt x="131798" y="485136"/>
                  <a:pt x="131798" y="485136"/>
                  <a:pt x="131798" y="485136"/>
                </a:cubicBezTo>
                <a:cubicBezTo>
                  <a:pt x="155228" y="341500"/>
                  <a:pt x="155228" y="341500"/>
                  <a:pt x="155228" y="341500"/>
                </a:cubicBezTo>
                <a:cubicBezTo>
                  <a:pt x="156693" y="329775"/>
                  <a:pt x="153764" y="318050"/>
                  <a:pt x="144977" y="309256"/>
                </a:cubicBezTo>
                <a:cubicBezTo>
                  <a:pt x="42468" y="206659"/>
                  <a:pt x="42468" y="206659"/>
                  <a:pt x="42468" y="206659"/>
                </a:cubicBezTo>
                <a:cubicBezTo>
                  <a:pt x="181588" y="186140"/>
                  <a:pt x="181588" y="186140"/>
                  <a:pt x="181588" y="186140"/>
                </a:cubicBezTo>
                <a:cubicBezTo>
                  <a:pt x="194768" y="184674"/>
                  <a:pt x="206483" y="175880"/>
                  <a:pt x="210876" y="164155"/>
                </a:cubicBezTo>
                <a:cubicBezTo>
                  <a:pt x="272382" y="38107"/>
                  <a:pt x="272382" y="38107"/>
                  <a:pt x="272382" y="38107"/>
                </a:cubicBezTo>
                <a:cubicBezTo>
                  <a:pt x="333887" y="164155"/>
                  <a:pt x="333887" y="164155"/>
                  <a:pt x="333887" y="164155"/>
                </a:cubicBezTo>
                <a:cubicBezTo>
                  <a:pt x="338281" y="175880"/>
                  <a:pt x="349996" y="184674"/>
                  <a:pt x="363176" y="186140"/>
                </a:cubicBezTo>
                <a:cubicBezTo>
                  <a:pt x="502295" y="206659"/>
                  <a:pt x="502295" y="206659"/>
                  <a:pt x="502295" y="206659"/>
                </a:cubicBezTo>
                <a:close/>
                <a:close/>
              </a:path>
            </a:pathLst>
          </a:custGeom>
          <a:solidFill>
            <a:srgbClr val="FFFFFF"/>
          </a:solidFill>
        </p:spPr>
      </p:sp>
      <p:sp>
        <p:nvSpPr>
          <p:cNvPr id="23" name="Text 18"/>
          <p:cNvSpPr/>
          <p:nvPr/>
        </p:nvSpPr>
        <p:spPr>
          <a:xfrm>
            <a:off x="5816811" y="3662815"/>
            <a:ext cx="568594" cy="546132"/>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4" name="Shape 19"/>
          <p:cNvSpPr/>
          <p:nvPr/>
        </p:nvSpPr>
        <p:spPr>
          <a:xfrm>
            <a:off x="4107749" y="4566813"/>
            <a:ext cx="626564" cy="451560"/>
          </a:xfrm>
          <a:custGeom>
            <a:avLst/>
            <a:gdLst/>
            <a:ahLst/>
            <a:cxnLst/>
            <a:rect l="l" t="t" r="r" b="b"/>
            <a:pathLst>
              <a:path w="626564" h="451560">
                <a:moveTo>
                  <a:pt x="486116" y="153463"/>
                </a:moveTo>
                <a:cubicBezTo>
                  <a:pt x="477959" y="66936"/>
                  <a:pt x="407815" y="0"/>
                  <a:pt x="319727" y="0"/>
                </a:cubicBezTo>
                <a:cubicBezTo>
                  <a:pt x="251214" y="0"/>
                  <a:pt x="192489" y="40815"/>
                  <a:pt x="166389" y="97955"/>
                </a:cubicBezTo>
                <a:cubicBezTo>
                  <a:pt x="158232" y="96322"/>
                  <a:pt x="150076" y="94690"/>
                  <a:pt x="140288" y="94690"/>
                </a:cubicBezTo>
                <a:cubicBezTo>
                  <a:pt x="94613" y="94690"/>
                  <a:pt x="57094" y="132239"/>
                  <a:pt x="57094" y="177952"/>
                </a:cubicBezTo>
                <a:cubicBezTo>
                  <a:pt x="57094" y="187747"/>
                  <a:pt x="58725" y="195910"/>
                  <a:pt x="60357" y="205706"/>
                </a:cubicBezTo>
                <a:cubicBezTo>
                  <a:pt x="24469" y="226929"/>
                  <a:pt x="0" y="264479"/>
                  <a:pt x="0" y="310191"/>
                </a:cubicBezTo>
                <a:cubicBezTo>
                  <a:pt x="0" y="377127"/>
                  <a:pt x="55463" y="432635"/>
                  <a:pt x="122345" y="432635"/>
                </a:cubicBezTo>
                <a:cubicBezTo>
                  <a:pt x="122345" y="432635"/>
                  <a:pt x="122345" y="432635"/>
                  <a:pt x="122345" y="432635"/>
                </a:cubicBezTo>
                <a:cubicBezTo>
                  <a:pt x="460016" y="432635"/>
                  <a:pt x="460016" y="432635"/>
                  <a:pt x="460016" y="432635"/>
                </a:cubicBezTo>
                <a:cubicBezTo>
                  <a:pt x="460016" y="432635"/>
                  <a:pt x="460016" y="432635"/>
                  <a:pt x="460016" y="432635"/>
                </a:cubicBezTo>
                <a:cubicBezTo>
                  <a:pt x="538316" y="432635"/>
                  <a:pt x="600304" y="368964"/>
                  <a:pt x="600304" y="290600"/>
                </a:cubicBezTo>
                <a:cubicBezTo>
                  <a:pt x="600304" y="222031"/>
                  <a:pt x="551366" y="164891"/>
                  <a:pt x="486116" y="153463"/>
                </a:cubicBezTo>
                <a:moveTo>
                  <a:pt x="460016" y="395085"/>
                </a:moveTo>
                <a:cubicBezTo>
                  <a:pt x="460016" y="395085"/>
                  <a:pt x="460016" y="395085"/>
                  <a:pt x="460016" y="395085"/>
                </a:cubicBezTo>
                <a:cubicBezTo>
                  <a:pt x="122345" y="395085"/>
                  <a:pt x="122345" y="395085"/>
                  <a:pt x="122345" y="395085"/>
                </a:cubicBezTo>
                <a:cubicBezTo>
                  <a:pt x="75038" y="395085"/>
                  <a:pt x="37519" y="357536"/>
                  <a:pt x="37519" y="310191"/>
                </a:cubicBezTo>
                <a:cubicBezTo>
                  <a:pt x="37519" y="280804"/>
                  <a:pt x="53832" y="253050"/>
                  <a:pt x="79932" y="236725"/>
                </a:cubicBezTo>
                <a:cubicBezTo>
                  <a:pt x="106032" y="222031"/>
                  <a:pt x="107663" y="220399"/>
                  <a:pt x="96244" y="192645"/>
                </a:cubicBezTo>
                <a:cubicBezTo>
                  <a:pt x="94613" y="187747"/>
                  <a:pt x="94613" y="182849"/>
                  <a:pt x="94613" y="177952"/>
                </a:cubicBezTo>
                <a:cubicBezTo>
                  <a:pt x="94613" y="153463"/>
                  <a:pt x="114188" y="132239"/>
                  <a:pt x="140288" y="132239"/>
                </a:cubicBezTo>
                <a:cubicBezTo>
                  <a:pt x="140288" y="132239"/>
                  <a:pt x="153339" y="130607"/>
                  <a:pt x="166389" y="135504"/>
                </a:cubicBezTo>
                <a:cubicBezTo>
                  <a:pt x="187595" y="145300"/>
                  <a:pt x="190858" y="135504"/>
                  <a:pt x="200645" y="114281"/>
                </a:cubicBezTo>
                <a:cubicBezTo>
                  <a:pt x="221851" y="66936"/>
                  <a:pt x="269158" y="37549"/>
                  <a:pt x="319727" y="37549"/>
                </a:cubicBezTo>
                <a:cubicBezTo>
                  <a:pt x="386609" y="37549"/>
                  <a:pt x="442072" y="88160"/>
                  <a:pt x="448597" y="156728"/>
                </a:cubicBezTo>
                <a:cubicBezTo>
                  <a:pt x="451859" y="182849"/>
                  <a:pt x="451859" y="182849"/>
                  <a:pt x="479591" y="189380"/>
                </a:cubicBezTo>
                <a:cubicBezTo>
                  <a:pt x="528529" y="199175"/>
                  <a:pt x="562785" y="241622"/>
                  <a:pt x="562785" y="290600"/>
                </a:cubicBezTo>
                <a:cubicBezTo>
                  <a:pt x="562785" y="347740"/>
                  <a:pt x="517110" y="395085"/>
                  <a:pt x="460016" y="395085"/>
                </a:cubicBezTo>
                <a:close/>
                <a:close/>
              </a:path>
            </a:pathLst>
          </a:custGeom>
          <a:solidFill>
            <a:srgbClr val="FFFFFF"/>
          </a:solidFill>
        </p:spPr>
      </p:sp>
      <p:sp>
        <p:nvSpPr>
          <p:cNvPr id="25" name="Text 20"/>
          <p:cNvSpPr/>
          <p:nvPr/>
        </p:nvSpPr>
        <p:spPr>
          <a:xfrm>
            <a:off x="4107749" y="4566813"/>
            <a:ext cx="626564" cy="45156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6" name="Shape 21"/>
          <p:cNvSpPr/>
          <p:nvPr/>
        </p:nvSpPr>
        <p:spPr>
          <a:xfrm>
            <a:off x="7456320" y="4498091"/>
            <a:ext cx="594112" cy="513875"/>
          </a:xfrm>
          <a:custGeom>
            <a:avLst/>
            <a:gdLst/>
            <a:ahLst/>
            <a:cxnLst/>
            <a:rect l="l" t="t" r="r" b="b"/>
            <a:pathLst>
              <a:path w="594112" h="513875">
                <a:moveTo>
                  <a:pt x="506650" y="61671"/>
                </a:moveTo>
                <a:cubicBezTo>
                  <a:pt x="445114" y="1028"/>
                  <a:pt x="347681" y="0"/>
                  <a:pt x="284093" y="57559"/>
                </a:cubicBezTo>
                <a:cubicBezTo>
                  <a:pt x="221531" y="0"/>
                  <a:pt x="124098" y="1028"/>
                  <a:pt x="62562" y="61671"/>
                </a:cubicBezTo>
                <a:cubicBezTo>
                  <a:pt x="0" y="124369"/>
                  <a:pt x="0" y="225098"/>
                  <a:pt x="62562" y="287797"/>
                </a:cubicBezTo>
                <a:cubicBezTo>
                  <a:pt x="81023" y="306298"/>
                  <a:pt x="248197" y="472809"/>
                  <a:pt x="248197" y="472809"/>
                </a:cubicBezTo>
                <a:cubicBezTo>
                  <a:pt x="268709" y="492338"/>
                  <a:pt x="300503" y="492338"/>
                  <a:pt x="319989" y="472809"/>
                </a:cubicBezTo>
                <a:cubicBezTo>
                  <a:pt x="319989" y="472809"/>
                  <a:pt x="504599" y="289852"/>
                  <a:pt x="506650" y="287797"/>
                </a:cubicBezTo>
                <a:cubicBezTo>
                  <a:pt x="569212" y="225098"/>
                  <a:pt x="569212" y="124369"/>
                  <a:pt x="506650" y="61671"/>
                </a:cubicBezTo>
                <a:moveTo>
                  <a:pt x="482035" y="264156"/>
                </a:moveTo>
                <a:cubicBezTo>
                  <a:pt x="296401" y="448141"/>
                  <a:pt x="296401" y="448141"/>
                  <a:pt x="296401" y="448141"/>
                </a:cubicBezTo>
                <a:cubicBezTo>
                  <a:pt x="290247" y="455335"/>
                  <a:pt x="278965" y="455335"/>
                  <a:pt x="272812" y="448141"/>
                </a:cubicBezTo>
                <a:cubicBezTo>
                  <a:pt x="86151" y="264156"/>
                  <a:pt x="86151" y="264156"/>
                  <a:pt x="86151" y="264156"/>
                </a:cubicBezTo>
                <a:cubicBezTo>
                  <a:pt x="36922" y="214820"/>
                  <a:pt x="36922" y="134648"/>
                  <a:pt x="86151" y="85311"/>
                </a:cubicBezTo>
                <a:cubicBezTo>
                  <a:pt x="134355" y="38030"/>
                  <a:pt x="211275" y="37002"/>
                  <a:pt x="261530" y="82228"/>
                </a:cubicBezTo>
                <a:cubicBezTo>
                  <a:pt x="284093" y="102785"/>
                  <a:pt x="284093" y="102785"/>
                  <a:pt x="284093" y="102785"/>
                </a:cubicBezTo>
                <a:cubicBezTo>
                  <a:pt x="307682" y="82228"/>
                  <a:pt x="307682" y="82228"/>
                  <a:pt x="307682" y="82228"/>
                </a:cubicBezTo>
                <a:cubicBezTo>
                  <a:pt x="357937" y="37002"/>
                  <a:pt x="434858" y="38030"/>
                  <a:pt x="482035" y="85311"/>
                </a:cubicBezTo>
                <a:cubicBezTo>
                  <a:pt x="532290" y="134648"/>
                  <a:pt x="532290" y="214820"/>
                  <a:pt x="482035" y="264156"/>
                </a:cubicBezTo>
                <a:close/>
                <a:close/>
              </a:path>
            </a:pathLst>
          </a:custGeom>
          <a:solidFill>
            <a:srgbClr val="FFFFFF"/>
          </a:solidFill>
        </p:spPr>
      </p:sp>
      <p:sp>
        <p:nvSpPr>
          <p:cNvPr id="27" name="Text 22"/>
          <p:cNvSpPr/>
          <p:nvPr/>
        </p:nvSpPr>
        <p:spPr>
          <a:xfrm>
            <a:off x="7456320" y="4498091"/>
            <a:ext cx="594112" cy="51387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8" name="Text 23"/>
          <p:cNvSpPr/>
          <p:nvPr/>
        </p:nvSpPr>
        <p:spPr>
          <a:xfrm>
            <a:off x="665480" y="2674620"/>
            <a:ext cx="3442335" cy="33635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光纤材料的降低成本</a:t>
            </a:r>
            <a:endParaRPr lang="en-US" sz="1725" dirty="0"/>
          </a:p>
        </p:txBody>
      </p:sp>
      <p:sp>
        <p:nvSpPr>
          <p:cNvPr id="29" name="Text 24"/>
          <p:cNvSpPr/>
          <p:nvPr/>
        </p:nvSpPr>
        <p:spPr>
          <a:xfrm>
            <a:off x="666115" y="3044190"/>
            <a:ext cx="3441700" cy="1327547"/>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光纤通信技术的发展带来了光纤材料生产成本的不断降低，使得光纤通信设备更加普及和实用。</a:t>
            </a:r>
            <a:endParaRPr lang="en-US" sz="1350" dirty="0"/>
          </a:p>
        </p:txBody>
      </p:sp>
      <p:sp>
        <p:nvSpPr>
          <p:cNvPr id="30" name="Text 25"/>
          <p:cNvSpPr/>
          <p:nvPr/>
        </p:nvSpPr>
        <p:spPr>
          <a:xfrm>
            <a:off x="8112125" y="2674620"/>
            <a:ext cx="3442335" cy="33635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成本优化</a:t>
            </a:r>
            <a:endParaRPr lang="en-US" sz="1725" dirty="0"/>
          </a:p>
        </p:txBody>
      </p:sp>
      <p:sp>
        <p:nvSpPr>
          <p:cNvPr id="31" name="Text 26"/>
          <p:cNvSpPr/>
          <p:nvPr/>
        </p:nvSpPr>
        <p:spPr>
          <a:xfrm>
            <a:off x="8112760" y="3044190"/>
            <a:ext cx="3441700" cy="1327547"/>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光纤通信设备的成本控制</a:t>
            </a:r>
            <a:endParaRPr lang="en-US" sz="1350" dirty="0"/>
          </a:p>
        </p:txBody>
      </p:sp>
      <p:sp>
        <p:nvSpPr>
          <p:cNvPr id="32" name="Text 27"/>
          <p:cNvSpPr/>
          <p:nvPr/>
        </p:nvSpPr>
        <p:spPr>
          <a:xfrm>
            <a:off x="3970655" y="1402080"/>
            <a:ext cx="4410075" cy="33635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光纤连接器的成本优化</a:t>
            </a:r>
            <a:endParaRPr lang="en-US" sz="1725" dirty="0"/>
          </a:p>
        </p:txBody>
      </p:sp>
      <p:sp>
        <p:nvSpPr>
          <p:cNvPr id="33" name="Text 28"/>
          <p:cNvSpPr/>
          <p:nvPr/>
        </p:nvSpPr>
        <p:spPr>
          <a:xfrm>
            <a:off x="4380865" y="1771650"/>
            <a:ext cx="3441700" cy="1327547"/>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针对光纤连接器的设计和制造不断优化，使得光纤通信设备的连接成本得到有效降低，推动了光纤通信技术的广泛应用。</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系统集成</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728470" y="1358900"/>
            <a:ext cx="2900045" cy="2885440"/>
          </a:xfrm>
          <a:custGeom>
            <a:avLst/>
            <a:gdLst/>
            <a:ahLst/>
            <a:cxnLst/>
            <a:rect l="l" t="t" r="r" b="b"/>
            <a:pathLst>
              <a:path w="2900045" h="2885440">
                <a:moveTo>
                  <a:pt x="213330" y="0"/>
                </a:moveTo>
                <a:lnTo>
                  <a:pt x="2686715" y="0"/>
                </a:lnTo>
                <a:quadBezTo>
                  <a:pt x="2900045" y="0"/>
                  <a:pt x="2900045" y="213330"/>
                </a:quadBezTo>
                <a:lnTo>
                  <a:pt x="2900045" y="2672110"/>
                </a:lnTo>
                <a:quadBezTo>
                  <a:pt x="2900045" y="2885440"/>
                  <a:pt x="2686715" y="2885440"/>
                </a:quadBezTo>
                <a:lnTo>
                  <a:pt x="213330" y="2885440"/>
                </a:lnTo>
                <a:quadBezTo>
                  <a:pt x="0" y="2885440"/>
                  <a:pt x="0" y="2672110"/>
                </a:quadBezTo>
                <a:lnTo>
                  <a:pt x="0" y="213330"/>
                </a:lnTo>
                <a:quadBezTo>
                  <a:pt x="0" y="0"/>
                  <a:pt x="213330" y="0"/>
                </a:quadBezTo>
                <a:close/>
              </a:path>
            </a:pathLst>
          </a:custGeom>
          <a:solidFill>
            <a:srgbClr val="1C1C1C"/>
          </a:solidFill>
          <a:effectLst>
            <a:outerShdw blurRad="48671" dist="48671" dir="2700000" algn="bl" rotWithShape="0">
              <a:srgbClr val="203864">
                <a:alpha val="30196"/>
              </a:srgbClr>
            </a:outerShdw>
          </a:effectLst>
        </p:spPr>
      </p:sp>
      <p:sp>
        <p:nvSpPr>
          <p:cNvPr id="14" name="Text 12"/>
          <p:cNvSpPr/>
          <p:nvPr/>
        </p:nvSpPr>
        <p:spPr>
          <a:xfrm>
            <a:off x="1728470" y="1358900"/>
            <a:ext cx="2900045" cy="28854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Text 13"/>
          <p:cNvSpPr/>
          <p:nvPr/>
        </p:nvSpPr>
        <p:spPr>
          <a:xfrm>
            <a:off x="730529" y="1229831"/>
            <a:ext cx="743781" cy="860524"/>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3600" dirty="0">
                <a:solidFill>
                  <a:srgbClr val="4472C4"/>
                </a:solidFill>
                <a:latin typeface="OPPOSans H" pitchFamily="34" charset="0"/>
                <a:ea typeface="OPPOSans H" pitchFamily="34" charset="-122"/>
                <a:cs typeface="OPPOSans H" pitchFamily="34" charset="-120"/>
              </a:rPr>
              <a:t>01</a:t>
            </a:r>
            <a:endParaRPr lang="en-US" sz="3600" dirty="0"/>
          </a:p>
        </p:txBody>
      </p:sp>
      <p:sp>
        <p:nvSpPr>
          <p:cNvPr id="16" name="Shape 14"/>
          <p:cNvSpPr/>
          <p:nvPr/>
        </p:nvSpPr>
        <p:spPr>
          <a:xfrm rot="5400000">
            <a:off x="1461432"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17" name="Text 15"/>
          <p:cNvSpPr/>
          <p:nvPr/>
        </p:nvSpPr>
        <p:spPr>
          <a:xfrm rot="5400000">
            <a:off x="1461432"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8" name="Shape 16"/>
          <p:cNvSpPr/>
          <p:nvPr/>
        </p:nvSpPr>
        <p:spPr>
          <a:xfrm rot="5400000">
            <a:off x="1383206"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19" name="Text 17"/>
          <p:cNvSpPr/>
          <p:nvPr/>
        </p:nvSpPr>
        <p:spPr>
          <a:xfrm rot="5400000">
            <a:off x="1383206"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0" name="Shape 18"/>
          <p:cNvSpPr/>
          <p:nvPr/>
        </p:nvSpPr>
        <p:spPr>
          <a:xfrm>
            <a:off x="5461000" y="1358900"/>
            <a:ext cx="2900045" cy="2885440"/>
          </a:xfrm>
          <a:custGeom>
            <a:avLst/>
            <a:gdLst/>
            <a:ahLst/>
            <a:cxnLst/>
            <a:rect l="l" t="t" r="r" b="b"/>
            <a:pathLst>
              <a:path w="2900045" h="2885440">
                <a:moveTo>
                  <a:pt x="213330" y="0"/>
                </a:moveTo>
                <a:lnTo>
                  <a:pt x="2686715" y="0"/>
                </a:lnTo>
                <a:quadBezTo>
                  <a:pt x="2900045" y="0"/>
                  <a:pt x="2900045" y="213330"/>
                </a:quadBezTo>
                <a:lnTo>
                  <a:pt x="2900045" y="2672110"/>
                </a:lnTo>
                <a:quadBezTo>
                  <a:pt x="2900045" y="2885440"/>
                  <a:pt x="2686715" y="2885440"/>
                </a:quadBezTo>
                <a:lnTo>
                  <a:pt x="213330" y="2885440"/>
                </a:lnTo>
                <a:quadBezTo>
                  <a:pt x="0" y="2885440"/>
                  <a:pt x="0" y="2672110"/>
                </a:quadBezTo>
                <a:lnTo>
                  <a:pt x="0" y="213330"/>
                </a:lnTo>
                <a:quadBezTo>
                  <a:pt x="0" y="0"/>
                  <a:pt x="213330" y="0"/>
                </a:quadBezTo>
                <a:close/>
              </a:path>
            </a:pathLst>
          </a:custGeom>
          <a:solidFill>
            <a:srgbClr val="1C1C1C"/>
          </a:solidFill>
          <a:effectLst>
            <a:outerShdw blurRad="48671" dist="48671" dir="2700000" algn="bl" rotWithShape="0">
              <a:srgbClr val="203864">
                <a:alpha val="30196"/>
              </a:srgbClr>
            </a:outerShdw>
          </a:effectLst>
        </p:spPr>
      </p:sp>
      <p:sp>
        <p:nvSpPr>
          <p:cNvPr id="21" name="Text 19"/>
          <p:cNvSpPr/>
          <p:nvPr/>
        </p:nvSpPr>
        <p:spPr>
          <a:xfrm>
            <a:off x="5461000" y="1358900"/>
            <a:ext cx="2900045" cy="28854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2" name="Shape 20"/>
          <p:cNvSpPr/>
          <p:nvPr/>
        </p:nvSpPr>
        <p:spPr>
          <a:xfrm>
            <a:off x="4392930" y="1956435"/>
            <a:ext cx="3434715" cy="3547110"/>
          </a:xfrm>
          <a:custGeom>
            <a:avLst/>
            <a:gdLst/>
            <a:ahLst/>
            <a:cxnLst/>
            <a:rect l="l" t="t" r="r" b="b"/>
            <a:pathLst>
              <a:path w="3434715" h="3547110">
                <a:moveTo>
                  <a:pt x="175530" y="0"/>
                </a:moveTo>
                <a:lnTo>
                  <a:pt x="3259185" y="0"/>
                </a:lnTo>
                <a:quadBezTo>
                  <a:pt x="3434715" y="0"/>
                  <a:pt x="3434715" y="175530"/>
                </a:quadBezTo>
                <a:lnTo>
                  <a:pt x="3434715" y="3371580"/>
                </a:lnTo>
                <a:quadBezTo>
                  <a:pt x="3434715" y="3547110"/>
                  <a:pt x="3259185" y="3547110"/>
                </a:quadBezTo>
                <a:lnTo>
                  <a:pt x="175530" y="3547110"/>
                </a:lnTo>
                <a:quadBezTo>
                  <a:pt x="0" y="3547110"/>
                  <a:pt x="0" y="3371580"/>
                </a:quadBezTo>
                <a:lnTo>
                  <a:pt x="0" y="175530"/>
                </a:lnTo>
                <a:quadBezTo>
                  <a:pt x="0" y="0"/>
                  <a:pt x="175530" y="0"/>
                </a:quadBezTo>
                <a:close/>
              </a:path>
            </a:pathLst>
          </a:custGeom>
          <a:solidFill>
            <a:srgbClr val="FFFFFF"/>
          </a:solidFill>
          <a:effectLst>
            <a:outerShdw blurRad="19050" dist="12700" dir="2700000" algn="bl" rotWithShape="0">
              <a:srgbClr val="DBDBDB">
                <a:alpha val="100000"/>
              </a:srgbClr>
            </a:outerShdw>
          </a:effectLst>
        </p:spPr>
      </p:sp>
      <p:sp>
        <p:nvSpPr>
          <p:cNvPr id="23" name="Text 21"/>
          <p:cNvSpPr/>
          <p:nvPr/>
        </p:nvSpPr>
        <p:spPr>
          <a:xfrm>
            <a:off x="4392930" y="1956435"/>
            <a:ext cx="3434715" cy="354711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4" name="Text 22"/>
          <p:cNvSpPr/>
          <p:nvPr/>
        </p:nvSpPr>
        <p:spPr>
          <a:xfrm>
            <a:off x="4545610" y="1229831"/>
            <a:ext cx="722346" cy="860524"/>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3600" dirty="0">
                <a:solidFill>
                  <a:srgbClr val="4472C4"/>
                </a:solidFill>
                <a:latin typeface="OPPOSans H" pitchFamily="34" charset="0"/>
                <a:ea typeface="OPPOSans H" pitchFamily="34" charset="-122"/>
                <a:cs typeface="OPPOSans H" pitchFamily="34" charset="-120"/>
              </a:rPr>
              <a:t>02</a:t>
            </a:r>
            <a:endParaRPr lang="en-US" sz="3600" dirty="0"/>
          </a:p>
        </p:txBody>
      </p:sp>
      <p:sp>
        <p:nvSpPr>
          <p:cNvPr id="25" name="Shape 23"/>
          <p:cNvSpPr/>
          <p:nvPr/>
        </p:nvSpPr>
        <p:spPr>
          <a:xfrm rot="5400000">
            <a:off x="5270163"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26" name="Text 24"/>
          <p:cNvSpPr/>
          <p:nvPr/>
        </p:nvSpPr>
        <p:spPr>
          <a:xfrm rot="5400000">
            <a:off x="5270163"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rot="5400000">
            <a:off x="5191937"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28" name="Text 26"/>
          <p:cNvSpPr/>
          <p:nvPr/>
        </p:nvSpPr>
        <p:spPr>
          <a:xfrm rot="5400000">
            <a:off x="5191937"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a:off x="9193530" y="1358900"/>
            <a:ext cx="2900045" cy="2885440"/>
          </a:xfrm>
          <a:custGeom>
            <a:avLst/>
            <a:gdLst/>
            <a:ahLst/>
            <a:cxnLst/>
            <a:rect l="l" t="t" r="r" b="b"/>
            <a:pathLst>
              <a:path w="2900045" h="2885440">
                <a:moveTo>
                  <a:pt x="213330" y="0"/>
                </a:moveTo>
                <a:lnTo>
                  <a:pt x="2686715" y="0"/>
                </a:lnTo>
                <a:quadBezTo>
                  <a:pt x="2900045" y="0"/>
                  <a:pt x="2900045" y="213330"/>
                </a:quadBezTo>
                <a:lnTo>
                  <a:pt x="2900045" y="2672110"/>
                </a:lnTo>
                <a:quadBezTo>
                  <a:pt x="2900045" y="2885440"/>
                  <a:pt x="2686715" y="2885440"/>
                </a:quadBezTo>
                <a:lnTo>
                  <a:pt x="213330" y="2885440"/>
                </a:lnTo>
                <a:quadBezTo>
                  <a:pt x="0" y="2885440"/>
                  <a:pt x="0" y="2672110"/>
                </a:quadBezTo>
                <a:lnTo>
                  <a:pt x="0" y="213330"/>
                </a:lnTo>
                <a:quadBezTo>
                  <a:pt x="0" y="0"/>
                  <a:pt x="213330" y="0"/>
                </a:quadBezTo>
                <a:close/>
              </a:path>
            </a:pathLst>
          </a:custGeom>
          <a:solidFill>
            <a:srgbClr val="1C1C1C"/>
          </a:solidFill>
          <a:effectLst>
            <a:outerShdw blurRad="48671" dist="48671" dir="2700000" algn="bl" rotWithShape="0">
              <a:srgbClr val="203864">
                <a:alpha val="30196"/>
              </a:srgbClr>
            </a:outerShdw>
          </a:effectLst>
        </p:spPr>
      </p:sp>
      <p:sp>
        <p:nvSpPr>
          <p:cNvPr id="30" name="Text 28"/>
          <p:cNvSpPr/>
          <p:nvPr/>
        </p:nvSpPr>
        <p:spPr>
          <a:xfrm>
            <a:off x="9193530" y="1358900"/>
            <a:ext cx="2900045" cy="28854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a:off x="8125460" y="1956435"/>
            <a:ext cx="3434715" cy="3547110"/>
          </a:xfrm>
          <a:custGeom>
            <a:avLst/>
            <a:gdLst/>
            <a:ahLst/>
            <a:cxnLst/>
            <a:rect l="l" t="t" r="r" b="b"/>
            <a:pathLst>
              <a:path w="3434715" h="3547110">
                <a:moveTo>
                  <a:pt x="175530" y="0"/>
                </a:moveTo>
                <a:lnTo>
                  <a:pt x="3259185" y="0"/>
                </a:lnTo>
                <a:quadBezTo>
                  <a:pt x="3434715" y="0"/>
                  <a:pt x="3434715" y="175530"/>
                </a:quadBezTo>
                <a:lnTo>
                  <a:pt x="3434715" y="3371580"/>
                </a:lnTo>
                <a:quadBezTo>
                  <a:pt x="3434715" y="3547110"/>
                  <a:pt x="3259185" y="3547110"/>
                </a:quadBezTo>
                <a:lnTo>
                  <a:pt x="175530" y="3547110"/>
                </a:lnTo>
                <a:quadBezTo>
                  <a:pt x="0" y="3547110"/>
                  <a:pt x="0" y="3371580"/>
                </a:quadBezTo>
                <a:lnTo>
                  <a:pt x="0" y="175530"/>
                </a:lnTo>
                <a:quadBezTo>
                  <a:pt x="0" y="0"/>
                  <a:pt x="175530" y="0"/>
                </a:quadBezTo>
                <a:close/>
              </a:path>
            </a:pathLst>
          </a:custGeom>
          <a:solidFill>
            <a:srgbClr val="FFFFFF"/>
          </a:solidFill>
          <a:effectLst>
            <a:outerShdw blurRad="19050" dist="12700" dir="2700000" algn="bl" rotWithShape="0">
              <a:srgbClr val="DBDBDB">
                <a:alpha val="100000"/>
              </a:srgbClr>
            </a:outerShdw>
          </a:effectLst>
        </p:spPr>
      </p:sp>
      <p:sp>
        <p:nvSpPr>
          <p:cNvPr id="32" name="Text 30"/>
          <p:cNvSpPr/>
          <p:nvPr/>
        </p:nvSpPr>
        <p:spPr>
          <a:xfrm>
            <a:off x="8125460" y="1956435"/>
            <a:ext cx="3434715" cy="354711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3" name="Text 31"/>
          <p:cNvSpPr/>
          <p:nvPr/>
        </p:nvSpPr>
        <p:spPr>
          <a:xfrm>
            <a:off x="8265440" y="1256501"/>
            <a:ext cx="743781" cy="860524"/>
          </a:xfrm>
          <a:prstGeom prst="rect">
            <a:avLst/>
          </a:prstGeom>
          <a:noFill/>
        </p:spPr>
        <p:txBody>
          <a:bodyPr wrap="square" lIns="95250" tIns="95250" rIns="95250" bIns="95250" rtlCol="0" anchor="ctr">
            <a:spAutoFit/>
          </a:bodyPr>
          <a:lstStyle/>
          <a:p>
            <a:pPr marL="0" indent="0" algn="ctr">
              <a:lnSpc>
                <a:spcPct val="100000"/>
              </a:lnSpc>
              <a:spcBef>
                <a:spcPts val="375"/>
              </a:spcBef>
              <a:buNone/>
            </a:pPr>
            <a:r>
              <a:rPr lang="en-US" sz="3600" dirty="0">
                <a:solidFill>
                  <a:srgbClr val="4472C4"/>
                </a:solidFill>
                <a:latin typeface="OPPOSans H" pitchFamily="34" charset="0"/>
                <a:ea typeface="OPPOSans H" pitchFamily="34" charset="-122"/>
                <a:cs typeface="OPPOSans H" pitchFamily="34" charset="-120"/>
              </a:rPr>
              <a:t>03</a:t>
            </a:r>
            <a:endParaRPr lang="en-US" sz="3600" dirty="0"/>
          </a:p>
        </p:txBody>
      </p:sp>
      <p:sp>
        <p:nvSpPr>
          <p:cNvPr id="34" name="Shape 32"/>
          <p:cNvSpPr/>
          <p:nvPr/>
        </p:nvSpPr>
        <p:spPr>
          <a:xfrm rot="5400000">
            <a:off x="8993168"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35" name="Text 33"/>
          <p:cNvSpPr/>
          <p:nvPr/>
        </p:nvSpPr>
        <p:spPr>
          <a:xfrm rot="5400000">
            <a:off x="8993168"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6" name="Shape 34"/>
          <p:cNvSpPr/>
          <p:nvPr/>
        </p:nvSpPr>
        <p:spPr>
          <a:xfrm rot="5400000">
            <a:off x="8914942" y="1632399"/>
            <a:ext cx="172720" cy="108494"/>
          </a:xfrm>
          <a:custGeom>
            <a:avLst/>
            <a:gdLst/>
            <a:ahLst/>
            <a:cxnLst/>
            <a:rect l="l" t="t" r="r" b="b"/>
            <a:pathLst>
              <a:path w="172720" h="108494">
                <a:moveTo>
                  <a:pt x="86360" y="0"/>
                </a:moveTo>
                <a:lnTo>
                  <a:pt x="0" y="108494"/>
                </a:lnTo>
                <a:lnTo>
                  <a:pt x="172720" y="108494"/>
                </a:lnTo>
                <a:close/>
              </a:path>
            </a:pathLst>
          </a:custGeom>
          <a:solidFill>
            <a:srgbClr val="1C1C1C"/>
          </a:solidFill>
        </p:spPr>
      </p:sp>
      <p:sp>
        <p:nvSpPr>
          <p:cNvPr id="37" name="Text 35"/>
          <p:cNvSpPr/>
          <p:nvPr/>
        </p:nvSpPr>
        <p:spPr>
          <a:xfrm rot="5400000">
            <a:off x="8914942" y="1632399"/>
            <a:ext cx="172720" cy="1084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8" name="Shape 36"/>
          <p:cNvSpPr/>
          <p:nvPr/>
        </p:nvSpPr>
        <p:spPr>
          <a:xfrm>
            <a:off x="660400" y="1956435"/>
            <a:ext cx="3434715" cy="3547110"/>
          </a:xfrm>
          <a:custGeom>
            <a:avLst/>
            <a:gdLst/>
            <a:ahLst/>
            <a:cxnLst/>
            <a:rect l="l" t="t" r="r" b="b"/>
            <a:pathLst>
              <a:path w="3434715" h="3547110">
                <a:moveTo>
                  <a:pt x="175530" y="0"/>
                </a:moveTo>
                <a:lnTo>
                  <a:pt x="3259185" y="0"/>
                </a:lnTo>
                <a:quadBezTo>
                  <a:pt x="3434715" y="0"/>
                  <a:pt x="3434715" y="175530"/>
                </a:quadBezTo>
                <a:lnTo>
                  <a:pt x="3434715" y="3371580"/>
                </a:lnTo>
                <a:quadBezTo>
                  <a:pt x="3434715" y="3547110"/>
                  <a:pt x="3259185" y="3547110"/>
                </a:quadBezTo>
                <a:lnTo>
                  <a:pt x="175530" y="3547110"/>
                </a:lnTo>
                <a:quadBezTo>
                  <a:pt x="0" y="3547110"/>
                  <a:pt x="0" y="3371580"/>
                </a:quadBezTo>
                <a:lnTo>
                  <a:pt x="0" y="175530"/>
                </a:lnTo>
                <a:quadBezTo>
                  <a:pt x="0" y="0"/>
                  <a:pt x="175530" y="0"/>
                </a:quadBezTo>
                <a:close/>
              </a:path>
            </a:pathLst>
          </a:custGeom>
          <a:solidFill>
            <a:srgbClr val="FFFFFF"/>
          </a:solidFill>
          <a:effectLst>
            <a:outerShdw blurRad="19050" dist="12700" dir="2700000" algn="bl" rotWithShape="0">
              <a:srgbClr val="DBDBDB">
                <a:alpha val="100000"/>
              </a:srgbClr>
            </a:outerShdw>
          </a:effectLst>
        </p:spPr>
      </p:sp>
      <p:sp>
        <p:nvSpPr>
          <p:cNvPr id="39" name="Text 37"/>
          <p:cNvSpPr/>
          <p:nvPr/>
        </p:nvSpPr>
        <p:spPr>
          <a:xfrm>
            <a:off x="660400" y="1956435"/>
            <a:ext cx="3434715" cy="354711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0" name="Shape 38"/>
          <p:cNvSpPr/>
          <p:nvPr/>
        </p:nvSpPr>
        <p:spPr>
          <a:xfrm>
            <a:off x="3161800" y="5147700"/>
            <a:ext cx="718594" cy="718594"/>
          </a:xfrm>
          <a:custGeom>
            <a:avLst/>
            <a:gdLst/>
            <a:ahLst/>
            <a:cxnLst/>
            <a:rect l="l" t="t" r="r" b="b"/>
            <a:pathLst>
              <a:path w="718594" h="718594">
                <a:moveTo>
                  <a:pt x="89024" y="0"/>
                </a:moveTo>
                <a:lnTo>
                  <a:pt x="629570" y="0"/>
                </a:lnTo>
                <a:quadBezTo>
                  <a:pt x="718594" y="0"/>
                  <a:pt x="718594" y="89024"/>
                </a:quadBezTo>
                <a:lnTo>
                  <a:pt x="718594" y="629570"/>
                </a:lnTo>
                <a:quadBezTo>
                  <a:pt x="718594" y="718594"/>
                  <a:pt x="629570" y="718594"/>
                </a:quadBezTo>
                <a:lnTo>
                  <a:pt x="89024" y="718594"/>
                </a:lnTo>
                <a:quadBezTo>
                  <a:pt x="0" y="718594"/>
                  <a:pt x="0" y="629570"/>
                </a:quadBezTo>
                <a:lnTo>
                  <a:pt x="0" y="89024"/>
                </a:lnTo>
                <a:quadBezTo>
                  <a:pt x="0" y="0"/>
                  <a:pt x="89024" y="0"/>
                </a:quadBezTo>
                <a:close/>
              </a:path>
            </a:pathLst>
          </a:custGeom>
          <a:solidFill>
            <a:srgbClr val="FFFFFF"/>
          </a:solidFill>
          <a:ln w="26194">
            <a:solidFill>
              <a:srgbClr val="4472C4"/>
            </a:solidFill>
            <a:prstDash val="dash"/>
          </a:ln>
          <a:effectLst>
            <a:outerShdw blurRad="48671" dist="48671" dir="2700000" algn="bl" rotWithShape="0">
              <a:srgbClr val="4472C4">
                <a:alpha val="30196"/>
              </a:srgbClr>
            </a:outerShdw>
          </a:effectLst>
        </p:spPr>
      </p:sp>
      <p:sp>
        <p:nvSpPr>
          <p:cNvPr id="41" name="Text 39"/>
          <p:cNvSpPr/>
          <p:nvPr/>
        </p:nvSpPr>
        <p:spPr>
          <a:xfrm>
            <a:off x="3161800" y="5147700"/>
            <a:ext cx="718594" cy="7185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2" name="Shape 40"/>
          <p:cNvSpPr/>
          <p:nvPr/>
        </p:nvSpPr>
        <p:spPr>
          <a:xfrm>
            <a:off x="3335621" y="5338842"/>
            <a:ext cx="370952" cy="336310"/>
          </a:xfrm>
          <a:custGeom>
            <a:avLst/>
            <a:gdLst/>
            <a:ahLst/>
            <a:cxnLst/>
            <a:rect l="l" t="t" r="r" b="b"/>
            <a:pathLst>
              <a:path w="370952" h="336310">
                <a:moveTo>
                  <a:pt x="80811" y="120467"/>
                </a:moveTo>
                <a:cubicBezTo>
                  <a:pt x="80854" y="120467"/>
                  <a:pt x="80854" y="120467"/>
                  <a:pt x="80811" y="120467"/>
                </a:cubicBezTo>
                <a:cubicBezTo>
                  <a:pt x="80854" y="120467"/>
                  <a:pt x="80896" y="120509"/>
                  <a:pt x="80896" y="120509"/>
                </a:cubicBezTo>
                <a:lnTo>
                  <a:pt x="80896" y="234809"/>
                </a:lnTo>
                <a:lnTo>
                  <a:pt x="80811" y="234895"/>
                </a:lnTo>
                <a:lnTo>
                  <a:pt x="37643" y="234895"/>
                </a:lnTo>
                <a:lnTo>
                  <a:pt x="37558" y="234809"/>
                </a:lnTo>
                <a:lnTo>
                  <a:pt x="37558" y="120509"/>
                </a:lnTo>
                <a:lnTo>
                  <a:pt x="37558" y="120467"/>
                </a:lnTo>
                <a:lnTo>
                  <a:pt x="37600" y="120424"/>
                </a:lnTo>
                <a:lnTo>
                  <a:pt x="80811" y="120424"/>
                </a:lnTo>
                <a:moveTo>
                  <a:pt x="80811" y="94772"/>
                </a:moveTo>
                <a:lnTo>
                  <a:pt x="37600" y="94772"/>
                </a:lnTo>
                <a:cubicBezTo>
                  <a:pt x="23382" y="94772"/>
                  <a:pt x="11820" y="106291"/>
                  <a:pt x="11820" y="120552"/>
                </a:cubicBezTo>
                <a:lnTo>
                  <a:pt x="11820" y="234852"/>
                </a:lnTo>
                <a:cubicBezTo>
                  <a:pt x="11820" y="249027"/>
                  <a:pt x="23425" y="260633"/>
                  <a:pt x="37600" y="260633"/>
                </a:cubicBezTo>
                <a:lnTo>
                  <a:pt x="80811" y="260633"/>
                </a:lnTo>
                <a:cubicBezTo>
                  <a:pt x="94986" y="260633"/>
                  <a:pt x="106592" y="249027"/>
                  <a:pt x="106592" y="234852"/>
                </a:cubicBezTo>
                <a:lnTo>
                  <a:pt x="106592" y="120509"/>
                </a:lnTo>
                <a:cubicBezTo>
                  <a:pt x="106592" y="106291"/>
                  <a:pt x="95072" y="94772"/>
                  <a:pt x="80811" y="94772"/>
                </a:cubicBezTo>
                <a:moveTo>
                  <a:pt x="199308" y="25695"/>
                </a:moveTo>
                <a:cubicBezTo>
                  <a:pt x="199351" y="25695"/>
                  <a:pt x="199394" y="25738"/>
                  <a:pt x="199394" y="25738"/>
                </a:cubicBezTo>
                <a:lnTo>
                  <a:pt x="199394" y="234809"/>
                </a:lnTo>
                <a:lnTo>
                  <a:pt x="199308" y="234895"/>
                </a:lnTo>
                <a:lnTo>
                  <a:pt x="156140" y="234895"/>
                </a:lnTo>
                <a:lnTo>
                  <a:pt x="156054" y="234809"/>
                </a:lnTo>
                <a:lnTo>
                  <a:pt x="156054" y="25781"/>
                </a:lnTo>
                <a:lnTo>
                  <a:pt x="156054" y="25738"/>
                </a:lnTo>
                <a:lnTo>
                  <a:pt x="156097" y="25695"/>
                </a:lnTo>
                <a:lnTo>
                  <a:pt x="199308" y="25695"/>
                </a:lnTo>
                <a:moveTo>
                  <a:pt x="199308" y="0"/>
                </a:moveTo>
                <a:lnTo>
                  <a:pt x="156054" y="0"/>
                </a:lnTo>
                <a:cubicBezTo>
                  <a:pt x="141836" y="0"/>
                  <a:pt x="130274" y="11520"/>
                  <a:pt x="130274" y="25781"/>
                </a:cubicBezTo>
                <a:lnTo>
                  <a:pt x="130274" y="234852"/>
                </a:lnTo>
                <a:cubicBezTo>
                  <a:pt x="130274" y="249027"/>
                  <a:pt x="141880" y="260633"/>
                  <a:pt x="156054" y="260633"/>
                </a:cubicBezTo>
                <a:lnTo>
                  <a:pt x="199265" y="260633"/>
                </a:lnTo>
                <a:cubicBezTo>
                  <a:pt x="213440" y="260633"/>
                  <a:pt x="225046" y="249027"/>
                  <a:pt x="225046" y="234852"/>
                </a:cubicBezTo>
                <a:lnTo>
                  <a:pt x="225046" y="25781"/>
                </a:lnTo>
                <a:cubicBezTo>
                  <a:pt x="225046" y="11520"/>
                  <a:pt x="213526" y="0"/>
                  <a:pt x="199308" y="0"/>
                </a:cubicBezTo>
                <a:moveTo>
                  <a:pt x="317762" y="167831"/>
                </a:moveTo>
                <a:cubicBezTo>
                  <a:pt x="317805" y="167831"/>
                  <a:pt x="317848" y="167874"/>
                  <a:pt x="317848" y="167874"/>
                </a:cubicBezTo>
                <a:lnTo>
                  <a:pt x="317848" y="234809"/>
                </a:lnTo>
                <a:lnTo>
                  <a:pt x="317762" y="234895"/>
                </a:lnTo>
                <a:lnTo>
                  <a:pt x="274594" y="234895"/>
                </a:lnTo>
                <a:lnTo>
                  <a:pt x="274509" y="234809"/>
                </a:lnTo>
                <a:lnTo>
                  <a:pt x="274509" y="167917"/>
                </a:lnTo>
                <a:lnTo>
                  <a:pt x="274509" y="167874"/>
                </a:lnTo>
                <a:lnTo>
                  <a:pt x="274551" y="167831"/>
                </a:lnTo>
                <a:lnTo>
                  <a:pt x="317762" y="167831"/>
                </a:lnTo>
                <a:moveTo>
                  <a:pt x="317762" y="142136"/>
                </a:moveTo>
                <a:lnTo>
                  <a:pt x="274551" y="142136"/>
                </a:lnTo>
                <a:cubicBezTo>
                  <a:pt x="260334" y="142136"/>
                  <a:pt x="248771" y="153656"/>
                  <a:pt x="248771" y="167917"/>
                </a:cubicBezTo>
                <a:lnTo>
                  <a:pt x="248771" y="234809"/>
                </a:lnTo>
                <a:cubicBezTo>
                  <a:pt x="248771" y="248984"/>
                  <a:pt x="260376" y="260590"/>
                  <a:pt x="274551" y="260590"/>
                </a:cubicBezTo>
                <a:lnTo>
                  <a:pt x="317762" y="260590"/>
                </a:lnTo>
                <a:cubicBezTo>
                  <a:pt x="331937" y="260590"/>
                  <a:pt x="343543" y="248984"/>
                  <a:pt x="343543" y="234809"/>
                </a:cubicBezTo>
                <a:lnTo>
                  <a:pt x="343543" y="167917"/>
                </a:lnTo>
                <a:cubicBezTo>
                  <a:pt x="343543" y="153699"/>
                  <a:pt x="331980" y="142136"/>
                  <a:pt x="317762" y="142136"/>
                </a:cubicBezTo>
                <a:moveTo>
                  <a:pt x="341144" y="293779"/>
                </a:moveTo>
                <a:lnTo>
                  <a:pt x="14218" y="293779"/>
                </a:lnTo>
                <a:cubicBezTo>
                  <a:pt x="6381" y="293779"/>
                  <a:pt x="0" y="300160"/>
                  <a:pt x="0" y="307997"/>
                </a:cubicBezTo>
                <a:cubicBezTo>
                  <a:pt x="0" y="315834"/>
                  <a:pt x="6381" y="322215"/>
                  <a:pt x="14218" y="322215"/>
                </a:cubicBezTo>
                <a:lnTo>
                  <a:pt x="341187" y="322215"/>
                </a:lnTo>
                <a:cubicBezTo>
                  <a:pt x="349024" y="322215"/>
                  <a:pt x="355405" y="315834"/>
                  <a:pt x="355405" y="307997"/>
                </a:cubicBezTo>
                <a:cubicBezTo>
                  <a:pt x="355362" y="300117"/>
                  <a:pt x="349024" y="293779"/>
                  <a:pt x="341144" y="293779"/>
                </a:cubicBezTo>
                <a:close/>
                <a:close/>
                <a:close/>
                <a:close/>
              </a:path>
            </a:pathLst>
          </a:custGeom>
          <a:solidFill>
            <a:srgbClr val="4472C4"/>
          </a:solidFill>
        </p:spPr>
      </p:sp>
      <p:sp>
        <p:nvSpPr>
          <p:cNvPr id="43" name="Text 41"/>
          <p:cNvSpPr/>
          <p:nvPr/>
        </p:nvSpPr>
        <p:spPr>
          <a:xfrm>
            <a:off x="3335621" y="5338842"/>
            <a:ext cx="370952" cy="336310"/>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4" name="Shape 42"/>
          <p:cNvSpPr/>
          <p:nvPr/>
        </p:nvSpPr>
        <p:spPr>
          <a:xfrm>
            <a:off x="6894330" y="5147700"/>
            <a:ext cx="718594" cy="718594"/>
          </a:xfrm>
          <a:custGeom>
            <a:avLst/>
            <a:gdLst/>
            <a:ahLst/>
            <a:cxnLst/>
            <a:rect l="l" t="t" r="r" b="b"/>
            <a:pathLst>
              <a:path w="718594" h="718594">
                <a:moveTo>
                  <a:pt x="89024" y="0"/>
                </a:moveTo>
                <a:lnTo>
                  <a:pt x="629570" y="0"/>
                </a:lnTo>
                <a:quadBezTo>
                  <a:pt x="718594" y="0"/>
                  <a:pt x="718594" y="89024"/>
                </a:quadBezTo>
                <a:lnTo>
                  <a:pt x="718594" y="629570"/>
                </a:lnTo>
                <a:quadBezTo>
                  <a:pt x="718594" y="718594"/>
                  <a:pt x="629570" y="718594"/>
                </a:quadBezTo>
                <a:lnTo>
                  <a:pt x="89024" y="718594"/>
                </a:lnTo>
                <a:quadBezTo>
                  <a:pt x="0" y="718594"/>
                  <a:pt x="0" y="629570"/>
                </a:quadBezTo>
                <a:lnTo>
                  <a:pt x="0" y="89024"/>
                </a:lnTo>
                <a:quadBezTo>
                  <a:pt x="0" y="0"/>
                  <a:pt x="89024" y="0"/>
                </a:quadBezTo>
                <a:close/>
              </a:path>
            </a:pathLst>
          </a:custGeom>
          <a:solidFill>
            <a:srgbClr val="FFFFFF"/>
          </a:solidFill>
          <a:ln w="26194">
            <a:solidFill>
              <a:srgbClr val="4472C4"/>
            </a:solidFill>
            <a:prstDash val="dash"/>
          </a:ln>
          <a:effectLst>
            <a:outerShdw blurRad="48671" dist="48671" dir="2700000" algn="bl" rotWithShape="0">
              <a:srgbClr val="4472C4">
                <a:alpha val="30196"/>
              </a:srgbClr>
            </a:outerShdw>
          </a:effectLst>
        </p:spPr>
      </p:sp>
      <p:sp>
        <p:nvSpPr>
          <p:cNvPr id="45" name="Text 43"/>
          <p:cNvSpPr/>
          <p:nvPr/>
        </p:nvSpPr>
        <p:spPr>
          <a:xfrm>
            <a:off x="6894330" y="5147700"/>
            <a:ext cx="718594" cy="7185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6" name="Shape 44"/>
          <p:cNvSpPr/>
          <p:nvPr/>
        </p:nvSpPr>
        <p:spPr>
          <a:xfrm>
            <a:off x="10626861" y="5147700"/>
            <a:ext cx="718594" cy="718594"/>
          </a:xfrm>
          <a:custGeom>
            <a:avLst/>
            <a:gdLst/>
            <a:ahLst/>
            <a:cxnLst/>
            <a:rect l="l" t="t" r="r" b="b"/>
            <a:pathLst>
              <a:path w="718594" h="718594">
                <a:moveTo>
                  <a:pt x="89024" y="0"/>
                </a:moveTo>
                <a:lnTo>
                  <a:pt x="629570" y="0"/>
                </a:lnTo>
                <a:quadBezTo>
                  <a:pt x="718594" y="0"/>
                  <a:pt x="718594" y="89024"/>
                </a:quadBezTo>
                <a:lnTo>
                  <a:pt x="718594" y="629570"/>
                </a:lnTo>
                <a:quadBezTo>
                  <a:pt x="718594" y="718594"/>
                  <a:pt x="629570" y="718594"/>
                </a:quadBezTo>
                <a:lnTo>
                  <a:pt x="89024" y="718594"/>
                </a:lnTo>
                <a:quadBezTo>
                  <a:pt x="0" y="718594"/>
                  <a:pt x="0" y="629570"/>
                </a:quadBezTo>
                <a:lnTo>
                  <a:pt x="0" y="89024"/>
                </a:lnTo>
                <a:quadBezTo>
                  <a:pt x="0" y="0"/>
                  <a:pt x="89024" y="0"/>
                </a:quadBezTo>
                <a:close/>
              </a:path>
            </a:pathLst>
          </a:custGeom>
          <a:solidFill>
            <a:srgbClr val="FFFFFF"/>
          </a:solidFill>
          <a:ln w="26194">
            <a:solidFill>
              <a:srgbClr val="4472C4"/>
            </a:solidFill>
            <a:prstDash val="dash"/>
          </a:ln>
          <a:effectLst>
            <a:outerShdw blurRad="48671" dist="48671" dir="2700000" algn="bl" rotWithShape="0">
              <a:srgbClr val="4472C4">
                <a:alpha val="30196"/>
              </a:srgbClr>
            </a:outerShdw>
          </a:effectLst>
        </p:spPr>
      </p:sp>
      <p:sp>
        <p:nvSpPr>
          <p:cNvPr id="47" name="Text 45"/>
          <p:cNvSpPr/>
          <p:nvPr/>
        </p:nvSpPr>
        <p:spPr>
          <a:xfrm>
            <a:off x="10626861" y="5147700"/>
            <a:ext cx="718594" cy="718594"/>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8" name="Shape 46"/>
          <p:cNvSpPr/>
          <p:nvPr/>
        </p:nvSpPr>
        <p:spPr>
          <a:xfrm>
            <a:off x="7091991" y="5338923"/>
            <a:ext cx="323272" cy="336148"/>
          </a:xfrm>
          <a:custGeom>
            <a:avLst/>
            <a:gdLst/>
            <a:ahLst/>
            <a:cxnLst/>
            <a:rect l="l" t="t" r="r" b="b"/>
            <a:pathLst>
              <a:path w="323272" h="336148">
                <a:moveTo>
                  <a:pt x="76234" y="296867"/>
                </a:moveTo>
                <a:lnTo>
                  <a:pt x="119660" y="296867"/>
                </a:lnTo>
                <a:lnTo>
                  <a:pt x="190064" y="296867"/>
                </a:lnTo>
                <a:lnTo>
                  <a:pt x="233489" y="296867"/>
                </a:lnTo>
                <a:cubicBezTo>
                  <a:pt x="240459" y="296867"/>
                  <a:pt x="246086" y="302493"/>
                  <a:pt x="246086" y="309463"/>
                </a:cubicBezTo>
                <a:cubicBezTo>
                  <a:pt x="246086" y="316433"/>
                  <a:pt x="240417" y="322060"/>
                  <a:pt x="233489" y="322060"/>
                </a:cubicBezTo>
                <a:lnTo>
                  <a:pt x="190064" y="322060"/>
                </a:lnTo>
                <a:lnTo>
                  <a:pt x="119660" y="322060"/>
                </a:lnTo>
                <a:lnTo>
                  <a:pt x="76234" y="322060"/>
                </a:lnTo>
                <a:cubicBezTo>
                  <a:pt x="69264" y="322060"/>
                  <a:pt x="63638" y="316433"/>
                  <a:pt x="63638" y="309463"/>
                </a:cubicBezTo>
                <a:cubicBezTo>
                  <a:pt x="63638" y="302493"/>
                  <a:pt x="69264" y="296867"/>
                  <a:pt x="76234" y="296867"/>
                </a:cubicBezTo>
                <a:moveTo>
                  <a:pt x="154865" y="25193"/>
                </a:moveTo>
                <a:cubicBezTo>
                  <a:pt x="99063" y="25193"/>
                  <a:pt x="53632" y="70581"/>
                  <a:pt x="53632" y="126425"/>
                </a:cubicBezTo>
                <a:lnTo>
                  <a:pt x="53632" y="222451"/>
                </a:lnTo>
                <a:cubicBezTo>
                  <a:pt x="53632" y="224803"/>
                  <a:pt x="53002" y="227070"/>
                  <a:pt x="51742" y="229043"/>
                </a:cubicBezTo>
                <a:lnTo>
                  <a:pt x="35157" y="256125"/>
                </a:lnTo>
                <a:lnTo>
                  <a:pt x="274153" y="256125"/>
                </a:lnTo>
                <a:lnTo>
                  <a:pt x="258071" y="231017"/>
                </a:lnTo>
                <a:cubicBezTo>
                  <a:pt x="256770" y="229001"/>
                  <a:pt x="256098" y="226650"/>
                  <a:pt x="256098" y="224215"/>
                </a:cubicBezTo>
                <a:lnTo>
                  <a:pt x="256098" y="126425"/>
                </a:lnTo>
                <a:cubicBezTo>
                  <a:pt x="256098" y="70623"/>
                  <a:pt x="210709" y="25193"/>
                  <a:pt x="154865" y="25193"/>
                </a:cubicBezTo>
                <a:moveTo>
                  <a:pt x="154865" y="0"/>
                </a:moveTo>
                <a:cubicBezTo>
                  <a:pt x="171870" y="0"/>
                  <a:pt x="188371" y="3359"/>
                  <a:pt x="203991" y="9993"/>
                </a:cubicBezTo>
                <a:cubicBezTo>
                  <a:pt x="219022" y="16375"/>
                  <a:pt x="232542" y="25528"/>
                  <a:pt x="244173" y="37117"/>
                </a:cubicBezTo>
                <a:cubicBezTo>
                  <a:pt x="255804" y="48748"/>
                  <a:pt x="264915" y="62268"/>
                  <a:pt x="271298" y="77300"/>
                </a:cubicBezTo>
                <a:cubicBezTo>
                  <a:pt x="277931" y="92877"/>
                  <a:pt x="281291" y="109420"/>
                  <a:pt x="281291" y="126425"/>
                </a:cubicBezTo>
                <a:lnTo>
                  <a:pt x="281291" y="220562"/>
                </a:lnTo>
                <a:lnTo>
                  <a:pt x="307743" y="261920"/>
                </a:lnTo>
                <a:cubicBezTo>
                  <a:pt x="310220" y="265783"/>
                  <a:pt x="310388" y="270737"/>
                  <a:pt x="308163" y="274768"/>
                </a:cubicBezTo>
                <a:cubicBezTo>
                  <a:pt x="305980" y="278799"/>
                  <a:pt x="301739" y="281318"/>
                  <a:pt x="297162" y="281318"/>
                </a:cubicBezTo>
                <a:lnTo>
                  <a:pt x="12609" y="281318"/>
                </a:lnTo>
                <a:cubicBezTo>
                  <a:pt x="8032" y="281318"/>
                  <a:pt x="3834" y="278841"/>
                  <a:pt x="1608" y="274852"/>
                </a:cubicBezTo>
                <a:cubicBezTo>
                  <a:pt x="-617" y="270863"/>
                  <a:pt x="-533" y="265993"/>
                  <a:pt x="1860" y="262088"/>
                </a:cubicBezTo>
                <a:lnTo>
                  <a:pt x="28439" y="218882"/>
                </a:lnTo>
                <a:lnTo>
                  <a:pt x="28439" y="126425"/>
                </a:lnTo>
                <a:cubicBezTo>
                  <a:pt x="28439" y="109420"/>
                  <a:pt x="31798" y="92919"/>
                  <a:pt x="38432" y="77300"/>
                </a:cubicBezTo>
                <a:cubicBezTo>
                  <a:pt x="44814" y="62268"/>
                  <a:pt x="53967" y="48748"/>
                  <a:pt x="65556" y="37117"/>
                </a:cubicBezTo>
                <a:cubicBezTo>
                  <a:pt x="77145" y="25487"/>
                  <a:pt x="90707" y="16375"/>
                  <a:pt x="105739" y="9993"/>
                </a:cubicBezTo>
                <a:cubicBezTo>
                  <a:pt x="121316" y="3359"/>
                  <a:pt x="137859" y="0"/>
                  <a:pt x="154865" y="0"/>
                </a:cubicBezTo>
                <a:close/>
                <a:close/>
                <a:close/>
              </a:path>
            </a:pathLst>
          </a:custGeom>
          <a:solidFill>
            <a:srgbClr val="4472C4"/>
          </a:solidFill>
        </p:spPr>
      </p:sp>
      <p:sp>
        <p:nvSpPr>
          <p:cNvPr id="49" name="Text 47"/>
          <p:cNvSpPr/>
          <p:nvPr/>
        </p:nvSpPr>
        <p:spPr>
          <a:xfrm>
            <a:off x="7091991" y="5338923"/>
            <a:ext cx="323272" cy="336148"/>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0" name="Shape 48"/>
          <p:cNvSpPr/>
          <p:nvPr/>
        </p:nvSpPr>
        <p:spPr>
          <a:xfrm>
            <a:off x="10818084" y="5348584"/>
            <a:ext cx="336148" cy="316824"/>
          </a:xfrm>
          <a:custGeom>
            <a:avLst/>
            <a:gdLst/>
            <a:ahLst/>
            <a:cxnLst/>
            <a:rect l="l" t="t" r="r" b="b"/>
            <a:pathLst>
              <a:path w="336148" h="316824">
                <a:moveTo>
                  <a:pt x="238517" y="223252"/>
                </a:moveTo>
                <a:cubicBezTo>
                  <a:pt x="241585" y="223252"/>
                  <a:pt x="244653" y="224421"/>
                  <a:pt x="246991" y="226759"/>
                </a:cubicBezTo>
                <a:lnTo>
                  <a:pt x="294678" y="274446"/>
                </a:lnTo>
                <a:cubicBezTo>
                  <a:pt x="299355" y="279123"/>
                  <a:pt x="299355" y="286717"/>
                  <a:pt x="294678" y="291394"/>
                </a:cubicBezTo>
                <a:cubicBezTo>
                  <a:pt x="292360" y="293713"/>
                  <a:pt x="289282" y="294912"/>
                  <a:pt x="286204" y="294912"/>
                </a:cubicBezTo>
                <a:cubicBezTo>
                  <a:pt x="283126" y="294912"/>
                  <a:pt x="280048" y="293752"/>
                  <a:pt x="277730" y="291394"/>
                </a:cubicBezTo>
                <a:lnTo>
                  <a:pt x="230043" y="243707"/>
                </a:lnTo>
                <a:cubicBezTo>
                  <a:pt x="225366" y="239031"/>
                  <a:pt x="225366" y="231436"/>
                  <a:pt x="230043" y="226759"/>
                </a:cubicBezTo>
                <a:cubicBezTo>
                  <a:pt x="232381" y="224421"/>
                  <a:pt x="235449" y="223252"/>
                  <a:pt x="238517" y="223252"/>
                </a:cubicBezTo>
                <a:moveTo>
                  <a:pt x="238517" y="151691"/>
                </a:moveTo>
                <a:lnTo>
                  <a:pt x="310068" y="151691"/>
                </a:lnTo>
                <a:cubicBezTo>
                  <a:pt x="316703" y="151691"/>
                  <a:pt x="322060" y="157048"/>
                  <a:pt x="322060" y="163683"/>
                </a:cubicBezTo>
                <a:cubicBezTo>
                  <a:pt x="322060" y="170319"/>
                  <a:pt x="316663" y="175675"/>
                  <a:pt x="310068" y="175675"/>
                </a:cubicBezTo>
                <a:lnTo>
                  <a:pt x="238517" y="175675"/>
                </a:lnTo>
                <a:cubicBezTo>
                  <a:pt x="231881" y="175675"/>
                  <a:pt x="226525" y="170319"/>
                  <a:pt x="226525" y="163683"/>
                </a:cubicBezTo>
                <a:cubicBezTo>
                  <a:pt x="226525" y="157048"/>
                  <a:pt x="231881" y="151691"/>
                  <a:pt x="238517" y="151691"/>
                </a:cubicBezTo>
                <a:moveTo>
                  <a:pt x="286204" y="32464"/>
                </a:moveTo>
                <a:cubicBezTo>
                  <a:pt x="289272" y="32464"/>
                  <a:pt x="292340" y="33634"/>
                  <a:pt x="294678" y="35972"/>
                </a:cubicBezTo>
                <a:cubicBezTo>
                  <a:pt x="299355" y="40649"/>
                  <a:pt x="299355" y="48243"/>
                  <a:pt x="294678" y="52920"/>
                </a:cubicBezTo>
                <a:lnTo>
                  <a:pt x="246991" y="100607"/>
                </a:lnTo>
                <a:cubicBezTo>
                  <a:pt x="244673" y="102965"/>
                  <a:pt x="241595" y="104125"/>
                  <a:pt x="238517" y="104125"/>
                </a:cubicBezTo>
                <a:cubicBezTo>
                  <a:pt x="235439" y="104125"/>
                  <a:pt x="232361" y="102965"/>
                  <a:pt x="230043" y="100607"/>
                </a:cubicBezTo>
                <a:cubicBezTo>
                  <a:pt x="225366" y="95930"/>
                  <a:pt x="225366" y="88336"/>
                  <a:pt x="230043" y="83659"/>
                </a:cubicBezTo>
                <a:lnTo>
                  <a:pt x="277730" y="35972"/>
                </a:lnTo>
                <a:cubicBezTo>
                  <a:pt x="280068" y="33634"/>
                  <a:pt x="283136" y="32464"/>
                  <a:pt x="286204" y="32464"/>
                </a:cubicBezTo>
                <a:moveTo>
                  <a:pt x="152496" y="23980"/>
                </a:moveTo>
                <a:cubicBezTo>
                  <a:pt x="148059" y="23980"/>
                  <a:pt x="143662" y="25100"/>
                  <a:pt x="139585" y="27378"/>
                </a:cubicBezTo>
                <a:lnTo>
                  <a:pt x="37414" y="84818"/>
                </a:lnTo>
                <a:cubicBezTo>
                  <a:pt x="29140" y="89455"/>
                  <a:pt x="23984" y="98249"/>
                  <a:pt x="23984" y="107762"/>
                </a:cubicBezTo>
                <a:lnTo>
                  <a:pt x="23984" y="195701"/>
                </a:lnTo>
                <a:cubicBezTo>
                  <a:pt x="23984" y="205214"/>
                  <a:pt x="29140" y="214008"/>
                  <a:pt x="37414" y="218645"/>
                </a:cubicBezTo>
                <a:lnTo>
                  <a:pt x="139625" y="276085"/>
                </a:lnTo>
                <a:cubicBezTo>
                  <a:pt x="147859" y="280721"/>
                  <a:pt x="157652" y="280642"/>
                  <a:pt x="165807" y="275845"/>
                </a:cubicBezTo>
                <a:cubicBezTo>
                  <a:pt x="173961" y="271088"/>
                  <a:pt x="178838" y="262574"/>
                  <a:pt x="178838" y="253141"/>
                </a:cubicBezTo>
                <a:lnTo>
                  <a:pt x="178838" y="50322"/>
                </a:lnTo>
                <a:cubicBezTo>
                  <a:pt x="178838" y="40848"/>
                  <a:pt x="173961" y="32374"/>
                  <a:pt x="165807" y="27618"/>
                </a:cubicBezTo>
                <a:cubicBezTo>
                  <a:pt x="161649" y="25179"/>
                  <a:pt x="157093" y="23980"/>
                  <a:pt x="152496" y="23980"/>
                </a:cubicBezTo>
                <a:moveTo>
                  <a:pt x="152955" y="2"/>
                </a:moveTo>
                <a:cubicBezTo>
                  <a:pt x="161549" y="77"/>
                  <a:pt x="170124" y="2395"/>
                  <a:pt x="177918" y="6952"/>
                </a:cubicBezTo>
                <a:cubicBezTo>
                  <a:pt x="193508" y="16066"/>
                  <a:pt x="202821" y="32294"/>
                  <a:pt x="202821" y="50362"/>
                </a:cubicBezTo>
                <a:lnTo>
                  <a:pt x="202821" y="253221"/>
                </a:lnTo>
                <a:cubicBezTo>
                  <a:pt x="202821" y="271288"/>
                  <a:pt x="193508" y="287517"/>
                  <a:pt x="177918" y="296630"/>
                </a:cubicBezTo>
                <a:cubicBezTo>
                  <a:pt x="170004" y="301227"/>
                  <a:pt x="161250" y="303546"/>
                  <a:pt x="152536" y="303546"/>
                </a:cubicBezTo>
                <a:cubicBezTo>
                  <a:pt x="144062" y="303546"/>
                  <a:pt x="135627" y="301387"/>
                  <a:pt x="127872" y="297030"/>
                </a:cubicBezTo>
                <a:lnTo>
                  <a:pt x="25663" y="239590"/>
                </a:lnTo>
                <a:cubicBezTo>
                  <a:pt x="9833" y="230676"/>
                  <a:pt x="0" y="213888"/>
                  <a:pt x="0" y="195741"/>
                </a:cubicBezTo>
                <a:lnTo>
                  <a:pt x="0" y="107802"/>
                </a:lnTo>
                <a:cubicBezTo>
                  <a:pt x="0" y="89654"/>
                  <a:pt x="9833" y="72826"/>
                  <a:pt x="25663" y="63952"/>
                </a:cubicBezTo>
                <a:lnTo>
                  <a:pt x="127872" y="6512"/>
                </a:lnTo>
                <a:cubicBezTo>
                  <a:pt x="135747" y="2095"/>
                  <a:pt x="144361" y="-73"/>
                  <a:pt x="152955" y="2"/>
                </a:cubicBezTo>
                <a:close/>
                <a:close/>
                <a:close/>
                <a:close/>
                <a:close/>
              </a:path>
            </a:pathLst>
          </a:custGeom>
          <a:solidFill>
            <a:srgbClr val="4472C4"/>
          </a:solidFill>
        </p:spPr>
      </p:sp>
      <p:sp>
        <p:nvSpPr>
          <p:cNvPr id="51" name="Text 49"/>
          <p:cNvSpPr/>
          <p:nvPr/>
        </p:nvSpPr>
        <p:spPr>
          <a:xfrm>
            <a:off x="10818084" y="5348584"/>
            <a:ext cx="336148" cy="316824"/>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2" name="Text 50"/>
          <p:cNvSpPr/>
          <p:nvPr/>
        </p:nvSpPr>
        <p:spPr>
          <a:xfrm>
            <a:off x="1172845" y="2764790"/>
            <a:ext cx="2782570" cy="2335411"/>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696969"/>
                </a:solidFill>
                <a:latin typeface="微软雅黑" pitchFamily="34" charset="0"/>
                <a:ea typeface="微软雅黑" pitchFamily="34" charset="-122"/>
                <a:cs typeface="微软雅黑" pitchFamily="34" charset="-120"/>
              </a:rPr>
              <a:t>光纤通信系统的一体化设计</a:t>
            </a:r>
            <a:endParaRPr lang="en-US" sz="1350" dirty="0"/>
          </a:p>
        </p:txBody>
      </p:sp>
      <p:sp>
        <p:nvSpPr>
          <p:cNvPr id="53" name="Text 51"/>
          <p:cNvSpPr/>
          <p:nvPr/>
        </p:nvSpPr>
        <p:spPr>
          <a:xfrm>
            <a:off x="1172845" y="2134870"/>
            <a:ext cx="2707640" cy="585341"/>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725" b="1" dirty="0">
                <a:solidFill>
                  <a:srgbClr val="3B3B3B"/>
                </a:solidFill>
                <a:latin typeface="Arial" panose="02080604020202020204" pitchFamily="34" charset="0"/>
                <a:ea typeface="Arial" pitchFamily="34" charset="-122"/>
                <a:cs typeface="Arial" pitchFamily="34" charset="-120"/>
              </a:rPr>
              <a:t>系统集成</a:t>
            </a:r>
            <a:endParaRPr lang="en-US" sz="1725" dirty="0"/>
          </a:p>
        </p:txBody>
      </p:sp>
      <p:sp>
        <p:nvSpPr>
          <p:cNvPr id="54" name="Text 52"/>
          <p:cNvSpPr/>
          <p:nvPr/>
        </p:nvSpPr>
        <p:spPr>
          <a:xfrm>
            <a:off x="4703445" y="2764790"/>
            <a:ext cx="2782570" cy="2335411"/>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696969"/>
                </a:solidFill>
                <a:latin typeface="微软雅黑" pitchFamily="34" charset="0"/>
                <a:ea typeface="微软雅黑" pitchFamily="34" charset="-122"/>
                <a:cs typeface="微软雅黑" pitchFamily="34" charset="-120"/>
              </a:rPr>
              <a:t>光纤通信设备的智能化集成使得光纤通信系统更加智能化和便捷化，提高了光纤通信系统的管理和维护效率。</a:t>
            </a:r>
            <a:endParaRPr lang="en-US" sz="1350" dirty="0"/>
          </a:p>
        </p:txBody>
      </p:sp>
      <p:sp>
        <p:nvSpPr>
          <p:cNvPr id="55" name="Text 53"/>
          <p:cNvSpPr/>
          <p:nvPr/>
        </p:nvSpPr>
        <p:spPr>
          <a:xfrm>
            <a:off x="4703445" y="2134870"/>
            <a:ext cx="2707640" cy="585341"/>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725" b="1" dirty="0">
                <a:solidFill>
                  <a:srgbClr val="3B3B3B"/>
                </a:solidFill>
                <a:latin typeface="Arial" panose="02080604020202020204" pitchFamily="34" charset="0"/>
                <a:ea typeface="Arial" pitchFamily="34" charset="-122"/>
                <a:cs typeface="Arial" pitchFamily="34" charset="-120"/>
              </a:rPr>
              <a:t>光纤通信设备的智能化</a:t>
            </a:r>
            <a:endParaRPr lang="en-US" sz="1725" dirty="0"/>
          </a:p>
        </p:txBody>
      </p:sp>
      <p:sp>
        <p:nvSpPr>
          <p:cNvPr id="56" name="Text 54"/>
          <p:cNvSpPr/>
          <p:nvPr/>
        </p:nvSpPr>
        <p:spPr>
          <a:xfrm>
            <a:off x="8399145" y="2764790"/>
            <a:ext cx="2782570" cy="2335411"/>
          </a:xfrm>
          <a:prstGeom prst="rect">
            <a:avLst/>
          </a:prstGeom>
          <a:noFill/>
        </p:spPr>
        <p:txBody>
          <a:bodyPr wrap="square" lIns="95250" tIns="95250" rIns="95250" bIns="95250" rtlCol="0" anchor="t">
            <a:spAutoFit/>
          </a:bodyPr>
          <a:lstStyle/>
          <a:p>
            <a:pPr marL="0" indent="0" algn="ctr">
              <a:lnSpc>
                <a:spcPct val="150000"/>
              </a:lnSpc>
              <a:spcBef>
                <a:spcPts val="375"/>
              </a:spcBef>
              <a:buNone/>
            </a:pPr>
            <a:r>
              <a:rPr lang="en-US" sz="1350" dirty="0">
                <a:solidFill>
                  <a:srgbClr val="696969"/>
                </a:solidFill>
                <a:latin typeface="微软雅黑" pitchFamily="34" charset="0"/>
                <a:ea typeface="微软雅黑" pitchFamily="34" charset="-122"/>
                <a:cs typeface="微软雅黑" pitchFamily="34" charset="-120"/>
              </a:rPr>
              <a:t>光纤通信系统的模块化设计</a:t>
            </a:r>
            <a:endParaRPr lang="en-US" sz="1350" dirty="0"/>
          </a:p>
        </p:txBody>
      </p:sp>
      <p:sp>
        <p:nvSpPr>
          <p:cNvPr id="57" name="Text 55"/>
          <p:cNvSpPr/>
          <p:nvPr/>
        </p:nvSpPr>
        <p:spPr>
          <a:xfrm>
            <a:off x="8399145" y="2134870"/>
            <a:ext cx="2707640" cy="585341"/>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725" b="1" dirty="0">
                <a:solidFill>
                  <a:srgbClr val="3B3B3B"/>
                </a:solidFill>
                <a:latin typeface="Arial" panose="02080604020202020204" pitchFamily="34" charset="0"/>
                <a:ea typeface="Arial" pitchFamily="34" charset="-122"/>
                <a:cs typeface="Arial" pitchFamily="34" charset="-120"/>
              </a:rPr>
              <a:t>系统集成</a:t>
            </a:r>
            <a:endParaRPr lang="en-US" sz="17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能源效率</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047750"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4" name="Text 12"/>
          <p:cNvSpPr/>
          <p:nvPr/>
        </p:nvSpPr>
        <p:spPr>
          <a:xfrm>
            <a:off x="1047750"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1047750"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6" name="Text 14"/>
          <p:cNvSpPr/>
          <p:nvPr/>
        </p:nvSpPr>
        <p:spPr>
          <a:xfrm>
            <a:off x="1047750"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a:off x="1047750"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8" name="Text 16"/>
          <p:cNvSpPr/>
          <p:nvPr/>
        </p:nvSpPr>
        <p:spPr>
          <a:xfrm>
            <a:off x="1047750"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a:off x="1047750"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20" name="Text 18"/>
          <p:cNvSpPr/>
          <p:nvPr/>
        </p:nvSpPr>
        <p:spPr>
          <a:xfrm>
            <a:off x="1047750"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1047750"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22" name="Text 20"/>
          <p:cNvSpPr/>
          <p:nvPr/>
        </p:nvSpPr>
        <p:spPr>
          <a:xfrm>
            <a:off x="1047750"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a:off x="1047750"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24" name="Text 22"/>
          <p:cNvSpPr/>
          <p:nvPr/>
        </p:nvSpPr>
        <p:spPr>
          <a:xfrm>
            <a:off x="1047750"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5" name="Shape 23"/>
          <p:cNvSpPr/>
          <p:nvPr/>
        </p:nvSpPr>
        <p:spPr>
          <a:xfrm>
            <a:off x="1047750"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26" name="Text 24"/>
          <p:cNvSpPr/>
          <p:nvPr/>
        </p:nvSpPr>
        <p:spPr>
          <a:xfrm>
            <a:off x="1047750"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a:off x="1047750"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28" name="Text 26"/>
          <p:cNvSpPr/>
          <p:nvPr/>
        </p:nvSpPr>
        <p:spPr>
          <a:xfrm>
            <a:off x="1047750"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a:off x="1047750"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30" name="Text 28"/>
          <p:cNvSpPr/>
          <p:nvPr/>
        </p:nvSpPr>
        <p:spPr>
          <a:xfrm>
            <a:off x="1047750"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a:off x="1047750"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32" name="Text 30"/>
          <p:cNvSpPr/>
          <p:nvPr/>
        </p:nvSpPr>
        <p:spPr>
          <a:xfrm>
            <a:off x="1047750"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3" name="Shape 31"/>
          <p:cNvSpPr/>
          <p:nvPr/>
        </p:nvSpPr>
        <p:spPr>
          <a:xfrm>
            <a:off x="1750695"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34" name="Text 32"/>
          <p:cNvSpPr/>
          <p:nvPr/>
        </p:nvSpPr>
        <p:spPr>
          <a:xfrm>
            <a:off x="1750695"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5" name="Shape 33"/>
          <p:cNvSpPr/>
          <p:nvPr/>
        </p:nvSpPr>
        <p:spPr>
          <a:xfrm>
            <a:off x="1750695"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36" name="Text 34"/>
          <p:cNvSpPr/>
          <p:nvPr/>
        </p:nvSpPr>
        <p:spPr>
          <a:xfrm>
            <a:off x="1750695"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7" name="Shape 35"/>
          <p:cNvSpPr/>
          <p:nvPr/>
        </p:nvSpPr>
        <p:spPr>
          <a:xfrm>
            <a:off x="1750695"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38" name="Text 36"/>
          <p:cNvSpPr/>
          <p:nvPr/>
        </p:nvSpPr>
        <p:spPr>
          <a:xfrm>
            <a:off x="1750695"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9" name="Shape 37"/>
          <p:cNvSpPr/>
          <p:nvPr/>
        </p:nvSpPr>
        <p:spPr>
          <a:xfrm>
            <a:off x="1750695"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40" name="Text 38"/>
          <p:cNvSpPr/>
          <p:nvPr/>
        </p:nvSpPr>
        <p:spPr>
          <a:xfrm>
            <a:off x="1750695"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1" name="Shape 39"/>
          <p:cNvSpPr/>
          <p:nvPr/>
        </p:nvSpPr>
        <p:spPr>
          <a:xfrm>
            <a:off x="1750695"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42" name="Text 40"/>
          <p:cNvSpPr/>
          <p:nvPr/>
        </p:nvSpPr>
        <p:spPr>
          <a:xfrm>
            <a:off x="1750695"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3" name="Shape 41"/>
          <p:cNvSpPr/>
          <p:nvPr/>
        </p:nvSpPr>
        <p:spPr>
          <a:xfrm>
            <a:off x="1750695"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44" name="Text 42"/>
          <p:cNvSpPr/>
          <p:nvPr/>
        </p:nvSpPr>
        <p:spPr>
          <a:xfrm>
            <a:off x="1750695"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5" name="Shape 43"/>
          <p:cNvSpPr/>
          <p:nvPr/>
        </p:nvSpPr>
        <p:spPr>
          <a:xfrm>
            <a:off x="1750695"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46" name="Text 44"/>
          <p:cNvSpPr/>
          <p:nvPr/>
        </p:nvSpPr>
        <p:spPr>
          <a:xfrm>
            <a:off x="1750695"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7" name="Shape 45"/>
          <p:cNvSpPr/>
          <p:nvPr/>
        </p:nvSpPr>
        <p:spPr>
          <a:xfrm>
            <a:off x="1750695"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48" name="Text 46"/>
          <p:cNvSpPr/>
          <p:nvPr/>
        </p:nvSpPr>
        <p:spPr>
          <a:xfrm>
            <a:off x="1750695"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49" name="Shape 47"/>
          <p:cNvSpPr/>
          <p:nvPr/>
        </p:nvSpPr>
        <p:spPr>
          <a:xfrm>
            <a:off x="1750695"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50" name="Text 48"/>
          <p:cNvSpPr/>
          <p:nvPr/>
        </p:nvSpPr>
        <p:spPr>
          <a:xfrm>
            <a:off x="1750695"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1" name="Shape 49"/>
          <p:cNvSpPr/>
          <p:nvPr/>
        </p:nvSpPr>
        <p:spPr>
          <a:xfrm>
            <a:off x="1750695"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52" name="Text 50"/>
          <p:cNvSpPr/>
          <p:nvPr/>
        </p:nvSpPr>
        <p:spPr>
          <a:xfrm>
            <a:off x="1750695"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3" name="Shape 51"/>
          <p:cNvSpPr/>
          <p:nvPr/>
        </p:nvSpPr>
        <p:spPr>
          <a:xfrm>
            <a:off x="2455545"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54" name="Text 52"/>
          <p:cNvSpPr/>
          <p:nvPr/>
        </p:nvSpPr>
        <p:spPr>
          <a:xfrm>
            <a:off x="2455545"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5" name="Shape 53"/>
          <p:cNvSpPr/>
          <p:nvPr/>
        </p:nvSpPr>
        <p:spPr>
          <a:xfrm>
            <a:off x="2455545"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56" name="Text 54"/>
          <p:cNvSpPr/>
          <p:nvPr/>
        </p:nvSpPr>
        <p:spPr>
          <a:xfrm>
            <a:off x="2455545"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7" name="Shape 55"/>
          <p:cNvSpPr/>
          <p:nvPr/>
        </p:nvSpPr>
        <p:spPr>
          <a:xfrm>
            <a:off x="2455545"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58" name="Text 56"/>
          <p:cNvSpPr/>
          <p:nvPr/>
        </p:nvSpPr>
        <p:spPr>
          <a:xfrm>
            <a:off x="2455545"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59" name="Shape 57"/>
          <p:cNvSpPr/>
          <p:nvPr/>
        </p:nvSpPr>
        <p:spPr>
          <a:xfrm>
            <a:off x="2455545"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60" name="Text 58"/>
          <p:cNvSpPr/>
          <p:nvPr/>
        </p:nvSpPr>
        <p:spPr>
          <a:xfrm>
            <a:off x="2455545"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1" name="Shape 59"/>
          <p:cNvSpPr/>
          <p:nvPr/>
        </p:nvSpPr>
        <p:spPr>
          <a:xfrm>
            <a:off x="2455545"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F2F2F2"/>
          </a:solidFill>
        </p:spPr>
      </p:sp>
      <p:sp>
        <p:nvSpPr>
          <p:cNvPr id="62" name="Text 60"/>
          <p:cNvSpPr/>
          <p:nvPr/>
        </p:nvSpPr>
        <p:spPr>
          <a:xfrm>
            <a:off x="2455545"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3" name="Shape 61"/>
          <p:cNvSpPr/>
          <p:nvPr/>
        </p:nvSpPr>
        <p:spPr>
          <a:xfrm>
            <a:off x="2455545"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64" name="Text 62"/>
          <p:cNvSpPr/>
          <p:nvPr/>
        </p:nvSpPr>
        <p:spPr>
          <a:xfrm>
            <a:off x="2455545"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5" name="Shape 63"/>
          <p:cNvSpPr/>
          <p:nvPr/>
        </p:nvSpPr>
        <p:spPr>
          <a:xfrm>
            <a:off x="2455545"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66" name="Text 64"/>
          <p:cNvSpPr/>
          <p:nvPr/>
        </p:nvSpPr>
        <p:spPr>
          <a:xfrm>
            <a:off x="2455545"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7" name="Shape 65"/>
          <p:cNvSpPr/>
          <p:nvPr/>
        </p:nvSpPr>
        <p:spPr>
          <a:xfrm>
            <a:off x="2455545"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68" name="Text 66"/>
          <p:cNvSpPr/>
          <p:nvPr/>
        </p:nvSpPr>
        <p:spPr>
          <a:xfrm>
            <a:off x="2455545"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69" name="Shape 67"/>
          <p:cNvSpPr/>
          <p:nvPr/>
        </p:nvSpPr>
        <p:spPr>
          <a:xfrm>
            <a:off x="2455545"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70" name="Text 68"/>
          <p:cNvSpPr/>
          <p:nvPr/>
        </p:nvSpPr>
        <p:spPr>
          <a:xfrm>
            <a:off x="2455545"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71" name="Shape 69"/>
          <p:cNvSpPr/>
          <p:nvPr/>
        </p:nvSpPr>
        <p:spPr>
          <a:xfrm>
            <a:off x="2455545"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72" name="Text 70"/>
          <p:cNvSpPr/>
          <p:nvPr/>
        </p:nvSpPr>
        <p:spPr>
          <a:xfrm>
            <a:off x="2455545"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73" name="Shape 71"/>
          <p:cNvSpPr/>
          <p:nvPr/>
        </p:nvSpPr>
        <p:spPr>
          <a:xfrm>
            <a:off x="3158490"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74" name="Text 72"/>
          <p:cNvSpPr/>
          <p:nvPr/>
        </p:nvSpPr>
        <p:spPr>
          <a:xfrm>
            <a:off x="3158490"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75" name="Shape 73"/>
          <p:cNvSpPr/>
          <p:nvPr/>
        </p:nvSpPr>
        <p:spPr>
          <a:xfrm>
            <a:off x="3158490"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76" name="Text 74"/>
          <p:cNvSpPr/>
          <p:nvPr/>
        </p:nvSpPr>
        <p:spPr>
          <a:xfrm>
            <a:off x="3158490"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77" name="Shape 75"/>
          <p:cNvSpPr/>
          <p:nvPr/>
        </p:nvSpPr>
        <p:spPr>
          <a:xfrm>
            <a:off x="3158490"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78" name="Text 76"/>
          <p:cNvSpPr/>
          <p:nvPr/>
        </p:nvSpPr>
        <p:spPr>
          <a:xfrm>
            <a:off x="3158490"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79" name="Shape 77"/>
          <p:cNvSpPr/>
          <p:nvPr/>
        </p:nvSpPr>
        <p:spPr>
          <a:xfrm>
            <a:off x="3158490"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80" name="Text 78"/>
          <p:cNvSpPr/>
          <p:nvPr/>
        </p:nvSpPr>
        <p:spPr>
          <a:xfrm>
            <a:off x="3158490"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81" name="Shape 79"/>
          <p:cNvSpPr/>
          <p:nvPr/>
        </p:nvSpPr>
        <p:spPr>
          <a:xfrm>
            <a:off x="3158490"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82" name="Text 80"/>
          <p:cNvSpPr/>
          <p:nvPr/>
        </p:nvSpPr>
        <p:spPr>
          <a:xfrm>
            <a:off x="3158490"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83" name="Shape 81"/>
          <p:cNvSpPr/>
          <p:nvPr/>
        </p:nvSpPr>
        <p:spPr>
          <a:xfrm>
            <a:off x="3158490"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84" name="Text 82"/>
          <p:cNvSpPr/>
          <p:nvPr/>
        </p:nvSpPr>
        <p:spPr>
          <a:xfrm>
            <a:off x="3158490"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85" name="Shape 83"/>
          <p:cNvSpPr/>
          <p:nvPr/>
        </p:nvSpPr>
        <p:spPr>
          <a:xfrm>
            <a:off x="3158490"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86" name="Text 84"/>
          <p:cNvSpPr/>
          <p:nvPr/>
        </p:nvSpPr>
        <p:spPr>
          <a:xfrm>
            <a:off x="3158490"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87" name="Shape 85"/>
          <p:cNvSpPr/>
          <p:nvPr/>
        </p:nvSpPr>
        <p:spPr>
          <a:xfrm>
            <a:off x="3158490"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88" name="Text 86"/>
          <p:cNvSpPr/>
          <p:nvPr/>
        </p:nvSpPr>
        <p:spPr>
          <a:xfrm>
            <a:off x="3158490"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89" name="Shape 87"/>
          <p:cNvSpPr/>
          <p:nvPr/>
        </p:nvSpPr>
        <p:spPr>
          <a:xfrm>
            <a:off x="3158490"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90" name="Text 88"/>
          <p:cNvSpPr/>
          <p:nvPr/>
        </p:nvSpPr>
        <p:spPr>
          <a:xfrm>
            <a:off x="3158490"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91" name="Shape 89"/>
          <p:cNvSpPr/>
          <p:nvPr/>
        </p:nvSpPr>
        <p:spPr>
          <a:xfrm>
            <a:off x="3158490"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92" name="Text 90"/>
          <p:cNvSpPr/>
          <p:nvPr/>
        </p:nvSpPr>
        <p:spPr>
          <a:xfrm>
            <a:off x="3158490"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93" name="Shape 91"/>
          <p:cNvSpPr/>
          <p:nvPr/>
        </p:nvSpPr>
        <p:spPr>
          <a:xfrm>
            <a:off x="3863340"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94" name="Text 92"/>
          <p:cNvSpPr/>
          <p:nvPr/>
        </p:nvSpPr>
        <p:spPr>
          <a:xfrm>
            <a:off x="3863340"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95" name="Shape 93"/>
          <p:cNvSpPr/>
          <p:nvPr/>
        </p:nvSpPr>
        <p:spPr>
          <a:xfrm>
            <a:off x="3863340"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96" name="Text 94"/>
          <p:cNvSpPr/>
          <p:nvPr/>
        </p:nvSpPr>
        <p:spPr>
          <a:xfrm>
            <a:off x="3863340"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97" name="Shape 95"/>
          <p:cNvSpPr/>
          <p:nvPr/>
        </p:nvSpPr>
        <p:spPr>
          <a:xfrm>
            <a:off x="3863340"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98" name="Text 96"/>
          <p:cNvSpPr/>
          <p:nvPr/>
        </p:nvSpPr>
        <p:spPr>
          <a:xfrm>
            <a:off x="3863340"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99" name="Shape 97"/>
          <p:cNvSpPr/>
          <p:nvPr/>
        </p:nvSpPr>
        <p:spPr>
          <a:xfrm>
            <a:off x="3863340"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100" name="Text 98"/>
          <p:cNvSpPr/>
          <p:nvPr/>
        </p:nvSpPr>
        <p:spPr>
          <a:xfrm>
            <a:off x="3863340"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01" name="Shape 99"/>
          <p:cNvSpPr/>
          <p:nvPr/>
        </p:nvSpPr>
        <p:spPr>
          <a:xfrm>
            <a:off x="3863340"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102" name="Text 100"/>
          <p:cNvSpPr/>
          <p:nvPr/>
        </p:nvSpPr>
        <p:spPr>
          <a:xfrm>
            <a:off x="3863340"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03" name="Shape 101"/>
          <p:cNvSpPr/>
          <p:nvPr/>
        </p:nvSpPr>
        <p:spPr>
          <a:xfrm>
            <a:off x="3863340"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104" name="Text 102"/>
          <p:cNvSpPr/>
          <p:nvPr/>
        </p:nvSpPr>
        <p:spPr>
          <a:xfrm>
            <a:off x="3863340"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05" name="Shape 103"/>
          <p:cNvSpPr/>
          <p:nvPr/>
        </p:nvSpPr>
        <p:spPr>
          <a:xfrm>
            <a:off x="3863340"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106" name="Text 104"/>
          <p:cNvSpPr/>
          <p:nvPr/>
        </p:nvSpPr>
        <p:spPr>
          <a:xfrm>
            <a:off x="3863340"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07" name="Shape 105"/>
          <p:cNvSpPr/>
          <p:nvPr/>
        </p:nvSpPr>
        <p:spPr>
          <a:xfrm>
            <a:off x="3863340"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616161"/>
          </a:solidFill>
        </p:spPr>
      </p:sp>
      <p:sp>
        <p:nvSpPr>
          <p:cNvPr id="108" name="Text 106"/>
          <p:cNvSpPr/>
          <p:nvPr/>
        </p:nvSpPr>
        <p:spPr>
          <a:xfrm>
            <a:off x="3863340"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09" name="Shape 107"/>
          <p:cNvSpPr/>
          <p:nvPr/>
        </p:nvSpPr>
        <p:spPr>
          <a:xfrm>
            <a:off x="3863340"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110" name="Text 108"/>
          <p:cNvSpPr/>
          <p:nvPr/>
        </p:nvSpPr>
        <p:spPr>
          <a:xfrm>
            <a:off x="3863340"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11" name="Shape 109"/>
          <p:cNvSpPr/>
          <p:nvPr/>
        </p:nvSpPr>
        <p:spPr>
          <a:xfrm>
            <a:off x="3863340"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616161"/>
          </a:solidFill>
        </p:spPr>
      </p:sp>
      <p:sp>
        <p:nvSpPr>
          <p:cNvPr id="112" name="Text 110"/>
          <p:cNvSpPr/>
          <p:nvPr/>
        </p:nvSpPr>
        <p:spPr>
          <a:xfrm>
            <a:off x="3863340"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13" name="Shape 111"/>
          <p:cNvSpPr/>
          <p:nvPr/>
        </p:nvSpPr>
        <p:spPr>
          <a:xfrm>
            <a:off x="4565650"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14" name="Text 112"/>
          <p:cNvSpPr/>
          <p:nvPr/>
        </p:nvSpPr>
        <p:spPr>
          <a:xfrm>
            <a:off x="4565650"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15" name="Shape 113"/>
          <p:cNvSpPr/>
          <p:nvPr/>
        </p:nvSpPr>
        <p:spPr>
          <a:xfrm>
            <a:off x="4565650"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16" name="Text 114"/>
          <p:cNvSpPr/>
          <p:nvPr/>
        </p:nvSpPr>
        <p:spPr>
          <a:xfrm>
            <a:off x="4565650"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17" name="Shape 115"/>
          <p:cNvSpPr/>
          <p:nvPr/>
        </p:nvSpPr>
        <p:spPr>
          <a:xfrm>
            <a:off x="4565650"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118" name="Text 116"/>
          <p:cNvSpPr/>
          <p:nvPr/>
        </p:nvSpPr>
        <p:spPr>
          <a:xfrm>
            <a:off x="4565650"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19" name="Shape 117"/>
          <p:cNvSpPr/>
          <p:nvPr/>
        </p:nvSpPr>
        <p:spPr>
          <a:xfrm>
            <a:off x="4565650"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120" name="Text 118"/>
          <p:cNvSpPr/>
          <p:nvPr/>
        </p:nvSpPr>
        <p:spPr>
          <a:xfrm>
            <a:off x="4565650"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21" name="Shape 119"/>
          <p:cNvSpPr/>
          <p:nvPr/>
        </p:nvSpPr>
        <p:spPr>
          <a:xfrm>
            <a:off x="4565650"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122" name="Text 120"/>
          <p:cNvSpPr/>
          <p:nvPr/>
        </p:nvSpPr>
        <p:spPr>
          <a:xfrm>
            <a:off x="4565650"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23" name="Shape 121"/>
          <p:cNvSpPr/>
          <p:nvPr/>
        </p:nvSpPr>
        <p:spPr>
          <a:xfrm>
            <a:off x="4565650"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124" name="Text 122"/>
          <p:cNvSpPr/>
          <p:nvPr/>
        </p:nvSpPr>
        <p:spPr>
          <a:xfrm>
            <a:off x="4565650"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25" name="Shape 123"/>
          <p:cNvSpPr/>
          <p:nvPr/>
        </p:nvSpPr>
        <p:spPr>
          <a:xfrm>
            <a:off x="4565650"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126" name="Text 124"/>
          <p:cNvSpPr/>
          <p:nvPr/>
        </p:nvSpPr>
        <p:spPr>
          <a:xfrm>
            <a:off x="4565650"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27" name="Shape 125"/>
          <p:cNvSpPr/>
          <p:nvPr/>
        </p:nvSpPr>
        <p:spPr>
          <a:xfrm>
            <a:off x="4565650"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C9C9C9"/>
          </a:solidFill>
        </p:spPr>
      </p:sp>
      <p:sp>
        <p:nvSpPr>
          <p:cNvPr id="128" name="Text 126"/>
          <p:cNvSpPr/>
          <p:nvPr/>
        </p:nvSpPr>
        <p:spPr>
          <a:xfrm>
            <a:off x="4565650"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29" name="Shape 127"/>
          <p:cNvSpPr/>
          <p:nvPr/>
        </p:nvSpPr>
        <p:spPr>
          <a:xfrm>
            <a:off x="4565650"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130" name="Text 128"/>
          <p:cNvSpPr/>
          <p:nvPr/>
        </p:nvSpPr>
        <p:spPr>
          <a:xfrm>
            <a:off x="4565650"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31" name="Shape 129"/>
          <p:cNvSpPr/>
          <p:nvPr/>
        </p:nvSpPr>
        <p:spPr>
          <a:xfrm>
            <a:off x="4565650"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C9C9C9"/>
          </a:solidFill>
        </p:spPr>
      </p:sp>
      <p:sp>
        <p:nvSpPr>
          <p:cNvPr id="132" name="Text 130"/>
          <p:cNvSpPr/>
          <p:nvPr/>
        </p:nvSpPr>
        <p:spPr>
          <a:xfrm>
            <a:off x="4565650"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33" name="Shape 131"/>
          <p:cNvSpPr/>
          <p:nvPr/>
        </p:nvSpPr>
        <p:spPr>
          <a:xfrm>
            <a:off x="5270500" y="1906905"/>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34" name="Text 132"/>
          <p:cNvSpPr/>
          <p:nvPr/>
        </p:nvSpPr>
        <p:spPr>
          <a:xfrm>
            <a:off x="5270500" y="190690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35" name="Shape 133"/>
          <p:cNvSpPr/>
          <p:nvPr/>
        </p:nvSpPr>
        <p:spPr>
          <a:xfrm>
            <a:off x="5270500" y="2193290"/>
            <a:ext cx="547370" cy="188595"/>
          </a:xfrm>
          <a:custGeom>
            <a:avLst/>
            <a:gdLst/>
            <a:ahLst/>
            <a:cxnLst/>
            <a:rect l="l" t="t" r="r" b="b"/>
            <a:pathLst>
              <a:path w="547370" h="188595">
                <a:moveTo>
                  <a:pt x="524429" y="142651"/>
                </a:moveTo>
                <a:cubicBezTo>
                  <a:pt x="524429" y="164841"/>
                  <a:pt x="511252" y="180691"/>
                  <a:pt x="495441" y="180691"/>
                </a:cubicBezTo>
                <a:cubicBezTo>
                  <a:pt x="28989" y="180691"/>
                  <a:pt x="28989" y="180691"/>
                  <a:pt x="28989" y="180691"/>
                </a:cubicBezTo>
                <a:cubicBezTo>
                  <a:pt x="13177" y="180691"/>
                  <a:pt x="0" y="164841"/>
                  <a:pt x="0" y="14265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36" name="Text 134"/>
          <p:cNvSpPr/>
          <p:nvPr/>
        </p:nvSpPr>
        <p:spPr>
          <a:xfrm>
            <a:off x="5270500" y="219329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37" name="Shape 135"/>
          <p:cNvSpPr/>
          <p:nvPr/>
        </p:nvSpPr>
        <p:spPr>
          <a:xfrm>
            <a:off x="5270500" y="247967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38" name="Text 136"/>
          <p:cNvSpPr/>
          <p:nvPr/>
        </p:nvSpPr>
        <p:spPr>
          <a:xfrm>
            <a:off x="5270500" y="247967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39" name="Shape 137"/>
          <p:cNvSpPr/>
          <p:nvPr/>
        </p:nvSpPr>
        <p:spPr>
          <a:xfrm>
            <a:off x="5270500" y="276606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F2F2F2"/>
          </a:solidFill>
        </p:spPr>
      </p:sp>
      <p:sp>
        <p:nvSpPr>
          <p:cNvPr id="140" name="Text 138"/>
          <p:cNvSpPr/>
          <p:nvPr/>
        </p:nvSpPr>
        <p:spPr>
          <a:xfrm>
            <a:off x="5270500" y="276606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1" name="Shape 139"/>
          <p:cNvSpPr/>
          <p:nvPr/>
        </p:nvSpPr>
        <p:spPr>
          <a:xfrm>
            <a:off x="5270500" y="305244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142" name="Text 140"/>
          <p:cNvSpPr/>
          <p:nvPr/>
        </p:nvSpPr>
        <p:spPr>
          <a:xfrm>
            <a:off x="5270500" y="305244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3" name="Shape 141"/>
          <p:cNvSpPr/>
          <p:nvPr/>
        </p:nvSpPr>
        <p:spPr>
          <a:xfrm>
            <a:off x="5270500" y="333883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144" name="Text 142"/>
          <p:cNvSpPr/>
          <p:nvPr/>
        </p:nvSpPr>
        <p:spPr>
          <a:xfrm>
            <a:off x="5270500" y="333883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5" name="Shape 143"/>
          <p:cNvSpPr/>
          <p:nvPr/>
        </p:nvSpPr>
        <p:spPr>
          <a:xfrm>
            <a:off x="5270500" y="3625215"/>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146" name="Text 144"/>
          <p:cNvSpPr/>
          <p:nvPr/>
        </p:nvSpPr>
        <p:spPr>
          <a:xfrm>
            <a:off x="5270500" y="3625215"/>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7" name="Shape 145"/>
          <p:cNvSpPr/>
          <p:nvPr/>
        </p:nvSpPr>
        <p:spPr>
          <a:xfrm>
            <a:off x="5270500" y="3911600"/>
            <a:ext cx="547370" cy="186055"/>
          </a:xfrm>
          <a:custGeom>
            <a:avLst/>
            <a:gdLst/>
            <a:ahLst/>
            <a:cxnLst/>
            <a:rect l="l" t="t" r="r" b="b"/>
            <a:pathLst>
              <a:path w="547370" h="186055">
                <a:moveTo>
                  <a:pt x="524429" y="143857"/>
                </a:moveTo>
                <a:cubicBezTo>
                  <a:pt x="524429" y="162621"/>
                  <a:pt x="511252" y="178257"/>
                  <a:pt x="495441" y="178257"/>
                </a:cubicBezTo>
                <a:cubicBezTo>
                  <a:pt x="28989" y="178257"/>
                  <a:pt x="28989" y="178257"/>
                  <a:pt x="28989" y="178257"/>
                </a:cubicBezTo>
                <a:cubicBezTo>
                  <a:pt x="13177" y="178257"/>
                  <a:pt x="0" y="162621"/>
                  <a:pt x="0" y="143857"/>
                </a:cubicBezTo>
                <a:cubicBezTo>
                  <a:pt x="0" y="34401"/>
                  <a:pt x="0" y="34401"/>
                  <a:pt x="0" y="34401"/>
                </a:cubicBezTo>
                <a:cubicBezTo>
                  <a:pt x="0" y="15637"/>
                  <a:pt x="13177" y="0"/>
                  <a:pt x="28989" y="0"/>
                </a:cubicBezTo>
                <a:cubicBezTo>
                  <a:pt x="495441" y="0"/>
                  <a:pt x="495441" y="0"/>
                  <a:pt x="495441" y="0"/>
                </a:cubicBezTo>
                <a:cubicBezTo>
                  <a:pt x="511252" y="0"/>
                  <a:pt x="524429" y="15637"/>
                  <a:pt x="524429" y="34401"/>
                </a:cubicBezTo>
                <a:close/>
              </a:path>
            </a:pathLst>
          </a:custGeom>
          <a:solidFill>
            <a:srgbClr val="1C1C1C"/>
          </a:solidFill>
        </p:spPr>
      </p:sp>
      <p:sp>
        <p:nvSpPr>
          <p:cNvPr id="148" name="Text 146"/>
          <p:cNvSpPr/>
          <p:nvPr/>
        </p:nvSpPr>
        <p:spPr>
          <a:xfrm>
            <a:off x="5270500" y="3911600"/>
            <a:ext cx="547370" cy="18605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49" name="Shape 147"/>
          <p:cNvSpPr/>
          <p:nvPr/>
        </p:nvSpPr>
        <p:spPr>
          <a:xfrm>
            <a:off x="5270500" y="4195445"/>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150" name="Text 148"/>
          <p:cNvSpPr/>
          <p:nvPr/>
        </p:nvSpPr>
        <p:spPr>
          <a:xfrm>
            <a:off x="5270500" y="4195445"/>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1" name="Shape 149"/>
          <p:cNvSpPr/>
          <p:nvPr/>
        </p:nvSpPr>
        <p:spPr>
          <a:xfrm>
            <a:off x="5270500" y="4481830"/>
            <a:ext cx="547370" cy="188595"/>
          </a:xfrm>
          <a:custGeom>
            <a:avLst/>
            <a:gdLst/>
            <a:ahLst/>
            <a:cxnLst/>
            <a:rect l="l" t="t" r="r" b="b"/>
            <a:pathLst>
              <a:path w="547370" h="188595">
                <a:moveTo>
                  <a:pt x="524429" y="145821"/>
                </a:moveTo>
                <a:cubicBezTo>
                  <a:pt x="524429" y="164841"/>
                  <a:pt x="511252" y="180691"/>
                  <a:pt x="495441" y="180691"/>
                </a:cubicBezTo>
                <a:cubicBezTo>
                  <a:pt x="28989" y="180691"/>
                  <a:pt x="28989" y="180691"/>
                  <a:pt x="28989" y="180691"/>
                </a:cubicBezTo>
                <a:cubicBezTo>
                  <a:pt x="13177" y="180691"/>
                  <a:pt x="0" y="164841"/>
                  <a:pt x="0" y="145821"/>
                </a:cubicBezTo>
                <a:cubicBezTo>
                  <a:pt x="0" y="34870"/>
                  <a:pt x="0" y="34870"/>
                  <a:pt x="0" y="34870"/>
                </a:cubicBezTo>
                <a:cubicBezTo>
                  <a:pt x="0" y="15850"/>
                  <a:pt x="13177" y="0"/>
                  <a:pt x="28989" y="0"/>
                </a:cubicBezTo>
                <a:cubicBezTo>
                  <a:pt x="495441" y="0"/>
                  <a:pt x="495441" y="0"/>
                  <a:pt x="495441" y="0"/>
                </a:cubicBezTo>
                <a:cubicBezTo>
                  <a:pt x="511252" y="0"/>
                  <a:pt x="524429" y="15850"/>
                  <a:pt x="524429" y="34870"/>
                </a:cubicBezTo>
                <a:close/>
              </a:path>
            </a:pathLst>
          </a:custGeom>
          <a:solidFill>
            <a:srgbClr val="1C1C1C"/>
          </a:solidFill>
        </p:spPr>
      </p:sp>
      <p:sp>
        <p:nvSpPr>
          <p:cNvPr id="152" name="Text 150"/>
          <p:cNvSpPr/>
          <p:nvPr/>
        </p:nvSpPr>
        <p:spPr>
          <a:xfrm>
            <a:off x="5270500" y="4481830"/>
            <a:ext cx="547370" cy="188595"/>
          </a:xfrm>
          <a:prstGeom prst="rect">
            <a:avLst/>
          </a:prstGeom>
          <a:noFill/>
        </p:spPr>
        <p:txBody>
          <a:bodyPr wrap="square" rtlCol="0" anchor="t"/>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3" name="Shape 151"/>
          <p:cNvSpPr/>
          <p:nvPr/>
        </p:nvSpPr>
        <p:spPr>
          <a:xfrm>
            <a:off x="1189990" y="4859020"/>
            <a:ext cx="266065" cy="123190"/>
          </a:xfrm>
          <a:custGeom>
            <a:avLst/>
            <a:gdLst/>
            <a:ahLst/>
            <a:cxnLst/>
            <a:rect l="l" t="t" r="r" b="b"/>
            <a:pathLst>
              <a:path w="266065" h="123190">
                <a:moveTo>
                  <a:pt x="0" y="0"/>
                </a:moveTo>
                <a:lnTo>
                  <a:pt x="266065" y="0"/>
                </a:lnTo>
                <a:lnTo>
                  <a:pt x="266065" y="123190"/>
                </a:lnTo>
                <a:lnTo>
                  <a:pt x="0" y="123190"/>
                </a:lnTo>
                <a:close/>
              </a:path>
            </a:pathLst>
          </a:custGeom>
          <a:solidFill>
            <a:srgbClr val="000000">
              <a:alpha val="0"/>
            </a:srgbClr>
          </a:solidFill>
        </p:spPr>
      </p:sp>
      <p:sp>
        <p:nvSpPr>
          <p:cNvPr id="154" name="Text 152"/>
          <p:cNvSpPr/>
          <p:nvPr/>
        </p:nvSpPr>
        <p:spPr>
          <a:xfrm>
            <a:off x="1189990" y="4859020"/>
            <a:ext cx="26606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SUN</a:t>
            </a:r>
            <a:endParaRPr lang="en-US" sz="750" dirty="0"/>
          </a:p>
        </p:txBody>
      </p:sp>
      <p:sp>
        <p:nvSpPr>
          <p:cNvPr id="155" name="Shape 153"/>
          <p:cNvSpPr/>
          <p:nvPr/>
        </p:nvSpPr>
        <p:spPr>
          <a:xfrm>
            <a:off x="1887220" y="4859020"/>
            <a:ext cx="324485" cy="123190"/>
          </a:xfrm>
          <a:custGeom>
            <a:avLst/>
            <a:gdLst/>
            <a:ahLst/>
            <a:cxnLst/>
            <a:rect l="l" t="t" r="r" b="b"/>
            <a:pathLst>
              <a:path w="324485" h="123190">
                <a:moveTo>
                  <a:pt x="0" y="0"/>
                </a:moveTo>
                <a:lnTo>
                  <a:pt x="324485" y="0"/>
                </a:lnTo>
                <a:lnTo>
                  <a:pt x="324485" y="123190"/>
                </a:lnTo>
                <a:lnTo>
                  <a:pt x="0" y="123190"/>
                </a:lnTo>
                <a:close/>
              </a:path>
            </a:pathLst>
          </a:custGeom>
          <a:solidFill>
            <a:srgbClr val="000000">
              <a:alpha val="0"/>
            </a:srgbClr>
          </a:solidFill>
        </p:spPr>
      </p:sp>
      <p:sp>
        <p:nvSpPr>
          <p:cNvPr id="156" name="Text 154"/>
          <p:cNvSpPr/>
          <p:nvPr/>
        </p:nvSpPr>
        <p:spPr>
          <a:xfrm>
            <a:off x="1887220" y="4859020"/>
            <a:ext cx="32448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MON</a:t>
            </a:r>
            <a:endParaRPr lang="en-US" sz="750" dirty="0"/>
          </a:p>
        </p:txBody>
      </p:sp>
      <p:sp>
        <p:nvSpPr>
          <p:cNvPr id="157" name="Shape 155"/>
          <p:cNvSpPr/>
          <p:nvPr/>
        </p:nvSpPr>
        <p:spPr>
          <a:xfrm>
            <a:off x="2613025" y="4859020"/>
            <a:ext cx="233680" cy="123190"/>
          </a:xfrm>
          <a:custGeom>
            <a:avLst/>
            <a:gdLst/>
            <a:ahLst/>
            <a:cxnLst/>
            <a:rect l="l" t="t" r="r" b="b"/>
            <a:pathLst>
              <a:path w="233680" h="123190">
                <a:moveTo>
                  <a:pt x="0" y="0"/>
                </a:moveTo>
                <a:lnTo>
                  <a:pt x="233680" y="0"/>
                </a:lnTo>
                <a:lnTo>
                  <a:pt x="233680" y="123190"/>
                </a:lnTo>
                <a:lnTo>
                  <a:pt x="0" y="123190"/>
                </a:lnTo>
                <a:close/>
              </a:path>
            </a:pathLst>
          </a:custGeom>
          <a:solidFill>
            <a:srgbClr val="000000">
              <a:alpha val="0"/>
            </a:srgbClr>
          </a:solidFill>
        </p:spPr>
      </p:sp>
      <p:sp>
        <p:nvSpPr>
          <p:cNvPr id="158" name="Text 156"/>
          <p:cNvSpPr/>
          <p:nvPr/>
        </p:nvSpPr>
        <p:spPr>
          <a:xfrm>
            <a:off x="2613025" y="4859020"/>
            <a:ext cx="233680"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TUE</a:t>
            </a:r>
            <a:endParaRPr lang="en-US" sz="750" dirty="0"/>
          </a:p>
        </p:txBody>
      </p:sp>
      <p:sp>
        <p:nvSpPr>
          <p:cNvPr id="159" name="Shape 157"/>
          <p:cNvSpPr/>
          <p:nvPr/>
        </p:nvSpPr>
        <p:spPr>
          <a:xfrm>
            <a:off x="3290570" y="4859020"/>
            <a:ext cx="290195" cy="123190"/>
          </a:xfrm>
          <a:custGeom>
            <a:avLst/>
            <a:gdLst/>
            <a:ahLst/>
            <a:cxnLst/>
            <a:rect l="l" t="t" r="r" b="b"/>
            <a:pathLst>
              <a:path w="290195" h="123190">
                <a:moveTo>
                  <a:pt x="0" y="0"/>
                </a:moveTo>
                <a:lnTo>
                  <a:pt x="290195" y="0"/>
                </a:lnTo>
                <a:lnTo>
                  <a:pt x="290195" y="123190"/>
                </a:lnTo>
                <a:lnTo>
                  <a:pt x="0" y="123190"/>
                </a:lnTo>
                <a:close/>
              </a:path>
            </a:pathLst>
          </a:custGeom>
          <a:solidFill>
            <a:srgbClr val="000000">
              <a:alpha val="0"/>
            </a:srgbClr>
          </a:solidFill>
        </p:spPr>
      </p:sp>
      <p:sp>
        <p:nvSpPr>
          <p:cNvPr id="160" name="Text 158"/>
          <p:cNvSpPr/>
          <p:nvPr/>
        </p:nvSpPr>
        <p:spPr>
          <a:xfrm>
            <a:off x="3290570" y="4859020"/>
            <a:ext cx="29019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WED</a:t>
            </a:r>
            <a:endParaRPr lang="en-US" sz="750" dirty="0"/>
          </a:p>
        </p:txBody>
      </p:sp>
      <p:sp>
        <p:nvSpPr>
          <p:cNvPr id="161" name="Shape 159"/>
          <p:cNvSpPr/>
          <p:nvPr/>
        </p:nvSpPr>
        <p:spPr>
          <a:xfrm>
            <a:off x="4036695" y="4859020"/>
            <a:ext cx="262255" cy="123190"/>
          </a:xfrm>
          <a:custGeom>
            <a:avLst/>
            <a:gdLst/>
            <a:ahLst/>
            <a:cxnLst/>
            <a:rect l="l" t="t" r="r" b="b"/>
            <a:pathLst>
              <a:path w="262255" h="123190">
                <a:moveTo>
                  <a:pt x="0" y="0"/>
                </a:moveTo>
                <a:lnTo>
                  <a:pt x="262255" y="0"/>
                </a:lnTo>
                <a:lnTo>
                  <a:pt x="262255" y="123190"/>
                </a:lnTo>
                <a:lnTo>
                  <a:pt x="0" y="123190"/>
                </a:lnTo>
                <a:close/>
              </a:path>
            </a:pathLst>
          </a:custGeom>
          <a:solidFill>
            <a:srgbClr val="000000">
              <a:alpha val="0"/>
            </a:srgbClr>
          </a:solidFill>
        </p:spPr>
      </p:sp>
      <p:sp>
        <p:nvSpPr>
          <p:cNvPr id="162" name="Text 160"/>
          <p:cNvSpPr/>
          <p:nvPr/>
        </p:nvSpPr>
        <p:spPr>
          <a:xfrm>
            <a:off x="4036695" y="4859020"/>
            <a:ext cx="26225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THU</a:t>
            </a:r>
            <a:endParaRPr lang="en-US" sz="750" dirty="0"/>
          </a:p>
        </p:txBody>
      </p:sp>
      <p:sp>
        <p:nvSpPr>
          <p:cNvPr id="163" name="Shape 161"/>
          <p:cNvSpPr/>
          <p:nvPr/>
        </p:nvSpPr>
        <p:spPr>
          <a:xfrm>
            <a:off x="4733925" y="4859020"/>
            <a:ext cx="184785" cy="123190"/>
          </a:xfrm>
          <a:custGeom>
            <a:avLst/>
            <a:gdLst/>
            <a:ahLst/>
            <a:cxnLst/>
            <a:rect l="l" t="t" r="r" b="b"/>
            <a:pathLst>
              <a:path w="184785" h="123190">
                <a:moveTo>
                  <a:pt x="0" y="0"/>
                </a:moveTo>
                <a:lnTo>
                  <a:pt x="184785" y="0"/>
                </a:lnTo>
                <a:lnTo>
                  <a:pt x="184785" y="123190"/>
                </a:lnTo>
                <a:lnTo>
                  <a:pt x="0" y="123190"/>
                </a:lnTo>
                <a:close/>
              </a:path>
            </a:pathLst>
          </a:custGeom>
          <a:solidFill>
            <a:srgbClr val="000000">
              <a:alpha val="0"/>
            </a:srgbClr>
          </a:solidFill>
        </p:spPr>
      </p:sp>
      <p:sp>
        <p:nvSpPr>
          <p:cNvPr id="164" name="Text 162"/>
          <p:cNvSpPr/>
          <p:nvPr/>
        </p:nvSpPr>
        <p:spPr>
          <a:xfrm>
            <a:off x="4733925" y="4859020"/>
            <a:ext cx="18478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FRI</a:t>
            </a:r>
            <a:endParaRPr lang="en-US" sz="750" dirty="0"/>
          </a:p>
        </p:txBody>
      </p:sp>
      <p:sp>
        <p:nvSpPr>
          <p:cNvPr id="165" name="Shape 163"/>
          <p:cNvSpPr/>
          <p:nvPr/>
        </p:nvSpPr>
        <p:spPr>
          <a:xfrm>
            <a:off x="5432425" y="4859020"/>
            <a:ext cx="231775" cy="123190"/>
          </a:xfrm>
          <a:custGeom>
            <a:avLst/>
            <a:gdLst/>
            <a:ahLst/>
            <a:cxnLst/>
            <a:rect l="l" t="t" r="r" b="b"/>
            <a:pathLst>
              <a:path w="231775" h="123190">
                <a:moveTo>
                  <a:pt x="0" y="0"/>
                </a:moveTo>
                <a:lnTo>
                  <a:pt x="231775" y="0"/>
                </a:lnTo>
                <a:lnTo>
                  <a:pt x="231775" y="123190"/>
                </a:lnTo>
                <a:lnTo>
                  <a:pt x="0" y="123190"/>
                </a:lnTo>
                <a:close/>
              </a:path>
            </a:pathLst>
          </a:custGeom>
          <a:solidFill>
            <a:srgbClr val="000000">
              <a:alpha val="0"/>
            </a:srgbClr>
          </a:solidFill>
        </p:spPr>
      </p:sp>
      <p:sp>
        <p:nvSpPr>
          <p:cNvPr id="166" name="Text 164"/>
          <p:cNvSpPr/>
          <p:nvPr/>
        </p:nvSpPr>
        <p:spPr>
          <a:xfrm>
            <a:off x="5432425" y="4859020"/>
            <a:ext cx="231775" cy="123190"/>
          </a:xfrm>
          <a:prstGeom prst="rect">
            <a:avLst/>
          </a:prstGeom>
          <a:noFill/>
        </p:spPr>
        <p:txBody>
          <a:bodyPr wrap="square" rtlCol="0" anchor="t"/>
          <a:lstStyle/>
          <a:p>
            <a:pPr marL="0" indent="0" algn="ctr">
              <a:lnSpc>
                <a:spcPct val="120000"/>
              </a:lnSpc>
              <a:spcBef>
                <a:spcPts val="375"/>
              </a:spcBef>
              <a:buNone/>
            </a:pPr>
            <a:r>
              <a:rPr lang="en-US" sz="750" dirty="0">
                <a:solidFill>
                  <a:srgbClr val="404040"/>
                </a:solidFill>
                <a:latin typeface="微软雅黑" pitchFamily="34" charset="0"/>
                <a:ea typeface="微软雅黑" pitchFamily="34" charset="-122"/>
                <a:cs typeface="微软雅黑" pitchFamily="34" charset="-120"/>
              </a:rPr>
              <a:t>SAT</a:t>
            </a:r>
            <a:endParaRPr lang="en-US" sz="750" dirty="0"/>
          </a:p>
        </p:txBody>
      </p:sp>
      <p:sp>
        <p:nvSpPr>
          <p:cNvPr id="167" name="Text 165"/>
          <p:cNvSpPr/>
          <p:nvPr/>
        </p:nvSpPr>
        <p:spPr>
          <a:xfrm>
            <a:off x="6078220" y="1741170"/>
            <a:ext cx="4900930" cy="640705"/>
          </a:xfrm>
          <a:prstGeom prst="rect">
            <a:avLst/>
          </a:prstGeom>
          <a:noFill/>
        </p:spPr>
        <p:txBody>
          <a:bodyPr wrap="square" lIns="95250" tIns="95250" rIns="95250" bIns="95250" rtlCol="0" anchor="b">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能源效率</a:t>
            </a:r>
            <a:endParaRPr lang="en-US" sz="1725" dirty="0"/>
          </a:p>
        </p:txBody>
      </p:sp>
      <p:sp>
        <p:nvSpPr>
          <p:cNvPr id="168" name="Text 166"/>
          <p:cNvSpPr/>
          <p:nvPr/>
        </p:nvSpPr>
        <p:spPr>
          <a:xfrm>
            <a:off x="6078220" y="2439035"/>
            <a:ext cx="4900930" cy="241998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目前光纤通信系统中使用的光源和光模块能耗较高，需要采用更高效的光源和光模块来降低设备的能耗。例如，采用低功耗、高效率的激光器和光电探测器，可以显著减少能源的消耗。</a:t>
            </a:r>
            <a:endParaRPr 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光纤通信系统中的光路设计对能源效率有重要影响。通过优化光路设计，减少光纤损耗，提高光传输效率，可以降低系统对能源的需求。例如，采用更先进的光纤材料和制造工艺，减少光纤的弯曲损耗和散射损耗，从而提高传输效率。</a:t>
            </a:r>
            <a:endParaRPr 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Shape 0"/>
          <p:cNvSpPr/>
          <p:nvPr/>
        </p:nvSpPr>
        <p:spPr>
          <a:xfrm>
            <a:off x="5369246" y="1004110"/>
            <a:ext cx="1473827" cy="2341399"/>
          </a:xfrm>
          <a:custGeom>
            <a:avLst/>
            <a:gdLst/>
            <a:ahLst/>
            <a:cxnLst/>
            <a:rect l="l" t="t" r="r" b="b"/>
            <a:pathLst>
              <a:path w="1473827" h="2341399">
                <a:moveTo>
                  <a:pt x="0" y="0"/>
                </a:moveTo>
                <a:lnTo>
                  <a:pt x="1473827" y="0"/>
                </a:lnTo>
                <a:lnTo>
                  <a:pt x="1473827" y="2341399"/>
                </a:lnTo>
                <a:lnTo>
                  <a:pt x="0" y="2341399"/>
                </a:lnTo>
                <a:close/>
              </a:path>
            </a:pathLst>
          </a:custGeom>
          <a:solidFill>
            <a:srgbClr val="1C1C1C"/>
          </a:solidFill>
        </p:spPr>
      </p:sp>
      <p:sp>
        <p:nvSpPr>
          <p:cNvPr id="3" name="Text 1"/>
          <p:cNvSpPr/>
          <p:nvPr/>
        </p:nvSpPr>
        <p:spPr>
          <a:xfrm>
            <a:off x="417830" y="3619607"/>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050" b="1" dirty="0">
                <a:solidFill>
                  <a:srgbClr val="404040"/>
                </a:solidFill>
                <a:latin typeface="微软雅黑" pitchFamily="34" charset="0"/>
                <a:ea typeface="微软雅黑" pitchFamily="34" charset="-122"/>
                <a:cs typeface="微软雅黑" pitchFamily="34" charset="-120"/>
              </a:rPr>
              <a:t>光纤通信在中国的发展</a:t>
            </a:r>
            <a:endParaRPr lang="en-US" sz="4050" dirty="0"/>
          </a:p>
        </p:txBody>
      </p:sp>
      <p:pic>
        <p:nvPicPr>
          <p:cNvPr id="4"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5" name="Shape 2"/>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
        <p:nvSpPr>
          <p:cNvPr id="6" name="Text 3"/>
          <p:cNvSpPr/>
          <p:nvPr/>
        </p:nvSpPr>
        <p:spPr>
          <a:xfrm>
            <a:off x="5231287" y="2000618"/>
            <a:ext cx="1749746"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0" b="1" dirty="0">
                <a:solidFill>
                  <a:srgbClr val="404040"/>
                </a:solidFill>
                <a:latin typeface="微软雅黑" pitchFamily="34" charset="0"/>
                <a:ea typeface="微软雅黑" pitchFamily="34" charset="-122"/>
                <a:cs typeface="微软雅黑" pitchFamily="34" charset="-120"/>
              </a:rPr>
              <a:t>08</a:t>
            </a:r>
            <a:endParaRPr lang="en-US" sz="9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政策支持</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752727" y="2994343"/>
            <a:ext cx="212090" cy="1356995"/>
          </a:xfrm>
          <a:custGeom>
            <a:avLst/>
            <a:gdLst/>
            <a:ahLst/>
            <a:cxnLst/>
            <a:rect l="l" t="t" r="r" b="b"/>
            <a:pathLst>
              <a:path w="212090" h="1356995">
                <a:moveTo>
                  <a:pt x="0" y="0"/>
                </a:moveTo>
                <a:lnTo>
                  <a:pt x="212090" y="0"/>
                </a:lnTo>
                <a:lnTo>
                  <a:pt x="212090" y="1356995"/>
                </a:lnTo>
                <a:lnTo>
                  <a:pt x="0" y="1356995"/>
                </a:lnTo>
                <a:close/>
              </a:path>
            </a:pathLst>
          </a:custGeom>
          <a:solidFill>
            <a:srgbClr val="1C1C1C"/>
          </a:solidFill>
        </p:spPr>
      </p:sp>
      <p:sp>
        <p:nvSpPr>
          <p:cNvPr id="14" name="Text 12"/>
          <p:cNvSpPr/>
          <p:nvPr/>
        </p:nvSpPr>
        <p:spPr>
          <a:xfrm>
            <a:off x="1752727" y="2994343"/>
            <a:ext cx="212090" cy="1356995"/>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3295650" y="1795780"/>
            <a:ext cx="7196455" cy="4001770"/>
          </a:xfrm>
          <a:custGeom>
            <a:avLst/>
            <a:gdLst/>
            <a:ahLst/>
            <a:cxnLst/>
            <a:rect l="l" t="t" r="r" b="b"/>
            <a:pathLst>
              <a:path w="4751046" h="1914144">
                <a:moveTo>
                  <a:pt x="0" y="0"/>
                </a:moveTo>
                <a:lnTo>
                  <a:pt x="4751046" y="0"/>
                </a:lnTo>
                <a:lnTo>
                  <a:pt x="4751046" y="1914144"/>
                </a:lnTo>
                <a:lnTo>
                  <a:pt x="0" y="1914144"/>
                </a:lnTo>
                <a:close/>
              </a:path>
            </a:pathLst>
          </a:custGeom>
          <a:solidFill>
            <a:srgbClr val="1C1C1C"/>
          </a:solidFill>
        </p:spPr>
      </p:sp>
      <p:sp>
        <p:nvSpPr>
          <p:cNvPr id="16" name="Text 14"/>
          <p:cNvSpPr/>
          <p:nvPr/>
        </p:nvSpPr>
        <p:spPr>
          <a:xfrm>
            <a:off x="4698644" y="2715768"/>
            <a:ext cx="4751046" cy="1914144"/>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Text 15"/>
          <p:cNvSpPr/>
          <p:nvPr/>
        </p:nvSpPr>
        <p:spPr>
          <a:xfrm>
            <a:off x="2158365" y="2994660"/>
            <a:ext cx="2374900" cy="1356866"/>
          </a:xfrm>
          <a:prstGeom prst="rect">
            <a:avLst/>
          </a:prstGeom>
          <a:noFill/>
        </p:spPr>
        <p:txBody>
          <a:bodyPr wrap="square" lIns="95250" tIns="95250" rIns="95250" bIns="95250" rtlCol="0" anchor="t">
            <a:spAutoFit/>
          </a:bodyPr>
          <a:lstStyle/>
          <a:p>
            <a:pPr marL="0" indent="0" algn="l">
              <a:lnSpc>
                <a:spcPct val="100000"/>
              </a:lnSpc>
              <a:spcBef>
                <a:spcPts val="375"/>
              </a:spcBef>
              <a:buNone/>
            </a:pPr>
            <a:r>
              <a:rPr lang="en-US" sz="1725" b="1" dirty="0">
                <a:solidFill>
                  <a:srgbClr val="404040"/>
                </a:solidFill>
                <a:latin typeface="微软雅黑" pitchFamily="34" charset="0"/>
                <a:ea typeface="微软雅黑" pitchFamily="34" charset="-122"/>
                <a:cs typeface="微软雅黑" pitchFamily="34" charset="-120"/>
              </a:rPr>
              <a:t>政策支持</a:t>
            </a:r>
            <a:endParaRPr lang="en-US" sz="1725" dirty="0"/>
          </a:p>
        </p:txBody>
      </p:sp>
      <p:sp>
        <p:nvSpPr>
          <p:cNvPr id="18" name="Text 16"/>
          <p:cNvSpPr/>
          <p:nvPr/>
        </p:nvSpPr>
        <p:spPr>
          <a:xfrm>
            <a:off x="3458210" y="1918970"/>
            <a:ext cx="6871335" cy="3281045"/>
          </a:xfrm>
          <a:prstGeom prst="rect">
            <a:avLst/>
          </a:prstGeom>
          <a:noFill/>
        </p:spPr>
        <p:txBody>
          <a:bodyPr wrap="square" lIns="95250" tIns="95250" rIns="95250" bIns="95250" rtlCol="0" anchor="t">
            <a:noAutofit/>
          </a:bodyPr>
          <a:lstStyle/>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技术研发投入：政府加大了对光纤宽带通信核心芯片、器件、系统设备和应用等的研发投入，鼓励光纤通信技术创新和提出自主光纤宽带技术标准，以带动产业发展，支撑网络建设。</a:t>
            </a:r>
            <a:endParaRPr lang="en-US" sz="1350" dirty="0">
              <a:solidFill>
                <a:srgbClr val="FFFFFF"/>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基础设施建设：政府通过资金投入和政策扶持，支持光纤网络在城市和农村的覆盖和升级，推动光纤到户（FTTH）等工程的实施，提高光纤网络的普及率和接入速度。</a:t>
            </a:r>
            <a:endParaRPr lang="en-US" sz="1350" dirty="0">
              <a:solidFill>
                <a:srgbClr val="FFFFFF"/>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产业扶持政策：出台了一系列财政补贴、税收优惠等政策，支持光纤通信企业的研发、生产和市场推广，提高企业的技术水平和市场竞争力</a:t>
            </a:r>
            <a:endParaRPr lang="en-US" sz="1350" dirty="0">
              <a:solidFill>
                <a:srgbClr val="FFFFFF"/>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教育支持：政府支持高校和科研机构开设光纤通信相关专业和课程，培养专业技术人才，满足行业发展的需求。</a:t>
            </a:r>
            <a:endParaRPr lang="en-US" sz="1350" dirty="0">
              <a:solidFill>
                <a:srgbClr val="FFFFFF"/>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FFFFFF"/>
                </a:solidFill>
                <a:latin typeface="微软雅黑" pitchFamily="34" charset="0"/>
                <a:ea typeface="微软雅黑" pitchFamily="34" charset="-122"/>
                <a:cs typeface="微软雅黑" pitchFamily="34" charset="-120"/>
              </a:rPr>
              <a:t>人才引进：出台优惠政策，吸引海外高层次人才和创新团队回国创业，为光纤通信行业的发展提供智力支持</a:t>
            </a:r>
            <a:endParaRPr lang="en-US" sz="1350" dirty="0">
              <a:solidFill>
                <a:srgbClr val="FFFFFF"/>
              </a:solidFill>
              <a:latin typeface="微软雅黑" pitchFamily="34" charset="0"/>
              <a:ea typeface="微软雅黑" pitchFamily="34" charset="-122"/>
              <a:cs typeface="微软雅黑" pitchFamily="34" charset="-12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88100"/>
            <a:ext cx="12192000" cy="469900"/>
          </a:xfrm>
          <a:custGeom>
            <a:avLst/>
            <a:gdLst/>
            <a:ahLst/>
            <a:cxnLst/>
            <a:rect l="l" t="t" r="r" b="b"/>
            <a:pathLst>
              <a:path w="12192000" h="469900">
                <a:moveTo>
                  <a:pt x="0" y="0"/>
                </a:moveTo>
                <a:lnTo>
                  <a:pt x="12192000" y="0"/>
                </a:lnTo>
                <a:lnTo>
                  <a:pt x="12192000" y="469900"/>
                </a:lnTo>
                <a:lnTo>
                  <a:pt x="0" y="469900"/>
                </a:lnTo>
                <a:close/>
              </a:path>
            </a:pathLst>
          </a:custGeom>
          <a:solidFill>
            <a:srgbClr val="404040"/>
          </a:solidFill>
        </p:spPr>
      </p:sp>
      <p:sp>
        <p:nvSpPr>
          <p:cNvPr id="3" name="Text 1"/>
          <p:cNvSpPr/>
          <p:nvPr/>
        </p:nvSpPr>
        <p:spPr>
          <a:xfrm>
            <a:off x="0" y="6388100"/>
            <a:ext cx="12192000" cy="469900"/>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4" name="Text 2"/>
          <p:cNvSpPr/>
          <p:nvPr/>
        </p:nvSpPr>
        <p:spPr>
          <a:xfrm>
            <a:off x="599440" y="253365"/>
            <a:ext cx="11008995" cy="460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400" b="1" dirty="0">
                <a:solidFill>
                  <a:srgbClr val="404040"/>
                </a:solidFill>
                <a:latin typeface="微软雅黑" pitchFamily="34" charset="0"/>
                <a:ea typeface="微软雅黑" pitchFamily="34" charset="-122"/>
                <a:cs typeface="微软雅黑" pitchFamily="34" charset="-120"/>
              </a:rPr>
              <a:t>技术创新</a:t>
            </a:r>
            <a:endParaRPr lang="en-US" sz="2400" dirty="0"/>
          </a:p>
        </p:txBody>
      </p:sp>
      <p:sp>
        <p:nvSpPr>
          <p:cNvPr id="5" name="Text 3"/>
          <p:cNvSpPr/>
          <p:nvPr/>
        </p:nvSpPr>
        <p:spPr>
          <a:xfrm>
            <a:off x="4127183" y="718185"/>
            <a:ext cx="3953510" cy="29200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275" dirty="0">
                <a:solidFill>
                  <a:srgbClr val="404040"/>
                </a:solidFill>
                <a:latin typeface="思源黑体 CN Light" pitchFamily="34" charset="0"/>
                <a:ea typeface="思源黑体 CN Light" pitchFamily="34" charset="-122"/>
                <a:cs typeface="思源黑体 CN Light" pitchFamily="34" charset="-120"/>
              </a:rPr>
              <a:t>ENTER YOUR TITLE CONTENT</a:t>
            </a:r>
            <a:endParaRPr lang="en-US" sz="1275" dirty="0"/>
          </a:p>
        </p:txBody>
      </p:sp>
      <p:sp>
        <p:nvSpPr>
          <p:cNvPr id="6" name="Text 4"/>
          <p:cNvSpPr/>
          <p:nvPr/>
        </p:nvSpPr>
        <p:spPr>
          <a:xfrm>
            <a:off x="9257779" y="6507708"/>
            <a:ext cx="2724150" cy="23068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900" dirty="0">
                <a:solidFill>
                  <a:srgbClr val="FFFFFF"/>
                </a:solidFill>
                <a:latin typeface="思源黑体 CN Light" pitchFamily="34" charset="0"/>
                <a:ea typeface="思源黑体 CN Light" pitchFamily="34" charset="-122"/>
                <a:cs typeface="思源黑体 CN Light" pitchFamily="34" charset="-120"/>
              </a:rPr>
              <a:t>BUSINESS PLAN TEMPLATE</a:t>
            </a:r>
            <a:endParaRPr lang="en-US" sz="900" dirty="0"/>
          </a:p>
        </p:txBody>
      </p:sp>
      <p:sp>
        <p:nvSpPr>
          <p:cNvPr id="7" name="Shape 5"/>
          <p:cNvSpPr/>
          <p:nvPr/>
        </p:nvSpPr>
        <p:spPr>
          <a:xfrm flipH="1" flipV="1">
            <a:off x="4303537"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8" name="Text 6"/>
          <p:cNvSpPr/>
          <p:nvPr/>
        </p:nvSpPr>
        <p:spPr>
          <a:xfrm>
            <a:off x="4303537"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9" name="Shape 7"/>
          <p:cNvSpPr/>
          <p:nvPr/>
        </p:nvSpPr>
        <p:spPr>
          <a:xfrm rot="5400000">
            <a:off x="4303590" y="2240383"/>
            <a:ext cx="373" cy="228"/>
          </a:xfrm>
          <a:custGeom>
            <a:avLst/>
            <a:gdLst/>
            <a:ahLst/>
            <a:cxnLst/>
            <a:rect l="l" t="t" r="r" b="b"/>
            <a:pathLst>
              <a:path w="373" h="228">
                <a:moveTo>
                  <a:pt x="186" y="0"/>
                </a:moveTo>
                <a:lnTo>
                  <a:pt x="0" y="228"/>
                </a:lnTo>
                <a:lnTo>
                  <a:pt x="373" y="228"/>
                </a:lnTo>
                <a:close/>
              </a:path>
            </a:pathLst>
          </a:custGeom>
          <a:solidFill>
            <a:srgbClr val="404040"/>
          </a:solidFill>
        </p:spPr>
      </p:sp>
      <p:sp>
        <p:nvSpPr>
          <p:cNvPr id="10" name="Text 8"/>
          <p:cNvSpPr/>
          <p:nvPr/>
        </p:nvSpPr>
        <p:spPr>
          <a:xfrm rot="5400000">
            <a:off x="4303590" y="2240383"/>
            <a:ext cx="373" cy="228"/>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1" name="Shape 9"/>
          <p:cNvSpPr/>
          <p:nvPr/>
        </p:nvSpPr>
        <p:spPr>
          <a:xfrm flipH="1" flipV="1">
            <a:off x="4303454" y="2240414"/>
            <a:ext cx="290" cy="162"/>
          </a:xfrm>
          <a:custGeom>
            <a:avLst/>
            <a:gdLst/>
            <a:ahLst/>
            <a:cxnLst/>
            <a:rect l="l" t="t" r="r" b="b"/>
            <a:pathLst>
              <a:path w="290" h="162">
                <a:moveTo>
                  <a:pt x="139" y="0"/>
                </a:moveTo>
                <a:cubicBezTo>
                  <a:pt x="216" y="0"/>
                  <a:pt x="278" y="35"/>
                  <a:pt x="278" y="78"/>
                </a:cubicBezTo>
                <a:cubicBezTo>
                  <a:pt x="278" y="120"/>
                  <a:pt x="216" y="155"/>
                  <a:pt x="139" y="155"/>
                </a:cubicBezTo>
                <a:cubicBezTo>
                  <a:pt x="62" y="155"/>
                  <a:pt x="0" y="120"/>
                  <a:pt x="0" y="78"/>
                </a:cubicBezTo>
                <a:cubicBezTo>
                  <a:pt x="0" y="35"/>
                  <a:pt x="62" y="0"/>
                  <a:pt x="139" y="0"/>
                </a:cubicBezTo>
                <a:close/>
              </a:path>
            </a:pathLst>
          </a:custGeom>
          <a:solidFill>
            <a:srgbClr val="404040"/>
          </a:solidFill>
        </p:spPr>
      </p:sp>
      <p:sp>
        <p:nvSpPr>
          <p:cNvPr id="12" name="Text 10"/>
          <p:cNvSpPr/>
          <p:nvPr/>
        </p:nvSpPr>
        <p:spPr>
          <a:xfrm>
            <a:off x="4303454" y="2240414"/>
            <a:ext cx="290" cy="162"/>
          </a:xfrm>
          <a:prstGeom prst="rect">
            <a:avLst/>
          </a:prstGeom>
          <a:noFill/>
        </p:spPr>
        <p:txBody>
          <a:bodyPr wrap="square" rtlCol="0" anchor="ctr"/>
          <a:lstStyle/>
          <a:p>
            <a:pPr marL="0" indent="0" algn="ctr">
              <a:lnSpc>
                <a:spcPct val="120000"/>
              </a:lnSpc>
              <a:spcBef>
                <a:spcPts val="375"/>
              </a:spcBef>
              <a:buNone/>
            </a:pPr>
            <a:r>
              <a:rPr lang="en-US" sz="1800" dirty="0">
                <a:solidFill>
                  <a:srgbClr val="FFFFFF"/>
                </a:solidFill>
                <a:latin typeface="Arial" panose="02080604020202020204" pitchFamily="34" charset="0"/>
                <a:ea typeface="Arial" pitchFamily="34" charset="-122"/>
                <a:cs typeface="Arial" pitchFamily="34" charset="-120"/>
              </a:rPr>
              <a:t> </a:t>
            </a:r>
            <a:endParaRPr lang="en-US" sz="1800" dirty="0"/>
          </a:p>
        </p:txBody>
      </p:sp>
      <p:sp>
        <p:nvSpPr>
          <p:cNvPr id="13" name="Shape 11"/>
          <p:cNvSpPr/>
          <p:nvPr/>
        </p:nvSpPr>
        <p:spPr>
          <a:xfrm>
            <a:off x="10035003" y="3066826"/>
            <a:ext cx="1483893" cy="1607416"/>
          </a:xfrm>
          <a:custGeom>
            <a:avLst/>
            <a:gdLst/>
            <a:ahLst/>
            <a:cxnLst/>
            <a:rect l="l" t="t" r="r" b="b"/>
            <a:pathLst>
              <a:path w="1483893" h="1607416">
                <a:moveTo>
                  <a:pt x="710759" y="829212"/>
                </a:moveTo>
                <a:cubicBezTo>
                  <a:pt x="1177598" y="829212"/>
                  <a:pt x="1344220" y="1050572"/>
                  <a:pt x="1413428" y="1281022"/>
                </a:cubicBezTo>
                <a:cubicBezTo>
                  <a:pt x="1452393" y="1410904"/>
                  <a:pt x="1348857" y="1540047"/>
                  <a:pt x="1205428" y="1540047"/>
                </a:cubicBezTo>
                <a:cubicBezTo>
                  <a:pt x="72846" y="1540047"/>
                  <a:pt x="-30690" y="1410904"/>
                  <a:pt x="8273" y="1281022"/>
                </a:cubicBezTo>
                <a:cubicBezTo>
                  <a:pt x="77297" y="1050572"/>
                  <a:pt x="243920" y="829212"/>
                  <a:pt x="710759" y="829212"/>
                </a:cubicBezTo>
                <a:moveTo>
                  <a:pt x="710759" y="0"/>
                </a:moveTo>
                <a:cubicBezTo>
                  <a:pt x="920241" y="0"/>
                  <a:pt x="1090018" y="169591"/>
                  <a:pt x="1089832" y="379074"/>
                </a:cubicBezTo>
                <a:cubicBezTo>
                  <a:pt x="1089832" y="588370"/>
                  <a:pt x="920057" y="758147"/>
                  <a:pt x="710759" y="758147"/>
                </a:cubicBezTo>
                <a:cubicBezTo>
                  <a:pt x="501460" y="758147"/>
                  <a:pt x="331685" y="588370"/>
                  <a:pt x="331685" y="379074"/>
                </a:cubicBezTo>
                <a:cubicBezTo>
                  <a:pt x="331685" y="169591"/>
                  <a:pt x="501460" y="0"/>
                  <a:pt x="710759" y="0"/>
                </a:cubicBezTo>
                <a:close/>
                <a:close/>
              </a:path>
            </a:pathLst>
          </a:custGeom>
          <a:solidFill>
            <a:srgbClr val="C9C9C9">
              <a:alpha val="15000"/>
            </a:srgbClr>
          </a:solidFill>
        </p:spPr>
      </p:sp>
      <p:sp>
        <p:nvSpPr>
          <p:cNvPr id="14" name="Text 12"/>
          <p:cNvSpPr/>
          <p:nvPr/>
        </p:nvSpPr>
        <p:spPr>
          <a:xfrm>
            <a:off x="10035003" y="3066826"/>
            <a:ext cx="1483893" cy="1607416"/>
          </a:xfrm>
          <a:prstGeom prst="rect">
            <a:avLst/>
          </a:prstGeom>
          <a:noFill/>
        </p:spPr>
        <p:txBody>
          <a:bodyPr wrap="square" rtlCol="0" anchor="ctr"/>
          <a:lstStyle/>
          <a:p>
            <a:pPr marL="0" indent="0" algn="l">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5" name="Shape 13"/>
          <p:cNvSpPr/>
          <p:nvPr/>
        </p:nvSpPr>
        <p:spPr>
          <a:xfrm>
            <a:off x="-2881641" y="1127035"/>
            <a:ext cx="16036" cy="5301"/>
          </a:xfrm>
          <a:custGeom>
            <a:avLst/>
            <a:gdLst/>
            <a:ahLst/>
            <a:cxnLst/>
            <a:rect l="l" t="t" r="r" b="b"/>
            <a:pathLst>
              <a:path w="16036" h="5301">
                <a:moveTo>
                  <a:pt x="0" y="0"/>
                </a:moveTo>
                <a:lnTo>
                  <a:pt x="6931" y="695"/>
                </a:lnTo>
                <a:cubicBezTo>
                  <a:pt x="20924" y="6170"/>
                  <a:pt x="14992" y="5866"/>
                  <a:pt x="7159" y="3318"/>
                </a:cubicBezTo>
                <a:lnTo>
                  <a:pt x="0" y="0"/>
                </a:lnTo>
                <a:close/>
              </a:path>
            </a:pathLst>
          </a:custGeom>
          <a:solidFill>
            <a:srgbClr val="B4C6E7"/>
          </a:solidFill>
        </p:spPr>
      </p:sp>
      <p:sp>
        <p:nvSpPr>
          <p:cNvPr id="16" name="Text 14"/>
          <p:cNvSpPr/>
          <p:nvPr/>
        </p:nvSpPr>
        <p:spPr>
          <a:xfrm>
            <a:off x="-2881641" y="1127035"/>
            <a:ext cx="16036" cy="5301"/>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7" name="Shape 15"/>
          <p:cNvSpPr/>
          <p:nvPr/>
        </p:nvSpPr>
        <p:spPr>
          <a:xfrm>
            <a:off x="121921" y="3493343"/>
            <a:ext cx="579120" cy="1793240"/>
          </a:xfrm>
          <a:custGeom>
            <a:avLst/>
            <a:gdLst/>
            <a:ahLst/>
            <a:cxnLst/>
            <a:rect l="l" t="t" r="r" b="b"/>
            <a:pathLst>
              <a:path w="579120" h="1793240">
                <a:moveTo>
                  <a:pt x="275771" y="0"/>
                </a:moveTo>
                <a:lnTo>
                  <a:pt x="303349" y="0"/>
                </a:lnTo>
                <a:quadBezTo>
                  <a:pt x="579120" y="0"/>
                  <a:pt x="579120" y="275771"/>
                </a:quadBezTo>
                <a:lnTo>
                  <a:pt x="579120" y="1517469"/>
                </a:lnTo>
                <a:quadBezTo>
                  <a:pt x="579120" y="1793240"/>
                  <a:pt x="303349" y="1793240"/>
                </a:quadBezTo>
                <a:lnTo>
                  <a:pt x="275771" y="1793240"/>
                </a:lnTo>
                <a:quadBezTo>
                  <a:pt x="0" y="1793240"/>
                  <a:pt x="0" y="1517469"/>
                </a:quadBezTo>
                <a:lnTo>
                  <a:pt x="0" y="275771"/>
                </a:lnTo>
                <a:quadBezTo>
                  <a:pt x="0" y="0"/>
                  <a:pt x="275771" y="0"/>
                </a:quadBezTo>
                <a:close/>
              </a:path>
            </a:pathLst>
          </a:custGeom>
          <a:solidFill>
            <a:srgbClr val="C9C9C9"/>
          </a:solidFill>
        </p:spPr>
      </p:sp>
      <p:sp>
        <p:nvSpPr>
          <p:cNvPr id="18" name="Text 16"/>
          <p:cNvSpPr/>
          <p:nvPr/>
        </p:nvSpPr>
        <p:spPr>
          <a:xfrm>
            <a:off x="121921" y="3493343"/>
            <a:ext cx="579120" cy="179324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19" name="Shape 17"/>
          <p:cNvSpPr/>
          <p:nvPr/>
        </p:nvSpPr>
        <p:spPr>
          <a:xfrm rot="2700000">
            <a:off x="-770961" y="3130770"/>
            <a:ext cx="579120" cy="3100193"/>
          </a:xfrm>
          <a:custGeom>
            <a:avLst/>
            <a:gdLst/>
            <a:ahLst/>
            <a:cxnLst/>
            <a:rect l="l" t="t" r="r" b="b"/>
            <a:pathLst>
              <a:path w="579120" h="3100193">
                <a:moveTo>
                  <a:pt x="275771" y="0"/>
                </a:moveTo>
                <a:lnTo>
                  <a:pt x="303349" y="0"/>
                </a:lnTo>
                <a:quadBezTo>
                  <a:pt x="579120" y="0"/>
                  <a:pt x="579120" y="275771"/>
                </a:quadBezTo>
                <a:lnTo>
                  <a:pt x="579120" y="2824422"/>
                </a:lnTo>
                <a:quadBezTo>
                  <a:pt x="579120" y="3100193"/>
                  <a:pt x="303349" y="3100193"/>
                </a:quadBezTo>
                <a:lnTo>
                  <a:pt x="275771" y="3100193"/>
                </a:lnTo>
                <a:quadBezTo>
                  <a:pt x="0" y="3100193"/>
                  <a:pt x="0" y="2824422"/>
                </a:quadBezTo>
                <a:lnTo>
                  <a:pt x="0" y="275771"/>
                </a:lnTo>
                <a:quadBezTo>
                  <a:pt x="0" y="0"/>
                  <a:pt x="275771" y="0"/>
                </a:quadBezTo>
                <a:close/>
              </a:path>
            </a:pathLst>
          </a:custGeom>
          <a:solidFill>
            <a:srgbClr val="1C1C1C"/>
          </a:solidFill>
        </p:spPr>
      </p:sp>
      <p:sp>
        <p:nvSpPr>
          <p:cNvPr id="20" name="Text 18"/>
          <p:cNvSpPr/>
          <p:nvPr/>
        </p:nvSpPr>
        <p:spPr>
          <a:xfrm rot="2700000">
            <a:off x="-770961" y="3130770"/>
            <a:ext cx="579120" cy="3100193"/>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1" name="Shape 19"/>
          <p:cNvSpPr/>
          <p:nvPr/>
        </p:nvSpPr>
        <p:spPr>
          <a:xfrm>
            <a:off x="1905000" y="2920365"/>
            <a:ext cx="579119" cy="1781175"/>
          </a:xfrm>
          <a:custGeom>
            <a:avLst/>
            <a:gdLst/>
            <a:ahLst/>
            <a:cxnLst/>
            <a:rect l="l" t="t" r="r" b="b"/>
            <a:pathLst>
              <a:path w="579119" h="1781175">
                <a:moveTo>
                  <a:pt x="275771" y="0"/>
                </a:moveTo>
                <a:lnTo>
                  <a:pt x="303348" y="0"/>
                </a:lnTo>
                <a:quadBezTo>
                  <a:pt x="579119" y="0"/>
                  <a:pt x="579119" y="275771"/>
                </a:quadBezTo>
                <a:lnTo>
                  <a:pt x="579119" y="1505404"/>
                </a:lnTo>
                <a:quadBezTo>
                  <a:pt x="579119" y="1781175"/>
                  <a:pt x="303348" y="1781175"/>
                </a:quadBezTo>
                <a:lnTo>
                  <a:pt x="275771" y="1781175"/>
                </a:lnTo>
                <a:quadBezTo>
                  <a:pt x="0" y="1781175"/>
                  <a:pt x="0" y="1505404"/>
                </a:quadBezTo>
                <a:lnTo>
                  <a:pt x="0" y="275771"/>
                </a:lnTo>
                <a:quadBezTo>
                  <a:pt x="0" y="0"/>
                  <a:pt x="275771" y="0"/>
                </a:quadBezTo>
                <a:close/>
              </a:path>
            </a:pathLst>
          </a:custGeom>
          <a:solidFill>
            <a:srgbClr val="C9C9C9"/>
          </a:solidFill>
        </p:spPr>
      </p:sp>
      <p:sp>
        <p:nvSpPr>
          <p:cNvPr id="22" name="Text 20"/>
          <p:cNvSpPr/>
          <p:nvPr/>
        </p:nvSpPr>
        <p:spPr>
          <a:xfrm>
            <a:off x="1905000" y="2920365"/>
            <a:ext cx="579119" cy="178117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3" name="Shape 21"/>
          <p:cNvSpPr/>
          <p:nvPr/>
        </p:nvSpPr>
        <p:spPr>
          <a:xfrm rot="2700000">
            <a:off x="2795199" y="1972532"/>
            <a:ext cx="579120" cy="3100193"/>
          </a:xfrm>
          <a:custGeom>
            <a:avLst/>
            <a:gdLst/>
            <a:ahLst/>
            <a:cxnLst/>
            <a:rect l="l" t="t" r="r" b="b"/>
            <a:pathLst>
              <a:path w="579120" h="3100193">
                <a:moveTo>
                  <a:pt x="275771" y="0"/>
                </a:moveTo>
                <a:lnTo>
                  <a:pt x="303349" y="0"/>
                </a:lnTo>
                <a:quadBezTo>
                  <a:pt x="579120" y="0"/>
                  <a:pt x="579120" y="275771"/>
                </a:quadBezTo>
                <a:lnTo>
                  <a:pt x="579120" y="2824422"/>
                </a:lnTo>
                <a:quadBezTo>
                  <a:pt x="579120" y="3100193"/>
                  <a:pt x="303349" y="3100193"/>
                </a:quadBezTo>
                <a:lnTo>
                  <a:pt x="275771" y="3100193"/>
                </a:lnTo>
                <a:quadBezTo>
                  <a:pt x="0" y="3100193"/>
                  <a:pt x="0" y="2824422"/>
                </a:quadBezTo>
                <a:lnTo>
                  <a:pt x="0" y="275771"/>
                </a:lnTo>
                <a:quadBezTo>
                  <a:pt x="0" y="0"/>
                  <a:pt x="275771" y="0"/>
                </a:quadBezTo>
                <a:close/>
              </a:path>
            </a:pathLst>
          </a:custGeom>
          <a:solidFill>
            <a:srgbClr val="1C1C1C"/>
          </a:solidFill>
        </p:spPr>
      </p:sp>
      <p:sp>
        <p:nvSpPr>
          <p:cNvPr id="24" name="Text 22"/>
          <p:cNvSpPr/>
          <p:nvPr/>
        </p:nvSpPr>
        <p:spPr>
          <a:xfrm rot="2700000">
            <a:off x="2795199" y="1972532"/>
            <a:ext cx="579120" cy="3100193"/>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5" name="Shape 23"/>
          <p:cNvSpPr/>
          <p:nvPr/>
        </p:nvSpPr>
        <p:spPr>
          <a:xfrm rot="2700000">
            <a:off x="1011276" y="2551651"/>
            <a:ext cx="579120" cy="3100193"/>
          </a:xfrm>
          <a:custGeom>
            <a:avLst/>
            <a:gdLst/>
            <a:ahLst/>
            <a:cxnLst/>
            <a:rect l="l" t="t" r="r" b="b"/>
            <a:pathLst>
              <a:path w="579120" h="3100193">
                <a:moveTo>
                  <a:pt x="275771" y="0"/>
                </a:moveTo>
                <a:lnTo>
                  <a:pt x="303349" y="0"/>
                </a:lnTo>
                <a:quadBezTo>
                  <a:pt x="579120" y="0"/>
                  <a:pt x="579120" y="275771"/>
                </a:quadBezTo>
                <a:lnTo>
                  <a:pt x="579120" y="2824422"/>
                </a:lnTo>
                <a:quadBezTo>
                  <a:pt x="579120" y="3100193"/>
                  <a:pt x="303349" y="3100193"/>
                </a:quadBezTo>
                <a:lnTo>
                  <a:pt x="275771" y="3100193"/>
                </a:lnTo>
                <a:quadBezTo>
                  <a:pt x="0" y="3100193"/>
                  <a:pt x="0" y="2824422"/>
                </a:quadBezTo>
                <a:lnTo>
                  <a:pt x="0" y="275771"/>
                </a:lnTo>
                <a:quadBezTo>
                  <a:pt x="0" y="0"/>
                  <a:pt x="275771" y="0"/>
                </a:quadBezTo>
                <a:close/>
              </a:path>
            </a:pathLst>
          </a:custGeom>
          <a:solidFill>
            <a:srgbClr val="1C1C1C"/>
          </a:solidFill>
        </p:spPr>
      </p:sp>
      <p:sp>
        <p:nvSpPr>
          <p:cNvPr id="26" name="Text 24"/>
          <p:cNvSpPr/>
          <p:nvPr/>
        </p:nvSpPr>
        <p:spPr>
          <a:xfrm rot="2700000">
            <a:off x="1011276" y="2551651"/>
            <a:ext cx="579120" cy="3100193"/>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7" name="Shape 25"/>
          <p:cNvSpPr/>
          <p:nvPr/>
        </p:nvSpPr>
        <p:spPr>
          <a:xfrm>
            <a:off x="2103120" y="3101340"/>
            <a:ext cx="190500" cy="190500"/>
          </a:xfrm>
          <a:custGeom>
            <a:avLst/>
            <a:gdLst/>
            <a:ahLst/>
            <a:cxnLst/>
            <a:rect l="l" t="t" r="r" b="b"/>
            <a:pathLst>
              <a:path w="190500" h="190500">
                <a:moveTo>
                  <a:pt x="91258" y="0"/>
                </a:moveTo>
                <a:cubicBezTo>
                  <a:pt x="141625" y="0"/>
                  <a:pt x="182516" y="40891"/>
                  <a:pt x="182516" y="91258"/>
                </a:cubicBezTo>
                <a:cubicBezTo>
                  <a:pt x="182516" y="141625"/>
                  <a:pt x="141625" y="182516"/>
                  <a:pt x="91258" y="182516"/>
                </a:cubicBezTo>
                <a:cubicBezTo>
                  <a:pt x="40891" y="182516"/>
                  <a:pt x="0" y="141625"/>
                  <a:pt x="0" y="91258"/>
                </a:cubicBezTo>
                <a:cubicBezTo>
                  <a:pt x="0" y="40891"/>
                  <a:pt x="40891" y="0"/>
                  <a:pt x="91258" y="0"/>
                </a:cubicBezTo>
                <a:close/>
              </a:path>
            </a:pathLst>
          </a:custGeom>
          <a:solidFill>
            <a:srgbClr val="FFFFFF"/>
          </a:solidFill>
        </p:spPr>
      </p:sp>
      <p:sp>
        <p:nvSpPr>
          <p:cNvPr id="28" name="Text 26"/>
          <p:cNvSpPr/>
          <p:nvPr/>
        </p:nvSpPr>
        <p:spPr>
          <a:xfrm>
            <a:off x="2103120" y="3101340"/>
            <a:ext cx="190500" cy="1905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29" name="Shape 27"/>
          <p:cNvSpPr/>
          <p:nvPr/>
        </p:nvSpPr>
        <p:spPr>
          <a:xfrm>
            <a:off x="327660" y="3680460"/>
            <a:ext cx="190500" cy="190500"/>
          </a:xfrm>
          <a:custGeom>
            <a:avLst/>
            <a:gdLst/>
            <a:ahLst/>
            <a:cxnLst/>
            <a:rect l="l" t="t" r="r" b="b"/>
            <a:pathLst>
              <a:path w="190500" h="190500">
                <a:moveTo>
                  <a:pt x="91258" y="0"/>
                </a:moveTo>
                <a:cubicBezTo>
                  <a:pt x="141625" y="0"/>
                  <a:pt x="182516" y="40891"/>
                  <a:pt x="182516" y="91258"/>
                </a:cubicBezTo>
                <a:cubicBezTo>
                  <a:pt x="182516" y="141625"/>
                  <a:pt x="141625" y="182516"/>
                  <a:pt x="91258" y="182516"/>
                </a:cubicBezTo>
                <a:cubicBezTo>
                  <a:pt x="40891" y="182516"/>
                  <a:pt x="0" y="141625"/>
                  <a:pt x="0" y="91258"/>
                </a:cubicBezTo>
                <a:cubicBezTo>
                  <a:pt x="0" y="40891"/>
                  <a:pt x="40891" y="0"/>
                  <a:pt x="91258" y="0"/>
                </a:cubicBezTo>
                <a:close/>
              </a:path>
            </a:pathLst>
          </a:custGeom>
          <a:solidFill>
            <a:srgbClr val="FFFFFF"/>
          </a:solidFill>
        </p:spPr>
      </p:sp>
      <p:sp>
        <p:nvSpPr>
          <p:cNvPr id="30" name="Text 28"/>
          <p:cNvSpPr/>
          <p:nvPr/>
        </p:nvSpPr>
        <p:spPr>
          <a:xfrm>
            <a:off x="327660" y="3680460"/>
            <a:ext cx="190500" cy="1905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1" name="Shape 29"/>
          <p:cNvSpPr/>
          <p:nvPr/>
        </p:nvSpPr>
        <p:spPr>
          <a:xfrm>
            <a:off x="3705860" y="2329180"/>
            <a:ext cx="7647305" cy="579755"/>
          </a:xfrm>
          <a:custGeom>
            <a:avLst/>
            <a:gdLst/>
            <a:ahLst/>
            <a:cxnLst/>
            <a:rect l="l" t="t" r="r" b="b"/>
            <a:pathLst>
              <a:path w="7647305" h="579755">
                <a:moveTo>
                  <a:pt x="276074" y="0"/>
                </a:moveTo>
                <a:lnTo>
                  <a:pt x="7371231" y="0"/>
                </a:lnTo>
                <a:quadBezTo>
                  <a:pt x="7647305" y="0"/>
                  <a:pt x="7647305" y="276074"/>
                </a:quadBezTo>
                <a:lnTo>
                  <a:pt x="7647305" y="303681"/>
                </a:lnTo>
                <a:quadBezTo>
                  <a:pt x="7647305" y="579755"/>
                  <a:pt x="7371231" y="579755"/>
                </a:quadBezTo>
                <a:lnTo>
                  <a:pt x="276074" y="579755"/>
                </a:lnTo>
                <a:quadBezTo>
                  <a:pt x="0" y="579755"/>
                  <a:pt x="0" y="303681"/>
                </a:quadBezTo>
                <a:lnTo>
                  <a:pt x="0" y="276074"/>
                </a:lnTo>
                <a:quadBezTo>
                  <a:pt x="0" y="0"/>
                  <a:pt x="276074" y="0"/>
                </a:quadBezTo>
                <a:close/>
              </a:path>
            </a:pathLst>
          </a:custGeom>
          <a:solidFill>
            <a:srgbClr val="616161"/>
          </a:solidFill>
        </p:spPr>
      </p:sp>
      <p:sp>
        <p:nvSpPr>
          <p:cNvPr id="32" name="Text 30"/>
          <p:cNvSpPr/>
          <p:nvPr/>
        </p:nvSpPr>
        <p:spPr>
          <a:xfrm>
            <a:off x="3705860" y="2329180"/>
            <a:ext cx="7647305" cy="579755"/>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3" name="Shape 31"/>
          <p:cNvSpPr/>
          <p:nvPr/>
        </p:nvSpPr>
        <p:spPr>
          <a:xfrm>
            <a:off x="3886200" y="2520315"/>
            <a:ext cx="190500" cy="190500"/>
          </a:xfrm>
          <a:custGeom>
            <a:avLst/>
            <a:gdLst/>
            <a:ahLst/>
            <a:cxnLst/>
            <a:rect l="l" t="t" r="r" b="b"/>
            <a:pathLst>
              <a:path w="190500" h="190500">
                <a:moveTo>
                  <a:pt x="91258" y="0"/>
                </a:moveTo>
                <a:cubicBezTo>
                  <a:pt x="141625" y="0"/>
                  <a:pt x="182516" y="40891"/>
                  <a:pt x="182516" y="91258"/>
                </a:cubicBezTo>
                <a:cubicBezTo>
                  <a:pt x="182516" y="141625"/>
                  <a:pt x="141625" y="182516"/>
                  <a:pt x="91258" y="182516"/>
                </a:cubicBezTo>
                <a:cubicBezTo>
                  <a:pt x="40891" y="182516"/>
                  <a:pt x="0" y="141625"/>
                  <a:pt x="0" y="91258"/>
                </a:cubicBezTo>
                <a:cubicBezTo>
                  <a:pt x="0" y="40891"/>
                  <a:pt x="40891" y="0"/>
                  <a:pt x="91258" y="0"/>
                </a:cubicBezTo>
                <a:close/>
              </a:path>
            </a:pathLst>
          </a:custGeom>
          <a:solidFill>
            <a:srgbClr val="FFFFFF"/>
          </a:solidFill>
        </p:spPr>
      </p:sp>
      <p:sp>
        <p:nvSpPr>
          <p:cNvPr id="34" name="Text 32"/>
          <p:cNvSpPr/>
          <p:nvPr/>
        </p:nvSpPr>
        <p:spPr>
          <a:xfrm>
            <a:off x="3886200" y="2520315"/>
            <a:ext cx="190500" cy="190500"/>
          </a:xfrm>
          <a:prstGeom prst="rect">
            <a:avLst/>
          </a:prstGeom>
          <a:noFill/>
        </p:spPr>
        <p:txBody>
          <a:bodyPr wrap="square" rtlCol="0" anchor="ctr"/>
          <a:lstStyle/>
          <a:p>
            <a:pPr marL="0" indent="0" algn="ctr">
              <a:lnSpc>
                <a:spcPct val="120000"/>
              </a:lnSpc>
              <a:spcBef>
                <a:spcPts val="375"/>
              </a:spcBef>
              <a:buNone/>
            </a:pPr>
            <a:r>
              <a:rPr lang="en-US" sz="1800" dirty="0">
                <a:solidFill>
                  <a:srgbClr val="000000"/>
                </a:solidFill>
                <a:latin typeface="Arial" panose="02080604020202020204" pitchFamily="34" charset="0"/>
                <a:ea typeface="Arial" pitchFamily="34" charset="-122"/>
                <a:cs typeface="Arial" pitchFamily="34" charset="-120"/>
              </a:rPr>
              <a:t> </a:t>
            </a:r>
            <a:endParaRPr lang="en-US" sz="1800" dirty="0"/>
          </a:p>
        </p:txBody>
      </p:sp>
      <p:sp>
        <p:nvSpPr>
          <p:cNvPr id="35" name="Text 33"/>
          <p:cNvSpPr/>
          <p:nvPr/>
        </p:nvSpPr>
        <p:spPr>
          <a:xfrm>
            <a:off x="4254500" y="2337435"/>
            <a:ext cx="6805930" cy="640705"/>
          </a:xfrm>
          <a:prstGeom prst="rect">
            <a:avLst/>
          </a:prstGeom>
          <a:noFill/>
        </p:spPr>
        <p:txBody>
          <a:bodyPr wrap="square" lIns="95250" tIns="95250" rIns="95250" bIns="95250" rtlCol="0" anchor="ctr">
            <a:spAutoFit/>
          </a:bodyPr>
          <a:lstStyle/>
          <a:p>
            <a:pPr marL="0" indent="0" algn="l">
              <a:lnSpc>
                <a:spcPct val="100000"/>
              </a:lnSpc>
              <a:spcBef>
                <a:spcPts val="375"/>
              </a:spcBef>
              <a:buNone/>
            </a:pPr>
            <a:r>
              <a:rPr lang="en-US" sz="1725" b="1" dirty="0">
                <a:solidFill>
                  <a:srgbClr val="FFFFFF"/>
                </a:solidFill>
                <a:latin typeface="微软雅黑" pitchFamily="34" charset="0"/>
                <a:ea typeface="微软雅黑" pitchFamily="34" charset="-122"/>
                <a:cs typeface="微软雅黑" pitchFamily="34" charset="-120"/>
              </a:rPr>
              <a:t>技术创新</a:t>
            </a:r>
            <a:endParaRPr lang="en-US" sz="1725" dirty="0"/>
          </a:p>
        </p:txBody>
      </p:sp>
      <p:sp>
        <p:nvSpPr>
          <p:cNvPr id="36" name="Text 34"/>
          <p:cNvSpPr/>
          <p:nvPr/>
        </p:nvSpPr>
        <p:spPr>
          <a:xfrm>
            <a:off x="4254500" y="3083560"/>
            <a:ext cx="6805930" cy="2779395"/>
          </a:xfrm>
          <a:prstGeom prst="rect">
            <a:avLst/>
          </a:prstGeom>
          <a:noFill/>
        </p:spPr>
        <p:txBody>
          <a:bodyPr wrap="square" lIns="95250" tIns="95250" rIns="95250" bIns="95250" rtlCol="0" anchor="t">
            <a:spAutoFit/>
          </a:bodyPr>
          <a:lstStyle/>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可再生能源集成：在光纤网络基础设施中使用可再生能源，如太阳能和风能，构建光纤网络和可再生能源发电系统相结合的微电网，实现绿色运营。</a:t>
            </a:r>
            <a:endParaRPr 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能量回收研究：研究能量回收与再利用技术，有助于提高光纤通信系统的整体能源效率。通过在光放大器等设备中回收未使用的能量，或者在光纤通信系统中实现能量的循环利用。</a:t>
            </a:r>
            <a:endParaRPr lang="en-US" sz="1350" dirty="0">
              <a:solidFill>
                <a:srgbClr val="808080"/>
              </a:solidFill>
              <a:latin typeface="微软雅黑" pitchFamily="34" charset="0"/>
              <a:ea typeface="微软雅黑" pitchFamily="34" charset="-122"/>
              <a:cs typeface="微软雅黑" pitchFamily="34" charset="-120"/>
            </a:endParaRPr>
          </a:p>
          <a:p>
            <a:pPr marL="0" indent="0" algn="l">
              <a:lnSpc>
                <a:spcPct val="150000"/>
              </a:lnSpc>
              <a:spcBef>
                <a:spcPts val="375"/>
              </a:spcBef>
              <a:buNone/>
            </a:pPr>
            <a:r>
              <a:rPr lang="en-US" sz="1350" dirty="0">
                <a:solidFill>
                  <a:srgbClr val="808080"/>
                </a:solidFill>
                <a:latin typeface="微软雅黑" pitchFamily="34" charset="0"/>
                <a:ea typeface="微软雅黑" pitchFamily="34" charset="-122"/>
                <a:cs typeface="微软雅黑" pitchFamily="34" charset="-120"/>
              </a:rPr>
              <a:t>实时监测与优化：智能化光纤网络管理系统能够实时监测网络状态，优化信号传输路径，降低能量消耗。通过采用软件定义网络（SDN）技术，可以根据实时的网络流量和业务需求，动态调整网络资源分配，实现能源的高效利用。</a:t>
            </a:r>
            <a:endParaRPr lang="en-US" sz="1350" dirty="0">
              <a:solidFill>
                <a:srgbClr val="808080"/>
              </a:solidFill>
              <a:latin typeface="微软雅黑" pitchFamily="34" charset="0"/>
              <a:ea typeface="微软雅黑" pitchFamily="34" charset="-122"/>
              <a:cs typeface="微软雅黑" pitchFamily="34" charset="-12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CDCDC"/>
            </a:gs>
          </a:gsLst>
          <a:lin ang="10800000" scaled="1"/>
          <a:tileRect/>
        </a:gradFill>
        <a:effectLst/>
      </p:bgPr>
    </p:bg>
    <p:spTree>
      <p:nvGrpSpPr>
        <p:cNvPr id="1" name=""/>
        <p:cNvGrpSpPr/>
        <p:nvPr/>
      </p:nvGrpSpPr>
      <p:grpSpPr>
        <a:xfrm>
          <a:off x="0" y="0"/>
          <a:ext cx="0" cy="0"/>
          <a:chOff x="0" y="0"/>
          <a:chExt cx="0" cy="0"/>
        </a:xfrm>
      </p:grpSpPr>
      <p:sp>
        <p:nvSpPr>
          <p:cNvPr id="2" name="Text 0"/>
          <p:cNvSpPr/>
          <p:nvPr/>
        </p:nvSpPr>
        <p:spPr>
          <a:xfrm>
            <a:off x="407670" y="2595245"/>
            <a:ext cx="11376660" cy="82986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4800" b="1" dirty="0">
                <a:solidFill>
                  <a:srgbClr val="404040"/>
                </a:solidFill>
                <a:latin typeface="微软雅黑" pitchFamily="34" charset="0"/>
                <a:ea typeface="微软雅黑" pitchFamily="34" charset="-122"/>
                <a:cs typeface="微软雅黑" pitchFamily="34" charset="-120"/>
              </a:rPr>
              <a:t>感谢观看</a:t>
            </a:r>
            <a:endParaRPr lang="en-US" sz="4800" dirty="0"/>
          </a:p>
        </p:txBody>
      </p:sp>
      <p:sp>
        <p:nvSpPr>
          <p:cNvPr id="3" name="Text 1"/>
          <p:cNvSpPr/>
          <p:nvPr/>
        </p:nvSpPr>
        <p:spPr>
          <a:xfrm>
            <a:off x="2623820" y="2139315"/>
            <a:ext cx="6944360" cy="398711"/>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950" dirty="0">
                <a:solidFill>
                  <a:srgbClr val="808080"/>
                </a:solidFill>
                <a:latin typeface="思源黑体 CN Light" pitchFamily="34" charset="0"/>
                <a:ea typeface="思源黑体 CN Light" pitchFamily="34" charset="-122"/>
                <a:cs typeface="思源黑体 CN Light" pitchFamily="34" charset="-120"/>
              </a:rPr>
              <a:t>BUSINESS PLAN TEMPLATE</a:t>
            </a:r>
            <a:endParaRPr lang="en-US" sz="1950" dirty="0"/>
          </a:p>
        </p:txBody>
      </p:sp>
      <p:sp>
        <p:nvSpPr>
          <p:cNvPr id="4" name="Shape 2"/>
          <p:cNvSpPr/>
          <p:nvPr/>
        </p:nvSpPr>
        <p:spPr>
          <a:xfrm>
            <a:off x="4133215" y="3700780"/>
            <a:ext cx="1625600" cy="366395"/>
          </a:xfrm>
          <a:custGeom>
            <a:avLst/>
            <a:gdLst/>
            <a:ahLst/>
            <a:cxnLst/>
            <a:rect l="l" t="t" r="r" b="b"/>
            <a:pathLst>
              <a:path w="1625600" h="366395">
                <a:moveTo>
                  <a:pt x="174474" y="0"/>
                </a:moveTo>
                <a:lnTo>
                  <a:pt x="1451126" y="0"/>
                </a:lnTo>
                <a:quadBezTo>
                  <a:pt x="1625600" y="0"/>
                  <a:pt x="1625600" y="174474"/>
                </a:quadBezTo>
                <a:lnTo>
                  <a:pt x="1625600" y="191921"/>
                </a:lnTo>
                <a:quadBezTo>
                  <a:pt x="1625600" y="366395"/>
                  <a:pt x="1451126" y="366395"/>
                </a:quadBezTo>
                <a:lnTo>
                  <a:pt x="174474" y="366395"/>
                </a:lnTo>
                <a:quadBezTo>
                  <a:pt x="0" y="366395"/>
                  <a:pt x="0" y="191921"/>
                </a:quadBezTo>
                <a:lnTo>
                  <a:pt x="0" y="174474"/>
                </a:lnTo>
                <a:quadBezTo>
                  <a:pt x="0" y="0"/>
                  <a:pt x="174474" y="0"/>
                </a:quadBezTo>
                <a:close/>
              </a:path>
            </a:pathLst>
          </a:custGeom>
          <a:solidFill>
            <a:srgbClr val="3B3838"/>
          </a:solidFill>
        </p:spPr>
      </p:sp>
      <p:sp>
        <p:nvSpPr>
          <p:cNvPr id="5" name="Text 3"/>
          <p:cNvSpPr/>
          <p:nvPr/>
        </p:nvSpPr>
        <p:spPr>
          <a:xfrm>
            <a:off x="4133215" y="3700780"/>
            <a:ext cx="1625600" cy="366395"/>
          </a:xfrm>
          <a:prstGeom prst="rect">
            <a:avLst/>
          </a:prstGeom>
          <a:noFill/>
        </p:spPr>
        <p:txBody>
          <a:bodyPr wrap="square" rtlCol="0" anchor="ctr"/>
          <a:lstStyle/>
          <a:p>
            <a:pPr marL="0" indent="0" algn="ctr">
              <a:lnSpc>
                <a:spcPct val="120000"/>
              </a:lnSpc>
              <a:spcBef>
                <a:spcPts val="375"/>
              </a:spcBef>
              <a:buNone/>
            </a:pPr>
            <a:r>
              <a:rPr lang="en-US" sz="1425" dirty="0">
                <a:solidFill>
                  <a:srgbClr val="FFFFFF"/>
                </a:solidFill>
                <a:latin typeface="微软雅黑" pitchFamily="34" charset="0"/>
                <a:ea typeface="微软雅黑" pitchFamily="34" charset="-122"/>
                <a:cs typeface="微软雅黑" pitchFamily="34" charset="-120"/>
              </a:rPr>
              <a:t>主讲人：</a:t>
            </a:r>
            <a:r>
              <a:rPr lang="x-none" altLang="en-US" sz="1425" dirty="0">
                <a:solidFill>
                  <a:srgbClr val="FFFFFF"/>
                </a:solidFill>
                <a:latin typeface="微软雅黑" pitchFamily="34" charset="0"/>
                <a:ea typeface="微软雅黑" pitchFamily="34" charset="-122"/>
                <a:cs typeface="微软雅黑" pitchFamily="34" charset="-120"/>
              </a:rPr>
              <a:t>张三</a:t>
            </a:r>
            <a:endParaRPr lang="x-none" altLang="en-US" sz="1425" dirty="0">
              <a:solidFill>
                <a:srgbClr val="FFFFFF"/>
              </a:solidFill>
              <a:latin typeface="微软雅黑" pitchFamily="34" charset="0"/>
              <a:ea typeface="微软雅黑" pitchFamily="34" charset="-122"/>
              <a:cs typeface="微软雅黑" pitchFamily="34" charset="-120"/>
            </a:endParaRPr>
          </a:p>
        </p:txBody>
      </p:sp>
      <p:sp>
        <p:nvSpPr>
          <p:cNvPr id="6" name="Shape 4"/>
          <p:cNvSpPr/>
          <p:nvPr/>
        </p:nvSpPr>
        <p:spPr>
          <a:xfrm>
            <a:off x="6426835" y="3700145"/>
            <a:ext cx="1339850" cy="367030"/>
          </a:xfrm>
          <a:custGeom>
            <a:avLst/>
            <a:gdLst/>
            <a:ahLst/>
            <a:cxnLst/>
            <a:rect l="l" t="t" r="r" b="b"/>
            <a:pathLst>
              <a:path w="1339850" h="367030">
                <a:moveTo>
                  <a:pt x="174776" y="0"/>
                </a:moveTo>
                <a:lnTo>
                  <a:pt x="1165074" y="0"/>
                </a:lnTo>
                <a:quadBezTo>
                  <a:pt x="1339850" y="0"/>
                  <a:pt x="1339850" y="174776"/>
                </a:quadBezTo>
                <a:lnTo>
                  <a:pt x="1339850" y="192254"/>
                </a:lnTo>
                <a:quadBezTo>
                  <a:pt x="1339850" y="367030"/>
                  <a:pt x="1165074" y="367030"/>
                </a:quadBezTo>
                <a:lnTo>
                  <a:pt x="174776" y="367030"/>
                </a:lnTo>
                <a:quadBezTo>
                  <a:pt x="0" y="367030"/>
                  <a:pt x="0" y="192254"/>
                </a:quadBezTo>
                <a:lnTo>
                  <a:pt x="0" y="174776"/>
                </a:lnTo>
                <a:quadBezTo>
                  <a:pt x="0" y="0"/>
                  <a:pt x="174776" y="0"/>
                </a:quadBezTo>
                <a:close/>
              </a:path>
            </a:pathLst>
          </a:custGeom>
          <a:solidFill>
            <a:srgbClr val="3B3838"/>
          </a:solidFill>
        </p:spPr>
      </p:sp>
      <p:sp>
        <p:nvSpPr>
          <p:cNvPr id="7" name="Text 5"/>
          <p:cNvSpPr/>
          <p:nvPr/>
        </p:nvSpPr>
        <p:spPr>
          <a:xfrm>
            <a:off x="6426835" y="3700145"/>
            <a:ext cx="1339850" cy="367030"/>
          </a:xfrm>
          <a:prstGeom prst="rect">
            <a:avLst/>
          </a:prstGeom>
          <a:noFill/>
        </p:spPr>
        <p:txBody>
          <a:bodyPr wrap="square" rtlCol="0" anchor="ctr"/>
          <a:lstStyle/>
          <a:p>
            <a:pPr marL="0" indent="0" algn="ctr">
              <a:lnSpc>
                <a:spcPct val="120000"/>
              </a:lnSpc>
              <a:spcBef>
                <a:spcPts val="375"/>
              </a:spcBef>
              <a:buNone/>
            </a:pPr>
            <a:r>
              <a:rPr lang="en-US" sz="1425" dirty="0">
                <a:solidFill>
                  <a:srgbClr val="FFFFFF"/>
                </a:solidFill>
                <a:latin typeface="微软雅黑" pitchFamily="34" charset="0"/>
                <a:ea typeface="微软雅黑" pitchFamily="34" charset="-122"/>
                <a:cs typeface="微软雅黑" pitchFamily="34" charset="-120"/>
              </a:rPr>
              <a:t>202</a:t>
            </a:r>
            <a:r>
              <a:rPr lang="x-none" altLang="en-US" sz="1425" dirty="0">
                <a:solidFill>
                  <a:srgbClr val="FFFFFF"/>
                </a:solidFill>
                <a:latin typeface="微软雅黑" pitchFamily="34" charset="0"/>
                <a:ea typeface="微软雅黑" pitchFamily="34" charset="-122"/>
                <a:cs typeface="微软雅黑" pitchFamily="34" charset="-120"/>
              </a:rPr>
              <a:t>5</a:t>
            </a:r>
            <a:r>
              <a:rPr lang="en-US" sz="1425" dirty="0">
                <a:solidFill>
                  <a:srgbClr val="FFFFFF"/>
                </a:solidFill>
                <a:latin typeface="微软雅黑" pitchFamily="34" charset="0"/>
                <a:ea typeface="微软雅黑" pitchFamily="34" charset="-122"/>
                <a:cs typeface="微软雅黑" pitchFamily="34" charset="-120"/>
              </a:rPr>
              <a:t>-0</a:t>
            </a:r>
            <a:r>
              <a:rPr lang="x-none" altLang="en-US" sz="1425" dirty="0">
                <a:solidFill>
                  <a:srgbClr val="FFFFFF"/>
                </a:solidFill>
                <a:latin typeface="微软雅黑" pitchFamily="34" charset="0"/>
                <a:ea typeface="微软雅黑" pitchFamily="34" charset="-122"/>
                <a:cs typeface="微软雅黑" pitchFamily="34" charset="-120"/>
              </a:rPr>
              <a:t>1</a:t>
            </a:r>
            <a:r>
              <a:rPr lang="en-US" sz="1425" dirty="0">
                <a:solidFill>
                  <a:srgbClr val="FFFFFF"/>
                </a:solidFill>
                <a:latin typeface="微软雅黑" pitchFamily="34" charset="0"/>
                <a:ea typeface="微软雅黑" pitchFamily="34" charset="-122"/>
                <a:cs typeface="微软雅黑" pitchFamily="34" charset="-120"/>
              </a:rPr>
              <a:t>-1</a:t>
            </a:r>
            <a:r>
              <a:rPr lang="x-none" altLang="en-US" sz="1425" dirty="0">
                <a:solidFill>
                  <a:srgbClr val="FFFFFF"/>
                </a:solidFill>
                <a:latin typeface="微软雅黑" pitchFamily="34" charset="0"/>
                <a:ea typeface="微软雅黑" pitchFamily="34" charset="-122"/>
                <a:cs typeface="微软雅黑" pitchFamily="34" charset="-120"/>
              </a:rPr>
              <a:t>3</a:t>
            </a:r>
            <a:endParaRPr lang="x-none" altLang="en-US" sz="1425" dirty="0">
              <a:solidFill>
                <a:srgbClr val="FFFFFF"/>
              </a:solidFill>
              <a:latin typeface="微软雅黑" pitchFamily="34" charset="0"/>
              <a:ea typeface="微软雅黑" pitchFamily="34" charset="-122"/>
              <a:cs typeface="微软雅黑" pitchFamily="34" charset="-120"/>
            </a:endParaRPr>
          </a:p>
        </p:txBody>
      </p:sp>
      <p:pic>
        <p:nvPicPr>
          <p:cNvPr id="8" name="Image 0" descr="https://cdn.ciniaoppt.com/webroot/upload/ppt/local/20240408/ecfe801e7a409fc698a739b6c1deb3a1.png"/>
          <p:cNvPicPr>
            <a:picLocks noChangeAspect="1"/>
          </p:cNvPicPr>
          <p:nvPr/>
        </p:nvPicPr>
        <p:blipFill>
          <a:blip r:embed="rId1"/>
          <a:stretch>
            <a:fillRect/>
          </a:stretch>
        </p:blipFill>
        <p:spPr>
          <a:xfrm>
            <a:off x="10160" y="4374369"/>
            <a:ext cx="12192000" cy="3748405"/>
          </a:xfrm>
          <a:prstGeom prst="rect">
            <a:avLst/>
          </a:prstGeom>
        </p:spPr>
      </p:pic>
      <p:sp>
        <p:nvSpPr>
          <p:cNvPr id="9" name="Shape 6"/>
          <p:cNvSpPr/>
          <p:nvPr/>
        </p:nvSpPr>
        <p:spPr>
          <a:xfrm>
            <a:off x="6088380" y="-6985"/>
            <a:ext cx="12700" cy="1263650"/>
          </a:xfrm>
          <a:custGeom>
            <a:avLst/>
            <a:gdLst/>
            <a:ahLst/>
            <a:cxnLst/>
            <a:rect l="l" t="t" r="r" b="b"/>
            <a:pathLst>
              <a:path w="12700" h="1263650">
                <a:moveTo>
                  <a:pt x="12700" y="1263650"/>
                </a:moveTo>
                <a:lnTo>
                  <a:pt x="0" y="0"/>
                </a:lnTo>
              </a:path>
            </a:pathLst>
          </a:custGeom>
          <a:noFill/>
          <a:ln w="9525">
            <a:solidFill>
              <a:srgbClr val="404040"/>
            </a:solidFill>
            <a:prstDash val="solid"/>
            <a:headEnd type="arrow"/>
            <a:tailEnd type="none"/>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6508</Words>
  <Application>WPS 演示</Application>
  <PresentationFormat>On-screen Show (16:9)</PresentationFormat>
  <Paragraphs>1256</Paragraphs>
  <Slides>38</Slides>
  <Notes>38</Notes>
  <HiddenSlides>0</HiddenSlides>
  <MMClips>0</MMClips>
  <ScaleCrop>false</ScaleCrop>
  <HeadingPairs>
    <vt:vector size="6" baseType="variant">
      <vt:variant>
        <vt:lpstr>已用的字体</vt:lpstr>
      </vt:variant>
      <vt:variant>
        <vt:i4>38</vt:i4>
      </vt:variant>
      <vt:variant>
        <vt:lpstr>主题</vt:lpstr>
      </vt:variant>
      <vt:variant>
        <vt:i4>1</vt:i4>
      </vt:variant>
      <vt:variant>
        <vt:lpstr>幻灯片标题</vt:lpstr>
      </vt:variant>
      <vt:variant>
        <vt:i4>38</vt:i4>
      </vt:variant>
    </vt:vector>
  </HeadingPairs>
  <TitlesOfParts>
    <vt:vector size="77" baseType="lpstr">
      <vt:lpstr>Arial</vt:lpstr>
      <vt:lpstr>宋体</vt:lpstr>
      <vt:lpstr>Wingdings</vt:lpstr>
      <vt:lpstr>Noto Sans Bengali UI Medium</vt:lpstr>
      <vt:lpstr>微软雅黑</vt:lpstr>
      <vt:lpstr>文泉驿微米黑</vt:lpstr>
      <vt:lpstr>微软雅黑</vt:lpstr>
      <vt:lpstr>微软雅黑</vt:lpstr>
      <vt:lpstr>思源黑体 CN Light</vt:lpstr>
      <vt:lpstr>思源黑体 CN Light</vt:lpstr>
      <vt:lpstr>思源黑体 CN Light</vt:lpstr>
      <vt:lpstr>Arial</vt:lpstr>
      <vt:lpstr>Arial</vt:lpstr>
      <vt:lpstr>Microsoft Yahei</vt:lpstr>
      <vt:lpstr>Microsoft Yahei</vt:lpstr>
      <vt:lpstr>Microsoft Yahei</vt:lpstr>
      <vt:lpstr>Calibri</vt:lpstr>
      <vt:lpstr>鸿蒙黑体</vt:lpstr>
      <vt:lpstr>宋体</vt:lpstr>
      <vt:lpstr>Arial Unicode MS</vt:lpstr>
      <vt:lpstr>等线</vt:lpstr>
      <vt:lpstr>Calibri Light</vt:lpstr>
      <vt:lpstr>Museo Sans 500</vt:lpstr>
      <vt:lpstr>Museo Sans 500</vt:lpstr>
      <vt:lpstr>Museo Sans 500</vt:lpstr>
      <vt:lpstr>站酷小薇LOGO体</vt:lpstr>
      <vt:lpstr>站酷小薇LOGO体</vt:lpstr>
      <vt:lpstr>站酷小薇LOGO体</vt:lpstr>
      <vt:lpstr>汉仪新人文宋W</vt:lpstr>
      <vt:lpstr>汉仪新人文宋W</vt:lpstr>
      <vt:lpstr>汉仪新人文宋W</vt:lpstr>
      <vt:lpstr>OPPOSans H</vt:lpstr>
      <vt:lpstr>OPPOSans H</vt:lpstr>
      <vt:lpstr>OPPOSans H</vt:lpstr>
      <vt:lpstr>Century Gothic</vt:lpstr>
      <vt:lpstr>Century Gothic</vt:lpstr>
      <vt:lpstr>Century Gothic</vt:lpstr>
      <vt:lpstr>HMOS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hsl</cp:lastModifiedBy>
  <cp:revision>60</cp:revision>
  <dcterms:created xsi:type="dcterms:W3CDTF">2025-01-24T02:22:17Z</dcterms:created>
  <dcterms:modified xsi:type="dcterms:W3CDTF">2025-01-24T02:22:17Z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(2)HO3+jRiE0rl/arR0M34Vjc45oLi/W37XuG08DPPAi9bJXchsQUsY0kJIBYoqUdCJHOx/q3U5
pCuldpSlc59DK5FkM4wsDLyyh2w3KUtTS/+QgxS/xax4/GXUlWwtmc4LMK0WziPwxmprp+UT
v7zMhOpbRZ53UPjc4roDdhcyZFHqb0uBkHrWu1QqJ9cqy2eHXSkwQT18CWOBLTJjUuwBIJ32
/dUnzs5l18l9WbMJ2x</vt:lpwstr>
  </property>
  <property fmtid="{D5CDD505-2E9C-101B-9397-08002B2CF9AE}" pid="3" name="_2015_ms_pID_7253431">
    <vt:lpwstr>Pzbj0D4VuKtCDY/ouZ20N0ebkZH73wfHLhEjTLgta45xlysfPd7cOR
ADd8Gr2pR5Rg77aNZWDnxl56jUT5x5gp83tUciBqUBP9MXi8v1xEQhZ47+bTfhbCMaFGwrx6
pJbRGHEkb6wDVya3NyQcsUNr+Rh6iDN4lMzY5RHph+bnm7B+CcXGVULaG6CVqXzPYoAXSzAU
/Nw2fveVU0hazqow</vt:lpwstr>
  </property>
  <property fmtid="{D5CDD505-2E9C-101B-9397-08002B2CF9AE}" pid="4" name="ICV">
    <vt:lpwstr>E1D729BBBC885DA302937F674C028E59_42</vt:lpwstr>
  </property>
  <property fmtid="{D5CDD505-2E9C-101B-9397-08002B2CF9AE}" pid="5" name="KSOProductBuildVer">
    <vt:lpwstr>2052-12.8.2.14767</vt:lpwstr>
  </property>
</Properties>
</file>